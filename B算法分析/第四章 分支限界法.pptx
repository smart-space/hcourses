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notesSlides/notesSlide2.xml" ContentType="application/vnd.openxmlformats-officedocument.presentationml.notesSlide+xml"/>
  <Override PartName="/ppt/theme/themeOverride4.xml" ContentType="application/vnd.openxmlformats-officedocument.themeOverride+xml"/>
  <Override PartName="/ppt/notesSlides/notesSlide3.xml" ContentType="application/vnd.openxmlformats-officedocument.presentationml.notesSlide+xml"/>
  <Override PartName="/ppt/theme/themeOverride5.xml" ContentType="application/vnd.openxmlformats-officedocument.themeOverride+xml"/>
  <Override PartName="/ppt/notesSlides/notesSlide4.xml" ContentType="application/vnd.openxmlformats-officedocument.presentationml.notesSlide+xml"/>
  <Override PartName="/ppt/theme/themeOverride6.xml" ContentType="application/vnd.openxmlformats-officedocument.themeOverride+xml"/>
  <Override PartName="/ppt/notesSlides/notesSlide5.xml" ContentType="application/vnd.openxmlformats-officedocument.presentationml.notesSlide+xml"/>
  <Override PartName="/ppt/theme/themeOverride7.xml" ContentType="application/vnd.openxmlformats-officedocument.themeOverride+xml"/>
  <Override PartName="/ppt/notesSlides/notesSlide6.xml" ContentType="application/vnd.openxmlformats-officedocument.presentationml.notesSlide+xml"/>
  <Override PartName="/ppt/theme/themeOverride8.xml" ContentType="application/vnd.openxmlformats-officedocument.themeOverride+xml"/>
  <Override PartName="/ppt/notesSlides/notesSlide7.xml" ContentType="application/vnd.openxmlformats-officedocument.presentationml.notesSlide+xml"/>
  <Override PartName="/ppt/theme/themeOverride9.xml" ContentType="application/vnd.openxmlformats-officedocument.themeOverride+xml"/>
  <Override PartName="/ppt/notesSlides/notesSlide8.xml" ContentType="application/vnd.openxmlformats-officedocument.presentationml.notesSlide+xml"/>
  <Override PartName="/ppt/theme/themeOverride10.xml" ContentType="application/vnd.openxmlformats-officedocument.themeOverride+xml"/>
  <Override PartName="/ppt/notesSlides/notesSlide9.xml" ContentType="application/vnd.openxmlformats-officedocument.presentationml.notesSlide+xml"/>
  <Override PartName="/ppt/theme/themeOverride11.xml" ContentType="application/vnd.openxmlformats-officedocument.themeOverride+xml"/>
  <Override PartName="/ppt/notesSlides/notesSlide10.xml" ContentType="application/vnd.openxmlformats-officedocument.presentationml.notesSlide+xml"/>
  <Override PartName="/ppt/theme/themeOverride12.xml" ContentType="application/vnd.openxmlformats-officedocument.themeOverride+xml"/>
  <Override PartName="/ppt/notesSlides/notesSlide11.xml" ContentType="application/vnd.openxmlformats-officedocument.presentationml.notesSlide+xml"/>
  <Override PartName="/ppt/theme/themeOverride13.xml" ContentType="application/vnd.openxmlformats-officedocument.themeOverride+xml"/>
  <Override PartName="/ppt/notesSlides/notesSlide12.xml" ContentType="application/vnd.openxmlformats-officedocument.presentationml.notesSlide+xml"/>
  <Override PartName="/ppt/theme/themeOverride14.xml" ContentType="application/vnd.openxmlformats-officedocument.themeOverride+xml"/>
  <Override PartName="/ppt/notesSlides/notesSlide13.xml" ContentType="application/vnd.openxmlformats-officedocument.presentationml.notesSlide+xml"/>
  <Override PartName="/ppt/theme/themeOverride15.xml" ContentType="application/vnd.openxmlformats-officedocument.themeOverride+xml"/>
  <Override PartName="/ppt/notesSlides/notesSlide14.xml" ContentType="application/vnd.openxmlformats-officedocument.presentationml.notesSlide+xml"/>
  <Override PartName="/ppt/theme/themeOverride16.xml" ContentType="application/vnd.openxmlformats-officedocument.themeOverride+xml"/>
  <Override PartName="/ppt/notesSlides/notesSlide15.xml" ContentType="application/vnd.openxmlformats-officedocument.presentationml.notesSlide+xml"/>
  <Override PartName="/ppt/theme/themeOverride17.xml" ContentType="application/vnd.openxmlformats-officedocument.themeOverride+xml"/>
  <Override PartName="/ppt/notesSlides/notesSlide16.xml" ContentType="application/vnd.openxmlformats-officedocument.presentationml.notesSlide+xml"/>
  <Override PartName="/ppt/theme/themeOverride18.xml" ContentType="application/vnd.openxmlformats-officedocument.themeOverride+xml"/>
  <Override PartName="/ppt/notesSlides/notesSlide17.xml" ContentType="application/vnd.openxmlformats-officedocument.presentationml.notesSlide+xml"/>
  <Override PartName="/ppt/theme/themeOverride19.xml" ContentType="application/vnd.openxmlformats-officedocument.themeOverride+xml"/>
  <Override PartName="/ppt/notesSlides/notesSlide18.xml" ContentType="application/vnd.openxmlformats-officedocument.presentationml.notesSlide+xml"/>
  <Override PartName="/ppt/theme/themeOverride20.xml" ContentType="application/vnd.openxmlformats-officedocument.themeOverride+xml"/>
  <Override PartName="/ppt/notesSlides/notesSlide19.xml" ContentType="application/vnd.openxmlformats-officedocument.presentationml.notesSlide+xml"/>
  <Override PartName="/ppt/theme/themeOverride21.xml" ContentType="application/vnd.openxmlformats-officedocument.themeOverride+xml"/>
  <Override PartName="/ppt/notesSlides/notesSlide20.xml" ContentType="application/vnd.openxmlformats-officedocument.presentationml.notesSlide+xml"/>
  <Override PartName="/ppt/theme/themeOverride22.xml" ContentType="application/vnd.openxmlformats-officedocument.themeOverride+xml"/>
  <Override PartName="/ppt/notesSlides/notesSlide21.xml" ContentType="application/vnd.openxmlformats-officedocument.presentationml.notesSlide+xml"/>
  <Override PartName="/ppt/theme/themeOverride23.xml" ContentType="application/vnd.openxmlformats-officedocument.themeOverride+xml"/>
  <Override PartName="/ppt/notesSlides/notesSlide22.xml" ContentType="application/vnd.openxmlformats-officedocument.presentationml.notesSl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notesSlides/notesSlide23.xml" ContentType="application/vnd.openxmlformats-officedocument.presentationml.notesSlide+xml"/>
  <Override PartName="/ppt/theme/themeOverride27.xml" ContentType="application/vnd.openxmlformats-officedocument.themeOverride+xml"/>
  <Override PartName="/ppt/notesSlides/notesSlide24.xml" ContentType="application/vnd.openxmlformats-officedocument.presentationml.notesSlide+xml"/>
  <Override PartName="/ppt/theme/themeOverride28.xml" ContentType="application/vnd.openxmlformats-officedocument.themeOverride+xml"/>
  <Override PartName="/ppt/notesSlides/notesSlide25.xml" ContentType="application/vnd.openxmlformats-officedocument.presentationml.notesSlide+xml"/>
  <Override PartName="/ppt/theme/themeOverride29.xml" ContentType="application/vnd.openxmlformats-officedocument.themeOverride+xml"/>
  <Override PartName="/ppt/notesSlides/notesSlide26.xml" ContentType="application/vnd.openxmlformats-officedocument.presentationml.notesSlide+xml"/>
  <Override PartName="/ppt/theme/themeOverride30.xml" ContentType="application/vnd.openxmlformats-officedocument.themeOverride+xml"/>
  <Override PartName="/ppt/notesSlides/notesSlide27.xml" ContentType="application/vnd.openxmlformats-officedocument.presentationml.notesSlide+xml"/>
  <Override PartName="/ppt/theme/themeOverride31.xml" ContentType="application/vnd.openxmlformats-officedocument.themeOverride+xml"/>
  <Override PartName="/ppt/notesSlides/notesSlide28.xml" ContentType="application/vnd.openxmlformats-officedocument.presentationml.notesSlide+xml"/>
  <Override PartName="/ppt/theme/themeOverride32.xml" ContentType="application/vnd.openxmlformats-officedocument.themeOverride+xml"/>
  <Override PartName="/ppt/notesSlides/notesSlide29.xml" ContentType="application/vnd.openxmlformats-officedocument.presentationml.notesSlide+xml"/>
  <Override PartName="/ppt/theme/themeOverride33.xml" ContentType="application/vnd.openxmlformats-officedocument.themeOverride+xml"/>
  <Override PartName="/ppt/notesSlides/notesSlide30.xml" ContentType="application/vnd.openxmlformats-officedocument.presentationml.notesSlide+xml"/>
  <Override PartName="/ppt/theme/themeOverride34.xml" ContentType="application/vnd.openxmlformats-officedocument.themeOverride+xml"/>
  <Override PartName="/ppt/notesSlides/notesSlide31.xml" ContentType="application/vnd.openxmlformats-officedocument.presentationml.notesSlide+xml"/>
  <Override PartName="/ppt/theme/themeOverride35.xml" ContentType="application/vnd.openxmlformats-officedocument.themeOverride+xml"/>
  <Override PartName="/ppt/theme/themeOverride36.xml" ContentType="application/vnd.openxmlformats-officedocument.themeOverride+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theme/themeOverride40.xml" ContentType="application/vnd.openxmlformats-officedocument.themeOverride+xml"/>
  <Override PartName="/ppt/notesSlides/notesSlide32.xml" ContentType="application/vnd.openxmlformats-officedocument.presentationml.notesSlide+xml"/>
  <Override PartName="/ppt/theme/themeOverride41.xml" ContentType="application/vnd.openxmlformats-officedocument.themeOverride+xml"/>
  <Override PartName="/ppt/notesSlides/notesSlide33.xml" ContentType="application/vnd.openxmlformats-officedocument.presentationml.notesSlide+xml"/>
  <Override PartName="/ppt/theme/themeOverride42.xml" ContentType="application/vnd.openxmlformats-officedocument.themeOverride+xml"/>
  <Override PartName="/ppt/notesSlides/notesSlide34.xml" ContentType="application/vnd.openxmlformats-officedocument.presentationml.notesSlide+xml"/>
  <Override PartName="/ppt/theme/themeOverride43.xml" ContentType="application/vnd.openxmlformats-officedocument.themeOverride+xml"/>
  <Override PartName="/ppt/theme/themeOverride44.xml" ContentType="application/vnd.openxmlformats-officedocument.themeOverride+xml"/>
  <Override PartName="/ppt/theme/themeOverride45.xml" ContentType="application/vnd.openxmlformats-officedocument.themeOverride+xml"/>
  <Override PartName="/ppt/theme/themeOverride46.xml" ContentType="application/vnd.openxmlformats-officedocument.themeOverride+xml"/>
  <Override PartName="/ppt/theme/themeOverride47.xml" ContentType="application/vnd.openxmlformats-officedocument.themeOverride+xml"/>
  <Override PartName="/ppt/theme/themeOverride48.xml" ContentType="application/vnd.openxmlformats-officedocument.themeOverride+xml"/>
  <Override PartName="/ppt/theme/themeOverride49.xml" ContentType="application/vnd.openxmlformats-officedocument.themeOverride+xml"/>
  <Override PartName="/ppt/theme/themeOverride50.xml" ContentType="application/vnd.openxmlformats-officedocument.themeOverride+xml"/>
  <Override PartName="/ppt/theme/themeOverride5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0" r:id="rId1"/>
    <p:sldMasterId id="2147483812" r:id="rId2"/>
  </p:sldMasterIdLst>
  <p:notesMasterIdLst>
    <p:notesMasterId r:id="rId55"/>
  </p:notesMasterIdLst>
  <p:sldIdLst>
    <p:sldId id="563" r:id="rId3"/>
    <p:sldId id="257" r:id="rId4"/>
    <p:sldId id="259" r:id="rId5"/>
    <p:sldId id="260" r:id="rId6"/>
    <p:sldId id="261" r:id="rId7"/>
    <p:sldId id="309" r:id="rId8"/>
    <p:sldId id="262" r:id="rId9"/>
    <p:sldId id="263" r:id="rId10"/>
    <p:sldId id="264" r:id="rId11"/>
    <p:sldId id="266" r:id="rId12"/>
    <p:sldId id="267" r:id="rId13"/>
    <p:sldId id="269" r:id="rId14"/>
    <p:sldId id="337" r:id="rId15"/>
    <p:sldId id="272" r:id="rId16"/>
    <p:sldId id="274" r:id="rId17"/>
    <p:sldId id="279" r:id="rId18"/>
    <p:sldId id="280" r:id="rId19"/>
    <p:sldId id="284" r:id="rId20"/>
    <p:sldId id="282" r:id="rId21"/>
    <p:sldId id="285" r:id="rId22"/>
    <p:sldId id="287" r:id="rId23"/>
    <p:sldId id="289" r:id="rId24"/>
    <p:sldId id="292" r:id="rId25"/>
    <p:sldId id="293" r:id="rId26"/>
    <p:sldId id="339" r:id="rId27"/>
    <p:sldId id="565" r:id="rId28"/>
    <p:sldId id="296" r:id="rId29"/>
    <p:sldId id="297" r:id="rId30"/>
    <p:sldId id="299" r:id="rId31"/>
    <p:sldId id="301" r:id="rId32"/>
    <p:sldId id="303" r:id="rId33"/>
    <p:sldId id="304" r:id="rId34"/>
    <p:sldId id="306" r:id="rId35"/>
    <p:sldId id="307" r:id="rId36"/>
    <p:sldId id="308" r:id="rId37"/>
    <p:sldId id="310" r:id="rId38"/>
    <p:sldId id="311" r:id="rId39"/>
    <p:sldId id="312" r:id="rId40"/>
    <p:sldId id="313" r:id="rId41"/>
    <p:sldId id="314" r:id="rId42"/>
    <p:sldId id="276" r:id="rId43"/>
    <p:sldId id="277" r:id="rId44"/>
    <p:sldId id="278" r:id="rId45"/>
    <p:sldId id="328" r:id="rId46"/>
    <p:sldId id="329" r:id="rId47"/>
    <p:sldId id="330" r:id="rId48"/>
    <p:sldId id="331" r:id="rId49"/>
    <p:sldId id="332" r:id="rId50"/>
    <p:sldId id="333" r:id="rId51"/>
    <p:sldId id="334" r:id="rId52"/>
    <p:sldId id="335" r:id="rId53"/>
    <p:sldId id="336" r:id="rId54"/>
  </p:sldIdLst>
  <p:sldSz cx="12190413" cy="6859588"/>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66" y="270"/>
      </p:cViewPr>
      <p:guideLst>
        <p:guide orient="horz" pos="2161"/>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4E01479-AFDF-5426-DF02-46FD5285328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Arial" charset="0"/>
                <a:ea typeface="宋体" pitchFamily="2" charset="-122"/>
              </a:defRPr>
            </a:lvl1pPr>
          </a:lstStyle>
          <a:p>
            <a:pPr>
              <a:defRPr/>
            </a:pPr>
            <a:endParaRPr lang="en-US" altLang="zh-CN"/>
          </a:p>
        </p:txBody>
      </p:sp>
      <p:sp>
        <p:nvSpPr>
          <p:cNvPr id="3075" name="Rectangle 3">
            <a:extLst>
              <a:ext uri="{FF2B5EF4-FFF2-40B4-BE49-F238E27FC236}">
                <a16:creationId xmlns:a16="http://schemas.microsoft.com/office/drawing/2014/main" id="{4049C33C-D004-4EE4-81C3-E4EF9280D6FD}"/>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Arial" charset="0"/>
                <a:ea typeface="宋体" pitchFamily="2" charset="-122"/>
              </a:defRPr>
            </a:lvl1pPr>
          </a:lstStyle>
          <a:p>
            <a:pPr>
              <a:defRPr/>
            </a:pPr>
            <a:endParaRPr lang="en-US" altLang="zh-CN"/>
          </a:p>
        </p:txBody>
      </p:sp>
      <p:sp>
        <p:nvSpPr>
          <p:cNvPr id="71684" name="Rectangle 4">
            <a:extLst>
              <a:ext uri="{FF2B5EF4-FFF2-40B4-BE49-F238E27FC236}">
                <a16:creationId xmlns:a16="http://schemas.microsoft.com/office/drawing/2014/main" id="{4058D311-0F3F-D643-1A3A-D6E852A4CE83}"/>
              </a:ext>
            </a:extLst>
          </p:cNvPr>
          <p:cNvSpPr>
            <a:spLocks noRo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9D366766-4079-9DCD-7571-9AF687A45E55}"/>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Rectangle 6">
            <a:extLst>
              <a:ext uri="{FF2B5EF4-FFF2-40B4-BE49-F238E27FC236}">
                <a16:creationId xmlns:a16="http://schemas.microsoft.com/office/drawing/2014/main" id="{20B32179-A301-9137-5A45-051503D6DD1D}"/>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Arial" charset="0"/>
                <a:ea typeface="宋体" pitchFamily="2" charset="-122"/>
              </a:defRPr>
            </a:lvl1pPr>
          </a:lstStyle>
          <a:p>
            <a:pPr>
              <a:defRPr/>
            </a:pPr>
            <a:endParaRPr lang="en-US" altLang="zh-CN"/>
          </a:p>
        </p:txBody>
      </p:sp>
      <p:sp>
        <p:nvSpPr>
          <p:cNvPr id="3079" name="Rectangle 7">
            <a:extLst>
              <a:ext uri="{FF2B5EF4-FFF2-40B4-BE49-F238E27FC236}">
                <a16:creationId xmlns:a16="http://schemas.microsoft.com/office/drawing/2014/main" id="{AC7EBE52-F43B-C460-EA73-57E54468D9D1}"/>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B03FED04-5E36-40AE-892F-A44F15703E8E}"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1395C95F-AA5C-EB8F-3549-5716859220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DD80442-94C7-4C08-AF94-6E6642D72CAA}" type="slidenum">
              <a:rPr lang="en-US" altLang="zh-CN">
                <a:latin typeface="Arial" panose="020B0604020202020204" pitchFamily="34" charset="0"/>
              </a:rPr>
              <a:pPr/>
              <a:t>3</a:t>
            </a:fld>
            <a:endParaRPr lang="en-US" altLang="zh-CN">
              <a:latin typeface="Arial" panose="020B0604020202020204" pitchFamily="34" charset="0"/>
            </a:endParaRPr>
          </a:p>
        </p:txBody>
      </p:sp>
      <p:sp>
        <p:nvSpPr>
          <p:cNvPr id="73731" name="Rectangle 2">
            <a:extLst>
              <a:ext uri="{FF2B5EF4-FFF2-40B4-BE49-F238E27FC236}">
                <a16:creationId xmlns:a16="http://schemas.microsoft.com/office/drawing/2014/main" id="{674EA805-F86B-8E46-A51A-B82B42DEA6E3}"/>
              </a:ext>
            </a:extLst>
          </p:cNvPr>
          <p:cNvSpPr>
            <a:spLocks noRot="1" noChangeArrowheads="1" noTextEdit="1"/>
          </p:cNvSpPr>
          <p:nvPr>
            <p:ph type="sldImg"/>
          </p:nvPr>
        </p:nvSpPr>
        <p:spPr>
          <a:ln/>
        </p:spPr>
      </p:sp>
      <p:sp>
        <p:nvSpPr>
          <p:cNvPr id="73732" name="Rectangle 3">
            <a:extLst>
              <a:ext uri="{FF2B5EF4-FFF2-40B4-BE49-F238E27FC236}">
                <a16:creationId xmlns:a16="http://schemas.microsoft.com/office/drawing/2014/main" id="{E8624982-F9ED-6824-3DAE-36DB4C40FFD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4989246D-E0DD-C57B-855C-A9FA9D36E6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872FCE7-659A-4AE2-820E-CDB36F480F29}" type="slidenum">
              <a:rPr lang="en-US" altLang="zh-CN">
                <a:latin typeface="Arial" panose="020B0604020202020204" pitchFamily="34" charset="0"/>
              </a:rPr>
              <a:pPr/>
              <a:t>4</a:t>
            </a:fld>
            <a:endParaRPr lang="en-US" altLang="zh-CN">
              <a:latin typeface="Arial" panose="020B0604020202020204" pitchFamily="34" charset="0"/>
            </a:endParaRPr>
          </a:p>
        </p:txBody>
      </p:sp>
      <p:sp>
        <p:nvSpPr>
          <p:cNvPr id="74755" name="Rectangle 2">
            <a:extLst>
              <a:ext uri="{FF2B5EF4-FFF2-40B4-BE49-F238E27FC236}">
                <a16:creationId xmlns:a16="http://schemas.microsoft.com/office/drawing/2014/main" id="{BAF8F42C-DE76-D836-2F77-6CE888B4D343}"/>
              </a:ext>
            </a:extLst>
          </p:cNvPr>
          <p:cNvSpPr>
            <a:spLocks noRot="1" noChangeArrowheads="1" noTextEdit="1"/>
          </p:cNvSpPr>
          <p:nvPr>
            <p:ph type="sldImg"/>
          </p:nvPr>
        </p:nvSpPr>
        <p:spPr>
          <a:ln/>
        </p:spPr>
      </p:sp>
      <p:sp>
        <p:nvSpPr>
          <p:cNvPr id="74756" name="Rectangle 3">
            <a:extLst>
              <a:ext uri="{FF2B5EF4-FFF2-40B4-BE49-F238E27FC236}">
                <a16:creationId xmlns:a16="http://schemas.microsoft.com/office/drawing/2014/main" id="{6542B0D0-F879-E302-1A3D-4A33B18E7F0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DF42C117-BE26-9F80-9742-B33115D05A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874E0CA-2494-4F98-8A36-8D42FC1EBD9E}" type="slidenum">
              <a:rPr lang="en-US" altLang="zh-CN">
                <a:latin typeface="Arial" panose="020B0604020202020204" pitchFamily="34" charset="0"/>
              </a:rPr>
              <a:pPr/>
              <a:t>5</a:t>
            </a:fld>
            <a:endParaRPr lang="en-US" altLang="zh-CN">
              <a:latin typeface="Arial" panose="020B0604020202020204" pitchFamily="34" charset="0"/>
            </a:endParaRPr>
          </a:p>
        </p:txBody>
      </p:sp>
      <p:sp>
        <p:nvSpPr>
          <p:cNvPr id="75779" name="Rectangle 2">
            <a:extLst>
              <a:ext uri="{FF2B5EF4-FFF2-40B4-BE49-F238E27FC236}">
                <a16:creationId xmlns:a16="http://schemas.microsoft.com/office/drawing/2014/main" id="{2D08D969-6D3F-D49C-B440-2973D69FADD8}"/>
              </a:ext>
            </a:extLst>
          </p:cNvPr>
          <p:cNvSpPr>
            <a:spLocks noRot="1" noChangeArrowheads="1" noTextEdit="1"/>
          </p:cNvSpPr>
          <p:nvPr>
            <p:ph type="sldImg"/>
          </p:nvPr>
        </p:nvSpPr>
        <p:spPr>
          <a:ln/>
        </p:spPr>
      </p:sp>
      <p:sp>
        <p:nvSpPr>
          <p:cNvPr id="75780" name="Rectangle 3">
            <a:extLst>
              <a:ext uri="{FF2B5EF4-FFF2-40B4-BE49-F238E27FC236}">
                <a16:creationId xmlns:a16="http://schemas.microsoft.com/office/drawing/2014/main" id="{9D9A74A2-67B4-D80F-F941-EDE2294E8503}"/>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88B7703F-EA8F-4358-D5DB-F17B1C1F89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496D9A7-97B3-42D1-B5AE-535057175496}" type="slidenum">
              <a:rPr lang="en-US" altLang="zh-CN">
                <a:latin typeface="Arial" panose="020B0604020202020204" pitchFamily="34" charset="0"/>
              </a:rPr>
              <a:pPr/>
              <a:t>6</a:t>
            </a:fld>
            <a:endParaRPr lang="en-US" altLang="zh-CN">
              <a:latin typeface="Arial" panose="020B0604020202020204" pitchFamily="34" charset="0"/>
            </a:endParaRPr>
          </a:p>
        </p:txBody>
      </p:sp>
      <p:sp>
        <p:nvSpPr>
          <p:cNvPr id="76803" name="Rectangle 2">
            <a:extLst>
              <a:ext uri="{FF2B5EF4-FFF2-40B4-BE49-F238E27FC236}">
                <a16:creationId xmlns:a16="http://schemas.microsoft.com/office/drawing/2014/main" id="{BF98A474-ACBD-45A1-DF6E-560505D09F78}"/>
              </a:ext>
            </a:extLst>
          </p:cNvPr>
          <p:cNvSpPr>
            <a:spLocks noRot="1" noChangeArrowheads="1" noTextEdit="1"/>
          </p:cNvSpPr>
          <p:nvPr>
            <p:ph type="sldImg"/>
          </p:nvPr>
        </p:nvSpPr>
        <p:spPr>
          <a:ln/>
        </p:spPr>
      </p:sp>
      <p:sp>
        <p:nvSpPr>
          <p:cNvPr id="76804" name="Rectangle 3">
            <a:extLst>
              <a:ext uri="{FF2B5EF4-FFF2-40B4-BE49-F238E27FC236}">
                <a16:creationId xmlns:a16="http://schemas.microsoft.com/office/drawing/2014/main" id="{C4DC14E6-1C36-CB52-9614-39746F6415A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D5A4A080-C48C-1105-C093-3858FC6D14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9A15DAD-B329-4726-BC27-DC730DFC0858}" type="slidenum">
              <a:rPr lang="en-US" altLang="zh-CN">
                <a:latin typeface="Arial" panose="020B0604020202020204" pitchFamily="34" charset="0"/>
              </a:rPr>
              <a:pPr/>
              <a:t>7</a:t>
            </a:fld>
            <a:endParaRPr lang="en-US" altLang="zh-CN">
              <a:latin typeface="Arial" panose="020B0604020202020204" pitchFamily="34" charset="0"/>
            </a:endParaRPr>
          </a:p>
        </p:txBody>
      </p:sp>
      <p:sp>
        <p:nvSpPr>
          <p:cNvPr id="77827" name="Rectangle 2">
            <a:extLst>
              <a:ext uri="{FF2B5EF4-FFF2-40B4-BE49-F238E27FC236}">
                <a16:creationId xmlns:a16="http://schemas.microsoft.com/office/drawing/2014/main" id="{FF9D84F6-F52E-A234-84A8-9C967E59326E}"/>
              </a:ext>
            </a:extLst>
          </p:cNvPr>
          <p:cNvSpPr>
            <a:spLocks noRot="1" noChangeArrowheads="1" noTextEdit="1"/>
          </p:cNvSpPr>
          <p:nvPr>
            <p:ph type="sldImg"/>
          </p:nvPr>
        </p:nvSpPr>
        <p:spPr>
          <a:ln/>
        </p:spPr>
      </p:sp>
      <p:sp>
        <p:nvSpPr>
          <p:cNvPr id="77828" name="Rectangle 3">
            <a:extLst>
              <a:ext uri="{FF2B5EF4-FFF2-40B4-BE49-F238E27FC236}">
                <a16:creationId xmlns:a16="http://schemas.microsoft.com/office/drawing/2014/main" id="{D4CCC97A-46C2-74E1-CDF0-2843BEAC86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69DD8B03-45BB-791B-8609-1D5132DBC4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D12163E-1E8B-4F42-9B02-1A243BA129EB}" type="slidenum">
              <a:rPr lang="en-US" altLang="zh-CN">
                <a:latin typeface="Arial" panose="020B0604020202020204" pitchFamily="34" charset="0"/>
              </a:rPr>
              <a:pPr/>
              <a:t>8</a:t>
            </a:fld>
            <a:endParaRPr lang="en-US" altLang="zh-CN">
              <a:latin typeface="Arial" panose="020B0604020202020204" pitchFamily="34" charset="0"/>
            </a:endParaRPr>
          </a:p>
        </p:txBody>
      </p:sp>
      <p:sp>
        <p:nvSpPr>
          <p:cNvPr id="78851" name="Rectangle 2">
            <a:extLst>
              <a:ext uri="{FF2B5EF4-FFF2-40B4-BE49-F238E27FC236}">
                <a16:creationId xmlns:a16="http://schemas.microsoft.com/office/drawing/2014/main" id="{E9D10099-D70F-6CF5-C618-21024B66CBC8}"/>
              </a:ext>
            </a:extLst>
          </p:cNvPr>
          <p:cNvSpPr>
            <a:spLocks noRot="1" noChangeArrowheads="1" noTextEdit="1"/>
          </p:cNvSpPr>
          <p:nvPr>
            <p:ph type="sldImg"/>
          </p:nvPr>
        </p:nvSpPr>
        <p:spPr>
          <a:ln/>
        </p:spPr>
      </p:sp>
      <p:sp>
        <p:nvSpPr>
          <p:cNvPr id="78852" name="Rectangle 3">
            <a:extLst>
              <a:ext uri="{FF2B5EF4-FFF2-40B4-BE49-F238E27FC236}">
                <a16:creationId xmlns:a16="http://schemas.microsoft.com/office/drawing/2014/main" id="{8673A0D4-1BD3-7EE4-176E-777B8E1454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49370AF4-2B09-9CB2-B061-4E47FFA736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A42B875-26A1-425A-85C1-E514A7ED1A3E}" type="slidenum">
              <a:rPr lang="en-US" altLang="zh-CN">
                <a:latin typeface="Arial" panose="020B0604020202020204" pitchFamily="34" charset="0"/>
              </a:rPr>
              <a:pPr/>
              <a:t>9</a:t>
            </a:fld>
            <a:endParaRPr lang="en-US" altLang="zh-CN">
              <a:latin typeface="Arial" panose="020B0604020202020204" pitchFamily="34" charset="0"/>
            </a:endParaRPr>
          </a:p>
        </p:txBody>
      </p:sp>
      <p:sp>
        <p:nvSpPr>
          <p:cNvPr id="79875" name="Rectangle 2">
            <a:extLst>
              <a:ext uri="{FF2B5EF4-FFF2-40B4-BE49-F238E27FC236}">
                <a16:creationId xmlns:a16="http://schemas.microsoft.com/office/drawing/2014/main" id="{77AA3236-3983-96A9-5568-E11FE26640B9}"/>
              </a:ext>
            </a:extLst>
          </p:cNvPr>
          <p:cNvSpPr>
            <a:spLocks noRot="1" noChangeArrowheads="1" noTextEdit="1"/>
          </p:cNvSpPr>
          <p:nvPr>
            <p:ph type="sldImg"/>
          </p:nvPr>
        </p:nvSpPr>
        <p:spPr>
          <a:ln/>
        </p:spPr>
      </p:sp>
      <p:sp>
        <p:nvSpPr>
          <p:cNvPr id="79876" name="Rectangle 3">
            <a:extLst>
              <a:ext uri="{FF2B5EF4-FFF2-40B4-BE49-F238E27FC236}">
                <a16:creationId xmlns:a16="http://schemas.microsoft.com/office/drawing/2014/main" id="{34F31246-E328-386D-7E4E-6C6304FCFF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167C244D-5EF7-D813-D3C1-2F8AA622CA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93DF18B-8451-4A21-8514-116EF9D65838}" type="slidenum">
              <a:rPr lang="en-US" altLang="zh-CN">
                <a:latin typeface="Arial" panose="020B0604020202020204" pitchFamily="34" charset="0"/>
              </a:rPr>
              <a:pPr/>
              <a:t>10</a:t>
            </a:fld>
            <a:endParaRPr lang="en-US" altLang="zh-CN">
              <a:latin typeface="Arial" panose="020B0604020202020204" pitchFamily="34" charset="0"/>
            </a:endParaRPr>
          </a:p>
        </p:txBody>
      </p:sp>
      <p:sp>
        <p:nvSpPr>
          <p:cNvPr id="81923" name="Rectangle 2">
            <a:extLst>
              <a:ext uri="{FF2B5EF4-FFF2-40B4-BE49-F238E27FC236}">
                <a16:creationId xmlns:a16="http://schemas.microsoft.com/office/drawing/2014/main" id="{DEDA4D34-2A7E-245E-EFA3-09E38C7E5DEC}"/>
              </a:ext>
            </a:extLst>
          </p:cNvPr>
          <p:cNvSpPr>
            <a:spLocks noRot="1" noChangeArrowheads="1" noTextEdit="1"/>
          </p:cNvSpPr>
          <p:nvPr>
            <p:ph type="sldImg"/>
          </p:nvPr>
        </p:nvSpPr>
        <p:spPr>
          <a:ln/>
        </p:spPr>
      </p:sp>
      <p:sp>
        <p:nvSpPr>
          <p:cNvPr id="81924" name="Rectangle 3">
            <a:extLst>
              <a:ext uri="{FF2B5EF4-FFF2-40B4-BE49-F238E27FC236}">
                <a16:creationId xmlns:a16="http://schemas.microsoft.com/office/drawing/2014/main" id="{BE1F6140-5CDE-2DC6-B05D-728C009EC0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2AD95E39-7261-3B1E-C044-B0E64204F5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3617283-5AB2-488D-9A68-E98898672647}" type="slidenum">
              <a:rPr lang="en-US" altLang="zh-CN">
                <a:latin typeface="Arial" panose="020B0604020202020204" pitchFamily="34" charset="0"/>
              </a:rPr>
              <a:pPr/>
              <a:t>11</a:t>
            </a:fld>
            <a:endParaRPr lang="en-US" altLang="zh-CN">
              <a:latin typeface="Arial" panose="020B0604020202020204" pitchFamily="34" charset="0"/>
            </a:endParaRPr>
          </a:p>
        </p:txBody>
      </p:sp>
      <p:sp>
        <p:nvSpPr>
          <p:cNvPr id="82947" name="Rectangle 2">
            <a:extLst>
              <a:ext uri="{FF2B5EF4-FFF2-40B4-BE49-F238E27FC236}">
                <a16:creationId xmlns:a16="http://schemas.microsoft.com/office/drawing/2014/main" id="{D37B5964-05F0-DA7B-6D6E-F27997AD8AA7}"/>
              </a:ext>
            </a:extLst>
          </p:cNvPr>
          <p:cNvSpPr>
            <a:spLocks noRot="1" noChangeArrowheads="1" noTextEdit="1"/>
          </p:cNvSpPr>
          <p:nvPr>
            <p:ph type="sldImg"/>
          </p:nvPr>
        </p:nvSpPr>
        <p:spPr>
          <a:ln/>
        </p:spPr>
      </p:sp>
      <p:sp>
        <p:nvSpPr>
          <p:cNvPr id="82948" name="Rectangle 3">
            <a:extLst>
              <a:ext uri="{FF2B5EF4-FFF2-40B4-BE49-F238E27FC236}">
                <a16:creationId xmlns:a16="http://schemas.microsoft.com/office/drawing/2014/main" id="{C4390B18-8CE9-956F-5BC6-8710AF37DA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DDF6071D-A8E9-1A3A-2970-407EBA989D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F114602-E7E0-4C76-A1B1-2D2BFDE1E9C2}" type="slidenum">
              <a:rPr lang="en-US" altLang="zh-CN">
                <a:latin typeface="Arial" panose="020B0604020202020204" pitchFamily="34" charset="0"/>
              </a:rPr>
              <a:pPr/>
              <a:t>12</a:t>
            </a:fld>
            <a:endParaRPr lang="en-US" altLang="zh-CN">
              <a:latin typeface="Arial" panose="020B0604020202020204" pitchFamily="34" charset="0"/>
            </a:endParaRPr>
          </a:p>
        </p:txBody>
      </p:sp>
      <p:sp>
        <p:nvSpPr>
          <p:cNvPr id="84995" name="Rectangle 2">
            <a:extLst>
              <a:ext uri="{FF2B5EF4-FFF2-40B4-BE49-F238E27FC236}">
                <a16:creationId xmlns:a16="http://schemas.microsoft.com/office/drawing/2014/main" id="{A1922B97-1779-A23C-36F4-3BC4FA566972}"/>
              </a:ext>
            </a:extLst>
          </p:cNvPr>
          <p:cNvSpPr>
            <a:spLocks noRot="1" noChangeArrowheads="1" noTextEdit="1"/>
          </p:cNvSpPr>
          <p:nvPr>
            <p:ph type="sldImg"/>
          </p:nvPr>
        </p:nvSpPr>
        <p:spPr>
          <a:ln/>
        </p:spPr>
      </p:sp>
      <p:sp>
        <p:nvSpPr>
          <p:cNvPr id="84996" name="Rectangle 3">
            <a:extLst>
              <a:ext uri="{FF2B5EF4-FFF2-40B4-BE49-F238E27FC236}">
                <a16:creationId xmlns:a16="http://schemas.microsoft.com/office/drawing/2014/main" id="{D346CB57-0ED4-F4D8-F0AD-639C5C8B03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E1409BD7-BEC4-D648-1F55-0A10B9618C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09C6162-2EA7-47EA-B39D-49A7B3155624}" type="slidenum">
              <a:rPr lang="en-US" altLang="zh-CN">
                <a:latin typeface="Arial" panose="020B0604020202020204" pitchFamily="34" charset="0"/>
              </a:rPr>
              <a:pPr/>
              <a:t>13</a:t>
            </a:fld>
            <a:endParaRPr lang="en-US" altLang="zh-CN">
              <a:latin typeface="Arial" panose="020B0604020202020204" pitchFamily="34" charset="0"/>
            </a:endParaRPr>
          </a:p>
        </p:txBody>
      </p:sp>
      <p:sp>
        <p:nvSpPr>
          <p:cNvPr id="87043" name="Rectangle 2">
            <a:extLst>
              <a:ext uri="{FF2B5EF4-FFF2-40B4-BE49-F238E27FC236}">
                <a16:creationId xmlns:a16="http://schemas.microsoft.com/office/drawing/2014/main" id="{11178E59-D4EA-E0C3-15FC-02BC9688AAAF}"/>
              </a:ext>
            </a:extLst>
          </p:cNvPr>
          <p:cNvSpPr>
            <a:spLocks noRot="1" noChangeArrowheads="1" noTextEdit="1"/>
          </p:cNvSpPr>
          <p:nvPr>
            <p:ph type="sldImg"/>
          </p:nvPr>
        </p:nvSpPr>
        <p:spPr>
          <a:ln/>
        </p:spPr>
      </p:sp>
      <p:sp>
        <p:nvSpPr>
          <p:cNvPr id="87044" name="Rectangle 3">
            <a:extLst>
              <a:ext uri="{FF2B5EF4-FFF2-40B4-BE49-F238E27FC236}">
                <a16:creationId xmlns:a16="http://schemas.microsoft.com/office/drawing/2014/main" id="{2D9E2DE9-C087-A13C-5679-DAED37CB96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C1E8CABA-E502-59F9-F61B-65D41BD6C2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389537E-9C65-4F67-9C17-9DADECF9636B}" type="slidenum">
              <a:rPr lang="en-US" altLang="zh-CN">
                <a:latin typeface="Arial" panose="020B0604020202020204" pitchFamily="34" charset="0"/>
              </a:rPr>
              <a:pPr/>
              <a:t>14</a:t>
            </a:fld>
            <a:endParaRPr lang="en-US" altLang="zh-CN">
              <a:latin typeface="Arial" panose="020B0604020202020204" pitchFamily="34" charset="0"/>
            </a:endParaRPr>
          </a:p>
        </p:txBody>
      </p:sp>
      <p:sp>
        <p:nvSpPr>
          <p:cNvPr id="88067" name="Rectangle 2">
            <a:extLst>
              <a:ext uri="{FF2B5EF4-FFF2-40B4-BE49-F238E27FC236}">
                <a16:creationId xmlns:a16="http://schemas.microsoft.com/office/drawing/2014/main" id="{0985E7EE-3A2F-7912-4B1C-8D50F63184C5}"/>
              </a:ext>
            </a:extLst>
          </p:cNvPr>
          <p:cNvSpPr>
            <a:spLocks noRot="1" noChangeArrowheads="1" noTextEdit="1"/>
          </p:cNvSpPr>
          <p:nvPr>
            <p:ph type="sldImg"/>
          </p:nvPr>
        </p:nvSpPr>
        <p:spPr>
          <a:ln/>
        </p:spPr>
      </p:sp>
      <p:sp>
        <p:nvSpPr>
          <p:cNvPr id="88068" name="Rectangle 3">
            <a:extLst>
              <a:ext uri="{FF2B5EF4-FFF2-40B4-BE49-F238E27FC236}">
                <a16:creationId xmlns:a16="http://schemas.microsoft.com/office/drawing/2014/main" id="{5D3503EA-2D7E-877B-035E-A156CA7E48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080B7210-C2D8-8DF8-A74C-282AFE1498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B98CDC1-2232-4951-BC31-9204F1EBD525}" type="slidenum">
              <a:rPr lang="en-US" altLang="zh-CN">
                <a:latin typeface="Arial" panose="020B0604020202020204" pitchFamily="34" charset="0"/>
              </a:rPr>
              <a:pPr/>
              <a:t>15</a:t>
            </a:fld>
            <a:endParaRPr lang="en-US" altLang="zh-CN">
              <a:latin typeface="Arial" panose="020B0604020202020204" pitchFamily="34" charset="0"/>
            </a:endParaRPr>
          </a:p>
        </p:txBody>
      </p:sp>
      <p:sp>
        <p:nvSpPr>
          <p:cNvPr id="89091" name="Rectangle 2">
            <a:extLst>
              <a:ext uri="{FF2B5EF4-FFF2-40B4-BE49-F238E27FC236}">
                <a16:creationId xmlns:a16="http://schemas.microsoft.com/office/drawing/2014/main" id="{BEEAD7F0-FC91-B3BD-96A7-B28784C91E96}"/>
              </a:ext>
            </a:extLst>
          </p:cNvPr>
          <p:cNvSpPr>
            <a:spLocks noRot="1" noChangeArrowheads="1" noTextEdit="1"/>
          </p:cNvSpPr>
          <p:nvPr>
            <p:ph type="sldImg"/>
          </p:nvPr>
        </p:nvSpPr>
        <p:spPr>
          <a:ln/>
        </p:spPr>
      </p:sp>
      <p:sp>
        <p:nvSpPr>
          <p:cNvPr id="89092" name="Rectangle 3">
            <a:extLst>
              <a:ext uri="{FF2B5EF4-FFF2-40B4-BE49-F238E27FC236}">
                <a16:creationId xmlns:a16="http://schemas.microsoft.com/office/drawing/2014/main" id="{3EEF405B-33DC-CDE9-C8D8-EC0E4E3845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54A74AD8-9D7D-9CE1-CEA3-A4A729D33B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1D8CAB7-A215-4562-A9B4-9FDA249F3B9C}" type="slidenum">
              <a:rPr lang="en-US" altLang="zh-CN">
                <a:latin typeface="Arial" panose="020B0604020202020204" pitchFamily="34" charset="0"/>
              </a:rPr>
              <a:pPr/>
              <a:t>16</a:t>
            </a:fld>
            <a:endParaRPr lang="en-US" altLang="zh-CN">
              <a:latin typeface="Arial" panose="020B0604020202020204" pitchFamily="34" charset="0"/>
            </a:endParaRPr>
          </a:p>
        </p:txBody>
      </p:sp>
      <p:sp>
        <p:nvSpPr>
          <p:cNvPr id="91139" name="Rectangle 2">
            <a:extLst>
              <a:ext uri="{FF2B5EF4-FFF2-40B4-BE49-F238E27FC236}">
                <a16:creationId xmlns:a16="http://schemas.microsoft.com/office/drawing/2014/main" id="{23B55C71-237A-7E3A-AC4B-F786DAB324F5}"/>
              </a:ext>
            </a:extLst>
          </p:cNvPr>
          <p:cNvSpPr>
            <a:spLocks noRot="1" noChangeArrowheads="1" noTextEdit="1"/>
          </p:cNvSpPr>
          <p:nvPr>
            <p:ph type="sldImg"/>
          </p:nvPr>
        </p:nvSpPr>
        <p:spPr>
          <a:ln/>
        </p:spPr>
      </p:sp>
      <p:sp>
        <p:nvSpPr>
          <p:cNvPr id="91140" name="Rectangle 3">
            <a:extLst>
              <a:ext uri="{FF2B5EF4-FFF2-40B4-BE49-F238E27FC236}">
                <a16:creationId xmlns:a16="http://schemas.microsoft.com/office/drawing/2014/main" id="{070314B2-0A4F-143F-8613-6C5A5D2C5C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269C8F5A-F7DB-8114-A537-99360753E1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7F2DDE7-236C-47FF-88AD-08B2444C0549}" type="slidenum">
              <a:rPr lang="en-US" altLang="zh-CN">
                <a:latin typeface="Arial" panose="020B0604020202020204" pitchFamily="34" charset="0"/>
              </a:rPr>
              <a:pPr/>
              <a:t>17</a:t>
            </a:fld>
            <a:endParaRPr lang="en-US" altLang="zh-CN">
              <a:latin typeface="Arial" panose="020B0604020202020204" pitchFamily="34" charset="0"/>
            </a:endParaRPr>
          </a:p>
        </p:txBody>
      </p:sp>
      <p:sp>
        <p:nvSpPr>
          <p:cNvPr id="92163" name="Rectangle 2">
            <a:extLst>
              <a:ext uri="{FF2B5EF4-FFF2-40B4-BE49-F238E27FC236}">
                <a16:creationId xmlns:a16="http://schemas.microsoft.com/office/drawing/2014/main" id="{A55948F0-E30B-3B88-B359-9918CEB24763}"/>
              </a:ext>
            </a:extLst>
          </p:cNvPr>
          <p:cNvSpPr>
            <a:spLocks noRot="1" noChangeArrowheads="1" noTextEdit="1"/>
          </p:cNvSpPr>
          <p:nvPr>
            <p:ph type="sldImg"/>
          </p:nvPr>
        </p:nvSpPr>
        <p:spPr>
          <a:ln/>
        </p:spPr>
      </p:sp>
      <p:sp>
        <p:nvSpPr>
          <p:cNvPr id="92164" name="Rectangle 3">
            <a:extLst>
              <a:ext uri="{FF2B5EF4-FFF2-40B4-BE49-F238E27FC236}">
                <a16:creationId xmlns:a16="http://schemas.microsoft.com/office/drawing/2014/main" id="{778D2F14-36B7-B6F2-C5D0-D187B1CD76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D99907AD-77F1-880F-0B1B-EFEC874A14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9D34760-7D3A-4851-A54C-8A3CEC84169C}" type="slidenum">
              <a:rPr lang="en-US" altLang="zh-CN">
                <a:latin typeface="Arial" panose="020B0604020202020204" pitchFamily="34" charset="0"/>
              </a:rPr>
              <a:pPr/>
              <a:t>18</a:t>
            </a:fld>
            <a:endParaRPr lang="en-US" altLang="zh-CN">
              <a:latin typeface="Arial" panose="020B0604020202020204" pitchFamily="34" charset="0"/>
            </a:endParaRPr>
          </a:p>
        </p:txBody>
      </p:sp>
      <p:sp>
        <p:nvSpPr>
          <p:cNvPr id="94211" name="Rectangle 2">
            <a:extLst>
              <a:ext uri="{FF2B5EF4-FFF2-40B4-BE49-F238E27FC236}">
                <a16:creationId xmlns:a16="http://schemas.microsoft.com/office/drawing/2014/main" id="{7E194CF6-97DD-3DAA-FB46-86F44AF3FFF4}"/>
              </a:ext>
            </a:extLst>
          </p:cNvPr>
          <p:cNvSpPr>
            <a:spLocks noRot="1" noChangeArrowheads="1" noTextEdit="1"/>
          </p:cNvSpPr>
          <p:nvPr>
            <p:ph type="sldImg"/>
          </p:nvPr>
        </p:nvSpPr>
        <p:spPr>
          <a:ln/>
        </p:spPr>
      </p:sp>
      <p:sp>
        <p:nvSpPr>
          <p:cNvPr id="94212" name="Rectangle 3">
            <a:extLst>
              <a:ext uri="{FF2B5EF4-FFF2-40B4-BE49-F238E27FC236}">
                <a16:creationId xmlns:a16="http://schemas.microsoft.com/office/drawing/2014/main" id="{A1C55CE9-179F-DD01-9873-FB73D0F98D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DBD63276-CD0C-1279-6056-96D9655794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2AD48EC-BDD1-4C53-818D-DEFF0659B56D}" type="slidenum">
              <a:rPr lang="en-US" altLang="zh-CN">
                <a:latin typeface="Arial" panose="020B0604020202020204" pitchFamily="34" charset="0"/>
              </a:rPr>
              <a:pPr/>
              <a:t>19</a:t>
            </a:fld>
            <a:endParaRPr lang="en-US" altLang="zh-CN">
              <a:latin typeface="Arial" panose="020B0604020202020204" pitchFamily="34" charset="0"/>
            </a:endParaRPr>
          </a:p>
        </p:txBody>
      </p:sp>
      <p:sp>
        <p:nvSpPr>
          <p:cNvPr id="95235" name="Rectangle 2">
            <a:extLst>
              <a:ext uri="{FF2B5EF4-FFF2-40B4-BE49-F238E27FC236}">
                <a16:creationId xmlns:a16="http://schemas.microsoft.com/office/drawing/2014/main" id="{AB4B245B-622A-4DE5-CD6B-D4796AA26FCB}"/>
              </a:ext>
            </a:extLst>
          </p:cNvPr>
          <p:cNvSpPr>
            <a:spLocks noRot="1" noChangeArrowheads="1" noTextEdit="1"/>
          </p:cNvSpPr>
          <p:nvPr>
            <p:ph type="sldImg"/>
          </p:nvPr>
        </p:nvSpPr>
        <p:spPr>
          <a:ln/>
        </p:spPr>
      </p:sp>
      <p:sp>
        <p:nvSpPr>
          <p:cNvPr id="95236" name="Rectangle 3">
            <a:extLst>
              <a:ext uri="{FF2B5EF4-FFF2-40B4-BE49-F238E27FC236}">
                <a16:creationId xmlns:a16="http://schemas.microsoft.com/office/drawing/2014/main" id="{178D35D7-3415-93BE-B47D-4BD922D9CC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5E272433-BDE6-513F-AEE5-4BECE97643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5D4F93F-8EB1-4781-87D6-183E7729E191}" type="slidenum">
              <a:rPr lang="en-US" altLang="zh-CN">
                <a:latin typeface="Arial" panose="020B0604020202020204" pitchFamily="34" charset="0"/>
              </a:rPr>
              <a:pPr/>
              <a:t>20</a:t>
            </a:fld>
            <a:endParaRPr lang="en-US" altLang="zh-CN">
              <a:latin typeface="Arial" panose="020B0604020202020204" pitchFamily="34" charset="0"/>
            </a:endParaRPr>
          </a:p>
        </p:txBody>
      </p:sp>
      <p:sp>
        <p:nvSpPr>
          <p:cNvPr id="96259" name="Rectangle 2">
            <a:extLst>
              <a:ext uri="{FF2B5EF4-FFF2-40B4-BE49-F238E27FC236}">
                <a16:creationId xmlns:a16="http://schemas.microsoft.com/office/drawing/2014/main" id="{B1B66FDA-E542-B3E3-AAD8-EA9D17EE3C88}"/>
              </a:ext>
            </a:extLst>
          </p:cNvPr>
          <p:cNvSpPr>
            <a:spLocks noRot="1" noChangeArrowheads="1" noTextEdit="1"/>
          </p:cNvSpPr>
          <p:nvPr>
            <p:ph type="sldImg"/>
          </p:nvPr>
        </p:nvSpPr>
        <p:spPr>
          <a:ln/>
        </p:spPr>
      </p:sp>
      <p:sp>
        <p:nvSpPr>
          <p:cNvPr id="96260" name="Rectangle 3">
            <a:extLst>
              <a:ext uri="{FF2B5EF4-FFF2-40B4-BE49-F238E27FC236}">
                <a16:creationId xmlns:a16="http://schemas.microsoft.com/office/drawing/2014/main" id="{D98B6B30-4CDC-83EF-0323-63D8446FBB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188D4F62-118A-7719-5BE7-C2303DEFB7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2FC4AC6-4ADC-4E95-8294-52A5D00D5A03}" type="slidenum">
              <a:rPr lang="en-US" altLang="zh-CN">
                <a:latin typeface="Arial" panose="020B0604020202020204" pitchFamily="34" charset="0"/>
              </a:rPr>
              <a:pPr/>
              <a:t>21</a:t>
            </a:fld>
            <a:endParaRPr lang="en-US" altLang="zh-CN">
              <a:latin typeface="Arial" panose="020B0604020202020204" pitchFamily="34" charset="0"/>
            </a:endParaRPr>
          </a:p>
        </p:txBody>
      </p:sp>
      <p:sp>
        <p:nvSpPr>
          <p:cNvPr id="98307" name="Rectangle 2">
            <a:extLst>
              <a:ext uri="{FF2B5EF4-FFF2-40B4-BE49-F238E27FC236}">
                <a16:creationId xmlns:a16="http://schemas.microsoft.com/office/drawing/2014/main" id="{84BFA9BD-BA00-718E-3595-BBBCEC4B8641}"/>
              </a:ext>
            </a:extLst>
          </p:cNvPr>
          <p:cNvSpPr>
            <a:spLocks noRot="1" noChangeArrowheads="1" noTextEdit="1"/>
          </p:cNvSpPr>
          <p:nvPr>
            <p:ph type="sldImg"/>
          </p:nvPr>
        </p:nvSpPr>
        <p:spPr>
          <a:ln/>
        </p:spPr>
      </p:sp>
      <p:sp>
        <p:nvSpPr>
          <p:cNvPr id="98308" name="Rectangle 3">
            <a:extLst>
              <a:ext uri="{FF2B5EF4-FFF2-40B4-BE49-F238E27FC236}">
                <a16:creationId xmlns:a16="http://schemas.microsoft.com/office/drawing/2014/main" id="{C7467A92-7FAE-B95B-1172-466DCCA05E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54C149B0-F0C2-79D4-DBE7-2D2C16053B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9F93852-6310-4CA2-9EB1-469F6C86B0B3}" type="slidenum">
              <a:rPr lang="en-US" altLang="zh-CN">
                <a:latin typeface="Arial" panose="020B0604020202020204" pitchFamily="34" charset="0"/>
              </a:rPr>
              <a:pPr/>
              <a:t>22</a:t>
            </a:fld>
            <a:endParaRPr lang="en-US" altLang="zh-CN">
              <a:latin typeface="Arial" panose="020B0604020202020204" pitchFamily="34" charset="0"/>
            </a:endParaRPr>
          </a:p>
        </p:txBody>
      </p:sp>
      <p:sp>
        <p:nvSpPr>
          <p:cNvPr id="100355" name="Rectangle 2">
            <a:extLst>
              <a:ext uri="{FF2B5EF4-FFF2-40B4-BE49-F238E27FC236}">
                <a16:creationId xmlns:a16="http://schemas.microsoft.com/office/drawing/2014/main" id="{0C88D5C3-D5EF-F14F-EC56-C0792C18C4C4}"/>
              </a:ext>
            </a:extLst>
          </p:cNvPr>
          <p:cNvSpPr>
            <a:spLocks noRot="1" noChangeArrowheads="1" noTextEdit="1"/>
          </p:cNvSpPr>
          <p:nvPr>
            <p:ph type="sldImg"/>
          </p:nvPr>
        </p:nvSpPr>
        <p:spPr>
          <a:ln/>
        </p:spPr>
      </p:sp>
      <p:sp>
        <p:nvSpPr>
          <p:cNvPr id="100356" name="Rectangle 3">
            <a:extLst>
              <a:ext uri="{FF2B5EF4-FFF2-40B4-BE49-F238E27FC236}">
                <a16:creationId xmlns:a16="http://schemas.microsoft.com/office/drawing/2014/main" id="{62736CFE-33A1-B825-7FEF-F6AEA0EA44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097AA47C-D930-CAD7-7BCF-86342B23B6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FC4BFCD-0940-4808-BEDB-8032C027DC72}" type="slidenum">
              <a:rPr lang="en-US" altLang="zh-CN">
                <a:latin typeface="Arial" panose="020B0604020202020204" pitchFamily="34" charset="0"/>
              </a:rPr>
              <a:pPr/>
              <a:t>23</a:t>
            </a:fld>
            <a:endParaRPr lang="en-US" altLang="zh-CN">
              <a:latin typeface="Arial" panose="020B0604020202020204" pitchFamily="34" charset="0"/>
            </a:endParaRPr>
          </a:p>
        </p:txBody>
      </p:sp>
      <p:sp>
        <p:nvSpPr>
          <p:cNvPr id="103427" name="Rectangle 2">
            <a:extLst>
              <a:ext uri="{FF2B5EF4-FFF2-40B4-BE49-F238E27FC236}">
                <a16:creationId xmlns:a16="http://schemas.microsoft.com/office/drawing/2014/main" id="{A08C7C88-8026-2240-3D98-CB5309BD296C}"/>
              </a:ext>
            </a:extLst>
          </p:cNvPr>
          <p:cNvSpPr>
            <a:spLocks noRot="1" noChangeArrowheads="1" noTextEdit="1"/>
          </p:cNvSpPr>
          <p:nvPr>
            <p:ph type="sldImg"/>
          </p:nvPr>
        </p:nvSpPr>
        <p:spPr>
          <a:ln/>
        </p:spPr>
      </p:sp>
      <p:sp>
        <p:nvSpPr>
          <p:cNvPr id="103428" name="Rectangle 3">
            <a:extLst>
              <a:ext uri="{FF2B5EF4-FFF2-40B4-BE49-F238E27FC236}">
                <a16:creationId xmlns:a16="http://schemas.microsoft.com/office/drawing/2014/main" id="{26FBBBDF-F56A-8C8C-AA8B-F8AFDAF3CA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9F944C33-D4CF-DD9C-24E5-B5D740D51B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CFE5037-A145-4333-ACE5-D87846E30824}" type="slidenum">
              <a:rPr lang="en-US" altLang="zh-CN">
                <a:latin typeface="Arial" panose="020B0604020202020204" pitchFamily="34" charset="0"/>
              </a:rPr>
              <a:pPr/>
              <a:t>24</a:t>
            </a:fld>
            <a:endParaRPr lang="en-US" altLang="zh-CN">
              <a:latin typeface="Arial" panose="020B0604020202020204" pitchFamily="34" charset="0"/>
            </a:endParaRPr>
          </a:p>
        </p:txBody>
      </p:sp>
      <p:sp>
        <p:nvSpPr>
          <p:cNvPr id="104451" name="Rectangle 2">
            <a:extLst>
              <a:ext uri="{FF2B5EF4-FFF2-40B4-BE49-F238E27FC236}">
                <a16:creationId xmlns:a16="http://schemas.microsoft.com/office/drawing/2014/main" id="{521954F7-A8D9-347A-F317-D2B82908B115}"/>
              </a:ext>
            </a:extLst>
          </p:cNvPr>
          <p:cNvSpPr>
            <a:spLocks noRot="1" noChangeArrowheads="1" noTextEdit="1"/>
          </p:cNvSpPr>
          <p:nvPr>
            <p:ph type="sldImg"/>
          </p:nvPr>
        </p:nvSpPr>
        <p:spPr>
          <a:ln/>
        </p:spPr>
      </p:sp>
      <p:sp>
        <p:nvSpPr>
          <p:cNvPr id="104452" name="Rectangle 3">
            <a:extLst>
              <a:ext uri="{FF2B5EF4-FFF2-40B4-BE49-F238E27FC236}">
                <a16:creationId xmlns:a16="http://schemas.microsoft.com/office/drawing/2014/main" id="{3DE5EF00-C3F5-6417-B3F8-4593152D6F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335A10D7-F171-6DE9-0F67-DDE219E86B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783C0A4-7C98-40C2-8A52-27A93408A09E}" type="slidenum">
              <a:rPr lang="en-US" altLang="zh-CN">
                <a:latin typeface="Arial" panose="020B0604020202020204" pitchFamily="34" charset="0"/>
              </a:rPr>
              <a:pPr/>
              <a:t>27</a:t>
            </a:fld>
            <a:endParaRPr lang="en-US" altLang="zh-CN">
              <a:latin typeface="Arial" panose="020B0604020202020204" pitchFamily="34" charset="0"/>
            </a:endParaRPr>
          </a:p>
        </p:txBody>
      </p:sp>
      <p:sp>
        <p:nvSpPr>
          <p:cNvPr id="105475" name="Rectangle 2">
            <a:extLst>
              <a:ext uri="{FF2B5EF4-FFF2-40B4-BE49-F238E27FC236}">
                <a16:creationId xmlns:a16="http://schemas.microsoft.com/office/drawing/2014/main" id="{F1594D58-B7D7-B692-3FB4-EBD90F9F41D1}"/>
              </a:ext>
            </a:extLst>
          </p:cNvPr>
          <p:cNvSpPr>
            <a:spLocks noRot="1" noChangeArrowheads="1" noTextEdit="1"/>
          </p:cNvSpPr>
          <p:nvPr>
            <p:ph type="sldImg"/>
          </p:nvPr>
        </p:nvSpPr>
        <p:spPr>
          <a:ln/>
        </p:spPr>
      </p:sp>
      <p:sp>
        <p:nvSpPr>
          <p:cNvPr id="105476" name="Rectangle 3">
            <a:extLst>
              <a:ext uri="{FF2B5EF4-FFF2-40B4-BE49-F238E27FC236}">
                <a16:creationId xmlns:a16="http://schemas.microsoft.com/office/drawing/2014/main" id="{0FA65431-66CB-1DCF-68E8-3445F53A56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7EAE47C1-3F48-1EAC-F47E-2CA02AFA9B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2F4056A-0D07-41C4-841C-8125773DE223}" type="slidenum">
              <a:rPr lang="en-US" altLang="zh-CN">
                <a:latin typeface="Arial" panose="020B0604020202020204" pitchFamily="34" charset="0"/>
              </a:rPr>
              <a:pPr/>
              <a:t>28</a:t>
            </a:fld>
            <a:endParaRPr lang="en-US" altLang="zh-CN">
              <a:latin typeface="Arial" panose="020B0604020202020204" pitchFamily="34" charset="0"/>
            </a:endParaRPr>
          </a:p>
        </p:txBody>
      </p:sp>
      <p:sp>
        <p:nvSpPr>
          <p:cNvPr id="106499" name="Rectangle 2">
            <a:extLst>
              <a:ext uri="{FF2B5EF4-FFF2-40B4-BE49-F238E27FC236}">
                <a16:creationId xmlns:a16="http://schemas.microsoft.com/office/drawing/2014/main" id="{D246470C-7C7C-6F25-A800-2E1FC90620C7}"/>
              </a:ext>
            </a:extLst>
          </p:cNvPr>
          <p:cNvSpPr>
            <a:spLocks noRot="1" noChangeArrowheads="1" noTextEdit="1"/>
          </p:cNvSpPr>
          <p:nvPr>
            <p:ph type="sldImg"/>
          </p:nvPr>
        </p:nvSpPr>
        <p:spPr>
          <a:ln/>
        </p:spPr>
      </p:sp>
      <p:sp>
        <p:nvSpPr>
          <p:cNvPr id="106500" name="Rectangle 3">
            <a:extLst>
              <a:ext uri="{FF2B5EF4-FFF2-40B4-BE49-F238E27FC236}">
                <a16:creationId xmlns:a16="http://schemas.microsoft.com/office/drawing/2014/main" id="{954FF682-F36C-4C50-BCEF-374EFA48A0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40786749-220A-B750-C1BD-1F8F993BD2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AEEEFDE-E820-4B09-BD07-67D241111F91}" type="slidenum">
              <a:rPr lang="en-US" altLang="zh-CN">
                <a:latin typeface="Arial" panose="020B0604020202020204" pitchFamily="34" charset="0"/>
              </a:rPr>
              <a:pPr/>
              <a:t>29</a:t>
            </a:fld>
            <a:endParaRPr lang="en-US" altLang="zh-CN">
              <a:latin typeface="Arial" panose="020B0604020202020204" pitchFamily="34" charset="0"/>
            </a:endParaRPr>
          </a:p>
        </p:txBody>
      </p:sp>
      <p:sp>
        <p:nvSpPr>
          <p:cNvPr id="107523" name="Rectangle 2">
            <a:extLst>
              <a:ext uri="{FF2B5EF4-FFF2-40B4-BE49-F238E27FC236}">
                <a16:creationId xmlns:a16="http://schemas.microsoft.com/office/drawing/2014/main" id="{4B6A4591-BE02-A0FC-BD4D-5512CE885323}"/>
              </a:ext>
            </a:extLst>
          </p:cNvPr>
          <p:cNvSpPr>
            <a:spLocks noRot="1" noChangeArrowheads="1" noTextEdit="1"/>
          </p:cNvSpPr>
          <p:nvPr>
            <p:ph type="sldImg"/>
          </p:nvPr>
        </p:nvSpPr>
        <p:spPr>
          <a:ln/>
        </p:spPr>
      </p:sp>
      <p:sp>
        <p:nvSpPr>
          <p:cNvPr id="107524" name="Rectangle 3">
            <a:extLst>
              <a:ext uri="{FF2B5EF4-FFF2-40B4-BE49-F238E27FC236}">
                <a16:creationId xmlns:a16="http://schemas.microsoft.com/office/drawing/2014/main" id="{A7C72E76-B182-4839-FBDD-91B9C72782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384FA579-99F9-3F8B-F24A-99C816F8A9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3AAEDDD-F631-45B9-877E-CA1FE54A64C7}" type="slidenum">
              <a:rPr lang="en-US" altLang="zh-CN">
                <a:latin typeface="Arial" panose="020B0604020202020204" pitchFamily="34" charset="0"/>
              </a:rPr>
              <a:pPr/>
              <a:t>30</a:t>
            </a:fld>
            <a:endParaRPr lang="en-US" altLang="zh-CN">
              <a:latin typeface="Arial" panose="020B0604020202020204" pitchFamily="34" charset="0"/>
            </a:endParaRPr>
          </a:p>
        </p:txBody>
      </p:sp>
      <p:sp>
        <p:nvSpPr>
          <p:cNvPr id="109571" name="Rectangle 2">
            <a:extLst>
              <a:ext uri="{FF2B5EF4-FFF2-40B4-BE49-F238E27FC236}">
                <a16:creationId xmlns:a16="http://schemas.microsoft.com/office/drawing/2014/main" id="{2E4B9EBF-EA18-6B88-5BBB-3ECF055409C7}"/>
              </a:ext>
            </a:extLst>
          </p:cNvPr>
          <p:cNvSpPr>
            <a:spLocks noRot="1" noChangeArrowheads="1" noTextEdit="1"/>
          </p:cNvSpPr>
          <p:nvPr>
            <p:ph type="sldImg"/>
          </p:nvPr>
        </p:nvSpPr>
        <p:spPr>
          <a:ln/>
        </p:spPr>
      </p:sp>
      <p:sp>
        <p:nvSpPr>
          <p:cNvPr id="109572" name="Rectangle 3">
            <a:extLst>
              <a:ext uri="{FF2B5EF4-FFF2-40B4-BE49-F238E27FC236}">
                <a16:creationId xmlns:a16="http://schemas.microsoft.com/office/drawing/2014/main" id="{FD18BE9A-2379-43FC-7220-051F3892C6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597E3395-F21C-97C2-EF68-90BC29A79D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E743070-58BD-4F7B-AB84-4838106980F0}" type="slidenum">
              <a:rPr lang="en-US" altLang="zh-CN">
                <a:latin typeface="Arial" panose="020B0604020202020204" pitchFamily="34" charset="0"/>
              </a:rPr>
              <a:pPr/>
              <a:t>31</a:t>
            </a:fld>
            <a:endParaRPr lang="en-US" altLang="zh-CN">
              <a:latin typeface="Arial" panose="020B0604020202020204" pitchFamily="34" charset="0"/>
            </a:endParaRPr>
          </a:p>
        </p:txBody>
      </p:sp>
      <p:sp>
        <p:nvSpPr>
          <p:cNvPr id="111619" name="Rectangle 2">
            <a:extLst>
              <a:ext uri="{FF2B5EF4-FFF2-40B4-BE49-F238E27FC236}">
                <a16:creationId xmlns:a16="http://schemas.microsoft.com/office/drawing/2014/main" id="{E0824F5B-EB05-8B88-4149-D5A9F805F241}"/>
              </a:ext>
            </a:extLst>
          </p:cNvPr>
          <p:cNvSpPr>
            <a:spLocks noRot="1" noChangeArrowheads="1" noTextEdit="1"/>
          </p:cNvSpPr>
          <p:nvPr>
            <p:ph type="sldImg"/>
          </p:nvPr>
        </p:nvSpPr>
        <p:spPr>
          <a:ln/>
        </p:spPr>
      </p:sp>
      <p:sp>
        <p:nvSpPr>
          <p:cNvPr id="111620" name="Rectangle 3">
            <a:extLst>
              <a:ext uri="{FF2B5EF4-FFF2-40B4-BE49-F238E27FC236}">
                <a16:creationId xmlns:a16="http://schemas.microsoft.com/office/drawing/2014/main" id="{0575CCE8-844E-DA03-98F0-80ECAB996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1135A58A-B285-E455-A499-C9B014F068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69BACBB-7A86-4F01-ADF5-AC5355FBCA1F}" type="slidenum">
              <a:rPr lang="en-US" altLang="zh-CN">
                <a:latin typeface="Arial" panose="020B0604020202020204" pitchFamily="34" charset="0"/>
              </a:rPr>
              <a:pPr/>
              <a:t>32</a:t>
            </a:fld>
            <a:endParaRPr lang="en-US" altLang="zh-CN">
              <a:latin typeface="Arial" panose="020B0604020202020204" pitchFamily="34" charset="0"/>
            </a:endParaRPr>
          </a:p>
        </p:txBody>
      </p:sp>
      <p:sp>
        <p:nvSpPr>
          <p:cNvPr id="112643" name="Rectangle 2">
            <a:extLst>
              <a:ext uri="{FF2B5EF4-FFF2-40B4-BE49-F238E27FC236}">
                <a16:creationId xmlns:a16="http://schemas.microsoft.com/office/drawing/2014/main" id="{F604D03F-8BFF-BDCA-53F3-C475B3320177}"/>
              </a:ext>
            </a:extLst>
          </p:cNvPr>
          <p:cNvSpPr>
            <a:spLocks noRot="1" noChangeArrowheads="1" noTextEdit="1"/>
          </p:cNvSpPr>
          <p:nvPr>
            <p:ph type="sldImg"/>
          </p:nvPr>
        </p:nvSpPr>
        <p:spPr>
          <a:ln/>
        </p:spPr>
      </p:sp>
      <p:sp>
        <p:nvSpPr>
          <p:cNvPr id="112644" name="Rectangle 3">
            <a:extLst>
              <a:ext uri="{FF2B5EF4-FFF2-40B4-BE49-F238E27FC236}">
                <a16:creationId xmlns:a16="http://schemas.microsoft.com/office/drawing/2014/main" id="{0EA91B3D-ECB7-51DC-D99C-BC6640CB47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09C1F41F-D0F3-16B9-D7F5-84ABDDF17B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1D33184-F733-490D-B4DE-77182751F978}" type="slidenum">
              <a:rPr lang="en-US" altLang="zh-CN">
                <a:latin typeface="Arial" panose="020B0604020202020204" pitchFamily="34" charset="0"/>
              </a:rPr>
              <a:pPr/>
              <a:t>33</a:t>
            </a:fld>
            <a:endParaRPr lang="en-US" altLang="zh-CN">
              <a:latin typeface="Arial" panose="020B0604020202020204" pitchFamily="34" charset="0"/>
            </a:endParaRPr>
          </a:p>
        </p:txBody>
      </p:sp>
      <p:sp>
        <p:nvSpPr>
          <p:cNvPr id="114691" name="Rectangle 2">
            <a:extLst>
              <a:ext uri="{FF2B5EF4-FFF2-40B4-BE49-F238E27FC236}">
                <a16:creationId xmlns:a16="http://schemas.microsoft.com/office/drawing/2014/main" id="{44A200B2-2AD7-04DB-8359-A228F6ADD55B}"/>
              </a:ext>
            </a:extLst>
          </p:cNvPr>
          <p:cNvSpPr>
            <a:spLocks noRot="1" noChangeArrowheads="1" noTextEdit="1"/>
          </p:cNvSpPr>
          <p:nvPr>
            <p:ph type="sldImg"/>
          </p:nvPr>
        </p:nvSpPr>
        <p:spPr>
          <a:ln/>
        </p:spPr>
      </p:sp>
      <p:sp>
        <p:nvSpPr>
          <p:cNvPr id="114692" name="Rectangle 3">
            <a:extLst>
              <a:ext uri="{FF2B5EF4-FFF2-40B4-BE49-F238E27FC236}">
                <a16:creationId xmlns:a16="http://schemas.microsoft.com/office/drawing/2014/main" id="{F7D9EA70-8A5F-099F-E16C-D12B2F7EB5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B9309007-7D49-996B-E10F-F39E92AA1D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1BFEBCB-AE43-46D2-B16C-0821CFF97A32}" type="slidenum">
              <a:rPr lang="en-US" altLang="zh-CN">
                <a:latin typeface="Arial" panose="020B0604020202020204" pitchFamily="34" charset="0"/>
              </a:rPr>
              <a:pPr/>
              <a:t>34</a:t>
            </a:fld>
            <a:endParaRPr lang="en-US" altLang="zh-CN">
              <a:latin typeface="Arial" panose="020B0604020202020204" pitchFamily="34" charset="0"/>
            </a:endParaRPr>
          </a:p>
        </p:txBody>
      </p:sp>
      <p:sp>
        <p:nvSpPr>
          <p:cNvPr id="115715" name="Rectangle 2">
            <a:extLst>
              <a:ext uri="{FF2B5EF4-FFF2-40B4-BE49-F238E27FC236}">
                <a16:creationId xmlns:a16="http://schemas.microsoft.com/office/drawing/2014/main" id="{DEA0FC9D-A8BF-3A2B-3C07-87BB0D532EC6}"/>
              </a:ext>
            </a:extLst>
          </p:cNvPr>
          <p:cNvSpPr>
            <a:spLocks noRot="1" noChangeArrowheads="1" noTextEdit="1"/>
          </p:cNvSpPr>
          <p:nvPr>
            <p:ph type="sldImg"/>
          </p:nvPr>
        </p:nvSpPr>
        <p:spPr>
          <a:ln/>
        </p:spPr>
      </p:sp>
      <p:sp>
        <p:nvSpPr>
          <p:cNvPr id="115716" name="Rectangle 3">
            <a:extLst>
              <a:ext uri="{FF2B5EF4-FFF2-40B4-BE49-F238E27FC236}">
                <a16:creationId xmlns:a16="http://schemas.microsoft.com/office/drawing/2014/main" id="{EF052446-7008-96CA-AE58-A669816154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6C67B5AB-9946-71F8-04BB-EA3DEF01BE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878E158-4377-4B19-9FE3-C1F7D4FFFDE7}" type="slidenum">
              <a:rPr lang="en-US" altLang="zh-CN">
                <a:latin typeface="Arial" panose="020B0604020202020204" pitchFamily="34" charset="0"/>
              </a:rPr>
              <a:pPr/>
              <a:t>35</a:t>
            </a:fld>
            <a:endParaRPr lang="en-US" altLang="zh-CN">
              <a:latin typeface="Arial" panose="020B0604020202020204" pitchFamily="34" charset="0"/>
            </a:endParaRPr>
          </a:p>
        </p:txBody>
      </p:sp>
      <p:sp>
        <p:nvSpPr>
          <p:cNvPr id="116739" name="Rectangle 2">
            <a:extLst>
              <a:ext uri="{FF2B5EF4-FFF2-40B4-BE49-F238E27FC236}">
                <a16:creationId xmlns:a16="http://schemas.microsoft.com/office/drawing/2014/main" id="{BB7B66A6-D4B1-9C20-5902-6AC97F9F2E99}"/>
              </a:ext>
            </a:extLst>
          </p:cNvPr>
          <p:cNvSpPr>
            <a:spLocks noRot="1" noChangeArrowheads="1" noTextEdit="1"/>
          </p:cNvSpPr>
          <p:nvPr>
            <p:ph type="sldImg"/>
          </p:nvPr>
        </p:nvSpPr>
        <p:spPr>
          <a:ln/>
        </p:spPr>
      </p:sp>
      <p:sp>
        <p:nvSpPr>
          <p:cNvPr id="116740" name="Rectangle 3">
            <a:extLst>
              <a:ext uri="{FF2B5EF4-FFF2-40B4-BE49-F238E27FC236}">
                <a16:creationId xmlns:a16="http://schemas.microsoft.com/office/drawing/2014/main" id="{8F1E8A06-4F90-1DA2-5211-AB853B8124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3ED80480-B46E-5D07-D291-580D09FFB2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1E22500-A5FA-434C-A850-D1C121978F81}" type="slidenum">
              <a:rPr lang="en-US" altLang="zh-CN">
                <a:latin typeface="Arial" panose="020B0604020202020204" pitchFamily="34" charset="0"/>
              </a:rPr>
              <a:pPr/>
              <a:t>41</a:t>
            </a:fld>
            <a:endParaRPr lang="en-US" altLang="zh-CN">
              <a:latin typeface="Arial" panose="020B0604020202020204" pitchFamily="34" charset="0"/>
            </a:endParaRPr>
          </a:p>
        </p:txBody>
      </p:sp>
      <p:sp>
        <p:nvSpPr>
          <p:cNvPr id="117763" name="Rectangle 2">
            <a:extLst>
              <a:ext uri="{FF2B5EF4-FFF2-40B4-BE49-F238E27FC236}">
                <a16:creationId xmlns:a16="http://schemas.microsoft.com/office/drawing/2014/main" id="{600FCFAF-2C9B-003D-C827-943A63CA80C7}"/>
              </a:ext>
            </a:extLst>
          </p:cNvPr>
          <p:cNvSpPr>
            <a:spLocks noRot="1" noChangeArrowheads="1" noTextEdit="1"/>
          </p:cNvSpPr>
          <p:nvPr>
            <p:ph type="sldImg"/>
          </p:nvPr>
        </p:nvSpPr>
        <p:spPr>
          <a:ln/>
        </p:spPr>
      </p:sp>
      <p:sp>
        <p:nvSpPr>
          <p:cNvPr id="117764" name="Rectangle 3">
            <a:extLst>
              <a:ext uri="{FF2B5EF4-FFF2-40B4-BE49-F238E27FC236}">
                <a16:creationId xmlns:a16="http://schemas.microsoft.com/office/drawing/2014/main" id="{5ECDD15F-9CF7-C513-75D2-8A0B98A050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rPr>
              <a:t>9!</a:t>
            </a:r>
            <a:r>
              <a:rPr lang="zh-CN" altLang="en-US">
                <a:latin typeface="Arial" panose="020B0604020202020204" pitchFamily="34" charset="0"/>
              </a:rPr>
              <a:t>大约</a:t>
            </a:r>
            <a:r>
              <a:rPr lang="en-US" altLang="zh-CN">
                <a:latin typeface="Arial" panose="020B0604020202020204" pitchFamily="34" charset="0"/>
              </a:rPr>
              <a:t>36</a:t>
            </a:r>
            <a:r>
              <a:rPr lang="zh-CN" altLang="en-US">
                <a:latin typeface="Arial" panose="020B0604020202020204" pitchFamily="34" charset="0"/>
              </a:rPr>
              <a:t>万，拆分成</a:t>
            </a:r>
            <a:r>
              <a:rPr lang="en-US" altLang="zh-CN">
                <a:latin typeface="Arial" panose="020B0604020202020204" pitchFamily="34" charset="0"/>
              </a:rPr>
              <a:t>9</a:t>
            </a:r>
            <a:r>
              <a:rPr lang="zh-CN" altLang="en-US">
                <a:latin typeface="Arial" panose="020B0604020202020204" pitchFamily="34" charset="0"/>
              </a:rPr>
              <a:t>个每个</a:t>
            </a:r>
            <a:r>
              <a:rPr lang="en-US" altLang="zh-CN">
                <a:latin typeface="Arial" panose="020B0604020202020204" pitchFamily="34" charset="0"/>
              </a:rPr>
              <a:t>4</a:t>
            </a:r>
            <a:r>
              <a:rPr lang="zh-CN" altLang="en-US">
                <a:latin typeface="Arial" panose="020B0604020202020204" pitchFamily="34" charset="0"/>
              </a:rPr>
              <a:t>万，再拆分为</a:t>
            </a:r>
            <a:r>
              <a:rPr lang="en-US" altLang="zh-CN">
                <a:latin typeface="Arial" panose="020B0604020202020204" pitchFamily="34" charset="0"/>
              </a:rPr>
              <a:t>8</a:t>
            </a:r>
            <a:r>
              <a:rPr lang="zh-CN" altLang="en-US">
                <a:latin typeface="Arial" panose="020B0604020202020204" pitchFamily="34" charset="0"/>
              </a:rPr>
              <a:t>个，每个</a:t>
            </a:r>
            <a:r>
              <a:rPr lang="en-US" altLang="zh-CN">
                <a:latin typeface="Arial" panose="020B0604020202020204" pitchFamily="34" charset="0"/>
              </a:rPr>
              <a:t>5</a:t>
            </a:r>
            <a:r>
              <a:rPr lang="zh-CN" altLang="en-US">
                <a:latin typeface="Arial" panose="020B0604020202020204" pitchFamily="34" charset="0"/>
              </a:rPr>
              <a:t>千，折半查找</a:t>
            </a:r>
            <a:endParaRPr lang="zh-CN" altLang="zh-CN">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DC75FF52-7802-74D4-B853-8572D7FED5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7BC322E-97F0-42B7-9084-8DA1F7638FD1}" type="slidenum">
              <a:rPr lang="en-US" altLang="zh-CN">
                <a:latin typeface="Arial" panose="020B0604020202020204" pitchFamily="34" charset="0"/>
              </a:rPr>
              <a:pPr/>
              <a:t>42</a:t>
            </a:fld>
            <a:endParaRPr lang="en-US" altLang="zh-CN">
              <a:latin typeface="Arial" panose="020B0604020202020204" pitchFamily="34" charset="0"/>
            </a:endParaRPr>
          </a:p>
        </p:txBody>
      </p:sp>
      <p:sp>
        <p:nvSpPr>
          <p:cNvPr id="118787" name="Rectangle 2">
            <a:extLst>
              <a:ext uri="{FF2B5EF4-FFF2-40B4-BE49-F238E27FC236}">
                <a16:creationId xmlns:a16="http://schemas.microsoft.com/office/drawing/2014/main" id="{AA83FA4B-128A-7E80-A2FD-8672BCD4BB8C}"/>
              </a:ext>
            </a:extLst>
          </p:cNvPr>
          <p:cNvSpPr>
            <a:spLocks noRot="1" noChangeArrowheads="1" noTextEdit="1"/>
          </p:cNvSpPr>
          <p:nvPr>
            <p:ph type="sldImg"/>
          </p:nvPr>
        </p:nvSpPr>
        <p:spPr>
          <a:ln/>
        </p:spPr>
      </p:sp>
      <p:sp>
        <p:nvSpPr>
          <p:cNvPr id="118788" name="Rectangle 3">
            <a:extLst>
              <a:ext uri="{FF2B5EF4-FFF2-40B4-BE49-F238E27FC236}">
                <a16:creationId xmlns:a16="http://schemas.microsoft.com/office/drawing/2014/main" id="{96D2B859-B2E5-097C-C523-CEBADA27D1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85FFC33F-205F-7257-CAD0-E21F13EFE1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621981C-8AA7-42CC-B370-F6C40D8F3F05}" type="slidenum">
              <a:rPr lang="en-US" altLang="zh-CN">
                <a:latin typeface="Arial" panose="020B0604020202020204" pitchFamily="34" charset="0"/>
              </a:rPr>
              <a:pPr/>
              <a:t>43</a:t>
            </a:fld>
            <a:endParaRPr lang="en-US" altLang="zh-CN">
              <a:latin typeface="Arial" panose="020B0604020202020204" pitchFamily="34" charset="0"/>
            </a:endParaRPr>
          </a:p>
        </p:txBody>
      </p:sp>
      <p:sp>
        <p:nvSpPr>
          <p:cNvPr id="119811" name="Rectangle 2">
            <a:extLst>
              <a:ext uri="{FF2B5EF4-FFF2-40B4-BE49-F238E27FC236}">
                <a16:creationId xmlns:a16="http://schemas.microsoft.com/office/drawing/2014/main" id="{6CF6AE33-934F-BEE1-0142-0998257365D8}"/>
              </a:ext>
            </a:extLst>
          </p:cNvPr>
          <p:cNvSpPr>
            <a:spLocks noRot="1" noChangeArrowheads="1" noTextEdit="1"/>
          </p:cNvSpPr>
          <p:nvPr>
            <p:ph type="sldImg"/>
          </p:nvPr>
        </p:nvSpPr>
        <p:spPr>
          <a:ln/>
        </p:spPr>
      </p:sp>
      <p:sp>
        <p:nvSpPr>
          <p:cNvPr id="119812" name="Rectangle 3">
            <a:extLst>
              <a:ext uri="{FF2B5EF4-FFF2-40B4-BE49-F238E27FC236}">
                <a16:creationId xmlns:a16="http://schemas.microsoft.com/office/drawing/2014/main" id="{D9B97C11-53F4-D85C-2928-50C2CF92DA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711" y="5351142"/>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29" name="标题 28"/>
          <p:cNvSpPr>
            <a:spLocks noGrp="1"/>
          </p:cNvSpPr>
          <p:nvPr>
            <p:ph type="ctrTitle"/>
          </p:nvPr>
        </p:nvSpPr>
        <p:spPr>
          <a:xfrm>
            <a:off x="507934" y="4854536"/>
            <a:ext cx="11276132" cy="1222658"/>
          </a:xfrm>
        </p:spPr>
        <p:txBody>
          <a:bodyPr anchor="t"/>
          <a:lstStyle/>
          <a:p>
            <a:r>
              <a:rPr kumimoji="0" lang="zh-CN" altLang="en-US"/>
              <a:t>单击此处编辑母版标题样式</a:t>
            </a:r>
            <a:endParaRPr kumimoji="0" lang="en-US"/>
          </a:p>
        </p:txBody>
      </p:sp>
      <p:sp>
        <p:nvSpPr>
          <p:cNvPr id="9" name="副标题 8"/>
          <p:cNvSpPr>
            <a:spLocks noGrp="1"/>
          </p:cNvSpPr>
          <p:nvPr>
            <p:ph type="subTitle" idx="1"/>
          </p:nvPr>
        </p:nvSpPr>
        <p:spPr>
          <a:xfrm>
            <a:off x="507934" y="3887100"/>
            <a:ext cx="11276132" cy="914612"/>
          </a:xfrm>
        </p:spPr>
        <p:txBody>
          <a:bodyPr anchor="b"/>
          <a:lstStyle>
            <a:lvl1pPr marL="0" indent="0" algn="l">
              <a:buNone/>
              <a:defRPr sz="2400">
                <a:solidFill>
                  <a:schemeClr val="tx2">
                    <a:shade val="75000"/>
                  </a:schemeClr>
                </a:solidFill>
              </a:defRPr>
            </a:lvl1pPr>
            <a:lvl2pPr marL="457154" indent="0" algn="ctr">
              <a:buNone/>
            </a:lvl2pPr>
            <a:lvl3pPr marL="914309" indent="0" algn="ctr">
              <a:buNone/>
            </a:lvl3pPr>
            <a:lvl4pPr marL="1371463" indent="0" algn="ctr">
              <a:buNone/>
            </a:lvl4pPr>
            <a:lvl5pPr marL="1828617" indent="0" algn="ctr">
              <a:buNone/>
            </a:lvl5pPr>
            <a:lvl6pPr marL="2285771" indent="0" algn="ctr">
              <a:buNone/>
            </a:lvl6pPr>
            <a:lvl7pPr marL="2742926" indent="0" algn="ctr">
              <a:buNone/>
            </a:lvl7pPr>
            <a:lvl8pPr marL="3200080" indent="0" algn="ctr">
              <a:buNone/>
            </a:lvl8pPr>
            <a:lvl9pPr marL="3657234" indent="0" algn="ctr">
              <a:buNone/>
            </a:lvl9pPr>
          </a:lstStyle>
          <a:p>
            <a:r>
              <a:rPr kumimoji="0" lang="zh-CN" altLang="en-US"/>
              <a:t>单击此处编辑母版副标题样式</a:t>
            </a:r>
            <a:endParaRPr kumimoji="0" lang="en-US"/>
          </a:p>
        </p:txBody>
      </p:sp>
      <p:sp>
        <p:nvSpPr>
          <p:cNvPr id="16" name="日期占位符 15"/>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2" name="页脚占位符 1"/>
          <p:cNvSpPr>
            <a:spLocks noGrp="1"/>
          </p:cNvSpPr>
          <p:nvPr>
            <p:ph type="ftr" sz="quarter" idx="11"/>
          </p:nvPr>
        </p:nvSpPr>
        <p:spPr/>
        <p:txBody>
          <a:bodyPr/>
          <a:lstStyle/>
          <a:p>
            <a:endParaRPr lang="zh-CN" altLang="en-US"/>
          </a:p>
        </p:txBody>
      </p:sp>
      <p:sp>
        <p:nvSpPr>
          <p:cNvPr id="15" name="灯片编号占位符 14"/>
          <p:cNvSpPr>
            <a:spLocks noGrp="1"/>
          </p:cNvSpPr>
          <p:nvPr>
            <p:ph type="sldNum" sz="quarter" idx="12"/>
          </p:nvPr>
        </p:nvSpPr>
        <p:spPr>
          <a:xfrm>
            <a:off x="10971372" y="6475451"/>
            <a:ext cx="1011804" cy="246945"/>
          </a:xfrm>
        </p:spPr>
        <p:txBody>
          <a:bodyPr/>
          <a:lstStyle/>
          <a:p>
            <a:fld id="{FF35C9E2-507E-45B8-BD25-F3C98D86BE5F}" type="slidenum">
              <a:rPr lang="zh-CN" altLang="en-US" smtClean="0"/>
              <a:t>‹#›</a:t>
            </a:fld>
            <a:endParaRPr lang="zh-CN" altLang="en-US"/>
          </a:p>
        </p:txBody>
      </p:sp>
      <p:pic>
        <p:nvPicPr>
          <p:cNvPr id="3" name="图片 2">
            <a:extLst>
              <a:ext uri="{FF2B5EF4-FFF2-40B4-BE49-F238E27FC236}">
                <a16:creationId xmlns:a16="http://schemas.microsoft.com/office/drawing/2014/main" id="{71EFEFC3-9A40-97F0-4D53-E89EAD2ECEE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63785" y="756516"/>
            <a:ext cx="4262844" cy="680731"/>
          </a:xfrm>
          <a:prstGeom prst="rect">
            <a:avLst/>
          </a:prstGeom>
          <a:effectLst>
            <a:outerShdw blurRad="50800" dist="50800" dir="5400000" algn="ctr" rotWithShape="0">
              <a:srgbClr val="000000">
                <a:alpha val="98000"/>
              </a:srgbClr>
            </a:outerShdw>
          </a:effectLst>
        </p:spPr>
      </p:pic>
    </p:spTree>
    <p:extLst>
      <p:ext uri="{BB962C8B-B14F-4D97-AF65-F5344CB8AC3E}">
        <p14:creationId xmlns:p14="http://schemas.microsoft.com/office/powerpoint/2010/main" val="237448516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p>
            <a:r>
              <a:rPr kumimoji="0" lang="zh-CN" altLang="en-US"/>
              <a:t>单击此处编辑母版标题样式</a:t>
            </a:r>
            <a:endParaRPr kumimoji="0" lang="en-US"/>
          </a:p>
        </p:txBody>
      </p:sp>
      <p:sp>
        <p:nvSpPr>
          <p:cNvPr id="27" name="内容占位符 26"/>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19" name="页脚占位符 18"/>
          <p:cNvSpPr>
            <a:spLocks noGrp="1"/>
          </p:cNvSpPr>
          <p:nvPr>
            <p:ph type="ftr" sz="quarter" idx="11"/>
          </p:nvPr>
        </p:nvSpPr>
        <p:spPr>
          <a:xfrm>
            <a:off x="4774579" y="76219"/>
            <a:ext cx="3860297" cy="288992"/>
          </a:xfrm>
        </p:spPr>
        <p:txBody>
          <a:bodyPr/>
          <a:lstStyle/>
          <a:p>
            <a:endParaRPr lang="zh-CN" altLang="en-US"/>
          </a:p>
        </p:txBody>
      </p:sp>
      <p:sp>
        <p:nvSpPr>
          <p:cNvPr id="16" name="灯片编号占位符 15"/>
          <p:cNvSpPr>
            <a:spLocks noGrp="1"/>
          </p:cNvSpPr>
          <p:nvPr>
            <p:ph type="sldNum" sz="quarter" idx="12"/>
          </p:nvPr>
        </p:nvSpPr>
        <p:spPr>
          <a:xfrm>
            <a:off x="10971372" y="6475451"/>
            <a:ext cx="1011804" cy="246945"/>
          </a:xfrm>
        </p:spPr>
        <p:txBody>
          <a:bodyPr/>
          <a:lstStyle/>
          <a:p>
            <a:fld id="{FF35C9E2-507E-45B8-BD25-F3C98D86BE5F}" type="slidenum">
              <a:rPr lang="zh-CN" altLang="en-US" smtClean="0"/>
              <a:t>‹#›</a:t>
            </a:fld>
            <a:endParaRPr lang="zh-CN" altLang="en-US"/>
          </a:p>
        </p:txBody>
      </p:sp>
      <p:pic>
        <p:nvPicPr>
          <p:cNvPr id="2" name="图片 1">
            <a:extLst>
              <a:ext uri="{FF2B5EF4-FFF2-40B4-BE49-F238E27FC236}">
                <a16:creationId xmlns:a16="http://schemas.microsoft.com/office/drawing/2014/main" id="{16C686BC-D84A-F585-FFF4-35A8D766C9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3" name="矩形 2">
            <a:extLst>
              <a:ext uri="{FF2B5EF4-FFF2-40B4-BE49-F238E27FC236}">
                <a16:creationId xmlns:a16="http://schemas.microsoft.com/office/drawing/2014/main" id="{93E674F8-D069-5E3A-7F51-0737CC644829}"/>
              </a:ext>
            </a:extLst>
          </p:cNvPr>
          <p:cNvSpPr/>
          <p:nvPr userDrawn="1"/>
        </p:nvSpPr>
        <p:spPr>
          <a:xfrm>
            <a:off x="10228666" y="1927217"/>
            <a:ext cx="674825" cy="3247592"/>
          </a:xfrm>
          <a:prstGeom prst="rect">
            <a:avLst/>
          </a:prstGeom>
          <a:blipFill dpi="0" rotWithShape="1">
            <a:blip r:embed="rId3"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372252682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711" y="3445701"/>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6" name="文本占位符 5"/>
          <p:cNvSpPr>
            <a:spLocks noGrp="1"/>
          </p:cNvSpPr>
          <p:nvPr>
            <p:ph type="body" idx="1"/>
          </p:nvPr>
        </p:nvSpPr>
        <p:spPr>
          <a:xfrm>
            <a:off x="507934" y="1676788"/>
            <a:ext cx="11276132" cy="1219482"/>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19" name="日期占位符 18"/>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11" name="页脚占位符 10"/>
          <p:cNvSpPr>
            <a:spLocks noGrp="1"/>
          </p:cNvSpPr>
          <p:nvPr>
            <p:ph type="ftr" sz="quarter" idx="11"/>
          </p:nvPr>
        </p:nvSpPr>
        <p:spPr/>
        <p:txBody>
          <a:bodyPr/>
          <a:lstStyle/>
          <a:p>
            <a:endParaRPr lang="zh-CN" altLang="en-US"/>
          </a:p>
        </p:txBody>
      </p:sp>
      <p:sp>
        <p:nvSpPr>
          <p:cNvPr id="16" name="灯片编号占位符 15"/>
          <p:cNvSpPr>
            <a:spLocks noGrp="1"/>
          </p:cNvSpPr>
          <p:nvPr>
            <p:ph type="sldNum" sz="quarter" idx="12"/>
          </p:nvPr>
        </p:nvSpPr>
        <p:spPr/>
        <p:txBody>
          <a:bodyPr/>
          <a:lstStyle/>
          <a:p>
            <a:fld id="{FF35C9E2-507E-45B8-BD25-F3C98D86BE5F}" type="slidenum">
              <a:rPr lang="zh-CN" altLang="en-US" smtClean="0"/>
              <a:t>‹#›</a:t>
            </a:fld>
            <a:endParaRPr lang="zh-CN" altLang="en-US"/>
          </a:p>
        </p:txBody>
      </p:sp>
      <p:sp>
        <p:nvSpPr>
          <p:cNvPr id="8" name="标题 7"/>
          <p:cNvSpPr>
            <a:spLocks noGrp="1"/>
          </p:cNvSpPr>
          <p:nvPr>
            <p:ph type="title"/>
          </p:nvPr>
        </p:nvSpPr>
        <p:spPr>
          <a:xfrm>
            <a:off x="240602" y="2947769"/>
            <a:ext cx="11580892" cy="1185099"/>
          </a:xfrm>
        </p:spPr>
        <p:txBody>
          <a:bodyPr rtlCol="0" anchor="t"/>
          <a:lstStyle>
            <a:lvl1pPr algn="r">
              <a:defRPr/>
            </a:lvl1pPr>
          </a:lstStyle>
          <a:p>
            <a:r>
              <a:rPr kumimoji="0" lang="zh-CN" altLang="en-US"/>
              <a:t>单击此处编辑母版标题样式</a:t>
            </a:r>
            <a:endParaRPr kumimoji="0" lang="en-US"/>
          </a:p>
        </p:txBody>
      </p:sp>
      <p:pic>
        <p:nvPicPr>
          <p:cNvPr id="2" name="图片 1">
            <a:extLst>
              <a:ext uri="{FF2B5EF4-FFF2-40B4-BE49-F238E27FC236}">
                <a16:creationId xmlns:a16="http://schemas.microsoft.com/office/drawing/2014/main" id="{A7174B1D-EE8A-FDC7-CEB6-0940CBB5A142}"/>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3" name="矩形 2">
            <a:extLst>
              <a:ext uri="{FF2B5EF4-FFF2-40B4-BE49-F238E27FC236}">
                <a16:creationId xmlns:a16="http://schemas.microsoft.com/office/drawing/2014/main" id="{55D3A3A7-825E-ED17-752A-CF504AC4992E}"/>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52123944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0" name="标题 19"/>
          <p:cNvSpPr>
            <a:spLocks noGrp="1"/>
          </p:cNvSpPr>
          <p:nvPr>
            <p:ph type="title"/>
          </p:nvPr>
        </p:nvSpPr>
        <p:spPr>
          <a:xfrm>
            <a:off x="402284" y="457306"/>
            <a:ext cx="11580892" cy="841443"/>
          </a:xfrm>
        </p:spPr>
        <p:txBody>
          <a:bodyPr/>
          <a:lstStyle/>
          <a:p>
            <a:r>
              <a:rPr kumimoji="0" lang="zh-CN" altLang="en-US"/>
              <a:t>单击此处编辑母版标题样式</a:t>
            </a:r>
            <a:endParaRPr kumimoji="0" lang="en-US"/>
          </a:p>
        </p:txBody>
      </p:sp>
      <p:sp>
        <p:nvSpPr>
          <p:cNvPr id="14" name="内容占位符 13"/>
          <p:cNvSpPr>
            <a:spLocks noGrp="1"/>
          </p:cNvSpPr>
          <p:nvPr>
            <p:ph sz="half" idx="1"/>
          </p:nvPr>
        </p:nvSpPr>
        <p:spPr>
          <a:xfrm>
            <a:off x="406347" y="1600571"/>
            <a:ext cx="5587273" cy="4725494"/>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half" idx="2"/>
          </p:nvPr>
        </p:nvSpPr>
        <p:spPr>
          <a:xfrm>
            <a:off x="6196793" y="1600571"/>
            <a:ext cx="5790446" cy="4725494"/>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1" name="日期占位符 20"/>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10" name="页脚占位符 9"/>
          <p:cNvSpPr>
            <a:spLocks noGrp="1"/>
          </p:cNvSpPr>
          <p:nvPr>
            <p:ph type="ftr" sz="quarter" idx="11"/>
          </p:nvPr>
        </p:nvSpPr>
        <p:spPr/>
        <p:txBody>
          <a:bodyPr/>
          <a:lstStyle/>
          <a:p>
            <a:endParaRPr lang="zh-CN" altLang="en-US"/>
          </a:p>
        </p:txBody>
      </p:sp>
      <p:sp>
        <p:nvSpPr>
          <p:cNvPr id="31" name="灯片编号占位符 30"/>
          <p:cNvSpPr>
            <a:spLocks noGrp="1"/>
          </p:cNvSpPr>
          <p:nvPr>
            <p:ph type="sldNum" sz="quarter" idx="12"/>
          </p:nvPr>
        </p:nvSpPr>
        <p:spPr/>
        <p:txBody>
          <a:bodyPr/>
          <a:lstStyle/>
          <a:p>
            <a:fld id="{FF35C9E2-507E-45B8-BD25-F3C98D86BE5F}" type="slidenum">
              <a:rPr lang="zh-CN" altLang="en-US" smtClean="0"/>
              <a:t>‹#›</a:t>
            </a:fld>
            <a:endParaRPr lang="zh-CN" altLang="en-US"/>
          </a:p>
        </p:txBody>
      </p:sp>
      <p:pic>
        <p:nvPicPr>
          <p:cNvPr id="2" name="图片 1">
            <a:extLst>
              <a:ext uri="{FF2B5EF4-FFF2-40B4-BE49-F238E27FC236}">
                <a16:creationId xmlns:a16="http://schemas.microsoft.com/office/drawing/2014/main" id="{D3C47A14-E6F2-4E69-9286-73C83F4872CC}"/>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3" name="矩形 2">
            <a:extLst>
              <a:ext uri="{FF2B5EF4-FFF2-40B4-BE49-F238E27FC236}">
                <a16:creationId xmlns:a16="http://schemas.microsoft.com/office/drawing/2014/main" id="{862CCE02-D313-62CE-2CB6-27C80259C040}"/>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231253318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9" name="标题 28"/>
          <p:cNvSpPr>
            <a:spLocks noGrp="1"/>
          </p:cNvSpPr>
          <p:nvPr>
            <p:ph type="title"/>
          </p:nvPr>
        </p:nvSpPr>
        <p:spPr>
          <a:xfrm>
            <a:off x="406347" y="5411453"/>
            <a:ext cx="11479306" cy="882854"/>
          </a:xfrm>
        </p:spPr>
        <p:txBody>
          <a:bodyPr anchor="ctr"/>
          <a:lstStyle>
            <a:lvl1pPr>
              <a:defRPr/>
            </a:lvl1p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375211" y="666904"/>
            <a:ext cx="5719996" cy="639910"/>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25" name="文本占位符 24"/>
          <p:cNvSpPr>
            <a:spLocks noGrp="1"/>
          </p:cNvSpPr>
          <p:nvPr>
            <p:ph type="body" sz="half" idx="3"/>
          </p:nvPr>
        </p:nvSpPr>
        <p:spPr>
          <a:xfrm>
            <a:off x="6192561" y="666904"/>
            <a:ext cx="5722243" cy="639910"/>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内容占位符 3"/>
          <p:cNvSpPr>
            <a:spLocks noGrp="1"/>
          </p:cNvSpPr>
          <p:nvPr>
            <p:ph sz="quarter" idx="2"/>
          </p:nvPr>
        </p:nvSpPr>
        <p:spPr>
          <a:xfrm>
            <a:off x="375211" y="1316343"/>
            <a:ext cx="5719996" cy="3942676"/>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8" name="内容占位符 27"/>
          <p:cNvSpPr>
            <a:spLocks noGrp="1"/>
          </p:cNvSpPr>
          <p:nvPr>
            <p:ph sz="quarter" idx="4"/>
          </p:nvPr>
        </p:nvSpPr>
        <p:spPr>
          <a:xfrm>
            <a:off x="6197500" y="1316343"/>
            <a:ext cx="5717304" cy="3942676"/>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0" name="日期占位符 9"/>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10971372" y="6478500"/>
            <a:ext cx="1015868" cy="246945"/>
          </a:xfrm>
        </p:spPr>
        <p:txBody>
          <a:bodyPr/>
          <a:lstStyle/>
          <a:p>
            <a:fld id="{FF35C9E2-507E-45B8-BD25-F3C98D86BE5F}" type="slidenum">
              <a:rPr lang="zh-CN" altLang="en-US" smtClean="0"/>
              <a:t>‹#›</a:t>
            </a:fld>
            <a:endParaRPr lang="zh-CN" altLang="en-US"/>
          </a:p>
        </p:txBody>
      </p:sp>
      <p:sp>
        <p:nvSpPr>
          <p:cNvPr id="11" name="直接连接符 10"/>
          <p:cNvSpPr>
            <a:spLocks noChangeShapeType="1"/>
          </p:cNvSpPr>
          <p:nvPr/>
        </p:nvSpPr>
        <p:spPr bwMode="auto">
          <a:xfrm>
            <a:off x="685711" y="6021195"/>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pic>
        <p:nvPicPr>
          <p:cNvPr id="2" name="图片 1">
            <a:extLst>
              <a:ext uri="{FF2B5EF4-FFF2-40B4-BE49-F238E27FC236}">
                <a16:creationId xmlns:a16="http://schemas.microsoft.com/office/drawing/2014/main" id="{0CA6DC45-A57C-2A6B-1758-069E13E4D2A2}"/>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3" name="矩形 2">
            <a:extLst>
              <a:ext uri="{FF2B5EF4-FFF2-40B4-BE49-F238E27FC236}">
                <a16:creationId xmlns:a16="http://schemas.microsoft.com/office/drawing/2014/main" id="{C4A52EC4-D988-0354-3653-55917A421357}"/>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369923067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0" name="标题 29"/>
          <p:cNvSpPr>
            <a:spLocks noGrp="1"/>
          </p:cNvSpPr>
          <p:nvPr>
            <p:ph type="title"/>
          </p:nvPr>
        </p:nvSpPr>
        <p:spPr>
          <a:xfrm>
            <a:off x="402284" y="457306"/>
            <a:ext cx="11580892" cy="841443"/>
          </a:xfrm>
        </p:spPr>
        <p:txBody>
          <a:bodyPr/>
          <a:lstStyle/>
          <a:p>
            <a:r>
              <a:rPr kumimoji="0" lang="zh-CN" altLang="en-US"/>
              <a:t>单击此处编辑母版标题样式</a:t>
            </a:r>
            <a:endParaRPr kumimoji="0" lang="en-US"/>
          </a:p>
        </p:txBody>
      </p:sp>
      <p:sp>
        <p:nvSpPr>
          <p:cNvPr id="12" name="日期占位符 11"/>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21" name="页脚占位符 20"/>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35C9E2-507E-45B8-BD25-F3C98D86BE5F}" type="slidenum">
              <a:rPr lang="zh-CN" altLang="en-US" smtClean="0"/>
              <a:t>‹#›</a:t>
            </a:fld>
            <a:endParaRPr lang="zh-CN" altLang="en-US"/>
          </a:p>
        </p:txBody>
      </p:sp>
      <p:pic>
        <p:nvPicPr>
          <p:cNvPr id="2" name="图片 1">
            <a:extLst>
              <a:ext uri="{FF2B5EF4-FFF2-40B4-BE49-F238E27FC236}">
                <a16:creationId xmlns:a16="http://schemas.microsoft.com/office/drawing/2014/main" id="{5828A9F2-BA92-EAA6-43C2-A8FE80642CFD}"/>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3" name="矩形 2">
            <a:extLst>
              <a:ext uri="{FF2B5EF4-FFF2-40B4-BE49-F238E27FC236}">
                <a16:creationId xmlns:a16="http://schemas.microsoft.com/office/drawing/2014/main" id="{09E2FC0B-AF79-0971-8041-3533F17DE918}"/>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187142779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24" name="页脚占位符 23"/>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35C9E2-507E-45B8-BD25-F3C98D86BE5F}" type="slidenum">
              <a:rPr lang="zh-CN" altLang="en-US" smtClean="0"/>
              <a:t>‹#›</a:t>
            </a:fld>
            <a:endParaRPr lang="zh-CN" altLang="en-US"/>
          </a:p>
        </p:txBody>
      </p:sp>
      <p:pic>
        <p:nvPicPr>
          <p:cNvPr id="2" name="图片 1">
            <a:extLst>
              <a:ext uri="{FF2B5EF4-FFF2-40B4-BE49-F238E27FC236}">
                <a16:creationId xmlns:a16="http://schemas.microsoft.com/office/drawing/2014/main" id="{562F51CA-4ED5-7171-9219-D347C2FACCDA}"/>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4" name="矩形 3">
            <a:extLst>
              <a:ext uri="{FF2B5EF4-FFF2-40B4-BE49-F238E27FC236}">
                <a16:creationId xmlns:a16="http://schemas.microsoft.com/office/drawing/2014/main" id="{C2E37F42-F4A4-9637-BC0D-8437F15C2890}"/>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10091869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直接连接符 7"/>
          <p:cNvSpPr>
            <a:spLocks noChangeShapeType="1"/>
          </p:cNvSpPr>
          <p:nvPr/>
        </p:nvSpPr>
        <p:spPr bwMode="auto">
          <a:xfrm>
            <a:off x="685711" y="5850473"/>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12" name="标题 11"/>
          <p:cNvSpPr>
            <a:spLocks noGrp="1"/>
          </p:cNvSpPr>
          <p:nvPr>
            <p:ph type="title"/>
          </p:nvPr>
        </p:nvSpPr>
        <p:spPr>
          <a:xfrm>
            <a:off x="609521" y="5487670"/>
            <a:ext cx="11276132" cy="520821"/>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idx="2"/>
          </p:nvPr>
        </p:nvSpPr>
        <p:spPr>
          <a:xfrm>
            <a:off x="609522" y="609741"/>
            <a:ext cx="4010562" cy="4801712"/>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14" name="内容占位符 13"/>
          <p:cNvSpPr>
            <a:spLocks noGrp="1"/>
          </p:cNvSpPr>
          <p:nvPr>
            <p:ph sz="half" idx="1"/>
          </p:nvPr>
        </p:nvSpPr>
        <p:spPr>
          <a:xfrm>
            <a:off x="4766113" y="609741"/>
            <a:ext cx="7119540" cy="4801712"/>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29" name="页脚占位符 28"/>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35C9E2-507E-45B8-BD25-F3C98D86BE5F}" type="slidenum">
              <a:rPr lang="zh-CN" altLang="en-US" smtClean="0"/>
              <a:t>‹#›</a:t>
            </a:fld>
            <a:endParaRPr lang="zh-CN" altLang="en-US"/>
          </a:p>
        </p:txBody>
      </p:sp>
      <p:pic>
        <p:nvPicPr>
          <p:cNvPr id="2" name="图片 1">
            <a:extLst>
              <a:ext uri="{FF2B5EF4-FFF2-40B4-BE49-F238E27FC236}">
                <a16:creationId xmlns:a16="http://schemas.microsoft.com/office/drawing/2014/main" id="{14C56219-5722-32C1-225A-5187E3DF8E64}"/>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3" name="矩形 2">
            <a:extLst>
              <a:ext uri="{FF2B5EF4-FFF2-40B4-BE49-F238E27FC236}">
                <a16:creationId xmlns:a16="http://schemas.microsoft.com/office/drawing/2014/main" id="{3CDD244D-5A95-09DD-CFDF-7C645A3666FE}"/>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289241994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3" name="图片占位符 12"/>
          <p:cNvSpPr>
            <a:spLocks noGrp="1"/>
          </p:cNvSpPr>
          <p:nvPr>
            <p:ph type="pic" idx="1"/>
          </p:nvPr>
        </p:nvSpPr>
        <p:spPr>
          <a:xfrm>
            <a:off x="4672992" y="616777"/>
            <a:ext cx="6704727" cy="3658447"/>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zh-CN" altLang="en-US"/>
              <a:t>单击图标添加图片</a:t>
            </a:r>
            <a:endParaRPr kumimoji="0" lang="en-US"/>
          </a:p>
        </p:txBody>
      </p:sp>
      <p:sp>
        <p:nvSpPr>
          <p:cNvPr id="7" name="日期占位符 6"/>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31" name="灯片编号占位符 30"/>
          <p:cNvSpPr>
            <a:spLocks noGrp="1"/>
          </p:cNvSpPr>
          <p:nvPr>
            <p:ph type="sldNum" sz="quarter" idx="12"/>
          </p:nvPr>
        </p:nvSpPr>
        <p:spPr/>
        <p:txBody>
          <a:bodyPr/>
          <a:lstStyle/>
          <a:p>
            <a:fld id="{FF35C9E2-507E-45B8-BD25-F3C98D86BE5F}" type="slidenum">
              <a:rPr lang="zh-CN" altLang="en-US" smtClean="0"/>
              <a:t>‹#›</a:t>
            </a:fld>
            <a:endParaRPr lang="zh-CN" altLang="en-US"/>
          </a:p>
        </p:txBody>
      </p:sp>
      <p:sp>
        <p:nvSpPr>
          <p:cNvPr id="17" name="标题 16"/>
          <p:cNvSpPr>
            <a:spLocks noGrp="1"/>
          </p:cNvSpPr>
          <p:nvPr>
            <p:ph type="title"/>
          </p:nvPr>
        </p:nvSpPr>
        <p:spPr>
          <a:xfrm>
            <a:off x="507934" y="4994916"/>
            <a:ext cx="7822182" cy="522409"/>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sz="half" idx="2"/>
          </p:nvPr>
        </p:nvSpPr>
        <p:spPr>
          <a:xfrm>
            <a:off x="507934" y="5534499"/>
            <a:ext cx="7822182" cy="768528"/>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pic>
        <p:nvPicPr>
          <p:cNvPr id="2" name="图片 1">
            <a:extLst>
              <a:ext uri="{FF2B5EF4-FFF2-40B4-BE49-F238E27FC236}">
                <a16:creationId xmlns:a16="http://schemas.microsoft.com/office/drawing/2014/main" id="{594A0373-D556-D2E2-C3D0-270E7F48C0FD}"/>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3" name="矩形 2">
            <a:extLst>
              <a:ext uri="{FF2B5EF4-FFF2-40B4-BE49-F238E27FC236}">
                <a16:creationId xmlns:a16="http://schemas.microsoft.com/office/drawing/2014/main" id="{CD89A9DC-A8AE-9EEC-0574-289EA8235675}"/>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165221913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35C9E2-507E-45B8-BD25-F3C98D86BE5F}" type="slidenum">
              <a:rPr lang="zh-CN" altLang="en-US" smtClean="0"/>
              <a:t>‹#›</a:t>
            </a:fld>
            <a:endParaRPr lang="zh-CN" altLang="en-US"/>
          </a:p>
        </p:txBody>
      </p:sp>
      <p:pic>
        <p:nvPicPr>
          <p:cNvPr id="7" name="图片 6">
            <a:extLst>
              <a:ext uri="{FF2B5EF4-FFF2-40B4-BE49-F238E27FC236}">
                <a16:creationId xmlns:a16="http://schemas.microsoft.com/office/drawing/2014/main" id="{DE36B19F-B0EB-E71B-7EA6-C34EB5586F7A}"/>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8" name="矩形 7">
            <a:extLst>
              <a:ext uri="{FF2B5EF4-FFF2-40B4-BE49-F238E27FC236}">
                <a16:creationId xmlns:a16="http://schemas.microsoft.com/office/drawing/2014/main" id="{323BE86A-D071-E117-96D3-120FD3D1DC0B}"/>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378394459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2810" y="549405"/>
            <a:ext cx="2438083" cy="5852880"/>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609520" y="549405"/>
            <a:ext cx="8330116" cy="5852880"/>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35C9E2-507E-45B8-BD25-F3C98D86BE5F}" type="slidenum">
              <a:rPr lang="zh-CN" altLang="en-US" smtClean="0"/>
              <a:t>‹#›</a:t>
            </a:fld>
            <a:endParaRPr lang="zh-CN" altLang="en-US"/>
          </a:p>
        </p:txBody>
      </p:sp>
    </p:spTree>
    <p:extLst>
      <p:ext uri="{BB962C8B-B14F-4D97-AF65-F5344CB8AC3E}">
        <p14:creationId xmlns:p14="http://schemas.microsoft.com/office/powerpoint/2010/main" val="326853445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711" y="5351142"/>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29" name="标题 28"/>
          <p:cNvSpPr>
            <a:spLocks noGrp="1"/>
          </p:cNvSpPr>
          <p:nvPr>
            <p:ph type="ctrTitle"/>
          </p:nvPr>
        </p:nvSpPr>
        <p:spPr>
          <a:xfrm>
            <a:off x="507934" y="4854536"/>
            <a:ext cx="11276132" cy="1222658"/>
          </a:xfrm>
        </p:spPr>
        <p:txBody>
          <a:bodyPr anchor="t"/>
          <a:lstStyle/>
          <a:p>
            <a:r>
              <a:rPr kumimoji="0" lang="zh-CN" altLang="en-US"/>
              <a:t>单击此处编辑母版标题样式</a:t>
            </a:r>
            <a:endParaRPr kumimoji="0" lang="en-US"/>
          </a:p>
        </p:txBody>
      </p:sp>
      <p:sp>
        <p:nvSpPr>
          <p:cNvPr id="9" name="副标题 8"/>
          <p:cNvSpPr>
            <a:spLocks noGrp="1"/>
          </p:cNvSpPr>
          <p:nvPr>
            <p:ph type="subTitle" idx="1"/>
          </p:nvPr>
        </p:nvSpPr>
        <p:spPr>
          <a:xfrm>
            <a:off x="507934" y="3887100"/>
            <a:ext cx="11276132" cy="914612"/>
          </a:xfrm>
        </p:spPr>
        <p:txBody>
          <a:bodyPr anchor="b"/>
          <a:lstStyle>
            <a:lvl1pPr marL="0" indent="0" algn="l">
              <a:buNone/>
              <a:defRPr sz="2400">
                <a:solidFill>
                  <a:schemeClr val="tx2">
                    <a:shade val="75000"/>
                  </a:schemeClr>
                </a:solidFill>
              </a:defRPr>
            </a:lvl1pPr>
            <a:lvl2pPr marL="457154" indent="0" algn="ctr">
              <a:buNone/>
            </a:lvl2pPr>
            <a:lvl3pPr marL="914309" indent="0" algn="ctr">
              <a:buNone/>
            </a:lvl3pPr>
            <a:lvl4pPr marL="1371463" indent="0" algn="ctr">
              <a:buNone/>
            </a:lvl4pPr>
            <a:lvl5pPr marL="1828617" indent="0" algn="ctr">
              <a:buNone/>
            </a:lvl5pPr>
            <a:lvl6pPr marL="2285771" indent="0" algn="ctr">
              <a:buNone/>
            </a:lvl6pPr>
            <a:lvl7pPr marL="2742926" indent="0" algn="ctr">
              <a:buNone/>
            </a:lvl7pPr>
            <a:lvl8pPr marL="3200080" indent="0" algn="ctr">
              <a:buNone/>
            </a:lvl8pPr>
            <a:lvl9pPr marL="3657234" indent="0" algn="ctr">
              <a:buNone/>
            </a:lvl9pPr>
          </a:lstStyle>
          <a:p>
            <a:r>
              <a:rPr kumimoji="0" lang="zh-CN" altLang="en-US"/>
              <a:t>单击此处编辑母版副标题样式</a:t>
            </a:r>
            <a:endParaRPr kumimoji="0" lang="en-US"/>
          </a:p>
        </p:txBody>
      </p:sp>
      <p:sp>
        <p:nvSpPr>
          <p:cNvPr id="16" name="日期占位符 15"/>
          <p:cNvSpPr>
            <a:spLocks noGrp="1"/>
          </p:cNvSpPr>
          <p:nvPr>
            <p:ph type="dt" sz="half" idx="10"/>
          </p:nvPr>
        </p:nvSpPr>
        <p:spPr/>
        <p:txBody>
          <a:bodyPr/>
          <a:lstStyle/>
          <a:p>
            <a:endParaRPr lang="en-US" altLang="zh-CN"/>
          </a:p>
        </p:txBody>
      </p:sp>
      <p:sp>
        <p:nvSpPr>
          <p:cNvPr id="2" name="页脚占位符 1"/>
          <p:cNvSpPr>
            <a:spLocks noGrp="1"/>
          </p:cNvSpPr>
          <p:nvPr>
            <p:ph type="ftr" sz="quarter" idx="11"/>
          </p:nvPr>
        </p:nvSpPr>
        <p:spPr/>
        <p:txBody>
          <a:bodyPr/>
          <a:lstStyle/>
          <a:p>
            <a:endParaRPr lang="en-US" altLang="zh-CN"/>
          </a:p>
        </p:txBody>
      </p:sp>
      <p:sp>
        <p:nvSpPr>
          <p:cNvPr id="15" name="灯片编号占位符 14"/>
          <p:cNvSpPr>
            <a:spLocks noGrp="1"/>
          </p:cNvSpPr>
          <p:nvPr>
            <p:ph type="sldNum" sz="quarter" idx="12"/>
          </p:nvPr>
        </p:nvSpPr>
        <p:spPr>
          <a:xfrm>
            <a:off x="10971372" y="6475451"/>
            <a:ext cx="1011804" cy="246945"/>
          </a:xfrm>
        </p:spPr>
        <p:txBody>
          <a:bodyPr/>
          <a:lstStyle/>
          <a:p>
            <a:fld id="{2D144C32-927F-4180-9294-88B94A00587D}" type="slidenum">
              <a:rPr lang="en-US" altLang="zh-CN" smtClean="0"/>
              <a:pPr/>
              <a:t>‹#›</a:t>
            </a:fld>
            <a:endParaRPr lang="en-US" altLang="zh-CN"/>
          </a:p>
        </p:txBody>
      </p:sp>
    </p:spTree>
    <p:extLst>
      <p:ext uri="{BB962C8B-B14F-4D97-AF65-F5344CB8AC3E}">
        <p14:creationId xmlns:p14="http://schemas.microsoft.com/office/powerpoint/2010/main" val="31299434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p>
            <a:r>
              <a:rPr kumimoji="0" lang="zh-CN" altLang="en-US"/>
              <a:t>单击此处编辑母版标题样式</a:t>
            </a:r>
            <a:endParaRPr kumimoji="0" lang="en-US"/>
          </a:p>
        </p:txBody>
      </p:sp>
      <p:sp>
        <p:nvSpPr>
          <p:cNvPr id="27" name="内容占位符 26"/>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endParaRPr lang="en-US" altLang="zh-CN"/>
          </a:p>
        </p:txBody>
      </p:sp>
      <p:sp>
        <p:nvSpPr>
          <p:cNvPr id="19" name="页脚占位符 18"/>
          <p:cNvSpPr>
            <a:spLocks noGrp="1"/>
          </p:cNvSpPr>
          <p:nvPr>
            <p:ph type="ftr" sz="quarter" idx="11"/>
          </p:nvPr>
        </p:nvSpPr>
        <p:spPr>
          <a:xfrm>
            <a:off x="4774579" y="76219"/>
            <a:ext cx="3860297" cy="288992"/>
          </a:xfrm>
        </p:spPr>
        <p:txBody>
          <a:bodyPr/>
          <a:lstStyle/>
          <a:p>
            <a:endParaRPr lang="en-US" altLang="zh-CN"/>
          </a:p>
        </p:txBody>
      </p:sp>
      <p:sp>
        <p:nvSpPr>
          <p:cNvPr id="16" name="灯片编号占位符 15"/>
          <p:cNvSpPr>
            <a:spLocks noGrp="1"/>
          </p:cNvSpPr>
          <p:nvPr>
            <p:ph type="sldNum" sz="quarter" idx="12"/>
          </p:nvPr>
        </p:nvSpPr>
        <p:spPr>
          <a:xfrm>
            <a:off x="10971372" y="6475451"/>
            <a:ext cx="1011804" cy="246945"/>
          </a:xfrm>
        </p:spPr>
        <p:txBody>
          <a:bodyPr/>
          <a:lstStyle/>
          <a:p>
            <a:fld id="{816E1AE2-1FF3-4140-B1E2-6A093B6A483C}" type="slidenum">
              <a:rPr lang="en-US" altLang="zh-CN" smtClean="0"/>
              <a:pPr/>
              <a:t>‹#›</a:t>
            </a:fld>
            <a:endParaRPr lang="en-US" altLang="zh-CN"/>
          </a:p>
        </p:txBody>
      </p:sp>
    </p:spTree>
    <p:extLst>
      <p:ext uri="{BB962C8B-B14F-4D97-AF65-F5344CB8AC3E}">
        <p14:creationId xmlns:p14="http://schemas.microsoft.com/office/powerpoint/2010/main" val="6966948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711" y="3445701"/>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6" name="文本占位符 5"/>
          <p:cNvSpPr>
            <a:spLocks noGrp="1"/>
          </p:cNvSpPr>
          <p:nvPr>
            <p:ph type="body" idx="1"/>
          </p:nvPr>
        </p:nvSpPr>
        <p:spPr>
          <a:xfrm>
            <a:off x="507934" y="1676788"/>
            <a:ext cx="11276132" cy="1219482"/>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19" name="日期占位符 18"/>
          <p:cNvSpPr>
            <a:spLocks noGrp="1"/>
          </p:cNvSpPr>
          <p:nvPr>
            <p:ph type="dt" sz="half" idx="10"/>
          </p:nvPr>
        </p:nvSpPr>
        <p:spPr/>
        <p:txBody>
          <a:bodyPr/>
          <a:lstStyle/>
          <a:p>
            <a:endParaRPr lang="en-US" altLang="zh-CN"/>
          </a:p>
        </p:txBody>
      </p:sp>
      <p:sp>
        <p:nvSpPr>
          <p:cNvPr id="11" name="页脚占位符 10"/>
          <p:cNvSpPr>
            <a:spLocks noGrp="1"/>
          </p:cNvSpPr>
          <p:nvPr>
            <p:ph type="ftr" sz="quarter" idx="11"/>
          </p:nvPr>
        </p:nvSpPr>
        <p:spPr/>
        <p:txBody>
          <a:bodyPr/>
          <a:lstStyle/>
          <a:p>
            <a:endParaRPr lang="en-US" altLang="zh-CN"/>
          </a:p>
        </p:txBody>
      </p:sp>
      <p:sp>
        <p:nvSpPr>
          <p:cNvPr id="16" name="灯片编号占位符 15"/>
          <p:cNvSpPr>
            <a:spLocks noGrp="1"/>
          </p:cNvSpPr>
          <p:nvPr>
            <p:ph type="sldNum" sz="quarter" idx="12"/>
          </p:nvPr>
        </p:nvSpPr>
        <p:spPr/>
        <p:txBody>
          <a:bodyPr/>
          <a:lstStyle/>
          <a:p>
            <a:fld id="{D4D8B537-0F04-4291-A2BF-9FB11C394A39}" type="slidenum">
              <a:rPr lang="en-US" altLang="zh-CN" smtClean="0"/>
              <a:pPr/>
              <a:t>‹#›</a:t>
            </a:fld>
            <a:endParaRPr lang="en-US" altLang="zh-CN"/>
          </a:p>
        </p:txBody>
      </p:sp>
      <p:sp>
        <p:nvSpPr>
          <p:cNvPr id="8" name="标题 7"/>
          <p:cNvSpPr>
            <a:spLocks noGrp="1"/>
          </p:cNvSpPr>
          <p:nvPr>
            <p:ph type="title"/>
          </p:nvPr>
        </p:nvSpPr>
        <p:spPr>
          <a:xfrm>
            <a:off x="240602" y="2947769"/>
            <a:ext cx="11580892" cy="1185099"/>
          </a:xfrm>
        </p:spPr>
        <p:txBody>
          <a:bodyPr rtlCol="0" anchor="t"/>
          <a:lstStyle>
            <a:lvl1pPr algn="r">
              <a:defRPr/>
            </a:lvl1pPr>
          </a:lstStyle>
          <a:p>
            <a:r>
              <a:rPr kumimoji="0" lang="zh-CN" altLang="en-US"/>
              <a:t>单击此处编辑母版标题样式</a:t>
            </a:r>
            <a:endParaRPr kumimoji="0" lang="en-US"/>
          </a:p>
        </p:txBody>
      </p:sp>
    </p:spTree>
    <p:extLst>
      <p:ext uri="{BB962C8B-B14F-4D97-AF65-F5344CB8AC3E}">
        <p14:creationId xmlns:p14="http://schemas.microsoft.com/office/powerpoint/2010/main" val="3878764231"/>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0" name="标题 19"/>
          <p:cNvSpPr>
            <a:spLocks noGrp="1"/>
          </p:cNvSpPr>
          <p:nvPr>
            <p:ph type="title"/>
          </p:nvPr>
        </p:nvSpPr>
        <p:spPr>
          <a:xfrm>
            <a:off x="402284" y="457306"/>
            <a:ext cx="11580892" cy="841443"/>
          </a:xfrm>
        </p:spPr>
        <p:txBody>
          <a:bodyPr/>
          <a:lstStyle/>
          <a:p>
            <a:r>
              <a:rPr kumimoji="0" lang="zh-CN" altLang="en-US"/>
              <a:t>单击此处编辑母版标题样式</a:t>
            </a:r>
            <a:endParaRPr kumimoji="0" lang="en-US"/>
          </a:p>
        </p:txBody>
      </p:sp>
      <p:sp>
        <p:nvSpPr>
          <p:cNvPr id="14" name="内容占位符 13"/>
          <p:cNvSpPr>
            <a:spLocks noGrp="1"/>
          </p:cNvSpPr>
          <p:nvPr>
            <p:ph sz="half" idx="1"/>
          </p:nvPr>
        </p:nvSpPr>
        <p:spPr>
          <a:xfrm>
            <a:off x="406347" y="1600571"/>
            <a:ext cx="5587273" cy="4725494"/>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half" idx="2"/>
          </p:nvPr>
        </p:nvSpPr>
        <p:spPr>
          <a:xfrm>
            <a:off x="6196793" y="1600571"/>
            <a:ext cx="5790446" cy="4725494"/>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1" name="日期占位符 20"/>
          <p:cNvSpPr>
            <a:spLocks noGrp="1"/>
          </p:cNvSpPr>
          <p:nvPr>
            <p:ph type="dt" sz="half" idx="10"/>
          </p:nvPr>
        </p:nvSpPr>
        <p:spPr/>
        <p:txBody>
          <a:bodyPr/>
          <a:lstStyle/>
          <a:p>
            <a:endParaRPr lang="en-US" altLang="zh-CN"/>
          </a:p>
        </p:txBody>
      </p:sp>
      <p:sp>
        <p:nvSpPr>
          <p:cNvPr id="10" name="页脚占位符 9"/>
          <p:cNvSpPr>
            <a:spLocks noGrp="1"/>
          </p:cNvSpPr>
          <p:nvPr>
            <p:ph type="ftr" sz="quarter" idx="11"/>
          </p:nvPr>
        </p:nvSpPr>
        <p:spPr/>
        <p:txBody>
          <a:bodyPr/>
          <a:lstStyle/>
          <a:p>
            <a:endParaRPr lang="en-US" altLang="zh-CN"/>
          </a:p>
        </p:txBody>
      </p:sp>
      <p:sp>
        <p:nvSpPr>
          <p:cNvPr id="31" name="灯片编号占位符 30"/>
          <p:cNvSpPr>
            <a:spLocks noGrp="1"/>
          </p:cNvSpPr>
          <p:nvPr>
            <p:ph type="sldNum" sz="quarter" idx="12"/>
          </p:nvPr>
        </p:nvSpPr>
        <p:spPr/>
        <p:txBody>
          <a:bodyPr/>
          <a:lstStyle/>
          <a:p>
            <a:fld id="{C23C37BD-115D-4EA8-9FFF-E0D34C15907D}" type="slidenum">
              <a:rPr lang="en-US" altLang="zh-CN" smtClean="0"/>
              <a:pPr/>
              <a:t>‹#›</a:t>
            </a:fld>
            <a:endParaRPr lang="en-US" altLang="zh-CN"/>
          </a:p>
        </p:txBody>
      </p:sp>
    </p:spTree>
    <p:extLst>
      <p:ext uri="{BB962C8B-B14F-4D97-AF65-F5344CB8AC3E}">
        <p14:creationId xmlns:p14="http://schemas.microsoft.com/office/powerpoint/2010/main" val="3487594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9" name="标题 28"/>
          <p:cNvSpPr>
            <a:spLocks noGrp="1"/>
          </p:cNvSpPr>
          <p:nvPr>
            <p:ph type="title"/>
          </p:nvPr>
        </p:nvSpPr>
        <p:spPr>
          <a:xfrm>
            <a:off x="406347" y="5411453"/>
            <a:ext cx="11479306" cy="882854"/>
          </a:xfrm>
        </p:spPr>
        <p:txBody>
          <a:bodyPr anchor="ctr"/>
          <a:lstStyle>
            <a:lvl1pPr>
              <a:defRPr/>
            </a:lvl1p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375211" y="666904"/>
            <a:ext cx="5719996" cy="639910"/>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25" name="文本占位符 24"/>
          <p:cNvSpPr>
            <a:spLocks noGrp="1"/>
          </p:cNvSpPr>
          <p:nvPr>
            <p:ph type="body" sz="half" idx="3"/>
          </p:nvPr>
        </p:nvSpPr>
        <p:spPr>
          <a:xfrm>
            <a:off x="6192561" y="666904"/>
            <a:ext cx="5722243" cy="639910"/>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内容占位符 3"/>
          <p:cNvSpPr>
            <a:spLocks noGrp="1"/>
          </p:cNvSpPr>
          <p:nvPr>
            <p:ph sz="quarter" idx="2"/>
          </p:nvPr>
        </p:nvSpPr>
        <p:spPr>
          <a:xfrm>
            <a:off x="375211" y="1316343"/>
            <a:ext cx="5719996" cy="3942676"/>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8" name="内容占位符 27"/>
          <p:cNvSpPr>
            <a:spLocks noGrp="1"/>
          </p:cNvSpPr>
          <p:nvPr>
            <p:ph sz="quarter" idx="4"/>
          </p:nvPr>
        </p:nvSpPr>
        <p:spPr>
          <a:xfrm>
            <a:off x="6197500" y="1316343"/>
            <a:ext cx="5717304" cy="3942676"/>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0" name="日期占位符 9"/>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a:xfrm>
            <a:off x="10971372" y="6478500"/>
            <a:ext cx="1015868" cy="246945"/>
          </a:xfrm>
        </p:spPr>
        <p:txBody>
          <a:bodyPr/>
          <a:lstStyle/>
          <a:p>
            <a:fld id="{B4354116-C1ED-4704-8B7C-3CD8FCC6B710}" type="slidenum">
              <a:rPr lang="en-US" altLang="zh-CN" smtClean="0"/>
              <a:pPr/>
              <a:t>‹#›</a:t>
            </a:fld>
            <a:endParaRPr lang="en-US" altLang="zh-CN"/>
          </a:p>
        </p:txBody>
      </p:sp>
      <p:sp>
        <p:nvSpPr>
          <p:cNvPr id="11" name="直接连接符 10"/>
          <p:cNvSpPr>
            <a:spLocks noChangeShapeType="1"/>
          </p:cNvSpPr>
          <p:nvPr/>
        </p:nvSpPr>
        <p:spPr bwMode="auto">
          <a:xfrm>
            <a:off x="685711" y="6021195"/>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Tree>
    <p:extLst>
      <p:ext uri="{BB962C8B-B14F-4D97-AF65-F5344CB8AC3E}">
        <p14:creationId xmlns:p14="http://schemas.microsoft.com/office/powerpoint/2010/main" val="16108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0" name="标题 29"/>
          <p:cNvSpPr>
            <a:spLocks noGrp="1"/>
          </p:cNvSpPr>
          <p:nvPr>
            <p:ph type="title"/>
          </p:nvPr>
        </p:nvSpPr>
        <p:spPr>
          <a:xfrm>
            <a:off x="402284" y="457306"/>
            <a:ext cx="11580892" cy="841443"/>
          </a:xfrm>
        </p:spPr>
        <p:txBody>
          <a:bodyPr/>
          <a:lstStyle/>
          <a:p>
            <a:r>
              <a:rPr kumimoji="0" lang="zh-CN" altLang="en-US"/>
              <a:t>单击此处编辑母版标题样式</a:t>
            </a:r>
            <a:endParaRPr kumimoji="0" lang="en-US"/>
          </a:p>
        </p:txBody>
      </p:sp>
      <p:sp>
        <p:nvSpPr>
          <p:cNvPr id="12" name="日期占位符 11"/>
          <p:cNvSpPr>
            <a:spLocks noGrp="1"/>
          </p:cNvSpPr>
          <p:nvPr>
            <p:ph type="dt" sz="half" idx="10"/>
          </p:nvPr>
        </p:nvSpPr>
        <p:spPr/>
        <p:txBody>
          <a:bodyPr/>
          <a:lstStyle/>
          <a:p>
            <a:endParaRPr lang="en-US" altLang="zh-CN"/>
          </a:p>
        </p:txBody>
      </p:sp>
      <p:sp>
        <p:nvSpPr>
          <p:cNvPr id="21" name="页脚占位符 20"/>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F7DFCAB6-6380-4650-BC87-7786769E4506}" type="slidenum">
              <a:rPr lang="en-US" altLang="zh-CN" smtClean="0"/>
              <a:pPr/>
              <a:t>‹#›</a:t>
            </a:fld>
            <a:endParaRPr lang="en-US" altLang="zh-CN"/>
          </a:p>
        </p:txBody>
      </p:sp>
    </p:spTree>
    <p:extLst>
      <p:ext uri="{BB962C8B-B14F-4D97-AF65-F5344CB8AC3E}">
        <p14:creationId xmlns:p14="http://schemas.microsoft.com/office/powerpoint/2010/main" val="42559099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en-US" altLang="zh-CN"/>
          </a:p>
        </p:txBody>
      </p:sp>
      <p:sp>
        <p:nvSpPr>
          <p:cNvPr id="24" name="页脚占位符 23"/>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A534E84C-3113-4352-BB42-D00F22998753}" type="slidenum">
              <a:rPr lang="en-US" altLang="zh-CN" smtClean="0"/>
              <a:pPr/>
              <a:t>‹#›</a:t>
            </a:fld>
            <a:endParaRPr lang="en-US" altLang="zh-CN"/>
          </a:p>
        </p:txBody>
      </p:sp>
    </p:spTree>
    <p:extLst>
      <p:ext uri="{BB962C8B-B14F-4D97-AF65-F5344CB8AC3E}">
        <p14:creationId xmlns:p14="http://schemas.microsoft.com/office/powerpoint/2010/main" val="3828429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直接连接符 7"/>
          <p:cNvSpPr>
            <a:spLocks noChangeShapeType="1"/>
          </p:cNvSpPr>
          <p:nvPr/>
        </p:nvSpPr>
        <p:spPr bwMode="auto">
          <a:xfrm>
            <a:off x="685711" y="5850473"/>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12" name="标题 11"/>
          <p:cNvSpPr>
            <a:spLocks noGrp="1"/>
          </p:cNvSpPr>
          <p:nvPr>
            <p:ph type="title"/>
          </p:nvPr>
        </p:nvSpPr>
        <p:spPr>
          <a:xfrm>
            <a:off x="609521" y="5487670"/>
            <a:ext cx="11276132" cy="520821"/>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idx="2"/>
          </p:nvPr>
        </p:nvSpPr>
        <p:spPr>
          <a:xfrm>
            <a:off x="609522" y="609741"/>
            <a:ext cx="4010562" cy="4801712"/>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14" name="内容占位符 13"/>
          <p:cNvSpPr>
            <a:spLocks noGrp="1"/>
          </p:cNvSpPr>
          <p:nvPr>
            <p:ph sz="half" idx="1"/>
          </p:nvPr>
        </p:nvSpPr>
        <p:spPr>
          <a:xfrm>
            <a:off x="4766113" y="609741"/>
            <a:ext cx="7119540" cy="4801712"/>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endParaRPr lang="en-US" altLang="zh-CN"/>
          </a:p>
        </p:txBody>
      </p:sp>
      <p:sp>
        <p:nvSpPr>
          <p:cNvPr id="29" name="页脚占位符 28"/>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078189A0-D642-4B62-A433-D1A035BE63C7}" type="slidenum">
              <a:rPr lang="en-US" altLang="zh-CN" smtClean="0"/>
              <a:pPr/>
              <a:t>‹#›</a:t>
            </a:fld>
            <a:endParaRPr lang="en-US" altLang="zh-CN"/>
          </a:p>
        </p:txBody>
      </p:sp>
    </p:spTree>
    <p:extLst>
      <p:ext uri="{BB962C8B-B14F-4D97-AF65-F5344CB8AC3E}">
        <p14:creationId xmlns:p14="http://schemas.microsoft.com/office/powerpoint/2010/main" val="6077553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3" name="图片占位符 12"/>
          <p:cNvSpPr>
            <a:spLocks noGrp="1"/>
          </p:cNvSpPr>
          <p:nvPr>
            <p:ph type="pic" idx="1"/>
          </p:nvPr>
        </p:nvSpPr>
        <p:spPr>
          <a:xfrm>
            <a:off x="4672992" y="616777"/>
            <a:ext cx="6704727" cy="3658447"/>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zh-CN" altLang="en-US"/>
              <a:t>单击图标添加图片</a:t>
            </a:r>
            <a:endParaRPr kumimoji="0" lang="en-US"/>
          </a:p>
        </p:txBody>
      </p:sp>
      <p:sp>
        <p:nvSpPr>
          <p:cNvPr id="7" name="日期占位符 6"/>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31" name="灯片编号占位符 30"/>
          <p:cNvSpPr>
            <a:spLocks noGrp="1"/>
          </p:cNvSpPr>
          <p:nvPr>
            <p:ph type="sldNum" sz="quarter" idx="12"/>
          </p:nvPr>
        </p:nvSpPr>
        <p:spPr/>
        <p:txBody>
          <a:bodyPr/>
          <a:lstStyle/>
          <a:p>
            <a:fld id="{BA635B0F-B73A-4B5D-9B48-0F16FCCF7B54}" type="slidenum">
              <a:rPr lang="en-US" altLang="zh-CN" smtClean="0"/>
              <a:pPr/>
              <a:t>‹#›</a:t>
            </a:fld>
            <a:endParaRPr lang="en-US" altLang="zh-CN"/>
          </a:p>
        </p:txBody>
      </p:sp>
      <p:sp>
        <p:nvSpPr>
          <p:cNvPr id="17" name="标题 16"/>
          <p:cNvSpPr>
            <a:spLocks noGrp="1"/>
          </p:cNvSpPr>
          <p:nvPr>
            <p:ph type="title"/>
          </p:nvPr>
        </p:nvSpPr>
        <p:spPr>
          <a:xfrm>
            <a:off x="507934" y="4994916"/>
            <a:ext cx="7822182" cy="522409"/>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sz="half" idx="2"/>
          </p:nvPr>
        </p:nvSpPr>
        <p:spPr>
          <a:xfrm>
            <a:off x="507934" y="5534499"/>
            <a:ext cx="7822182" cy="768528"/>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22401411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8EF4EEA2-76B7-4448-BD5F-8B64CC964607}" type="slidenum">
              <a:rPr lang="en-US" altLang="zh-CN" smtClean="0"/>
              <a:pPr/>
              <a:t>‹#›</a:t>
            </a:fld>
            <a:endParaRPr lang="en-US" altLang="zh-CN"/>
          </a:p>
        </p:txBody>
      </p:sp>
    </p:spTree>
    <p:extLst>
      <p:ext uri="{BB962C8B-B14F-4D97-AF65-F5344CB8AC3E}">
        <p14:creationId xmlns:p14="http://schemas.microsoft.com/office/powerpoint/2010/main" val="41836510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2810" y="549405"/>
            <a:ext cx="2438083" cy="5852880"/>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609520" y="549405"/>
            <a:ext cx="8330116" cy="5852880"/>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2C416C84-7E79-45C1-9440-C3B753F5A6DD}" type="slidenum">
              <a:rPr lang="en-US" altLang="zh-CN" smtClean="0"/>
              <a:pPr/>
              <a:t>‹#›</a:t>
            </a:fld>
            <a:endParaRPr lang="en-US" altLang="zh-CN"/>
          </a:p>
        </p:txBody>
      </p:sp>
    </p:spTree>
    <p:extLst>
      <p:ext uri="{BB962C8B-B14F-4D97-AF65-F5344CB8AC3E}">
        <p14:creationId xmlns:p14="http://schemas.microsoft.com/office/powerpoint/2010/main" val="37136575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3963472" y="755825"/>
            <a:ext cx="4263470" cy="681196"/>
          </a:xfrm>
          <a:prstGeom prst="rect">
            <a:avLst/>
          </a:prstGeom>
          <a:effectLst>
            <a:outerShdw blurRad="50800" dist="50800" dir="5400000" algn="ctr" rotWithShape="0">
              <a:srgbClr val="000000">
                <a:alpha val="98000"/>
              </a:srgbClr>
            </a:outerShdw>
          </a:effectLst>
        </p:spPr>
      </p:pic>
      <p:sp>
        <p:nvSpPr>
          <p:cNvPr id="3" name="副标题 2"/>
          <p:cNvSpPr>
            <a:spLocks noGrp="1"/>
          </p:cNvSpPr>
          <p:nvPr>
            <p:ph type="subTitle" idx="1"/>
          </p:nvPr>
        </p:nvSpPr>
        <p:spPr>
          <a:xfrm>
            <a:off x="1055779" y="3602872"/>
            <a:ext cx="9774097" cy="1656145"/>
          </a:xfrm>
        </p:spPr>
        <p:txBody>
          <a:bodyPr anchor="ctr">
            <a:normAutofit/>
          </a:bodyPr>
          <a:lstStyle>
            <a:lvl1pPr marL="0" indent="0" algn="ctr">
              <a:buNone/>
              <a:defRPr sz="2800"/>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pPr fontAlgn="auto"/>
            <a:r>
              <a:rPr lang="zh-CN" altLang="en-US" strike="noStrike" noProof="1"/>
              <a:t>单击此处编辑母版副标题样式</a:t>
            </a:r>
          </a:p>
        </p:txBody>
      </p:sp>
      <p:sp>
        <p:nvSpPr>
          <p:cNvPr id="14" name="标题 13"/>
          <p:cNvSpPr>
            <a:spLocks noGrp="1"/>
          </p:cNvSpPr>
          <p:nvPr>
            <p:ph type="title"/>
          </p:nvPr>
        </p:nvSpPr>
        <p:spPr>
          <a:xfrm>
            <a:off x="838091" y="2094174"/>
            <a:ext cx="10514231" cy="1325870"/>
          </a:xfrm>
        </p:spPr>
        <p:txBody>
          <a:bodyPr>
            <a:normAutofit/>
          </a:bodyPr>
          <a:lstStyle>
            <a:lvl1pPr algn="ctr">
              <a:defRPr sz="4800"/>
            </a:lvl1pPr>
          </a:lstStyle>
          <a:p>
            <a:pPr fontAlgn="auto"/>
            <a:r>
              <a:rPr lang="zh-CN" altLang="en-US" strike="noStrike" noProof="1"/>
              <a:t>单击此处编辑母版标题样式</a:t>
            </a:r>
          </a:p>
        </p:txBody>
      </p:sp>
      <p:sp>
        <p:nvSpPr>
          <p:cNvPr id="15" name="日期占位符 14"/>
          <p:cNvSpPr>
            <a:spLocks noGrp="1"/>
          </p:cNvSpPr>
          <p:nvPr>
            <p:ph type="dt" sz="half" idx="10"/>
          </p:nvPr>
        </p:nvSpPr>
        <p:spPr>
          <a:xfrm>
            <a:off x="838091" y="6357822"/>
            <a:ext cx="2742843" cy="365210"/>
          </a:xfrm>
          <a:prstGeom prst="rect">
            <a:avLst/>
          </a:prstGeom>
        </p:spPr>
        <p:txBody>
          <a:bodyPr vert="horz" lIns="91440" tIns="45720" rIns="91440" bIns="45720" rtlCol="0" anchor="ctr"/>
          <a:lstStyle/>
          <a:p>
            <a:fld id="{9D96BA32-6B79-4895-824E-744062688BEE}" type="datetimeFigureOut">
              <a:rPr lang="zh-CN" altLang="en-US" smtClean="0"/>
              <a:t>2024/8/6</a:t>
            </a:fld>
            <a:endParaRPr lang="zh-CN" altLang="en-US"/>
          </a:p>
        </p:txBody>
      </p:sp>
      <p:sp>
        <p:nvSpPr>
          <p:cNvPr id="16" name="页脚占位符 15"/>
          <p:cNvSpPr>
            <a:spLocks noGrp="1"/>
          </p:cNvSpPr>
          <p:nvPr>
            <p:ph type="ftr" sz="quarter" idx="11"/>
          </p:nvPr>
        </p:nvSpPr>
        <p:spPr>
          <a:xfrm>
            <a:off x="4038075" y="6357822"/>
            <a:ext cx="4114264" cy="365210"/>
          </a:xfrm>
          <a:prstGeom prst="rect">
            <a:avLst/>
          </a:prstGeom>
        </p:spPr>
        <p:txBody>
          <a:bodyPr vert="horz" lIns="91440" tIns="45720" rIns="91440" bIns="45720" rtlCol="0" anchor="ctr"/>
          <a:lstStyle/>
          <a:p>
            <a:endParaRPr lang="zh-CN" altLang="en-US"/>
          </a:p>
        </p:txBody>
      </p:sp>
      <p:sp>
        <p:nvSpPr>
          <p:cNvPr id="17" name="灯片编号占位符 16"/>
          <p:cNvSpPr>
            <a:spLocks noGrp="1"/>
          </p:cNvSpPr>
          <p:nvPr>
            <p:ph type="sldNum" sz="quarter" idx="12"/>
          </p:nvPr>
        </p:nvSpPr>
        <p:spPr>
          <a:xfrm>
            <a:off x="8609479" y="6357822"/>
            <a:ext cx="2742843" cy="365210"/>
          </a:xfrm>
          <a:prstGeom prst="rect">
            <a:avLst/>
          </a:prstGeom>
        </p:spPr>
        <p:txBody>
          <a:bodyPr vert="horz" lIns="91440" tIns="45720" rIns="91440" bIns="45720" rtlCol="0" anchor="ctr"/>
          <a:lstStyle/>
          <a:p>
            <a:fld id="{FF35C9E2-507E-45B8-BD25-F3C98D86BE5F}" type="slidenum">
              <a:rPr lang="zh-CN" altLang="en-US" smtClean="0"/>
              <a:t>‹#›</a:t>
            </a:fld>
            <a:endParaRPr lang="zh-CN" altLang="en-US"/>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63785" y="756516"/>
            <a:ext cx="4262844" cy="680731"/>
          </a:xfrm>
          <a:prstGeom prst="rect">
            <a:avLst/>
          </a:prstGeom>
          <a:effectLst>
            <a:outerShdw blurRad="50800" dist="50800" dir="5400000" algn="ctr" rotWithShape="0">
              <a:srgbClr val="000000">
                <a:alpha val="98000"/>
              </a:srgbClr>
            </a:outerShdw>
          </a:effectLst>
        </p:spPr>
      </p:pic>
    </p:spTree>
    <p:extLst>
      <p:ext uri="{BB962C8B-B14F-4D97-AF65-F5344CB8AC3E}">
        <p14:creationId xmlns:p14="http://schemas.microsoft.com/office/powerpoint/2010/main" val="306196684"/>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2"/>
        </a:solidFill>
        <a:effectLst/>
      </p:bgPr>
    </p:bg>
    <p:spTree>
      <p:nvGrpSpPr>
        <p:cNvPr id="1" name=""/>
        <p:cNvGrpSpPr/>
        <p:nvPr/>
      </p:nvGrpSpPr>
      <p:grpSpPr>
        <a:xfrm>
          <a:off x="0" y="0"/>
          <a:ext cx="0" cy="0"/>
          <a:chOff x="0" y="0"/>
          <a:chExt cx="0" cy="0"/>
        </a:xfrm>
      </p:grpSpPr>
      <p:pic>
        <p:nvPicPr>
          <p:cNvPr id="3074" name="图片 6"/>
          <p:cNvPicPr>
            <a:picLocks noChangeAspect="1"/>
          </p:cNvPicPr>
          <p:nvPr/>
        </p:nvPicPr>
        <p:blipFill>
          <a:blip r:embed="rId2"/>
          <a:stretch>
            <a:fillRect/>
          </a:stretch>
        </p:blipFill>
        <p:spPr>
          <a:xfrm>
            <a:off x="8793606" y="214363"/>
            <a:ext cx="2931731" cy="468420"/>
          </a:xfrm>
          <a:prstGeom prst="rect">
            <a:avLst/>
          </a:prstGeom>
          <a:noFill/>
          <a:ln w="9525">
            <a:noFill/>
          </a:ln>
        </p:spPr>
      </p:pic>
      <p:sp>
        <p:nvSpPr>
          <p:cNvPr id="8" name="矩形 7"/>
          <p:cNvSpPr/>
          <p:nvPr/>
        </p:nvSpPr>
        <p:spPr>
          <a:xfrm>
            <a:off x="10228518" y="1927671"/>
            <a:ext cx="674600" cy="3247190"/>
          </a:xfrm>
          <a:prstGeom prst="rect">
            <a:avLst/>
          </a:prstGeom>
          <a:blipFill dpi="0" rotWithShape="1">
            <a:blip r:embed="rId3"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100" strike="noStrike" noProof="1"/>
          </a:p>
        </p:txBody>
      </p:sp>
      <p:sp>
        <p:nvSpPr>
          <p:cNvPr id="2" name="标题 1"/>
          <p:cNvSpPr>
            <a:spLocks noGrp="1"/>
          </p:cNvSpPr>
          <p:nvPr>
            <p:ph type="title"/>
          </p:nvPr>
        </p:nvSpPr>
        <p:spPr>
          <a:xfrm>
            <a:off x="522448" y="618003"/>
            <a:ext cx="8195546" cy="619332"/>
          </a:xfrm>
        </p:spPr>
        <p:txBody>
          <a:bodyPr>
            <a:normAutofit/>
          </a:bodyPr>
          <a:lstStyle>
            <a:lvl1pPr>
              <a:defRPr sz="3200"/>
            </a:lvl1pPr>
          </a:lstStyle>
          <a:p>
            <a:pPr fontAlgn="auto"/>
            <a:r>
              <a:rPr lang="zh-CN" altLang="en-US" strike="noStrike" noProof="1"/>
              <a:t>单击此处编辑母版标题样式</a:t>
            </a:r>
          </a:p>
        </p:txBody>
      </p:sp>
      <p:sp>
        <p:nvSpPr>
          <p:cNvPr id="3" name="内容占位符 2"/>
          <p:cNvSpPr>
            <a:spLocks noGrp="1"/>
          </p:cNvSpPr>
          <p:nvPr>
            <p:ph idx="1"/>
          </p:nvPr>
        </p:nvSpPr>
        <p:spPr>
          <a:xfrm>
            <a:off x="522448" y="1358060"/>
            <a:ext cx="8195545" cy="4933361"/>
          </a:xfrm>
        </p:spPr>
        <p:txBody>
          <a:bodyPr/>
          <a:lstStyle/>
          <a:p>
            <a:pPr lvl="0" fontAlgn="auto"/>
            <a:r>
              <a:rPr lang="zh-CN" altLang="en-US" strike="noStrike" noProof="1"/>
              <a:t>单击此处编辑母版文本样式</a:t>
            </a:r>
          </a:p>
          <a:p>
            <a:pPr lvl="1" fontAlgn="auto"/>
            <a:r>
              <a:rPr lang="zh-CN" altLang="en-US" strike="noStrike" noProof="1"/>
              <a:t>二级</a:t>
            </a:r>
          </a:p>
          <a:p>
            <a:pPr lvl="2" fontAlgn="auto"/>
            <a:r>
              <a:rPr lang="zh-CN" altLang="en-US" strike="noStrike" noProof="1"/>
              <a:t>三级</a:t>
            </a:r>
          </a:p>
          <a:p>
            <a:pPr lvl="3" fontAlgn="auto"/>
            <a:r>
              <a:rPr lang="zh-CN" altLang="en-US" strike="noStrike" noProof="1"/>
              <a:t>四级</a:t>
            </a:r>
          </a:p>
          <a:p>
            <a:pPr lvl="4" fontAlgn="auto"/>
            <a:r>
              <a:rPr lang="zh-CN" altLang="en-US" strike="noStrike" noProof="1"/>
              <a:t>五级</a:t>
            </a:r>
          </a:p>
        </p:txBody>
      </p:sp>
      <p:sp>
        <p:nvSpPr>
          <p:cNvPr id="10" name="日期占位符 9"/>
          <p:cNvSpPr>
            <a:spLocks noGrp="1"/>
          </p:cNvSpPr>
          <p:nvPr>
            <p:ph type="dt" sz="half" idx="10"/>
          </p:nvPr>
        </p:nvSpPr>
        <p:spPr>
          <a:xfrm>
            <a:off x="838091" y="6357822"/>
            <a:ext cx="2742843" cy="365210"/>
          </a:xfrm>
          <a:prstGeom prst="rect">
            <a:avLst/>
          </a:prstGeom>
        </p:spPr>
        <p:txBody>
          <a:bodyPr vert="horz" lIns="91440" tIns="45720" rIns="91440" bIns="45720" rtlCol="0" anchor="ctr"/>
          <a:lstStyle/>
          <a:p>
            <a:fld id="{9D96BA32-6B79-4895-824E-744062688BEE}" type="datetimeFigureOut">
              <a:rPr lang="zh-CN" altLang="en-US" smtClean="0"/>
              <a:t>2024/8/6</a:t>
            </a:fld>
            <a:endParaRPr lang="zh-CN" altLang="en-US"/>
          </a:p>
        </p:txBody>
      </p:sp>
      <p:sp>
        <p:nvSpPr>
          <p:cNvPr id="11" name="页脚占位符 10"/>
          <p:cNvSpPr>
            <a:spLocks noGrp="1"/>
          </p:cNvSpPr>
          <p:nvPr>
            <p:ph type="ftr" sz="quarter" idx="11"/>
          </p:nvPr>
        </p:nvSpPr>
        <p:spPr>
          <a:xfrm>
            <a:off x="4038075" y="6357822"/>
            <a:ext cx="4114264" cy="365210"/>
          </a:xfrm>
          <a:prstGeom prst="rect">
            <a:avLst/>
          </a:prstGeom>
        </p:spPr>
        <p:txBody>
          <a:bodyPr vert="horz" lIns="91440" tIns="45720" rIns="91440" bIns="45720" rtlCol="0" anchor="ctr"/>
          <a:lstStyle/>
          <a:p>
            <a:endParaRPr lang="zh-CN" altLang="en-US"/>
          </a:p>
        </p:txBody>
      </p:sp>
      <p:sp>
        <p:nvSpPr>
          <p:cNvPr id="12" name="灯片编号占位符 11"/>
          <p:cNvSpPr>
            <a:spLocks noGrp="1"/>
          </p:cNvSpPr>
          <p:nvPr>
            <p:ph type="sldNum" sz="quarter" idx="12"/>
          </p:nvPr>
        </p:nvSpPr>
        <p:spPr>
          <a:xfrm>
            <a:off x="8609479" y="6357822"/>
            <a:ext cx="2742843" cy="365210"/>
          </a:xfrm>
          <a:prstGeom prst="rect">
            <a:avLst/>
          </a:prstGeom>
        </p:spPr>
        <p:txBody>
          <a:bodyPr vert="horz" lIns="91440" tIns="45720" rIns="91440" bIns="45720" rtlCol="0" anchor="ctr"/>
          <a:lstStyle/>
          <a:p>
            <a:fld id="{FF35C9E2-507E-45B8-BD25-F3C98D86BE5F}" type="slidenum">
              <a:rPr lang="zh-CN" altLang="en-US" smtClean="0"/>
              <a:t>‹#›</a:t>
            </a:fld>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4" name="矩形 3"/>
          <p:cNvSpPr/>
          <p:nvPr userDrawn="1"/>
        </p:nvSpPr>
        <p:spPr>
          <a:xfrm>
            <a:off x="10228666" y="1927217"/>
            <a:ext cx="674825" cy="3247592"/>
          </a:xfrm>
          <a:prstGeom prst="rect">
            <a:avLst/>
          </a:prstGeom>
          <a:blipFill dpi="0" rotWithShape="1">
            <a:blip r:embed="rId3"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200340704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711" y="1051143"/>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8" name="文本占位符 7"/>
          <p:cNvSpPr>
            <a:spLocks noGrp="1"/>
          </p:cNvSpPr>
          <p:nvPr>
            <p:ph type="body" idx="1"/>
          </p:nvPr>
        </p:nvSpPr>
        <p:spPr>
          <a:xfrm>
            <a:off x="406347" y="1554523"/>
            <a:ext cx="11580892" cy="4527011"/>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1" name="日期占位符 10"/>
          <p:cNvSpPr>
            <a:spLocks noGrp="1"/>
          </p:cNvSpPr>
          <p:nvPr>
            <p:ph type="dt" sz="half" idx="2"/>
          </p:nvPr>
        </p:nvSpPr>
        <p:spPr>
          <a:xfrm>
            <a:off x="8634876" y="76219"/>
            <a:ext cx="3352364" cy="288992"/>
          </a:xfrm>
          <a:prstGeom prst="rect">
            <a:avLst/>
          </a:prstGeom>
        </p:spPr>
        <p:txBody>
          <a:bodyPr vert="horz"/>
          <a:lstStyle>
            <a:lvl1pPr algn="l" eaLnBrk="1" latinLnBrk="0" hangingPunct="1">
              <a:defRPr kumimoji="0" sz="1200">
                <a:solidFill>
                  <a:schemeClr val="accent1">
                    <a:shade val="75000"/>
                  </a:schemeClr>
                </a:solidFill>
              </a:defRPr>
            </a:lvl1pPr>
          </a:lstStyle>
          <a:p>
            <a:fld id="{9D96BA32-6B79-4895-824E-744062688BEE}" type="datetimeFigureOut">
              <a:rPr lang="zh-CN" altLang="en-US" smtClean="0"/>
              <a:t>2024/8/6</a:t>
            </a:fld>
            <a:endParaRPr lang="zh-CN" altLang="en-US"/>
          </a:p>
        </p:txBody>
      </p:sp>
      <p:sp>
        <p:nvSpPr>
          <p:cNvPr id="28" name="页脚占位符 27"/>
          <p:cNvSpPr>
            <a:spLocks noGrp="1"/>
          </p:cNvSpPr>
          <p:nvPr>
            <p:ph type="ftr" sz="quarter" idx="3"/>
          </p:nvPr>
        </p:nvSpPr>
        <p:spPr>
          <a:xfrm>
            <a:off x="4165058" y="76219"/>
            <a:ext cx="4469818" cy="288992"/>
          </a:xfrm>
          <a:prstGeom prst="rect">
            <a:avLst/>
          </a:prstGeom>
        </p:spPr>
        <p:txBody>
          <a:bodyPr vert="horz"/>
          <a:lstStyle>
            <a:lvl1pPr algn="r" eaLnBrk="1" latinLnBrk="0" hangingPunct="1">
              <a:defRPr kumimoji="0" sz="1200">
                <a:solidFill>
                  <a:schemeClr val="accent1">
                    <a:shade val="75000"/>
                  </a:schemeClr>
                </a:solidFill>
              </a:defRPr>
            </a:lvl1pPr>
          </a:lstStyle>
          <a:p>
            <a:endParaRPr lang="zh-CN" altLang="en-US"/>
          </a:p>
        </p:txBody>
      </p:sp>
      <p:sp>
        <p:nvSpPr>
          <p:cNvPr id="5" name="灯片编号占位符 4"/>
          <p:cNvSpPr>
            <a:spLocks noGrp="1"/>
          </p:cNvSpPr>
          <p:nvPr>
            <p:ph type="sldNum" sz="quarter" idx="4"/>
          </p:nvPr>
        </p:nvSpPr>
        <p:spPr>
          <a:xfrm>
            <a:off x="10971372" y="6478501"/>
            <a:ext cx="1015868" cy="244532"/>
          </a:xfrm>
          <a:prstGeom prst="rect">
            <a:avLst/>
          </a:prstGeom>
        </p:spPr>
        <p:txBody>
          <a:bodyPr vert="horz"/>
          <a:lstStyle>
            <a:lvl1pPr algn="r" eaLnBrk="1" latinLnBrk="0" hangingPunct="1">
              <a:defRPr kumimoji="0" sz="1200">
                <a:solidFill>
                  <a:schemeClr val="accent1">
                    <a:shade val="75000"/>
                  </a:schemeClr>
                </a:solidFill>
              </a:defRPr>
            </a:lvl1pPr>
          </a:lstStyle>
          <a:p>
            <a:fld id="{FF35C9E2-507E-45B8-BD25-F3C98D86BE5F}" type="slidenum">
              <a:rPr lang="zh-CN" altLang="en-US" smtClean="0"/>
              <a:t>‹#›</a:t>
            </a:fld>
            <a:endParaRPr lang="zh-CN" altLang="en-US"/>
          </a:p>
        </p:txBody>
      </p:sp>
      <p:sp>
        <p:nvSpPr>
          <p:cNvPr id="10" name="标题占位符 9"/>
          <p:cNvSpPr>
            <a:spLocks noGrp="1"/>
          </p:cNvSpPr>
          <p:nvPr>
            <p:ph type="title"/>
          </p:nvPr>
        </p:nvSpPr>
        <p:spPr>
          <a:xfrm>
            <a:off x="406347" y="457306"/>
            <a:ext cx="11580892" cy="838394"/>
          </a:xfrm>
          <a:prstGeom prst="rect">
            <a:avLst/>
          </a:prstGeom>
        </p:spPr>
        <p:txBody>
          <a:bodyPr vert="horz" anchor="ctr">
            <a:normAutofit/>
          </a:bodyPr>
          <a:lstStyle/>
          <a:p>
            <a:r>
              <a:rPr kumimoji="0" lang="zh-CN" altLang="en-US"/>
              <a:t>单击此处编辑母版标题样式</a:t>
            </a:r>
            <a:endParaRPr kumimoji="0" lang="en-US"/>
          </a:p>
        </p:txBody>
      </p:sp>
      <p:sp>
        <p:nvSpPr>
          <p:cNvPr id="9" name="直接连接符 8"/>
          <p:cNvSpPr>
            <a:spLocks noChangeShapeType="1"/>
          </p:cNvSpPr>
          <p:nvPr/>
        </p:nvSpPr>
        <p:spPr bwMode="auto">
          <a:xfrm>
            <a:off x="685711" y="1051143"/>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12" name="直接连接符 11"/>
          <p:cNvSpPr>
            <a:spLocks noChangeShapeType="1"/>
          </p:cNvSpPr>
          <p:nvPr/>
        </p:nvSpPr>
        <p:spPr bwMode="auto">
          <a:xfrm>
            <a:off x="685711" y="1058232"/>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Tree>
    <p:extLst>
      <p:ext uri="{BB962C8B-B14F-4D97-AF65-F5344CB8AC3E}">
        <p14:creationId xmlns:p14="http://schemas.microsoft.com/office/powerpoint/2010/main" val="3631840093"/>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Lst>
  <p:hf sldNum="0" hdr="0" ftr="0" dt="0"/>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866" indent="-342866"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876" indent="-285721"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2886" indent="-228577"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040" indent="-228577"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194"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349"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503" indent="-228577"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8657" indent="-228577"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811" indent="-228577"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154" algn="l" rtl="0" eaLnBrk="1" latinLnBrk="0" hangingPunct="1">
        <a:defRPr kumimoji="0" kern="1200">
          <a:solidFill>
            <a:schemeClr val="tx1"/>
          </a:solidFill>
          <a:latin typeface="+mn-lt"/>
          <a:ea typeface="+mn-ea"/>
          <a:cs typeface="+mn-cs"/>
        </a:defRPr>
      </a:lvl2pPr>
      <a:lvl3pPr marL="914309" algn="l" rtl="0" eaLnBrk="1" latinLnBrk="0" hangingPunct="1">
        <a:defRPr kumimoji="0" kern="1200">
          <a:solidFill>
            <a:schemeClr val="tx1"/>
          </a:solidFill>
          <a:latin typeface="+mn-lt"/>
          <a:ea typeface="+mn-ea"/>
          <a:cs typeface="+mn-cs"/>
        </a:defRPr>
      </a:lvl3pPr>
      <a:lvl4pPr marL="1371463" algn="l" rtl="0" eaLnBrk="1" latinLnBrk="0" hangingPunct="1">
        <a:defRPr kumimoji="0" kern="1200">
          <a:solidFill>
            <a:schemeClr val="tx1"/>
          </a:solidFill>
          <a:latin typeface="+mn-lt"/>
          <a:ea typeface="+mn-ea"/>
          <a:cs typeface="+mn-cs"/>
        </a:defRPr>
      </a:lvl4pPr>
      <a:lvl5pPr marL="1828617" algn="l" rtl="0" eaLnBrk="1" latinLnBrk="0" hangingPunct="1">
        <a:defRPr kumimoji="0" kern="1200">
          <a:solidFill>
            <a:schemeClr val="tx1"/>
          </a:solidFill>
          <a:latin typeface="+mn-lt"/>
          <a:ea typeface="+mn-ea"/>
          <a:cs typeface="+mn-cs"/>
        </a:defRPr>
      </a:lvl5pPr>
      <a:lvl6pPr marL="2285771" algn="l" rtl="0" eaLnBrk="1" latinLnBrk="0" hangingPunct="1">
        <a:defRPr kumimoji="0" kern="1200">
          <a:solidFill>
            <a:schemeClr val="tx1"/>
          </a:solidFill>
          <a:latin typeface="+mn-lt"/>
          <a:ea typeface="+mn-ea"/>
          <a:cs typeface="+mn-cs"/>
        </a:defRPr>
      </a:lvl6pPr>
      <a:lvl7pPr marL="2742926" algn="l" rtl="0" eaLnBrk="1" latinLnBrk="0" hangingPunct="1">
        <a:defRPr kumimoji="0" kern="1200">
          <a:solidFill>
            <a:schemeClr val="tx1"/>
          </a:solidFill>
          <a:latin typeface="+mn-lt"/>
          <a:ea typeface="+mn-ea"/>
          <a:cs typeface="+mn-cs"/>
        </a:defRPr>
      </a:lvl7pPr>
      <a:lvl8pPr marL="3200080" algn="l" rtl="0" eaLnBrk="1" latinLnBrk="0" hangingPunct="1">
        <a:defRPr kumimoji="0" kern="1200">
          <a:solidFill>
            <a:schemeClr val="tx1"/>
          </a:solidFill>
          <a:latin typeface="+mn-lt"/>
          <a:ea typeface="+mn-ea"/>
          <a:cs typeface="+mn-cs"/>
        </a:defRPr>
      </a:lvl8pPr>
      <a:lvl9pPr marL="3657234"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srcRect/>
          <a:tile tx="0" ty="0" sx="100000" sy="100000" flip="none" algn="tl"/>
        </a:blipFill>
        <a:effectLst/>
      </p:bgPr>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711" y="1051143"/>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8" name="文本占位符 7"/>
          <p:cNvSpPr>
            <a:spLocks noGrp="1"/>
          </p:cNvSpPr>
          <p:nvPr>
            <p:ph type="body" idx="1"/>
          </p:nvPr>
        </p:nvSpPr>
        <p:spPr>
          <a:xfrm>
            <a:off x="406347" y="1554523"/>
            <a:ext cx="11580892" cy="4527011"/>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1" name="日期占位符 10"/>
          <p:cNvSpPr>
            <a:spLocks noGrp="1"/>
          </p:cNvSpPr>
          <p:nvPr>
            <p:ph type="dt" sz="half" idx="2"/>
          </p:nvPr>
        </p:nvSpPr>
        <p:spPr>
          <a:xfrm>
            <a:off x="8634876" y="76219"/>
            <a:ext cx="3352364" cy="288992"/>
          </a:xfrm>
          <a:prstGeom prst="rect">
            <a:avLst/>
          </a:prstGeom>
        </p:spPr>
        <p:txBody>
          <a:bodyPr vert="horz"/>
          <a:lstStyle>
            <a:lvl1pPr algn="l" eaLnBrk="1" latinLnBrk="0" hangingPunct="1">
              <a:defRPr kumimoji="0" sz="1200">
                <a:solidFill>
                  <a:schemeClr val="accent1">
                    <a:shade val="75000"/>
                  </a:schemeClr>
                </a:solidFill>
              </a:defRPr>
            </a:lvl1pPr>
          </a:lstStyle>
          <a:p>
            <a:endParaRPr lang="en-US" altLang="zh-CN"/>
          </a:p>
        </p:txBody>
      </p:sp>
      <p:sp>
        <p:nvSpPr>
          <p:cNvPr id="28" name="页脚占位符 27"/>
          <p:cNvSpPr>
            <a:spLocks noGrp="1"/>
          </p:cNvSpPr>
          <p:nvPr>
            <p:ph type="ftr" sz="quarter" idx="3"/>
          </p:nvPr>
        </p:nvSpPr>
        <p:spPr>
          <a:xfrm>
            <a:off x="4165058" y="76219"/>
            <a:ext cx="4469818" cy="288992"/>
          </a:xfrm>
          <a:prstGeom prst="rect">
            <a:avLst/>
          </a:prstGeom>
        </p:spPr>
        <p:txBody>
          <a:bodyPr vert="horz"/>
          <a:lstStyle>
            <a:lvl1pPr algn="r" eaLnBrk="1" latinLnBrk="0" hangingPunct="1">
              <a:defRPr kumimoji="0" sz="1200">
                <a:solidFill>
                  <a:schemeClr val="accent1">
                    <a:shade val="75000"/>
                  </a:schemeClr>
                </a:solidFill>
              </a:defRPr>
            </a:lvl1pPr>
          </a:lstStyle>
          <a:p>
            <a:endParaRPr lang="en-US" altLang="zh-CN"/>
          </a:p>
        </p:txBody>
      </p:sp>
      <p:sp>
        <p:nvSpPr>
          <p:cNvPr id="5" name="灯片编号占位符 4"/>
          <p:cNvSpPr>
            <a:spLocks noGrp="1"/>
          </p:cNvSpPr>
          <p:nvPr>
            <p:ph type="sldNum" sz="quarter" idx="4"/>
          </p:nvPr>
        </p:nvSpPr>
        <p:spPr>
          <a:xfrm>
            <a:off x="10971372" y="6478501"/>
            <a:ext cx="1015868" cy="244532"/>
          </a:xfrm>
          <a:prstGeom prst="rect">
            <a:avLst/>
          </a:prstGeom>
        </p:spPr>
        <p:txBody>
          <a:bodyPr vert="horz"/>
          <a:lstStyle>
            <a:lvl1pPr algn="r" eaLnBrk="1" latinLnBrk="0" hangingPunct="1">
              <a:defRPr kumimoji="0" sz="1200">
                <a:solidFill>
                  <a:schemeClr val="accent1">
                    <a:shade val="75000"/>
                  </a:schemeClr>
                </a:solidFill>
              </a:defRPr>
            </a:lvl1pPr>
          </a:lstStyle>
          <a:p>
            <a:fld id="{DFBBFC48-F0C3-4F85-995B-BDC8CBEB075E}" type="slidenum">
              <a:rPr lang="en-US" altLang="zh-CN" smtClean="0"/>
              <a:pPr/>
              <a:t>‹#›</a:t>
            </a:fld>
            <a:endParaRPr lang="en-US" altLang="zh-CN"/>
          </a:p>
        </p:txBody>
      </p:sp>
      <p:sp>
        <p:nvSpPr>
          <p:cNvPr id="10" name="标题占位符 9"/>
          <p:cNvSpPr>
            <a:spLocks noGrp="1"/>
          </p:cNvSpPr>
          <p:nvPr>
            <p:ph type="title"/>
          </p:nvPr>
        </p:nvSpPr>
        <p:spPr>
          <a:xfrm>
            <a:off x="406347" y="457306"/>
            <a:ext cx="11580892" cy="838394"/>
          </a:xfrm>
          <a:prstGeom prst="rect">
            <a:avLst/>
          </a:prstGeom>
        </p:spPr>
        <p:txBody>
          <a:bodyPr vert="horz" anchor="ctr">
            <a:normAutofit/>
          </a:bodyPr>
          <a:lstStyle/>
          <a:p>
            <a:r>
              <a:rPr kumimoji="0" lang="zh-CN" altLang="en-US"/>
              <a:t>单击此处编辑母版标题样式</a:t>
            </a:r>
            <a:endParaRPr kumimoji="0" lang="en-US"/>
          </a:p>
        </p:txBody>
      </p:sp>
      <p:sp>
        <p:nvSpPr>
          <p:cNvPr id="9" name="直接连接符 8"/>
          <p:cNvSpPr>
            <a:spLocks noChangeShapeType="1"/>
          </p:cNvSpPr>
          <p:nvPr/>
        </p:nvSpPr>
        <p:spPr bwMode="auto">
          <a:xfrm>
            <a:off x="685711" y="1051143"/>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12" name="直接连接符 11"/>
          <p:cNvSpPr>
            <a:spLocks noChangeShapeType="1"/>
          </p:cNvSpPr>
          <p:nvPr/>
        </p:nvSpPr>
        <p:spPr bwMode="auto">
          <a:xfrm>
            <a:off x="685711" y="1058232"/>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Tree>
    <p:extLst>
      <p:ext uri="{BB962C8B-B14F-4D97-AF65-F5344CB8AC3E}">
        <p14:creationId xmlns:p14="http://schemas.microsoft.com/office/powerpoint/2010/main" val="1720035052"/>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866" indent="-342866"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876" indent="-285721"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2886" indent="-228577"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040" indent="-228577"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194"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349"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503" indent="-228577"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8657" indent="-228577"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811" indent="-228577"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154" algn="l" rtl="0" eaLnBrk="1" latinLnBrk="0" hangingPunct="1">
        <a:defRPr kumimoji="0" kern="1200">
          <a:solidFill>
            <a:schemeClr val="tx1"/>
          </a:solidFill>
          <a:latin typeface="+mn-lt"/>
          <a:ea typeface="+mn-ea"/>
          <a:cs typeface="+mn-cs"/>
        </a:defRPr>
      </a:lvl2pPr>
      <a:lvl3pPr marL="914309" algn="l" rtl="0" eaLnBrk="1" latinLnBrk="0" hangingPunct="1">
        <a:defRPr kumimoji="0" kern="1200">
          <a:solidFill>
            <a:schemeClr val="tx1"/>
          </a:solidFill>
          <a:latin typeface="+mn-lt"/>
          <a:ea typeface="+mn-ea"/>
          <a:cs typeface="+mn-cs"/>
        </a:defRPr>
      </a:lvl3pPr>
      <a:lvl4pPr marL="1371463" algn="l" rtl="0" eaLnBrk="1" latinLnBrk="0" hangingPunct="1">
        <a:defRPr kumimoji="0" kern="1200">
          <a:solidFill>
            <a:schemeClr val="tx1"/>
          </a:solidFill>
          <a:latin typeface="+mn-lt"/>
          <a:ea typeface="+mn-ea"/>
          <a:cs typeface="+mn-cs"/>
        </a:defRPr>
      </a:lvl4pPr>
      <a:lvl5pPr marL="1828617" algn="l" rtl="0" eaLnBrk="1" latinLnBrk="0" hangingPunct="1">
        <a:defRPr kumimoji="0" kern="1200">
          <a:solidFill>
            <a:schemeClr val="tx1"/>
          </a:solidFill>
          <a:latin typeface="+mn-lt"/>
          <a:ea typeface="+mn-ea"/>
          <a:cs typeface="+mn-cs"/>
        </a:defRPr>
      </a:lvl5pPr>
      <a:lvl6pPr marL="2285771" algn="l" rtl="0" eaLnBrk="1" latinLnBrk="0" hangingPunct="1">
        <a:defRPr kumimoji="0" kern="1200">
          <a:solidFill>
            <a:schemeClr val="tx1"/>
          </a:solidFill>
          <a:latin typeface="+mn-lt"/>
          <a:ea typeface="+mn-ea"/>
          <a:cs typeface="+mn-cs"/>
        </a:defRPr>
      </a:lvl6pPr>
      <a:lvl7pPr marL="2742926" algn="l" rtl="0" eaLnBrk="1" latinLnBrk="0" hangingPunct="1">
        <a:defRPr kumimoji="0" kern="1200">
          <a:solidFill>
            <a:schemeClr val="tx1"/>
          </a:solidFill>
          <a:latin typeface="+mn-lt"/>
          <a:ea typeface="+mn-ea"/>
          <a:cs typeface="+mn-cs"/>
        </a:defRPr>
      </a:lvl7pPr>
      <a:lvl8pPr marL="3200080" algn="l" rtl="0" eaLnBrk="1" latinLnBrk="0" hangingPunct="1">
        <a:defRPr kumimoji="0" kern="1200">
          <a:solidFill>
            <a:schemeClr val="tx1"/>
          </a:solidFill>
          <a:latin typeface="+mn-lt"/>
          <a:ea typeface="+mn-ea"/>
          <a:cs typeface="+mn-cs"/>
        </a:defRPr>
      </a:lvl8pPr>
      <a:lvl9pPr marL="3657234"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8.xml"/><Relationship Id="rId7" Type="http://schemas.openxmlformats.org/officeDocument/2006/relationships/image" Target="../media/image8.png"/><Relationship Id="rId2" Type="http://schemas.openxmlformats.org/officeDocument/2006/relationships/tags" Target="../tags/tag17.xml"/><Relationship Id="rId1" Type="http://schemas.openxmlformats.org/officeDocument/2006/relationships/themeOverride" Target="../theme/themeOverride1.xml"/><Relationship Id="rId6" Type="http://schemas.openxmlformats.org/officeDocument/2006/relationships/image" Target="../media/image7.jpeg"/><Relationship Id="rId5" Type="http://schemas.openxmlformats.org/officeDocument/2006/relationships/slideLayout" Target="../slideLayouts/slideLayout11.xml"/><Relationship Id="rId4" Type="http://schemas.openxmlformats.org/officeDocument/2006/relationships/tags" Target="../tags/tag19.xml"/></Relationships>
</file>

<file path=ppt/slides/_rels/slide2.xml.rels><?xml version="1.0" encoding="UTF-8" standalone="yes"?>
<Relationships xmlns="http://schemas.openxmlformats.org/package/2006/relationships"><Relationship Id="rId8" Type="http://schemas.openxmlformats.org/officeDocument/2006/relationships/slide" Target="slide41.xml"/><Relationship Id="rId3" Type="http://schemas.openxmlformats.org/officeDocument/2006/relationships/slide" Target="slide3.xml"/><Relationship Id="rId7" Type="http://schemas.openxmlformats.org/officeDocument/2006/relationships/slide" Target="slide36.xml"/><Relationship Id="rId2" Type="http://schemas.openxmlformats.org/officeDocument/2006/relationships/image" Target="../media/image7.jpeg"/><Relationship Id="rId1" Type="http://schemas.openxmlformats.org/officeDocument/2006/relationships/slideLayout" Target="../slideLayouts/slideLayout18.xml"/><Relationship Id="rId6" Type="http://schemas.openxmlformats.org/officeDocument/2006/relationships/slide" Target="slide23.xml"/><Relationship Id="rId5" Type="http://schemas.openxmlformats.org/officeDocument/2006/relationships/slide" Target="slide16.xml"/><Relationship Id="rId4" Type="http://schemas.openxmlformats.org/officeDocument/2006/relationships/slide" Target="slide8.xml"/><Relationship Id="rId9" Type="http://schemas.openxmlformats.org/officeDocument/2006/relationships/slide" Target="slide4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themeOverride" Target="../theme/themeOverride2.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themeOverride" Target="../theme/themeOverride3.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8.xml"/><Relationship Id="rId1" Type="http://schemas.openxmlformats.org/officeDocument/2006/relationships/themeOverride" Target="../theme/themeOverride4.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8.xml"/><Relationship Id="rId1" Type="http://schemas.openxmlformats.org/officeDocument/2006/relationships/themeOverride" Target="../theme/themeOverride5.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8.xml"/><Relationship Id="rId1" Type="http://schemas.openxmlformats.org/officeDocument/2006/relationships/themeOverride" Target="../theme/themeOverride6.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themeOverride" Target="../theme/themeOverride7.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8.xml"/><Relationship Id="rId1" Type="http://schemas.openxmlformats.org/officeDocument/2006/relationships/themeOverride" Target="../theme/themeOverride8.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8.xml"/><Relationship Id="rId1" Type="http://schemas.openxmlformats.org/officeDocument/2006/relationships/themeOverride" Target="../theme/themeOverride9.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8.xml"/><Relationship Id="rId1" Type="http://schemas.openxmlformats.org/officeDocument/2006/relationships/themeOverride" Target="../theme/themeOverride10.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8.xml"/><Relationship Id="rId1" Type="http://schemas.openxmlformats.org/officeDocument/2006/relationships/themeOverride" Target="../theme/themeOverride11.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8.xml"/><Relationship Id="rId1" Type="http://schemas.openxmlformats.org/officeDocument/2006/relationships/themeOverride" Target="../theme/themeOverride12.xml"/><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8.xml"/><Relationship Id="rId1" Type="http://schemas.openxmlformats.org/officeDocument/2006/relationships/themeOverride" Target="../theme/themeOverride13.xml"/><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8.xml"/><Relationship Id="rId1" Type="http://schemas.openxmlformats.org/officeDocument/2006/relationships/themeOverride" Target="../theme/themeOverride14.xml"/><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8.xml"/><Relationship Id="rId1" Type="http://schemas.openxmlformats.org/officeDocument/2006/relationships/themeOverride" Target="../theme/themeOverride15.xml"/><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8.xml"/><Relationship Id="rId1" Type="http://schemas.openxmlformats.org/officeDocument/2006/relationships/themeOverride" Target="../theme/themeOverride16.xml"/><Relationship Id="rId4" Type="http://schemas.openxmlformats.org/officeDocument/2006/relationships/image" Target="../media/image7.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8.xml"/><Relationship Id="rId1" Type="http://schemas.openxmlformats.org/officeDocument/2006/relationships/themeOverride" Target="../theme/themeOverride17.xml"/><Relationship Id="rId4" Type="http://schemas.openxmlformats.org/officeDocument/2006/relationships/image" Target="../media/image7.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8.xml"/><Relationship Id="rId1" Type="http://schemas.openxmlformats.org/officeDocument/2006/relationships/themeOverride" Target="../theme/themeOverride18.xml"/><Relationship Id="rId4" Type="http://schemas.openxmlformats.org/officeDocument/2006/relationships/image" Target="../media/image7.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8.xml"/><Relationship Id="rId1" Type="http://schemas.openxmlformats.org/officeDocument/2006/relationships/themeOverride" Target="../theme/themeOverride19.xml"/><Relationship Id="rId4" Type="http://schemas.openxmlformats.org/officeDocument/2006/relationships/image" Target="../media/image7.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8.xml"/><Relationship Id="rId1" Type="http://schemas.openxmlformats.org/officeDocument/2006/relationships/themeOverride" Target="../theme/themeOverride20.xml"/><Relationship Id="rId4" Type="http://schemas.openxmlformats.org/officeDocument/2006/relationships/image" Target="../media/image7.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8.xml"/><Relationship Id="rId1" Type="http://schemas.openxmlformats.org/officeDocument/2006/relationships/themeOverride" Target="../theme/themeOverride21.xml"/><Relationship Id="rId4" Type="http://schemas.openxmlformats.org/officeDocument/2006/relationships/image" Target="../media/image7.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8.xml"/><Relationship Id="rId1" Type="http://schemas.openxmlformats.org/officeDocument/2006/relationships/themeOverride" Target="../theme/themeOverride22.xml"/><Relationship Id="rId5" Type="http://schemas.openxmlformats.org/officeDocument/2006/relationships/image" Target="../media/image10.png"/><Relationship Id="rId4" Type="http://schemas.openxmlformats.org/officeDocument/2006/relationships/image" Target="../media/image7.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8.xml"/><Relationship Id="rId1" Type="http://schemas.openxmlformats.org/officeDocument/2006/relationships/themeOverride" Target="../theme/themeOverride23.xml"/><Relationship Id="rId4" Type="http://schemas.openxmlformats.org/officeDocument/2006/relationships/image" Target="../media/image7.jpeg"/></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24.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2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8.xml"/><Relationship Id="rId1" Type="http://schemas.openxmlformats.org/officeDocument/2006/relationships/themeOverride" Target="../theme/themeOverride26.xml"/><Relationship Id="rId4" Type="http://schemas.openxmlformats.org/officeDocument/2006/relationships/image" Target="../media/image7.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8.xml"/><Relationship Id="rId1" Type="http://schemas.openxmlformats.org/officeDocument/2006/relationships/themeOverride" Target="../theme/themeOverride27.xml"/><Relationship Id="rId4" Type="http://schemas.openxmlformats.org/officeDocument/2006/relationships/image" Target="../media/image7.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8.xml"/><Relationship Id="rId1" Type="http://schemas.openxmlformats.org/officeDocument/2006/relationships/themeOverride" Target="../theme/themeOverride28.xml"/><Relationship Id="rId4" Type="http://schemas.openxmlformats.org/officeDocument/2006/relationships/image" Target="../media/image7.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8.xml"/><Relationship Id="rId1" Type="http://schemas.openxmlformats.org/officeDocument/2006/relationships/themeOverride" Target="../theme/themeOverride29.xml"/><Relationship Id="rId4" Type="http://schemas.openxmlformats.org/officeDocument/2006/relationships/image" Target="../media/image7.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8.xml"/><Relationship Id="rId1" Type="http://schemas.openxmlformats.org/officeDocument/2006/relationships/themeOverride" Target="../theme/themeOverride30.xml"/><Relationship Id="rId4" Type="http://schemas.openxmlformats.org/officeDocument/2006/relationships/image" Target="../media/image7.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8.xml"/><Relationship Id="rId1" Type="http://schemas.openxmlformats.org/officeDocument/2006/relationships/themeOverride" Target="../theme/themeOverride31.xml"/><Relationship Id="rId4" Type="http://schemas.openxmlformats.org/officeDocument/2006/relationships/image" Target="../media/image7.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8.xml"/><Relationship Id="rId1" Type="http://schemas.openxmlformats.org/officeDocument/2006/relationships/themeOverride" Target="../theme/themeOverride32.xml"/><Relationship Id="rId4" Type="http://schemas.openxmlformats.org/officeDocument/2006/relationships/image" Target="../media/image7.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8.xml"/><Relationship Id="rId1" Type="http://schemas.openxmlformats.org/officeDocument/2006/relationships/themeOverride" Target="../theme/themeOverride33.xml"/><Relationship Id="rId4" Type="http://schemas.openxmlformats.org/officeDocument/2006/relationships/image" Target="../media/image7.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8.xml"/><Relationship Id="rId1" Type="http://schemas.openxmlformats.org/officeDocument/2006/relationships/themeOverride" Target="../theme/themeOverride34.xml"/><Relationship Id="rId4" Type="http://schemas.openxmlformats.org/officeDocument/2006/relationships/image" Target="../media/image7.jpeg"/></Relationships>
</file>

<file path=ppt/slides/_rels/slide3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35.xml"/></Relationships>
</file>

<file path=ppt/slides/_rels/slide3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36.xml"/></Relationships>
</file>

<file path=ppt/slides/_rels/slide3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37.xml"/></Relationships>
</file>

<file path=ppt/slides/_rels/slide3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38.xml"/></Relationships>
</file>

<file path=ppt/slides/_rels/slide4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39.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8.xml"/><Relationship Id="rId1" Type="http://schemas.openxmlformats.org/officeDocument/2006/relationships/themeOverride" Target="../theme/themeOverride40.xml"/><Relationship Id="rId4" Type="http://schemas.openxmlformats.org/officeDocument/2006/relationships/image" Target="../media/image7.jpe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8.xml"/><Relationship Id="rId1" Type="http://schemas.openxmlformats.org/officeDocument/2006/relationships/themeOverride" Target="../theme/themeOverride41.xml"/><Relationship Id="rId5" Type="http://schemas.openxmlformats.org/officeDocument/2006/relationships/image" Target="../media/image11.gif"/><Relationship Id="rId4" Type="http://schemas.openxmlformats.org/officeDocument/2006/relationships/image" Target="../media/image7.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8.xml"/><Relationship Id="rId1" Type="http://schemas.openxmlformats.org/officeDocument/2006/relationships/themeOverride" Target="../theme/themeOverride42.xml"/><Relationship Id="rId5" Type="http://schemas.openxmlformats.org/officeDocument/2006/relationships/image" Target="../media/image12.png"/><Relationship Id="rId4" Type="http://schemas.openxmlformats.org/officeDocument/2006/relationships/image" Target="../media/image7.jpeg"/></Relationships>
</file>

<file path=ppt/slides/_rels/slide4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43.xml"/></Relationships>
</file>

<file path=ppt/slides/_rels/slide4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44.xml"/></Relationships>
</file>

<file path=ppt/slides/_rels/slide4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45.xml"/></Relationships>
</file>

<file path=ppt/slides/_rels/slide4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46.xml"/><Relationship Id="rId4" Type="http://schemas.openxmlformats.org/officeDocument/2006/relationships/image" Target="../media/image13.jpeg"/></Relationships>
</file>

<file path=ppt/slides/_rels/slide4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47.xml"/></Relationships>
</file>

<file path=ppt/slides/_rels/slide4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48.xml"/></Relationships>
</file>

<file path=ppt/slides/_rels/slide5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49.xml"/></Relationships>
</file>

<file path=ppt/slides/_rels/slide5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50.xml"/></Relationships>
</file>

<file path=ppt/slides/_rels/slide5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51.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6">
            <a:alphaModFix amt="67000"/>
          </a:blip>
          <a:tile tx="0" ty="0" sx="100000" sy="100000" flip="none" algn="tl"/>
        </a:blipFill>
        <a:effectLst/>
      </p:bgPr>
    </p:bg>
    <p:spTree>
      <p:nvGrpSpPr>
        <p:cNvPr id="1" name=""/>
        <p:cNvGrpSpPr/>
        <p:nvPr/>
      </p:nvGrpSpPr>
      <p:grpSpPr>
        <a:xfrm>
          <a:off x="0" y="0"/>
          <a:ext cx="0" cy="0"/>
          <a:chOff x="0" y="0"/>
          <a:chExt cx="0" cy="0"/>
        </a:xfrm>
      </p:grpSpPr>
      <p:sp>
        <p:nvSpPr>
          <p:cNvPr id="15" name="主标题"/>
          <p:cNvSpPr txBox="1"/>
          <p:nvPr>
            <p:custDataLst>
              <p:tags r:id="rId2"/>
            </p:custDataLst>
          </p:nvPr>
        </p:nvSpPr>
        <p:spPr>
          <a:xfrm>
            <a:off x="2967450" y="3029729"/>
            <a:ext cx="6255185" cy="800130"/>
          </a:xfrm>
          <a:prstGeom prst="rect">
            <a:avLst/>
          </a:prstGeom>
          <a:noFill/>
          <a:ln w="9525">
            <a:noFill/>
          </a:ln>
        </p:spPr>
        <p:txBody>
          <a:bodyPr wrap="square" lIns="91351" tIns="45676" rIns="91351" bIns="45676">
            <a:spAutoFit/>
          </a:bodyPr>
          <a:lstStyle/>
          <a:p>
            <a:pPr marL="0" marR="0" lvl="0" indent="0" algn="dist" defTabSz="455884" rtl="0" eaLnBrk="1" fontAlgn="auto" latinLnBrk="0" hangingPunct="1">
              <a:lnSpc>
                <a:spcPct val="100000"/>
              </a:lnSpc>
              <a:spcBef>
                <a:spcPts val="0"/>
              </a:spcBef>
              <a:spcAft>
                <a:spcPts val="0"/>
              </a:spcAft>
              <a:buClrTx/>
              <a:buSzTx/>
              <a:buFontTx/>
              <a:buNone/>
              <a:tabLst/>
              <a:defRPr/>
            </a:pPr>
            <a:r>
              <a:rPr kumimoji="0" lang="zh-CN" altLang="en-US" sz="46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sym typeface="Arial" panose="020B0604020202020204" pitchFamily="34" charset="0"/>
              </a:rPr>
              <a:t>第四章 分支限界法</a:t>
            </a:r>
            <a:endParaRPr kumimoji="0" lang="zh-CN" altLang="en-US" sz="4800" b="1"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2" name="主标题英文"/>
          <p:cNvSpPr txBox="1"/>
          <p:nvPr>
            <p:custDataLst>
              <p:tags r:id="rId3"/>
            </p:custDataLst>
          </p:nvPr>
        </p:nvSpPr>
        <p:spPr>
          <a:xfrm>
            <a:off x="485305" y="4077866"/>
            <a:ext cx="11250100" cy="826027"/>
          </a:xfrm>
          <a:prstGeom prst="rect">
            <a:avLst/>
          </a:prstGeom>
          <a:noFill/>
          <a:ln w="9525">
            <a:noFill/>
          </a:ln>
        </p:spPr>
        <p:txBody>
          <a:bodyPr lIns="91351" tIns="45676" rIns="91351" bIns="45676">
            <a:noAutofit/>
          </a:bodyPr>
          <a:lstStyle/>
          <a:p>
            <a:pPr marL="0" marR="0" lvl="0" indent="0" algn="ctr" defTabSz="455884" rtl="0" eaLnBrk="1" fontAlgn="auto" latinLnBrk="0" hangingPunct="1">
              <a:lnSpc>
                <a:spcPct val="100000"/>
              </a:lnSpc>
              <a:spcBef>
                <a:spcPts val="0"/>
              </a:spcBef>
              <a:spcAft>
                <a:spcPts val="0"/>
              </a:spcAft>
              <a:buClrTx/>
              <a:buSzTx/>
              <a:buFontTx/>
              <a:buNone/>
              <a:tabLst/>
              <a:defRPr/>
            </a:pPr>
            <a:r>
              <a:rPr kumimoji="0" lang="en-US" altLang="zh-CN" sz="4200" b="0" i="0" u="none" strike="noStrike" kern="1200" cap="none" spc="0" normalizeH="0" baseline="0" noProof="0" dirty="0">
                <a:ln>
                  <a:noFill/>
                </a:ln>
                <a:solidFill>
                  <a:srgbClr val="FF0000"/>
                </a:solidFill>
                <a:effectLst/>
                <a:uLnTx/>
                <a:uFillTx/>
                <a:latin typeface="Calibri" panose="020F0502020204030204" charset="0"/>
                <a:ea typeface="华文楷体" panose="02010600040101010101" pitchFamily="2" charset="-122"/>
                <a:cs typeface="+mn-cs"/>
                <a:sym typeface="Arial" panose="020B0604020202020204" pitchFamily="34" charset="0"/>
              </a:rPr>
              <a:t>Chapter 4 B</a:t>
            </a:r>
            <a:r>
              <a:rPr lang="en-US" altLang="zh-CN" sz="4200" dirty="0">
                <a:solidFill>
                  <a:srgbClr val="FF0000"/>
                </a:solidFill>
                <a:latin typeface="Calibri" panose="020F0502020204030204" charset="0"/>
                <a:ea typeface="华文楷体" panose="02010600040101010101" pitchFamily="2" charset="-122"/>
                <a:sym typeface="Arial" panose="020B0604020202020204" pitchFamily="34" charset="0"/>
              </a:rPr>
              <a:t>ranch and Bound</a:t>
            </a:r>
            <a:endParaRPr kumimoji="0" lang="en-US" altLang="zh-CN" sz="4200" b="0" i="0" u="none" strike="noStrike" kern="1200" cap="none" spc="0" normalizeH="0" baseline="0" noProof="0" dirty="0">
              <a:ln>
                <a:noFill/>
              </a:ln>
              <a:solidFill>
                <a:srgbClr val="FF0000"/>
              </a:solidFill>
              <a:effectLst/>
              <a:uLnTx/>
              <a:uFillTx/>
              <a:latin typeface="Calibri" panose="020F0502020204030204" charset="0"/>
              <a:ea typeface="华文楷体" panose="02010600040101010101" pitchFamily="2" charset="-122"/>
              <a:cs typeface="+mn-cs"/>
              <a:sym typeface="Arial" panose="020B0604020202020204" pitchFamily="34" charset="0"/>
            </a:endParaRPr>
          </a:p>
        </p:txBody>
      </p:sp>
      <p:sp>
        <p:nvSpPr>
          <p:cNvPr id="17" name="汇报人"/>
          <p:cNvSpPr txBox="1"/>
          <p:nvPr>
            <p:custDataLst>
              <p:tags r:id="rId4"/>
            </p:custDataLst>
          </p:nvPr>
        </p:nvSpPr>
        <p:spPr>
          <a:xfrm>
            <a:off x="3800895" y="5493625"/>
            <a:ext cx="4588303" cy="953982"/>
          </a:xfrm>
          <a:prstGeom prst="rect">
            <a:avLst/>
          </a:prstGeom>
          <a:noFill/>
        </p:spPr>
        <p:txBody>
          <a:bodyPr wrap="square" rtlCol="0">
            <a:spAutoFit/>
          </a:bodyPr>
          <a:lstStyle/>
          <a:p>
            <a:pPr marL="0" marR="0" lvl="0" indent="0" algn="ctr" defTabSz="474933"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计算机学院  高翔</a:t>
            </a:r>
            <a:endParaRPr kumimoji="0" lang="en-US" altLang="zh-CN" sz="28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endParaRPr>
          </a:p>
          <a:p>
            <a:pPr marL="0" marR="0" lvl="0" indent="0" algn="ctr" defTabSz="474933"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mn-cs"/>
              </a:rPr>
              <a:t>gaoxg@nwpu.edu.cn</a:t>
            </a:r>
          </a:p>
        </p:txBody>
      </p:sp>
      <p:sp>
        <p:nvSpPr>
          <p:cNvPr id="2" name="校徽打底">
            <a:extLst>
              <a:ext uri="{FF2B5EF4-FFF2-40B4-BE49-F238E27FC236}">
                <a16:creationId xmlns:a16="http://schemas.microsoft.com/office/drawing/2014/main" id="{DBB2F946-326E-6A1B-8BE7-E39A1CBE93CA}"/>
              </a:ext>
            </a:extLst>
          </p:cNvPr>
          <p:cNvSpPr/>
          <p:nvPr/>
        </p:nvSpPr>
        <p:spPr>
          <a:xfrm>
            <a:off x="3071100" y="1269554"/>
            <a:ext cx="6047884" cy="5705312"/>
          </a:xfrm>
          <a:prstGeom prst="rect">
            <a:avLst/>
          </a:prstGeom>
          <a:blipFill dpi="0" rotWithShape="1">
            <a:blip r:embed="rId7">
              <a:alphaModFix amt="15000"/>
            </a:blip>
            <a:srcRect/>
            <a:stretch>
              <a:fillRect/>
            </a:stretch>
          </a:blipFill>
          <a:ln w="12700" cap="flat" cmpd="sng" algn="ctr">
            <a:noFill/>
            <a:prstDash val="solid"/>
            <a:miter lim="800000"/>
          </a:ln>
          <a:effectLst/>
        </p:spPr>
        <p:txBody>
          <a:bodyPr rtlCol="0" anchor="ct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sym typeface="Arial" panose="020B0604020202020204" pitchFamily="34" charset="0"/>
            </a:endParaRPr>
          </a:p>
        </p:txBody>
      </p:sp>
      <p:grpSp>
        <p:nvGrpSpPr>
          <p:cNvPr id="3" name="校徽组合">
            <a:extLst>
              <a:ext uri="{FF2B5EF4-FFF2-40B4-BE49-F238E27FC236}">
                <a16:creationId xmlns:a16="http://schemas.microsoft.com/office/drawing/2014/main" id="{E87E0F6E-6B73-C950-7D50-26DE24994869}"/>
              </a:ext>
            </a:extLst>
          </p:cNvPr>
          <p:cNvGrpSpPr/>
          <p:nvPr/>
        </p:nvGrpSpPr>
        <p:grpSpPr>
          <a:xfrm>
            <a:off x="5366576" y="-7024"/>
            <a:ext cx="1456935" cy="1052599"/>
            <a:chOff x="5015984" y="467571"/>
            <a:chExt cx="2160032" cy="1905000"/>
          </a:xfrm>
        </p:grpSpPr>
        <p:sp>
          <p:nvSpPr>
            <p:cNvPr id="7" name="五边形">
              <a:extLst>
                <a:ext uri="{FF2B5EF4-FFF2-40B4-BE49-F238E27FC236}">
                  <a16:creationId xmlns:a16="http://schemas.microsoft.com/office/drawing/2014/main" id="{13DBF0C9-7F2B-A1FB-66A4-FCB483EF44AC}"/>
                </a:ext>
              </a:extLst>
            </p:cNvPr>
            <p:cNvSpPr/>
            <p:nvPr/>
          </p:nvSpPr>
          <p:spPr>
            <a:xfrm rot="5400000">
              <a:off x="5143500" y="340055"/>
              <a:ext cx="1905000" cy="2160032"/>
            </a:xfrm>
            <a:prstGeom prst="homePlate">
              <a:avLst>
                <a:gd name="adj" fmla="val 32000"/>
              </a:avLst>
            </a:prstGeom>
            <a:solidFill>
              <a:srgbClr val="1045C9"/>
            </a:solidFill>
            <a:ln w="12700" cap="flat" cmpd="sng" algn="ctr">
              <a:noFill/>
              <a:prstDash val="solid"/>
              <a:miter lim="800000"/>
            </a:ln>
            <a:effectLst/>
          </p:spPr>
          <p:txBody>
            <a:bodyPr rtlCol="0" anchor="ct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sym typeface="Arial" panose="020B0604020202020204" pitchFamily="34" charset="0"/>
              </a:endParaRPr>
            </a:p>
          </p:txBody>
        </p:sp>
        <p:pic>
          <p:nvPicPr>
            <p:cNvPr id="9" name="校徽">
              <a:extLst>
                <a:ext uri="{FF2B5EF4-FFF2-40B4-BE49-F238E27FC236}">
                  <a16:creationId xmlns:a16="http://schemas.microsoft.com/office/drawing/2014/main" id="{DC30E6EE-822E-6A89-A6AF-C82607F132B3}"/>
                </a:ext>
              </a:extLst>
            </p:cNvPr>
            <p:cNvPicPr>
              <a:picLocks noChangeAspect="1"/>
            </p:cNvPicPr>
            <p:nvPr/>
          </p:nvPicPr>
          <p:blipFill>
            <a:blip r:embed="rId8" cstate="screen"/>
            <a:stretch>
              <a:fillRect/>
            </a:stretch>
          </p:blipFill>
          <p:spPr>
            <a:xfrm>
              <a:off x="5384165" y="584656"/>
              <a:ext cx="1423673" cy="1421486"/>
            </a:xfrm>
            <a:prstGeom prst="rect">
              <a:avLst/>
            </a:prstGeom>
          </p:spPr>
        </p:pic>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800"/>
                                  </p:stCondLst>
                                  <p:childTnLst>
                                    <p:set>
                                      <p:cBhvr>
                                        <p:cTn id="6" dur="1" fill="hold">
                                          <p:stCondLst>
                                            <p:cond delay="0"/>
                                          </p:stCondLst>
                                        </p:cTn>
                                        <p:tgtEl>
                                          <p:spTgt spid="15"/>
                                        </p:tgtEl>
                                        <p:attrNameLst>
                                          <p:attrName>style.visibility</p:attrName>
                                        </p:attrNameLst>
                                      </p:cBhvr>
                                      <p:to>
                                        <p:strVal val="visible"/>
                                      </p:to>
                                    </p:set>
                                    <p:anim calcmode="lin" valueType="num">
                                      <p:cBhvr>
                                        <p:cTn id="7" dur="750" fill="hold"/>
                                        <p:tgtEl>
                                          <p:spTgt spid="15"/>
                                        </p:tgtEl>
                                        <p:attrNameLst>
                                          <p:attrName>ppt_w</p:attrName>
                                        </p:attrNameLst>
                                      </p:cBhvr>
                                      <p:tavLst>
                                        <p:tav tm="0">
                                          <p:val>
                                            <p:strVal val="#ppt_w+.3"/>
                                          </p:val>
                                        </p:tav>
                                        <p:tav tm="100000">
                                          <p:val>
                                            <p:strVal val="#ppt_w"/>
                                          </p:val>
                                        </p:tav>
                                      </p:tavLst>
                                    </p:anim>
                                    <p:anim calcmode="lin" valueType="num">
                                      <p:cBhvr>
                                        <p:cTn id="8" dur="750" fill="hold"/>
                                        <p:tgtEl>
                                          <p:spTgt spid="15"/>
                                        </p:tgtEl>
                                        <p:attrNameLst>
                                          <p:attrName>ppt_h</p:attrName>
                                        </p:attrNameLst>
                                      </p:cBhvr>
                                      <p:tavLst>
                                        <p:tav tm="0">
                                          <p:val>
                                            <p:strVal val="#ppt_h"/>
                                          </p:val>
                                        </p:tav>
                                        <p:tav tm="100000">
                                          <p:val>
                                            <p:strVal val="#ppt_h"/>
                                          </p:val>
                                        </p:tav>
                                      </p:tavLst>
                                    </p:anim>
                                    <p:animEffect transition="in" filter="fade">
                                      <p:cBhvr>
                                        <p:cTn id="9" dur="750"/>
                                        <p:tgtEl>
                                          <p:spTgt spid="15"/>
                                        </p:tgtEl>
                                      </p:cBhvr>
                                    </p:animEffect>
                                  </p:childTnLst>
                                </p:cTn>
                              </p:par>
                              <p:par>
                                <p:cTn id="10" presetID="47" presetClass="entr" presetSubtype="0" fill="hold" grpId="0" nodeType="withEffect">
                                  <p:stCondLst>
                                    <p:cond delay="120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750"/>
                                        <p:tgtEl>
                                          <p:spTgt spid="12"/>
                                        </p:tgtEl>
                                      </p:cBhvr>
                                    </p:animEffect>
                                    <p:anim calcmode="lin" valueType="num">
                                      <p:cBhvr>
                                        <p:cTn id="13" dur="750" fill="hold"/>
                                        <p:tgtEl>
                                          <p:spTgt spid="12"/>
                                        </p:tgtEl>
                                        <p:attrNameLst>
                                          <p:attrName>ppt_x</p:attrName>
                                        </p:attrNameLst>
                                      </p:cBhvr>
                                      <p:tavLst>
                                        <p:tav tm="0">
                                          <p:val>
                                            <p:strVal val="#ppt_x"/>
                                          </p:val>
                                        </p:tav>
                                        <p:tav tm="100000">
                                          <p:val>
                                            <p:strVal val="#ppt_x"/>
                                          </p:val>
                                        </p:tav>
                                      </p:tavLst>
                                    </p:anim>
                                    <p:anim calcmode="lin" valueType="num">
                                      <p:cBhvr>
                                        <p:cTn id="14" dur="75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3075" name="Text Box 3">
            <a:hlinkClick r:id="rId3" action="ppaction://hlinksldjump"/>
          </p:cNvPr>
          <p:cNvSpPr txBox="1">
            <a:spLocks noChangeArrowheads="1"/>
          </p:cNvSpPr>
          <p:nvPr/>
        </p:nvSpPr>
        <p:spPr bwMode="auto">
          <a:xfrm>
            <a:off x="3646934" y="1125538"/>
            <a:ext cx="4679911" cy="584775"/>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309" rtl="0" eaLnBrk="1" fontAlgn="base" latinLnBrk="0" hangingPunct="1">
              <a:lnSpc>
                <a:spcPct val="100000"/>
              </a:lnSpc>
              <a:spcBef>
                <a:spcPct val="50000"/>
              </a:spcBef>
              <a:spcAft>
                <a:spcPct val="0"/>
              </a:spcAft>
              <a:buClrTx/>
              <a:buSzTx/>
              <a:buFontTx/>
              <a:buNone/>
              <a:tabLst/>
              <a:defRPr/>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4</a:t>
            </a:r>
            <a:r>
              <a:rPr kumimoji="0" lang="en-US" altLang="zh-CN" sz="3200" b="1" i="0" u="none" strike="noStrike" kern="120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华文楷体" panose="02010600040101010101" pitchFamily="2" charset="-122"/>
                <a:ea typeface="华文楷体" panose="02010600040101010101" pitchFamily="2" charset="-122"/>
                <a:cs typeface="Consolas" pitchFamily="49" charset="0"/>
              </a:rPr>
              <a:t>.1</a:t>
            </a:r>
            <a:r>
              <a:rPr kumimoji="0" lang="zh-CN" altLang="en-US" sz="3200" b="1" i="0" u="none" strike="noStrike" kern="120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华文楷体" panose="02010600040101010101" pitchFamily="2" charset="-122"/>
                <a:ea typeface="华文楷体" panose="02010600040101010101" pitchFamily="2" charset="-122"/>
                <a:cs typeface="Consolas" pitchFamily="49" charset="0"/>
              </a:rPr>
              <a:t>分支限界法基本思想</a:t>
            </a:r>
          </a:p>
        </p:txBody>
      </p:sp>
      <p:sp>
        <p:nvSpPr>
          <p:cNvPr id="12" name="Text Box 3">
            <a:hlinkClick r:id="rId4" action="ppaction://hlinksldjump"/>
          </p:cNvPr>
          <p:cNvSpPr txBox="1">
            <a:spLocks noChangeArrowheads="1"/>
          </p:cNvSpPr>
          <p:nvPr/>
        </p:nvSpPr>
        <p:spPr bwMode="auto">
          <a:xfrm>
            <a:off x="3646934" y="1949501"/>
            <a:ext cx="4679911" cy="584699"/>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309" rtl="0" eaLnBrk="1" fontAlgn="base" latinLnBrk="0" hangingPunct="1">
              <a:lnSpc>
                <a:spcPct val="100000"/>
              </a:lnSpc>
              <a:spcBef>
                <a:spcPct val="50000"/>
              </a:spcBef>
              <a:spcAft>
                <a:spcPct val="0"/>
              </a:spcAft>
              <a:buClrTx/>
              <a:buSzTx/>
              <a:buFontTx/>
              <a:buNone/>
              <a:tabLst/>
              <a:defRPr/>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4</a:t>
            </a:r>
            <a:r>
              <a:rPr kumimoji="0" lang="en-US" altLang="zh-CN" sz="3200" b="1" i="0" u="none" strike="noStrike" kern="120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华文楷体" panose="02010600040101010101" pitchFamily="2" charset="-122"/>
                <a:ea typeface="华文楷体" panose="02010600040101010101" pitchFamily="2" charset="-122"/>
                <a:cs typeface="Consolas" pitchFamily="49" charset="0"/>
              </a:rPr>
              <a:t>.2  </a:t>
            </a:r>
            <a:r>
              <a:rPr kumimoji="0" lang="zh-CN" altLang="en-US" sz="3200" b="1" i="0" u="none" strike="noStrike" kern="120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华文楷体" panose="02010600040101010101" pitchFamily="2" charset="-122"/>
                <a:ea typeface="华文楷体" panose="02010600040101010101" pitchFamily="2" charset="-122"/>
                <a:cs typeface="Consolas" pitchFamily="49" charset="0"/>
              </a:rPr>
              <a:t>电子老鼠闯迷宫 </a:t>
            </a:r>
          </a:p>
        </p:txBody>
      </p:sp>
      <p:sp>
        <p:nvSpPr>
          <p:cNvPr id="13" name="Text Box 3">
            <a:hlinkClick r:id="rId5" action="ppaction://hlinksldjump"/>
          </p:cNvPr>
          <p:cNvSpPr txBox="1">
            <a:spLocks noChangeArrowheads="1"/>
          </p:cNvSpPr>
          <p:nvPr/>
        </p:nvSpPr>
        <p:spPr bwMode="auto">
          <a:xfrm>
            <a:off x="3646934" y="2778800"/>
            <a:ext cx="4679911" cy="584699"/>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309" rtl="0" eaLnBrk="1" fontAlgn="base" latinLnBrk="0" hangingPunct="1">
              <a:lnSpc>
                <a:spcPct val="100000"/>
              </a:lnSpc>
              <a:spcBef>
                <a:spcPct val="50000"/>
              </a:spcBef>
              <a:spcAft>
                <a:spcPct val="0"/>
              </a:spcAft>
              <a:buClrTx/>
              <a:buSzTx/>
              <a:buFontTx/>
              <a:buNone/>
              <a:tabLst/>
              <a:defRPr/>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4</a:t>
            </a:r>
            <a:r>
              <a:rPr kumimoji="0" lang="en-US" altLang="zh-CN" sz="3200" b="1" i="0" u="none" strike="noStrike" kern="120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华文楷体" panose="02010600040101010101" pitchFamily="2" charset="-122"/>
                <a:ea typeface="华文楷体" panose="02010600040101010101" pitchFamily="2" charset="-122"/>
                <a:cs typeface="Consolas" pitchFamily="49" charset="0"/>
              </a:rPr>
              <a:t>.3 </a:t>
            </a:r>
            <a:r>
              <a:rPr kumimoji="0" lang="zh-CN" altLang="en-US" sz="3200" b="1" i="0" u="none" strike="noStrike" kern="120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华文楷体" panose="02010600040101010101" pitchFamily="2" charset="-122"/>
                <a:ea typeface="华文楷体" panose="02010600040101010101" pitchFamily="2" charset="-122"/>
                <a:cs typeface="Consolas" pitchFamily="49" charset="0"/>
              </a:rPr>
              <a:t>跳马问题</a:t>
            </a:r>
          </a:p>
        </p:txBody>
      </p:sp>
      <p:sp>
        <p:nvSpPr>
          <p:cNvPr id="2" name="Text Box 3">
            <a:hlinkClick r:id="rId6" action="ppaction://hlinksldjump"/>
            <a:extLst>
              <a:ext uri="{FF2B5EF4-FFF2-40B4-BE49-F238E27FC236}">
                <a16:creationId xmlns:a16="http://schemas.microsoft.com/office/drawing/2014/main" id="{C22E27D3-52FB-71DF-8099-66B014826466}"/>
              </a:ext>
            </a:extLst>
          </p:cNvPr>
          <p:cNvSpPr txBox="1">
            <a:spLocks noChangeArrowheads="1"/>
          </p:cNvSpPr>
          <p:nvPr/>
        </p:nvSpPr>
        <p:spPr bwMode="auto">
          <a:xfrm>
            <a:off x="3646934" y="3608099"/>
            <a:ext cx="4679911" cy="584699"/>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309" rtl="0" eaLnBrk="1" fontAlgn="base" latinLnBrk="0" hangingPunct="1">
              <a:lnSpc>
                <a:spcPct val="100000"/>
              </a:lnSpc>
              <a:spcBef>
                <a:spcPct val="50000"/>
              </a:spcBef>
              <a:spcAft>
                <a:spcPct val="0"/>
              </a:spcAft>
              <a:buClrTx/>
              <a:buSzTx/>
              <a:buFontTx/>
              <a:buNone/>
              <a:tabLst/>
              <a:defRPr/>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4</a:t>
            </a:r>
            <a:r>
              <a:rPr kumimoji="0" lang="en-US" altLang="zh-CN" sz="3200" b="1" i="0" u="none" strike="noStrike" kern="120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华文楷体" panose="02010600040101010101" pitchFamily="2" charset="-122"/>
                <a:ea typeface="华文楷体" panose="02010600040101010101" pitchFamily="2" charset="-122"/>
                <a:cs typeface="Consolas" pitchFamily="49" charset="0"/>
              </a:rPr>
              <a:t>.4 </a:t>
            </a:r>
            <a:r>
              <a:rPr kumimoji="0" lang="zh-CN" altLang="en-US" sz="3200" b="1" i="0" u="none" strike="noStrike" kern="120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华文楷体" panose="02010600040101010101" pitchFamily="2" charset="-122"/>
                <a:ea typeface="华文楷体" panose="02010600040101010101" pitchFamily="2" charset="-122"/>
                <a:cs typeface="Consolas" pitchFamily="49" charset="0"/>
              </a:rPr>
              <a:t>独轮车问题</a:t>
            </a:r>
          </a:p>
        </p:txBody>
      </p:sp>
      <p:sp>
        <p:nvSpPr>
          <p:cNvPr id="3" name="Text Box 3">
            <a:hlinkClick r:id="rId7" action="ppaction://hlinksldjump"/>
            <a:extLst>
              <a:ext uri="{FF2B5EF4-FFF2-40B4-BE49-F238E27FC236}">
                <a16:creationId xmlns:a16="http://schemas.microsoft.com/office/drawing/2014/main" id="{E9D5D7F8-B8B3-1CD1-21B2-CDBEA909FA93}"/>
              </a:ext>
            </a:extLst>
          </p:cNvPr>
          <p:cNvSpPr txBox="1">
            <a:spLocks noChangeArrowheads="1"/>
          </p:cNvSpPr>
          <p:nvPr/>
        </p:nvSpPr>
        <p:spPr bwMode="auto">
          <a:xfrm>
            <a:off x="3646934" y="4437398"/>
            <a:ext cx="4679911" cy="584699"/>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309" rtl="0" eaLnBrk="1" fontAlgn="base" latinLnBrk="0" hangingPunct="1">
              <a:lnSpc>
                <a:spcPct val="100000"/>
              </a:lnSpc>
              <a:spcBef>
                <a:spcPct val="50000"/>
              </a:spcBef>
              <a:spcAft>
                <a:spcPct val="0"/>
              </a:spcAft>
              <a:buClrTx/>
              <a:buSzTx/>
              <a:buFontTx/>
              <a:buNone/>
              <a:tabLst/>
              <a:defRPr/>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4</a:t>
            </a:r>
            <a:r>
              <a:rPr kumimoji="0" lang="en-US" altLang="zh-CN" sz="3200" b="1" i="0" u="none" strike="noStrike" kern="120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华文楷体" panose="02010600040101010101" pitchFamily="2" charset="-122"/>
                <a:ea typeface="华文楷体" panose="02010600040101010101" pitchFamily="2" charset="-122"/>
                <a:cs typeface="Consolas" pitchFamily="49" charset="0"/>
              </a:rPr>
              <a:t>.5 </a:t>
            </a:r>
            <a:r>
              <a:rPr kumimoji="0" lang="zh-CN" altLang="en-US" sz="3200" b="1" i="0" u="none" strike="noStrike" kern="120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华文楷体" panose="02010600040101010101" pitchFamily="2" charset="-122"/>
                <a:ea typeface="华文楷体" panose="02010600040101010101" pitchFamily="2" charset="-122"/>
                <a:cs typeface="Consolas" pitchFamily="49" charset="0"/>
              </a:rPr>
              <a:t>分油问题</a:t>
            </a:r>
          </a:p>
        </p:txBody>
      </p:sp>
      <p:sp>
        <p:nvSpPr>
          <p:cNvPr id="4" name="Text Box 3">
            <a:hlinkClick r:id="rId8" action="ppaction://hlinksldjump"/>
            <a:extLst>
              <a:ext uri="{FF2B5EF4-FFF2-40B4-BE49-F238E27FC236}">
                <a16:creationId xmlns:a16="http://schemas.microsoft.com/office/drawing/2014/main" id="{E81A006F-F6F4-E60D-C3FB-86DC348017E1}"/>
              </a:ext>
            </a:extLst>
          </p:cNvPr>
          <p:cNvSpPr txBox="1">
            <a:spLocks noChangeArrowheads="1"/>
          </p:cNvSpPr>
          <p:nvPr/>
        </p:nvSpPr>
        <p:spPr bwMode="auto">
          <a:xfrm>
            <a:off x="3646934" y="5266697"/>
            <a:ext cx="4679911" cy="584699"/>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309" rtl="0" eaLnBrk="1" fontAlgn="base" latinLnBrk="0" hangingPunct="1">
              <a:lnSpc>
                <a:spcPct val="100000"/>
              </a:lnSpc>
              <a:spcBef>
                <a:spcPct val="50000"/>
              </a:spcBef>
              <a:spcAft>
                <a:spcPct val="0"/>
              </a:spcAft>
              <a:buClrTx/>
              <a:buSzTx/>
              <a:buFontTx/>
              <a:buNone/>
              <a:tabLst/>
              <a:defRPr/>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4</a:t>
            </a:r>
            <a:r>
              <a:rPr kumimoji="0" lang="en-US" altLang="zh-CN" sz="3200" b="1" i="0" u="none" strike="noStrike" kern="120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华文楷体" panose="02010600040101010101" pitchFamily="2" charset="-122"/>
                <a:ea typeface="华文楷体" panose="02010600040101010101" pitchFamily="2" charset="-122"/>
                <a:cs typeface="Consolas" pitchFamily="49" charset="0"/>
              </a:rPr>
              <a:t>.6 </a:t>
            </a:r>
            <a:r>
              <a:rPr lang="zh-CN" altLang="en-US"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八数码</a:t>
            </a:r>
            <a:r>
              <a:rPr kumimoji="0" lang="zh-CN" altLang="en-US" sz="3200" b="1" i="0" u="none" strike="noStrike" kern="120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华文楷体" panose="02010600040101010101" pitchFamily="2" charset="-122"/>
                <a:ea typeface="华文楷体" panose="02010600040101010101" pitchFamily="2" charset="-122"/>
                <a:cs typeface="Consolas" pitchFamily="49" charset="0"/>
              </a:rPr>
              <a:t>问题</a:t>
            </a:r>
          </a:p>
        </p:txBody>
      </p:sp>
      <p:sp>
        <p:nvSpPr>
          <p:cNvPr id="6" name="Text Box 3">
            <a:hlinkClick r:id="rId9" action="ppaction://hlinksldjump"/>
            <a:extLst>
              <a:ext uri="{FF2B5EF4-FFF2-40B4-BE49-F238E27FC236}">
                <a16:creationId xmlns:a16="http://schemas.microsoft.com/office/drawing/2014/main" id="{E788FDB9-DBA1-4BE7-B70A-E3A670F61589}"/>
              </a:ext>
            </a:extLst>
          </p:cNvPr>
          <p:cNvSpPr txBox="1">
            <a:spLocks noChangeArrowheads="1"/>
          </p:cNvSpPr>
          <p:nvPr/>
        </p:nvSpPr>
        <p:spPr bwMode="auto">
          <a:xfrm>
            <a:off x="3646934" y="6095996"/>
            <a:ext cx="4679911" cy="584775"/>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309" rtl="0" eaLnBrk="1" fontAlgn="base" latinLnBrk="0" hangingPunct="1">
              <a:lnSpc>
                <a:spcPct val="100000"/>
              </a:lnSpc>
              <a:spcBef>
                <a:spcPct val="50000"/>
              </a:spcBef>
              <a:spcAft>
                <a:spcPct val="0"/>
              </a:spcAft>
              <a:buClrTx/>
              <a:buSzTx/>
              <a:buFontTx/>
              <a:buNone/>
              <a:tabLst/>
              <a:defRPr/>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4</a:t>
            </a:r>
            <a:r>
              <a:rPr kumimoji="0" lang="en-US" altLang="zh-CN" sz="3200" b="1" i="0" u="none" strike="noStrike" kern="120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华文楷体" panose="02010600040101010101" pitchFamily="2" charset="-122"/>
                <a:ea typeface="华文楷体" panose="02010600040101010101" pitchFamily="2" charset="-122"/>
                <a:cs typeface="Consolas" pitchFamily="49" charset="0"/>
              </a:rPr>
              <a:t>.7 </a:t>
            </a:r>
            <a:r>
              <a:rPr kumimoji="0" lang="zh-CN" altLang="en-US" sz="3200" b="1" i="0" u="none" strike="noStrike" kern="120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华文楷体" panose="02010600040101010101" pitchFamily="2" charset="-122"/>
                <a:ea typeface="华文楷体" panose="02010600040101010101" pitchFamily="2" charset="-122"/>
                <a:cs typeface="Consolas" pitchFamily="49" charset="0"/>
              </a:rPr>
              <a:t>单源最短路径问题</a:t>
            </a:r>
          </a:p>
        </p:txBody>
      </p:sp>
      <p:sp>
        <p:nvSpPr>
          <p:cNvPr id="5" name="文本框 4">
            <a:extLst>
              <a:ext uri="{FF2B5EF4-FFF2-40B4-BE49-F238E27FC236}">
                <a16:creationId xmlns:a16="http://schemas.microsoft.com/office/drawing/2014/main" id="{D2E45647-E3A2-A5F6-5B9B-6F3683CBBE25}"/>
              </a:ext>
            </a:extLst>
          </p:cNvPr>
          <p:cNvSpPr txBox="1"/>
          <p:nvPr/>
        </p:nvSpPr>
        <p:spPr>
          <a:xfrm>
            <a:off x="5429132" y="310494"/>
            <a:ext cx="1332148" cy="584775"/>
          </a:xfrm>
          <a:prstGeom prst="rect">
            <a:avLst/>
          </a:prstGeom>
          <a:solidFill>
            <a:schemeClr val="bg2">
              <a:lumMod val="90000"/>
            </a:schemeClr>
          </a:solidFill>
        </p:spPr>
        <p:txBody>
          <a:bodyPr wrap="square" rtlCol="0">
            <a:spAutoFit/>
          </a:bodyPr>
          <a:lstStyle/>
          <a:p>
            <a:r>
              <a:rPr lang="zh-CN" altLang="en-US" sz="3200" b="1" dirty="0">
                <a:solidFill>
                  <a:srgbClr val="FF0000"/>
                </a:solidFill>
                <a:ea typeface="楷体" pitchFamily="49" charset="-122"/>
                <a:cs typeface="Times New Roman" pitchFamily="18" charset="0"/>
              </a:rPr>
              <a:t>目  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id="{0F2B3798-FA17-881C-7265-45FD428DA34D}"/>
              </a:ext>
            </a:extLst>
          </p:cNvPr>
          <p:cNvSpPr>
            <a:spLocks noGrp="1" noChangeArrowheads="1"/>
          </p:cNvSpPr>
          <p:nvPr>
            <p:ph type="body" idx="4294967295"/>
          </p:nvPr>
        </p:nvSpPr>
        <p:spPr>
          <a:xfrm>
            <a:off x="0" y="1197546"/>
            <a:ext cx="9119542" cy="2663825"/>
          </a:xfrm>
        </p:spPr>
        <p:txBody>
          <a:bodyPr/>
          <a:lstStyle/>
          <a:p>
            <a:pPr eaLnBrk="1" hangingPunct="1">
              <a:spcBef>
                <a:spcPct val="50000"/>
              </a:spcBef>
              <a:buFontTx/>
              <a:buNone/>
              <a:defRPr/>
            </a:pPr>
            <a:r>
              <a:rPr lang="en-US" altLang="zh-CN" dirty="0">
                <a:solidFill>
                  <a:srgbClr val="0000FF"/>
                </a:solidFill>
                <a:latin typeface="+mn-ea"/>
              </a:rPr>
              <a:t>1. </a:t>
            </a:r>
            <a:r>
              <a:rPr lang="zh-CN" altLang="en-US" dirty="0">
                <a:solidFill>
                  <a:srgbClr val="0000FF"/>
                </a:solidFill>
                <a:latin typeface="+mn-ea"/>
              </a:rPr>
              <a:t>分支限界法与回溯法的不同</a:t>
            </a:r>
          </a:p>
          <a:p>
            <a:pPr marL="0" indent="0" eaLnBrk="1" hangingPunct="1">
              <a:lnSpc>
                <a:spcPct val="100000"/>
              </a:lnSpc>
              <a:buFontTx/>
              <a:buNone/>
              <a:defRPr/>
            </a:pPr>
            <a:r>
              <a:rPr lang="zh-CN" altLang="en-US" sz="2300" dirty="0">
                <a:solidFill>
                  <a:srgbClr val="0000FF"/>
                </a:solidFill>
                <a:latin typeface="+mn-ea"/>
              </a:rPr>
              <a:t>（</a:t>
            </a:r>
            <a:r>
              <a:rPr lang="en-US" altLang="zh-CN" sz="2300" dirty="0">
                <a:solidFill>
                  <a:srgbClr val="0000FF"/>
                </a:solidFill>
                <a:latin typeface="+mn-ea"/>
              </a:rPr>
              <a:t>1</a:t>
            </a:r>
            <a:r>
              <a:rPr lang="zh-CN" altLang="en-US" sz="2300" dirty="0">
                <a:solidFill>
                  <a:srgbClr val="0000FF"/>
                </a:solidFill>
                <a:latin typeface="+mn-ea"/>
              </a:rPr>
              <a:t>）求解目标：回溯法的求解目标是找出解空间树中满足约束条件的所有解，而分支限界法的求解目标则是找出满足约束条件的一个解，或是在满足约束条件的解中找出在某种意义下的最优解。 </a:t>
            </a:r>
          </a:p>
          <a:p>
            <a:pPr marL="0" indent="0" eaLnBrk="1" hangingPunct="1">
              <a:lnSpc>
                <a:spcPct val="100000"/>
              </a:lnSpc>
              <a:buFontTx/>
              <a:buNone/>
              <a:defRPr/>
            </a:pPr>
            <a:r>
              <a:rPr lang="zh-CN" altLang="en-US" sz="2300" dirty="0">
                <a:solidFill>
                  <a:srgbClr val="0000FF"/>
                </a:solidFill>
                <a:latin typeface="+mn-ea"/>
              </a:rPr>
              <a:t>（</a:t>
            </a:r>
            <a:r>
              <a:rPr lang="en-US" altLang="zh-CN" sz="2300" dirty="0">
                <a:solidFill>
                  <a:srgbClr val="0000FF"/>
                </a:solidFill>
                <a:latin typeface="+mn-ea"/>
              </a:rPr>
              <a:t>2</a:t>
            </a:r>
            <a:r>
              <a:rPr lang="zh-CN" altLang="en-US" sz="2300" dirty="0">
                <a:solidFill>
                  <a:srgbClr val="0000FF"/>
                </a:solidFill>
                <a:latin typeface="+mn-ea"/>
              </a:rPr>
              <a:t>）搜索方式的不同：回溯法以深度优先的方式搜索解空间树，而分支限界法则以广度优先或以最小耗费优先的方式搜索解空间树。 </a:t>
            </a:r>
          </a:p>
          <a:p>
            <a:pPr eaLnBrk="1" hangingPunct="1">
              <a:defRPr/>
            </a:pPr>
            <a:endParaRPr lang="en-US" altLang="zh-CN" dirty="0"/>
          </a:p>
        </p:txBody>
      </p:sp>
      <p:sp>
        <p:nvSpPr>
          <p:cNvPr id="2" name="基础扎实 / Strong Preparation">
            <a:extLst>
              <a:ext uri="{FF2B5EF4-FFF2-40B4-BE49-F238E27FC236}">
                <a16:creationId xmlns:a16="http://schemas.microsoft.com/office/drawing/2014/main" id="{ACFA6880-7DD4-6A67-0618-147955F22257}"/>
              </a:ext>
            </a:extLst>
          </p:cNvPr>
          <p:cNvSpPr txBox="1"/>
          <p:nvPr/>
        </p:nvSpPr>
        <p:spPr>
          <a:xfrm>
            <a:off x="2603627" y="367980"/>
            <a:ext cx="5870237" cy="561660"/>
          </a:xfrm>
          <a:prstGeom prst="rect">
            <a:avLst/>
          </a:prstGeom>
          <a:noFill/>
          <a:ln>
            <a:noFill/>
          </a:ln>
        </p:spPr>
        <p:txBody>
          <a:bodyPr wrap="square" lIns="68549" tIns="34274" rIns="68549" bIns="34274" rtlCol="0">
            <a:spAutoFit/>
          </a:bodyPr>
          <a:lstStyle/>
          <a:p>
            <a:pPr marL="0" marR="0" lvl="0" indent="0" algn="ctr" defTabSz="950595" rtl="0" eaLnBrk="1" fontAlgn="auto" latinLnBrk="0" hangingPunct="1">
              <a:lnSpc>
                <a:spcPct val="100000"/>
              </a:lnSpc>
              <a:spcBef>
                <a:spcPts val="0"/>
              </a:spcBef>
              <a:spcAft>
                <a:spcPts val="0"/>
              </a:spcAft>
              <a:buClr>
                <a:prstClr val="white"/>
              </a:buClr>
              <a:buSzTx/>
              <a:buFontTx/>
              <a:buNone/>
              <a:tabLst/>
              <a:defRPr/>
            </a:pPr>
            <a:r>
              <a:rPr lang="en-US" altLang="zh-CN" sz="3200"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4</a:t>
            </a:r>
            <a:r>
              <a:rPr kumimoji="0" lang="zh-CN" altLang="en-US"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.1 </a:t>
            </a:r>
            <a:r>
              <a:rPr lang="zh-CN" altLang="en-US" sz="3200"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分支限界法</a:t>
            </a:r>
            <a:r>
              <a:rPr kumimoji="0" lang="zh-CN" altLang="en-US"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的基本思想</a:t>
            </a:r>
          </a:p>
        </p:txBody>
      </p:sp>
    </p:spTree>
  </p:cSld>
  <p:clrMapOvr>
    <a:overrideClrMapping bg1="lt1" tx1="dk1" bg2="lt2" tx2="dk2" accent1="accent1" accent2="accent2" accent3="accent3" accent4="accent4" accent5="accent5" accent6="accent6" hlink="hlink" folHlink="folHlink"/>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15363" name="Rectangle 3">
            <a:extLst>
              <a:ext uri="{FF2B5EF4-FFF2-40B4-BE49-F238E27FC236}">
                <a16:creationId xmlns:a16="http://schemas.microsoft.com/office/drawing/2014/main" id="{DCE18E19-AA0C-5267-DC55-2BAFCA2C2467}"/>
              </a:ext>
            </a:extLst>
          </p:cNvPr>
          <p:cNvSpPr>
            <a:spLocks noGrp="1" noChangeArrowheads="1"/>
          </p:cNvSpPr>
          <p:nvPr>
            <p:ph type="body" sz="half" idx="4294967295"/>
          </p:nvPr>
        </p:nvSpPr>
        <p:spPr>
          <a:xfrm>
            <a:off x="1" y="1054100"/>
            <a:ext cx="9191550" cy="5805488"/>
          </a:xfrm>
        </p:spPr>
        <p:txBody>
          <a:bodyPr rtlCol="0">
            <a:normAutofit/>
          </a:bodyPr>
          <a:lstStyle/>
          <a:p>
            <a:pPr eaLnBrk="1" hangingPunct="1">
              <a:spcBef>
                <a:spcPct val="50000"/>
              </a:spcBef>
              <a:buFont typeface="Arial" panose="020B0604020202020204" pitchFamily="34" charset="0"/>
              <a:buNone/>
              <a:defRPr/>
            </a:pPr>
            <a:r>
              <a:rPr lang="en-US" altLang="zh-CN" dirty="0">
                <a:solidFill>
                  <a:srgbClr val="0000FF"/>
                </a:solidFill>
                <a:latin typeface="+mn-ea"/>
              </a:rPr>
              <a:t>2. </a:t>
            </a:r>
            <a:r>
              <a:rPr lang="zh-CN" altLang="en-US" dirty="0">
                <a:solidFill>
                  <a:srgbClr val="0000FF"/>
                </a:solidFill>
                <a:latin typeface="+mn-ea"/>
              </a:rPr>
              <a:t>分支限界法基本思想</a:t>
            </a:r>
          </a:p>
          <a:p>
            <a:pPr marL="0" indent="0" eaLnBrk="1" hangingPunct="1">
              <a:lnSpc>
                <a:spcPct val="100000"/>
              </a:lnSpc>
              <a:buFont typeface="Arial" panose="020B0604020202020204" pitchFamily="34" charset="0"/>
              <a:buNone/>
              <a:defRPr/>
            </a:pPr>
            <a:r>
              <a:rPr lang="zh-CN" altLang="en-US" sz="2400" dirty="0">
                <a:solidFill>
                  <a:srgbClr val="0000FF"/>
                </a:solidFill>
                <a:latin typeface="+mn-ea"/>
              </a:rPr>
              <a:t>        </a:t>
            </a:r>
            <a:r>
              <a:rPr lang="zh-CN" altLang="en-US" sz="2300" dirty="0">
                <a:solidFill>
                  <a:srgbClr val="0000FF"/>
                </a:solidFill>
                <a:latin typeface="+mn-ea"/>
              </a:rPr>
              <a:t>分支限界法常以广度优先或以最小耗费（最大效益）优先的方式搜索问题的解空间树。</a:t>
            </a:r>
          </a:p>
          <a:p>
            <a:pPr marL="0" indent="0" eaLnBrk="1" hangingPunct="1">
              <a:lnSpc>
                <a:spcPct val="100000"/>
              </a:lnSpc>
              <a:buFont typeface="Arial" panose="020B0604020202020204" pitchFamily="34" charset="0"/>
              <a:buNone/>
              <a:defRPr/>
            </a:pPr>
            <a:r>
              <a:rPr lang="zh-CN" altLang="en-US" sz="2300" dirty="0">
                <a:solidFill>
                  <a:srgbClr val="0000FF"/>
                </a:solidFill>
                <a:latin typeface="+mn-ea"/>
              </a:rPr>
              <a:t>        在分支限界法中，每一个活结点只有一次机会成为扩展结点。活结点一旦成为扩展结点，就一次性产生其所有儿子结点。在这些儿子结点中，导致不可行解或导致非最优解的儿子结点被舍弃，其余儿子结点被加入活结点表中。</a:t>
            </a:r>
          </a:p>
          <a:p>
            <a:pPr marL="0" indent="0" eaLnBrk="1" hangingPunct="1">
              <a:lnSpc>
                <a:spcPct val="100000"/>
              </a:lnSpc>
              <a:buFont typeface="Arial" panose="020B0604020202020204" pitchFamily="34" charset="0"/>
              <a:buNone/>
              <a:defRPr/>
            </a:pPr>
            <a:r>
              <a:rPr lang="zh-CN" altLang="en-US" sz="2300" dirty="0">
                <a:solidFill>
                  <a:srgbClr val="0000FF"/>
                </a:solidFill>
                <a:latin typeface="+mn-ea"/>
              </a:rPr>
              <a:t>        此后，从活结点表中取下一结点成为当前扩展结点，并重复上述结点扩展过程。这个过程一直持续到找到所需的解或活结点表为空时为止。 </a:t>
            </a:r>
          </a:p>
        </p:txBody>
      </p:sp>
    </p:spTree>
  </p:cSld>
  <p:clrMapOvr>
    <a:overrideClrMapping bg1="lt1" tx1="dk1" bg2="lt2" tx2="dk2" accent1="accent1" accent2="accent2" accent3="accent3" accent4="accent4" accent5="accent5" accent6="accent6" hlink="hlink" folHlink="folHlink"/>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63CAEA8D-00EB-11F4-18C1-485D90CF58E6}"/>
              </a:ext>
            </a:extLst>
          </p:cNvPr>
          <p:cNvSpPr>
            <a:spLocks noGrp="1" noChangeArrowheads="1"/>
          </p:cNvSpPr>
          <p:nvPr>
            <p:ph type="body" idx="4294967295"/>
          </p:nvPr>
        </p:nvSpPr>
        <p:spPr>
          <a:xfrm>
            <a:off x="1" y="1127125"/>
            <a:ext cx="9191550" cy="5732463"/>
          </a:xfrm>
        </p:spPr>
        <p:txBody>
          <a:bodyPr/>
          <a:lstStyle/>
          <a:p>
            <a:pPr eaLnBrk="1" hangingPunct="1">
              <a:spcBef>
                <a:spcPct val="50000"/>
              </a:spcBef>
              <a:buFont typeface="Arial" panose="020B0604020202020204" pitchFamily="34" charset="0"/>
              <a:buNone/>
              <a:defRPr/>
            </a:pPr>
            <a:r>
              <a:rPr lang="en-US" altLang="zh-CN" dirty="0">
                <a:solidFill>
                  <a:srgbClr val="0000FF"/>
                </a:solidFill>
                <a:latin typeface="+mn-ea"/>
              </a:rPr>
              <a:t>3. </a:t>
            </a:r>
            <a:r>
              <a:rPr lang="zh-CN" altLang="en-US" dirty="0">
                <a:solidFill>
                  <a:srgbClr val="0000FF"/>
                </a:solidFill>
                <a:latin typeface="+mn-ea"/>
              </a:rPr>
              <a:t>常见的两种分支限界法</a:t>
            </a:r>
          </a:p>
          <a:p>
            <a:pPr marL="0" indent="0" eaLnBrk="1" hangingPunct="1">
              <a:lnSpc>
                <a:spcPct val="100000"/>
              </a:lnSpc>
              <a:buFont typeface="Arial" panose="020B0604020202020204" pitchFamily="34" charset="0"/>
              <a:buNone/>
              <a:defRPr/>
            </a:pPr>
            <a:r>
              <a:rPr lang="zh-CN" altLang="en-US" sz="2300" dirty="0">
                <a:solidFill>
                  <a:srgbClr val="0000FF"/>
                </a:solidFill>
                <a:latin typeface="+mn-ea"/>
              </a:rPr>
              <a:t>（</a:t>
            </a:r>
            <a:r>
              <a:rPr lang="en-US" altLang="zh-CN" sz="2300" dirty="0">
                <a:solidFill>
                  <a:srgbClr val="0000FF"/>
                </a:solidFill>
                <a:latin typeface="+mn-ea"/>
              </a:rPr>
              <a:t>1</a:t>
            </a:r>
            <a:r>
              <a:rPr lang="zh-CN" altLang="en-US" sz="2300" dirty="0">
                <a:solidFill>
                  <a:srgbClr val="0000FF"/>
                </a:solidFill>
                <a:latin typeface="+mn-ea"/>
              </a:rPr>
              <a:t>）队列式</a:t>
            </a:r>
            <a:r>
              <a:rPr lang="en-US" altLang="zh-CN" sz="2300" dirty="0">
                <a:solidFill>
                  <a:srgbClr val="0000FF"/>
                </a:solidFill>
                <a:latin typeface="+mn-ea"/>
              </a:rPr>
              <a:t>(FIFO)</a:t>
            </a:r>
            <a:r>
              <a:rPr lang="zh-CN" altLang="en-US" sz="2300" dirty="0">
                <a:solidFill>
                  <a:srgbClr val="0000FF"/>
                </a:solidFill>
                <a:latin typeface="+mn-ea"/>
              </a:rPr>
              <a:t>分支限界法</a:t>
            </a:r>
          </a:p>
          <a:p>
            <a:pPr marL="0" indent="0" eaLnBrk="1" hangingPunct="1">
              <a:lnSpc>
                <a:spcPct val="100000"/>
              </a:lnSpc>
              <a:buFont typeface="Arial" panose="020B0604020202020204" pitchFamily="34" charset="0"/>
              <a:buNone/>
              <a:defRPr/>
            </a:pPr>
            <a:r>
              <a:rPr lang="zh-CN" altLang="en-US" sz="2300" dirty="0">
                <a:solidFill>
                  <a:srgbClr val="0000FF"/>
                </a:solidFill>
                <a:latin typeface="+mn-ea"/>
              </a:rPr>
              <a:t>    按照队列先进先出（</a:t>
            </a:r>
            <a:r>
              <a:rPr lang="en-US" altLang="zh-CN" sz="2300" dirty="0">
                <a:solidFill>
                  <a:srgbClr val="0000FF"/>
                </a:solidFill>
                <a:latin typeface="+mn-ea"/>
              </a:rPr>
              <a:t>FIFO</a:t>
            </a:r>
            <a:r>
              <a:rPr lang="zh-CN" altLang="en-US" sz="2300" dirty="0">
                <a:solidFill>
                  <a:srgbClr val="0000FF"/>
                </a:solidFill>
                <a:latin typeface="+mn-ea"/>
              </a:rPr>
              <a:t>）原则选取下一个节点为扩展节点。 </a:t>
            </a:r>
          </a:p>
          <a:p>
            <a:pPr marL="0" indent="0" eaLnBrk="1" hangingPunct="1">
              <a:lnSpc>
                <a:spcPct val="100000"/>
              </a:lnSpc>
              <a:buFont typeface="Arial" panose="020B0604020202020204" pitchFamily="34" charset="0"/>
              <a:buNone/>
              <a:defRPr/>
            </a:pPr>
            <a:r>
              <a:rPr lang="zh-CN" altLang="en-US" sz="2300" dirty="0">
                <a:solidFill>
                  <a:srgbClr val="0000FF"/>
                </a:solidFill>
                <a:latin typeface="+mn-ea"/>
              </a:rPr>
              <a:t>（</a:t>
            </a:r>
            <a:r>
              <a:rPr lang="en-US" altLang="zh-CN" sz="2300" dirty="0">
                <a:solidFill>
                  <a:srgbClr val="0000FF"/>
                </a:solidFill>
                <a:latin typeface="+mn-ea"/>
              </a:rPr>
              <a:t>2</a:t>
            </a:r>
            <a:r>
              <a:rPr lang="zh-CN" altLang="en-US" sz="2300" dirty="0">
                <a:solidFill>
                  <a:srgbClr val="0000FF"/>
                </a:solidFill>
                <a:latin typeface="+mn-ea"/>
              </a:rPr>
              <a:t>）优先队列式分支限界法</a:t>
            </a:r>
          </a:p>
          <a:p>
            <a:pPr marL="0" indent="0" eaLnBrk="1" hangingPunct="1">
              <a:lnSpc>
                <a:spcPct val="100000"/>
              </a:lnSpc>
              <a:buFont typeface="Arial" panose="020B0604020202020204" pitchFamily="34" charset="0"/>
              <a:buNone/>
              <a:defRPr/>
            </a:pPr>
            <a:r>
              <a:rPr lang="zh-CN" altLang="en-US" sz="2300" dirty="0">
                <a:solidFill>
                  <a:srgbClr val="0000FF"/>
                </a:solidFill>
                <a:latin typeface="+mn-ea"/>
              </a:rPr>
              <a:t>    按照优先队列中规定的优先级选取优先级最高的节点成为当前扩展节点。</a:t>
            </a:r>
          </a:p>
          <a:p>
            <a:pPr eaLnBrk="1" hangingPunct="1">
              <a:lnSpc>
                <a:spcPct val="150000"/>
              </a:lnSpc>
              <a:buFontTx/>
              <a:buNone/>
              <a:defRPr/>
            </a:pPr>
            <a:endParaRPr lang="en-US" altLang="zh-CN" dirty="0"/>
          </a:p>
        </p:txBody>
      </p:sp>
    </p:spTree>
  </p:cSld>
  <p:clrMapOvr>
    <a:overrideClrMapping bg1="lt1" tx1="dk1" bg2="lt2" tx2="dk2" accent1="accent1" accent2="accent2" accent3="accent3" accent4="accent4" accent5="accent5" accent6="accent6" hlink="hlink" folHlink="folHlink"/>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8194" name="Rectangle 3">
            <a:extLst>
              <a:ext uri="{FF2B5EF4-FFF2-40B4-BE49-F238E27FC236}">
                <a16:creationId xmlns:a16="http://schemas.microsoft.com/office/drawing/2014/main" id="{3243C407-4EC8-F0FF-11A0-01F823B9C5F1}"/>
              </a:ext>
            </a:extLst>
          </p:cNvPr>
          <p:cNvSpPr>
            <a:spLocks noGrp="1" noChangeArrowheads="1"/>
          </p:cNvSpPr>
          <p:nvPr>
            <p:ph type="body" idx="4294967295"/>
          </p:nvPr>
        </p:nvSpPr>
        <p:spPr>
          <a:xfrm>
            <a:off x="262558" y="1773610"/>
            <a:ext cx="7772400" cy="3825875"/>
          </a:xfrm>
        </p:spPr>
        <p:txBody>
          <a:bodyPr/>
          <a:lstStyle/>
          <a:p>
            <a:pPr marL="0" indent="0" eaLnBrk="1" hangingPunct="1">
              <a:lnSpc>
                <a:spcPct val="100000"/>
              </a:lnSpc>
            </a:pPr>
            <a:r>
              <a:rPr lang="zh-CN" altLang="en-US" sz="2300" dirty="0">
                <a:solidFill>
                  <a:srgbClr val="0000FF"/>
                </a:solidFill>
                <a:latin typeface="华文楷体" panose="02010600040101010101" pitchFamily="2" charset="-122"/>
                <a:ea typeface="华文楷体" panose="02010600040101010101" pitchFamily="2" charset="-122"/>
              </a:rPr>
              <a:t>在许多应用中需要另一种队列，每次从队列中取出的应是具有最高优先权的元素，这种队列就是优先级队列。</a:t>
            </a:r>
          </a:p>
          <a:p>
            <a:pPr marL="0" indent="0" eaLnBrk="1" hangingPunct="1">
              <a:lnSpc>
                <a:spcPct val="100000"/>
              </a:lnSpc>
            </a:pPr>
            <a:r>
              <a:rPr lang="zh-CN" altLang="en-US" sz="2300" dirty="0">
                <a:solidFill>
                  <a:srgbClr val="0000FF"/>
                </a:solidFill>
                <a:latin typeface="华文楷体" panose="02010600040101010101" pitchFamily="2" charset="-122"/>
                <a:ea typeface="华文楷体" panose="02010600040101010101" pitchFamily="2" charset="-122"/>
              </a:rPr>
              <a:t>在相同优先级的情况下则遵照先来先服务的原则。</a:t>
            </a:r>
          </a:p>
        </p:txBody>
      </p:sp>
      <p:sp>
        <p:nvSpPr>
          <p:cNvPr id="8196" name="TextBox 1">
            <a:extLst>
              <a:ext uri="{FF2B5EF4-FFF2-40B4-BE49-F238E27FC236}">
                <a16:creationId xmlns:a16="http://schemas.microsoft.com/office/drawing/2014/main" id="{0711DFEE-3C9D-6B81-3E81-C2069FCE61B8}"/>
              </a:ext>
            </a:extLst>
          </p:cNvPr>
          <p:cNvSpPr txBox="1">
            <a:spLocks noChangeArrowheads="1"/>
          </p:cNvSpPr>
          <p:nvPr/>
        </p:nvSpPr>
        <p:spPr bwMode="auto">
          <a:xfrm>
            <a:off x="190550" y="1073137"/>
            <a:ext cx="56880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zh-CN" altLang="en-US" sz="2800" b="1" dirty="0">
                <a:solidFill>
                  <a:srgbClr val="FFC000"/>
                </a:solidFill>
                <a:latin typeface="华文楷体" panose="02010600040101010101" pitchFamily="2" charset="-122"/>
                <a:ea typeface="华文楷体" panose="02010600040101010101" pitchFamily="2" charset="-122"/>
              </a:rPr>
              <a:t>优先级队列</a:t>
            </a:r>
          </a:p>
        </p:txBody>
      </p:sp>
    </p:spTree>
  </p:cSld>
  <p:clrMapOvr>
    <a:overrideClrMapping bg1="lt1" tx1="dk1" bg2="lt2" tx2="dk2" accent1="accent1" accent2="accent2" accent3="accent3" accent4="accent4" accent5="accent5" accent6="accent6" hlink="hlink" folHlink="folHlink"/>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2B49BD55-0640-5943-E457-8F3805226423}"/>
              </a:ext>
            </a:extLst>
          </p:cNvPr>
          <p:cNvSpPr>
            <a:spLocks noGrp="1" noChangeArrowheads="1"/>
          </p:cNvSpPr>
          <p:nvPr>
            <p:ph type="body" idx="4294967295"/>
          </p:nvPr>
        </p:nvSpPr>
        <p:spPr>
          <a:xfrm>
            <a:off x="550590" y="1053530"/>
            <a:ext cx="8280400" cy="5400675"/>
          </a:xfrm>
        </p:spPr>
        <p:txBody>
          <a:bodyPr rtlCol="0">
            <a:normAutofit fontScale="92500" lnSpcReduction="10000"/>
          </a:bodyPr>
          <a:lstStyle/>
          <a:p>
            <a:pPr marL="228577" indent="-228577" defTabSz="914309" eaLnBrk="1" fontAlgn="auto" hangingPunct="1">
              <a:lnSpc>
                <a:spcPct val="80000"/>
              </a:lnSpc>
              <a:spcAft>
                <a:spcPts val="0"/>
              </a:spcAft>
              <a:buFontTx/>
              <a:buNone/>
              <a:defRPr/>
            </a:pPr>
            <a:r>
              <a:rPr lang="en-US" altLang="zh-CN" sz="2400" dirty="0">
                <a:solidFill>
                  <a:srgbClr val="0000FF"/>
                </a:solidFill>
              </a:rPr>
              <a:t>void search()</a:t>
            </a:r>
          </a:p>
          <a:p>
            <a:pPr marL="228577" indent="-228577" defTabSz="914309" eaLnBrk="1" fontAlgn="auto" hangingPunct="1">
              <a:lnSpc>
                <a:spcPct val="80000"/>
              </a:lnSpc>
              <a:spcAft>
                <a:spcPts val="0"/>
              </a:spcAft>
              <a:buFontTx/>
              <a:buNone/>
              <a:defRPr/>
            </a:pPr>
            <a:r>
              <a:rPr lang="en-US" altLang="zh-CN" sz="2400" dirty="0">
                <a:solidFill>
                  <a:srgbClr val="0000FF"/>
                </a:solidFill>
              </a:rPr>
              <a:t>{</a:t>
            </a:r>
          </a:p>
          <a:p>
            <a:pPr marL="228577" indent="-228577" defTabSz="914309" eaLnBrk="1" fontAlgn="auto" hangingPunct="1">
              <a:lnSpc>
                <a:spcPct val="80000"/>
              </a:lnSpc>
              <a:spcAft>
                <a:spcPts val="0"/>
              </a:spcAft>
              <a:buFontTx/>
              <a:buNone/>
              <a:defRPr/>
            </a:pPr>
            <a:r>
              <a:rPr lang="en-US" altLang="zh-CN" sz="2400" dirty="0">
                <a:solidFill>
                  <a:srgbClr val="0000FF"/>
                </a:solidFill>
              </a:rPr>
              <a:t>	open</a:t>
            </a:r>
            <a:r>
              <a:rPr lang="zh-CN" altLang="en-US" sz="2400" dirty="0">
                <a:solidFill>
                  <a:srgbClr val="0000FF"/>
                </a:solidFill>
              </a:rPr>
              <a:t>表初始化为空</a:t>
            </a:r>
            <a:r>
              <a:rPr lang="en-US" altLang="zh-CN" sz="2400" dirty="0">
                <a:solidFill>
                  <a:srgbClr val="0000FF"/>
                </a:solidFill>
              </a:rPr>
              <a:t>;</a:t>
            </a:r>
          </a:p>
          <a:p>
            <a:pPr marL="228577" indent="-228577" defTabSz="914309" eaLnBrk="1" fontAlgn="auto" hangingPunct="1">
              <a:lnSpc>
                <a:spcPct val="80000"/>
              </a:lnSpc>
              <a:spcAft>
                <a:spcPts val="0"/>
              </a:spcAft>
              <a:buFontTx/>
              <a:buNone/>
              <a:defRPr/>
            </a:pPr>
            <a:r>
              <a:rPr lang="en-US" altLang="zh-CN" sz="2400" dirty="0">
                <a:solidFill>
                  <a:srgbClr val="0000FF"/>
                </a:solidFill>
              </a:rPr>
              <a:t>	</a:t>
            </a:r>
            <a:r>
              <a:rPr lang="zh-CN" altLang="en-US" sz="2400" dirty="0">
                <a:solidFill>
                  <a:srgbClr val="0000FF"/>
                </a:solidFill>
              </a:rPr>
              <a:t>起点加入到</a:t>
            </a:r>
            <a:r>
              <a:rPr lang="en-US" altLang="zh-CN" sz="2400" dirty="0">
                <a:solidFill>
                  <a:srgbClr val="0000FF"/>
                </a:solidFill>
              </a:rPr>
              <a:t>open</a:t>
            </a:r>
            <a:r>
              <a:rPr lang="zh-CN" altLang="en-US" sz="2400" dirty="0">
                <a:solidFill>
                  <a:srgbClr val="0000FF"/>
                </a:solidFill>
              </a:rPr>
              <a:t>表</a:t>
            </a:r>
            <a:r>
              <a:rPr lang="en-US" altLang="zh-CN" sz="2400" dirty="0">
                <a:solidFill>
                  <a:srgbClr val="0000FF"/>
                </a:solidFill>
              </a:rPr>
              <a:t>;</a:t>
            </a:r>
          </a:p>
          <a:p>
            <a:pPr marL="228577" indent="-228577" defTabSz="914309" eaLnBrk="1" fontAlgn="auto" hangingPunct="1">
              <a:lnSpc>
                <a:spcPct val="80000"/>
              </a:lnSpc>
              <a:spcAft>
                <a:spcPts val="0"/>
              </a:spcAft>
              <a:buFontTx/>
              <a:buNone/>
              <a:defRPr/>
            </a:pPr>
            <a:r>
              <a:rPr lang="en-US" altLang="zh-CN" sz="2400" dirty="0">
                <a:solidFill>
                  <a:srgbClr val="0000FF"/>
                </a:solidFill>
              </a:rPr>
              <a:t>	while( open</a:t>
            </a:r>
            <a:r>
              <a:rPr lang="zh-CN" altLang="en-US" sz="2400" dirty="0">
                <a:solidFill>
                  <a:srgbClr val="0000FF"/>
                </a:solidFill>
              </a:rPr>
              <a:t>表非空 </a:t>
            </a:r>
            <a:r>
              <a:rPr lang="en-US" altLang="zh-CN" sz="2400" dirty="0">
                <a:solidFill>
                  <a:srgbClr val="0000FF"/>
                </a:solidFill>
              </a:rPr>
              <a:t>)</a:t>
            </a:r>
          </a:p>
          <a:p>
            <a:pPr marL="228577" indent="-228577" defTabSz="914309" eaLnBrk="1" fontAlgn="auto" hangingPunct="1">
              <a:lnSpc>
                <a:spcPct val="80000"/>
              </a:lnSpc>
              <a:spcAft>
                <a:spcPts val="0"/>
              </a:spcAft>
              <a:buFontTx/>
              <a:buNone/>
              <a:defRPr/>
            </a:pPr>
            <a:r>
              <a:rPr lang="en-US" altLang="zh-CN" sz="2400" dirty="0">
                <a:solidFill>
                  <a:srgbClr val="0000FF"/>
                </a:solidFill>
              </a:rPr>
              <a:t>	{</a:t>
            </a:r>
          </a:p>
          <a:p>
            <a:pPr marL="228577" indent="-228577" defTabSz="914309" eaLnBrk="1" fontAlgn="auto" hangingPunct="1">
              <a:lnSpc>
                <a:spcPct val="80000"/>
              </a:lnSpc>
              <a:spcAft>
                <a:spcPts val="0"/>
              </a:spcAft>
              <a:buFontTx/>
              <a:buNone/>
              <a:defRPr/>
            </a:pPr>
            <a:r>
              <a:rPr lang="en-US" altLang="zh-CN" sz="2400" dirty="0">
                <a:solidFill>
                  <a:srgbClr val="0000FF"/>
                </a:solidFill>
              </a:rPr>
              <a:t>		</a:t>
            </a:r>
            <a:r>
              <a:rPr lang="zh-CN" altLang="en-US" sz="2400" dirty="0">
                <a:solidFill>
                  <a:srgbClr val="0000FF"/>
                </a:solidFill>
              </a:rPr>
              <a:t>取</a:t>
            </a:r>
            <a:r>
              <a:rPr lang="en-US" altLang="zh-CN" sz="2400" dirty="0">
                <a:solidFill>
                  <a:srgbClr val="0000FF"/>
                </a:solidFill>
              </a:rPr>
              <a:t>open</a:t>
            </a:r>
            <a:r>
              <a:rPr lang="zh-CN" altLang="en-US" sz="2400" dirty="0">
                <a:solidFill>
                  <a:srgbClr val="0000FF"/>
                </a:solidFill>
              </a:rPr>
              <a:t>表中的一个结点</a:t>
            </a:r>
            <a:r>
              <a:rPr lang="en-US" altLang="zh-CN" sz="2400" dirty="0">
                <a:solidFill>
                  <a:srgbClr val="0000FF"/>
                </a:solidFill>
              </a:rPr>
              <a:t>u;</a:t>
            </a:r>
          </a:p>
          <a:p>
            <a:pPr marL="228577" indent="-228577" defTabSz="914309" eaLnBrk="1" fontAlgn="auto" hangingPunct="1">
              <a:lnSpc>
                <a:spcPct val="80000"/>
              </a:lnSpc>
              <a:spcAft>
                <a:spcPts val="0"/>
              </a:spcAft>
              <a:buFontTx/>
              <a:buNone/>
              <a:defRPr/>
            </a:pPr>
            <a:r>
              <a:rPr lang="en-US" altLang="zh-CN" sz="2400" dirty="0">
                <a:solidFill>
                  <a:srgbClr val="0000FF"/>
                </a:solidFill>
              </a:rPr>
              <a:t>		</a:t>
            </a:r>
            <a:r>
              <a:rPr lang="zh-CN" altLang="en-US" sz="2400" dirty="0">
                <a:solidFill>
                  <a:srgbClr val="0000FF"/>
                </a:solidFill>
              </a:rPr>
              <a:t>从</a:t>
            </a:r>
            <a:r>
              <a:rPr lang="en-US" altLang="zh-CN" sz="2400" dirty="0">
                <a:solidFill>
                  <a:srgbClr val="0000FF"/>
                </a:solidFill>
              </a:rPr>
              <a:t>open</a:t>
            </a:r>
            <a:r>
              <a:rPr lang="zh-CN" altLang="en-US" sz="2400" dirty="0">
                <a:solidFill>
                  <a:srgbClr val="0000FF"/>
                </a:solidFill>
              </a:rPr>
              <a:t>表中删除</a:t>
            </a:r>
            <a:r>
              <a:rPr lang="en-US" altLang="zh-CN" sz="2400" dirty="0">
                <a:solidFill>
                  <a:srgbClr val="0000FF"/>
                </a:solidFill>
              </a:rPr>
              <a:t>u;</a:t>
            </a:r>
          </a:p>
          <a:p>
            <a:pPr marL="228577" indent="-228577" defTabSz="914309" eaLnBrk="1" fontAlgn="auto" hangingPunct="1">
              <a:lnSpc>
                <a:spcPct val="80000"/>
              </a:lnSpc>
              <a:spcAft>
                <a:spcPts val="0"/>
              </a:spcAft>
              <a:buFontTx/>
              <a:buNone/>
              <a:defRPr/>
            </a:pPr>
            <a:r>
              <a:rPr lang="en-US" altLang="zh-CN" sz="2400" dirty="0">
                <a:solidFill>
                  <a:srgbClr val="0000FF"/>
                </a:solidFill>
              </a:rPr>
              <a:t>		for( </a:t>
            </a:r>
            <a:r>
              <a:rPr lang="zh-CN" altLang="en-US" sz="2400" dirty="0">
                <a:solidFill>
                  <a:srgbClr val="0000FF"/>
                </a:solidFill>
              </a:rPr>
              <a:t>对扩展结点</a:t>
            </a:r>
            <a:r>
              <a:rPr lang="en-US" altLang="zh-CN" sz="2400" dirty="0">
                <a:solidFill>
                  <a:srgbClr val="0000FF"/>
                </a:solidFill>
              </a:rPr>
              <a:t>u</a:t>
            </a:r>
            <a:r>
              <a:rPr lang="zh-CN" altLang="en-US" sz="2400" dirty="0">
                <a:solidFill>
                  <a:srgbClr val="0000FF"/>
                </a:solidFill>
              </a:rPr>
              <a:t>得到的每个新结点</a:t>
            </a:r>
            <a:r>
              <a:rPr lang="en-US" altLang="zh-CN" sz="2400" dirty="0">
                <a:solidFill>
                  <a:srgbClr val="0000FF"/>
                </a:solidFill>
              </a:rPr>
              <a:t>vi )</a:t>
            </a:r>
          </a:p>
          <a:p>
            <a:pPr marL="228577" indent="-228577" defTabSz="914309" eaLnBrk="1" fontAlgn="auto" hangingPunct="1">
              <a:lnSpc>
                <a:spcPct val="80000"/>
              </a:lnSpc>
              <a:spcAft>
                <a:spcPts val="0"/>
              </a:spcAft>
              <a:buFontTx/>
              <a:buNone/>
              <a:defRPr/>
            </a:pPr>
            <a:r>
              <a:rPr lang="en-US" altLang="zh-CN" sz="2400" dirty="0">
                <a:solidFill>
                  <a:srgbClr val="0000FF"/>
                </a:solidFill>
              </a:rPr>
              <a:t>		{</a:t>
            </a:r>
          </a:p>
          <a:p>
            <a:pPr marL="228577" indent="-228577" defTabSz="914309" eaLnBrk="1" fontAlgn="auto" hangingPunct="1">
              <a:lnSpc>
                <a:spcPct val="80000"/>
              </a:lnSpc>
              <a:spcAft>
                <a:spcPts val="0"/>
              </a:spcAft>
              <a:buFontTx/>
              <a:buNone/>
              <a:defRPr/>
            </a:pPr>
            <a:r>
              <a:rPr lang="en-US" altLang="zh-CN" sz="2400" dirty="0">
                <a:solidFill>
                  <a:srgbClr val="0000FF"/>
                </a:solidFill>
              </a:rPr>
              <a:t>			if(vi</a:t>
            </a:r>
            <a:r>
              <a:rPr lang="zh-CN" altLang="en-US" sz="2400" dirty="0">
                <a:solidFill>
                  <a:srgbClr val="0000FF"/>
                </a:solidFill>
              </a:rPr>
              <a:t>是目标结点</a:t>
            </a:r>
            <a:r>
              <a:rPr lang="en-US" altLang="zh-CN" sz="2400" dirty="0">
                <a:solidFill>
                  <a:srgbClr val="0000FF"/>
                </a:solidFill>
              </a:rPr>
              <a:t>)</a:t>
            </a:r>
          </a:p>
          <a:p>
            <a:pPr marL="228577" indent="-228577" defTabSz="914309" eaLnBrk="1" fontAlgn="auto" hangingPunct="1">
              <a:lnSpc>
                <a:spcPct val="80000"/>
              </a:lnSpc>
              <a:spcAft>
                <a:spcPts val="0"/>
              </a:spcAft>
              <a:buFontTx/>
              <a:buNone/>
              <a:defRPr/>
            </a:pPr>
            <a:r>
              <a:rPr lang="en-US" altLang="zh-CN" sz="2400" dirty="0">
                <a:solidFill>
                  <a:srgbClr val="0000FF"/>
                </a:solidFill>
              </a:rPr>
              <a:t>				</a:t>
            </a:r>
            <a:r>
              <a:rPr lang="zh-CN" altLang="en-US" sz="2400" dirty="0">
                <a:solidFill>
                  <a:srgbClr val="0000FF"/>
                </a:solidFill>
              </a:rPr>
              <a:t>输出结果并返回</a:t>
            </a:r>
            <a:r>
              <a:rPr lang="en-US" altLang="zh-CN" sz="2400" dirty="0">
                <a:solidFill>
                  <a:srgbClr val="0000FF"/>
                </a:solidFill>
              </a:rPr>
              <a:t>;</a:t>
            </a:r>
          </a:p>
          <a:p>
            <a:pPr marL="228577" indent="-228577" defTabSz="914309" eaLnBrk="1" fontAlgn="auto" hangingPunct="1">
              <a:lnSpc>
                <a:spcPct val="80000"/>
              </a:lnSpc>
              <a:spcAft>
                <a:spcPts val="0"/>
              </a:spcAft>
              <a:buFontTx/>
              <a:buNone/>
              <a:defRPr/>
            </a:pPr>
            <a:r>
              <a:rPr lang="en-US" altLang="zh-CN" sz="2400" dirty="0">
                <a:solidFill>
                  <a:srgbClr val="0000FF"/>
                </a:solidFill>
              </a:rPr>
              <a:t>			If(</a:t>
            </a:r>
            <a:r>
              <a:rPr lang="en-US" altLang="zh-CN" sz="2400" dirty="0" err="1">
                <a:solidFill>
                  <a:srgbClr val="0000FF"/>
                </a:solidFill>
              </a:rPr>
              <a:t>notused</a:t>
            </a:r>
            <a:r>
              <a:rPr lang="en-US" altLang="zh-CN" sz="2400" dirty="0">
                <a:solidFill>
                  <a:srgbClr val="0000FF"/>
                </a:solidFill>
              </a:rPr>
              <a:t>(vi))</a:t>
            </a:r>
          </a:p>
          <a:p>
            <a:pPr marL="228577" indent="-228577" defTabSz="914309" eaLnBrk="1" fontAlgn="auto" hangingPunct="1">
              <a:lnSpc>
                <a:spcPct val="80000"/>
              </a:lnSpc>
              <a:spcAft>
                <a:spcPts val="0"/>
              </a:spcAft>
              <a:buFontTx/>
              <a:buNone/>
              <a:defRPr/>
            </a:pPr>
            <a:r>
              <a:rPr lang="en-US" altLang="zh-CN" sz="2400" dirty="0">
                <a:solidFill>
                  <a:srgbClr val="0000FF"/>
                </a:solidFill>
              </a:rPr>
              <a:t>				vi</a:t>
            </a:r>
            <a:r>
              <a:rPr lang="zh-CN" altLang="en-US" sz="2400" dirty="0">
                <a:solidFill>
                  <a:srgbClr val="0000FF"/>
                </a:solidFill>
              </a:rPr>
              <a:t>进入</a:t>
            </a:r>
            <a:r>
              <a:rPr lang="en-US" altLang="zh-CN" sz="2400" dirty="0">
                <a:solidFill>
                  <a:srgbClr val="0000FF"/>
                </a:solidFill>
              </a:rPr>
              <a:t>open</a:t>
            </a:r>
            <a:r>
              <a:rPr lang="zh-CN" altLang="en-US" sz="2400" dirty="0">
                <a:solidFill>
                  <a:srgbClr val="0000FF"/>
                </a:solidFill>
              </a:rPr>
              <a:t>表</a:t>
            </a:r>
            <a:r>
              <a:rPr lang="en-US" altLang="zh-CN" sz="2400" dirty="0">
                <a:solidFill>
                  <a:srgbClr val="0000FF"/>
                </a:solidFill>
              </a:rPr>
              <a:t>;</a:t>
            </a:r>
          </a:p>
          <a:p>
            <a:pPr marL="228577" indent="-228577" defTabSz="914309" eaLnBrk="1" fontAlgn="auto" hangingPunct="1">
              <a:lnSpc>
                <a:spcPct val="80000"/>
              </a:lnSpc>
              <a:spcAft>
                <a:spcPts val="0"/>
              </a:spcAft>
              <a:buFontTx/>
              <a:buNone/>
              <a:defRPr/>
            </a:pPr>
            <a:r>
              <a:rPr lang="en-US" altLang="zh-CN" sz="2400" dirty="0">
                <a:solidFill>
                  <a:srgbClr val="0000FF"/>
                </a:solidFill>
              </a:rPr>
              <a:t>		}</a:t>
            </a:r>
          </a:p>
          <a:p>
            <a:pPr marL="228577" indent="-228577" defTabSz="914309" eaLnBrk="1" fontAlgn="auto" hangingPunct="1">
              <a:lnSpc>
                <a:spcPct val="80000"/>
              </a:lnSpc>
              <a:spcAft>
                <a:spcPts val="0"/>
              </a:spcAft>
              <a:buFontTx/>
              <a:buNone/>
              <a:defRPr/>
            </a:pPr>
            <a:r>
              <a:rPr lang="en-US" altLang="zh-CN" sz="2400" dirty="0">
                <a:solidFill>
                  <a:srgbClr val="0000FF"/>
                </a:solidFill>
              </a:rPr>
              <a:t>	}</a:t>
            </a:r>
          </a:p>
          <a:p>
            <a:pPr marL="228577" indent="-228577" defTabSz="914309" eaLnBrk="1" fontAlgn="auto" hangingPunct="1">
              <a:lnSpc>
                <a:spcPct val="80000"/>
              </a:lnSpc>
              <a:spcAft>
                <a:spcPts val="0"/>
              </a:spcAft>
              <a:buFontTx/>
              <a:buNone/>
              <a:defRPr/>
            </a:pPr>
            <a:r>
              <a:rPr lang="en-US" altLang="zh-CN" sz="2400" dirty="0">
                <a:solidFill>
                  <a:srgbClr val="0000FF"/>
                </a:solidFill>
              </a:rPr>
              <a:t>}</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10242" name="Rectangle 3">
            <a:extLst>
              <a:ext uri="{FF2B5EF4-FFF2-40B4-BE49-F238E27FC236}">
                <a16:creationId xmlns:a16="http://schemas.microsoft.com/office/drawing/2014/main" id="{795B5D0B-8A1C-D59D-66CE-2223B2F5DD3B}"/>
              </a:ext>
            </a:extLst>
          </p:cNvPr>
          <p:cNvSpPr>
            <a:spLocks noGrp="1" noChangeArrowheads="1"/>
          </p:cNvSpPr>
          <p:nvPr>
            <p:ph type="body" sz="half" idx="4294967295"/>
          </p:nvPr>
        </p:nvSpPr>
        <p:spPr>
          <a:xfrm>
            <a:off x="838622" y="1341562"/>
            <a:ext cx="5303838" cy="4467225"/>
          </a:xfrm>
        </p:spPr>
        <p:txBody>
          <a:bodyPr/>
          <a:lstStyle/>
          <a:p>
            <a:pPr marL="0" indent="0" eaLnBrk="1" hangingPunct="1">
              <a:buFont typeface="Arial" panose="020B0604020202020204" pitchFamily="34" charset="0"/>
              <a:buNone/>
            </a:pPr>
            <a:r>
              <a:rPr lang="zh-CN" altLang="en-US" sz="2300" dirty="0">
                <a:solidFill>
                  <a:srgbClr val="0000FF"/>
                </a:solidFill>
                <a:latin typeface="华文楷体" panose="02010600040101010101" pitchFamily="2" charset="-122"/>
                <a:ea typeface="华文楷体" panose="02010600040101010101" pitchFamily="2" charset="-122"/>
              </a:rPr>
              <a:t>电子老鼠闯迷宫</a:t>
            </a:r>
          </a:p>
          <a:p>
            <a:pPr marL="0" indent="0" eaLnBrk="1" hangingPunct="1">
              <a:buFont typeface="Arial" panose="020B0604020202020204" pitchFamily="34" charset="0"/>
              <a:buNone/>
            </a:pPr>
            <a:r>
              <a:rPr lang="zh-CN" altLang="en-US" sz="2300" dirty="0">
                <a:solidFill>
                  <a:srgbClr val="0000FF"/>
                </a:solidFill>
                <a:latin typeface="华文楷体" panose="02010600040101010101" pitchFamily="2" charset="-122"/>
                <a:ea typeface="华文楷体" panose="02010600040101010101" pitchFamily="2" charset="-122"/>
              </a:rPr>
              <a:t>如下图</a:t>
            </a:r>
            <a:r>
              <a:rPr lang="en-US" altLang="zh-CN" sz="2300" dirty="0">
                <a:solidFill>
                  <a:srgbClr val="0000FF"/>
                </a:solidFill>
                <a:latin typeface="华文楷体" panose="02010600040101010101" pitchFamily="2" charset="-122"/>
                <a:ea typeface="华文楷体" panose="02010600040101010101" pitchFamily="2" charset="-122"/>
              </a:rPr>
              <a:t>12×12</a:t>
            </a:r>
            <a:r>
              <a:rPr lang="zh-CN" altLang="en-US" sz="2300" dirty="0">
                <a:solidFill>
                  <a:srgbClr val="0000FF"/>
                </a:solidFill>
                <a:latin typeface="华文楷体" panose="02010600040101010101" pitchFamily="2" charset="-122"/>
                <a:ea typeface="华文楷体" panose="02010600040101010101" pitchFamily="2" charset="-122"/>
              </a:rPr>
              <a:t>方格图，找出一条自入口（</a:t>
            </a:r>
            <a:r>
              <a:rPr lang="en-US" altLang="zh-CN" sz="2300" dirty="0">
                <a:solidFill>
                  <a:srgbClr val="0000FF"/>
                </a:solidFill>
                <a:latin typeface="华文楷体" panose="02010600040101010101" pitchFamily="2" charset="-122"/>
                <a:ea typeface="华文楷体" panose="02010600040101010101" pitchFamily="2" charset="-122"/>
              </a:rPr>
              <a:t>1</a:t>
            </a:r>
            <a:r>
              <a:rPr lang="zh-CN" altLang="en-US" sz="2300" dirty="0">
                <a:solidFill>
                  <a:srgbClr val="0000FF"/>
                </a:solidFill>
                <a:latin typeface="华文楷体" panose="02010600040101010101" pitchFamily="2" charset="-122"/>
                <a:ea typeface="华文楷体" panose="02010600040101010101" pitchFamily="2" charset="-122"/>
              </a:rPr>
              <a:t>，</a:t>
            </a:r>
            <a:r>
              <a:rPr lang="en-US" altLang="zh-CN" sz="2300" dirty="0">
                <a:solidFill>
                  <a:srgbClr val="0000FF"/>
                </a:solidFill>
                <a:latin typeface="华文楷体" panose="02010600040101010101" pitchFamily="2" charset="-122"/>
                <a:ea typeface="华文楷体" panose="02010600040101010101" pitchFamily="2" charset="-122"/>
              </a:rPr>
              <a:t>8</a:t>
            </a:r>
            <a:r>
              <a:rPr lang="zh-CN" altLang="en-US" sz="2300" dirty="0">
                <a:solidFill>
                  <a:srgbClr val="0000FF"/>
                </a:solidFill>
                <a:latin typeface="华文楷体" panose="02010600040101010101" pitchFamily="2" charset="-122"/>
                <a:ea typeface="华文楷体" panose="02010600040101010101" pitchFamily="2" charset="-122"/>
              </a:rPr>
              <a:t>）到出口（</a:t>
            </a:r>
            <a:r>
              <a:rPr lang="en-US" altLang="zh-CN" sz="2300" dirty="0">
                <a:solidFill>
                  <a:srgbClr val="0000FF"/>
                </a:solidFill>
                <a:latin typeface="华文楷体" panose="02010600040101010101" pitchFamily="2" charset="-122"/>
                <a:ea typeface="华文楷体" panose="02010600040101010101" pitchFamily="2" charset="-122"/>
              </a:rPr>
              <a:t>10</a:t>
            </a:r>
            <a:r>
              <a:rPr lang="zh-CN" altLang="en-US" sz="2300" dirty="0">
                <a:solidFill>
                  <a:srgbClr val="0000FF"/>
                </a:solidFill>
                <a:latin typeface="华文楷体" panose="02010600040101010101" pitchFamily="2" charset="-122"/>
                <a:ea typeface="华文楷体" panose="02010600040101010101" pitchFamily="2" charset="-122"/>
              </a:rPr>
              <a:t>，</a:t>
            </a:r>
            <a:r>
              <a:rPr lang="en-US" altLang="zh-CN" sz="2300" dirty="0">
                <a:solidFill>
                  <a:srgbClr val="0000FF"/>
                </a:solidFill>
                <a:latin typeface="华文楷体" panose="02010600040101010101" pitchFamily="2" charset="-122"/>
                <a:ea typeface="华文楷体" panose="02010600040101010101" pitchFamily="2" charset="-122"/>
              </a:rPr>
              <a:t>7</a:t>
            </a:r>
            <a:r>
              <a:rPr lang="zh-CN" altLang="en-US" sz="2300" dirty="0">
                <a:solidFill>
                  <a:srgbClr val="0000FF"/>
                </a:solidFill>
                <a:latin typeface="华文楷体" panose="02010600040101010101" pitchFamily="2" charset="-122"/>
                <a:ea typeface="华文楷体" panose="02010600040101010101" pitchFamily="2" charset="-122"/>
              </a:rPr>
              <a:t>）的最短路径</a:t>
            </a:r>
            <a:r>
              <a:rPr lang="zh-CN" altLang="en-US" dirty="0"/>
              <a:t>。</a:t>
            </a:r>
            <a:r>
              <a:rPr lang="zh-CN" altLang="en-US" sz="2000" dirty="0"/>
              <a:t>　　　　　　　　　　　</a:t>
            </a:r>
            <a:r>
              <a:rPr lang="zh-CN" altLang="en-US" sz="900" dirty="0"/>
              <a:t>　　　　　　　　　　　　　　　　　　　　　　　　　　　　　　　　　　　　　　　　　　　　　　　　　　　　　　　　　　　　　　　　　　　　　　　　　　　　　　　　　　　　　　　　　　　　　　　　　　　　　　　　　　　　　　　　　　　　　　　　　　　</a:t>
            </a:r>
          </a:p>
        </p:txBody>
      </p:sp>
      <p:graphicFrame>
        <p:nvGraphicFramePr>
          <p:cNvPr id="22474" name="Group 970">
            <a:extLst>
              <a:ext uri="{FF2B5EF4-FFF2-40B4-BE49-F238E27FC236}">
                <a16:creationId xmlns:a16="http://schemas.microsoft.com/office/drawing/2014/main" id="{21C5D889-63B3-1C26-A8CA-E01D81F25660}"/>
              </a:ext>
            </a:extLst>
          </p:cNvPr>
          <p:cNvGraphicFramePr>
            <a:graphicFrameLocks noGrp="1"/>
          </p:cNvGraphicFramePr>
          <p:nvPr>
            <p:ph sz="half" idx="4294967295"/>
            <p:extLst>
              <p:ext uri="{D42A27DB-BD31-4B8C-83A1-F6EECF244321}">
                <p14:modId xmlns:p14="http://schemas.microsoft.com/office/powerpoint/2010/main" val="4094447427"/>
              </p:ext>
            </p:extLst>
          </p:nvPr>
        </p:nvGraphicFramePr>
        <p:xfrm>
          <a:off x="7607374" y="1197546"/>
          <a:ext cx="3810000" cy="4114800"/>
        </p:xfrm>
        <a:graphic>
          <a:graphicData uri="http://schemas.openxmlformats.org/drawingml/2006/table">
            <a:tbl>
              <a:tblPr/>
              <a:tblGrid>
                <a:gridCol w="312737">
                  <a:extLst>
                    <a:ext uri="{9D8B030D-6E8A-4147-A177-3AD203B41FA5}">
                      <a16:colId xmlns:a16="http://schemas.microsoft.com/office/drawing/2014/main" val="20000"/>
                    </a:ext>
                  </a:extLst>
                </a:gridCol>
                <a:gridCol w="311150">
                  <a:extLst>
                    <a:ext uri="{9D8B030D-6E8A-4147-A177-3AD203B41FA5}">
                      <a16:colId xmlns:a16="http://schemas.microsoft.com/office/drawing/2014/main" val="20001"/>
                    </a:ext>
                  </a:extLst>
                </a:gridCol>
                <a:gridCol w="312738">
                  <a:extLst>
                    <a:ext uri="{9D8B030D-6E8A-4147-A177-3AD203B41FA5}">
                      <a16:colId xmlns:a16="http://schemas.microsoft.com/office/drawing/2014/main" val="20002"/>
                    </a:ext>
                  </a:extLst>
                </a:gridCol>
                <a:gridCol w="311150">
                  <a:extLst>
                    <a:ext uri="{9D8B030D-6E8A-4147-A177-3AD203B41FA5}">
                      <a16:colId xmlns:a16="http://schemas.microsoft.com/office/drawing/2014/main" val="20003"/>
                    </a:ext>
                  </a:extLst>
                </a:gridCol>
                <a:gridCol w="312737">
                  <a:extLst>
                    <a:ext uri="{9D8B030D-6E8A-4147-A177-3AD203B41FA5}">
                      <a16:colId xmlns:a16="http://schemas.microsoft.com/office/drawing/2014/main" val="20004"/>
                    </a:ext>
                  </a:extLst>
                </a:gridCol>
                <a:gridCol w="312738">
                  <a:extLst>
                    <a:ext uri="{9D8B030D-6E8A-4147-A177-3AD203B41FA5}">
                      <a16:colId xmlns:a16="http://schemas.microsoft.com/office/drawing/2014/main" val="20005"/>
                    </a:ext>
                  </a:extLst>
                </a:gridCol>
                <a:gridCol w="311150">
                  <a:extLst>
                    <a:ext uri="{9D8B030D-6E8A-4147-A177-3AD203B41FA5}">
                      <a16:colId xmlns:a16="http://schemas.microsoft.com/office/drawing/2014/main" val="20006"/>
                    </a:ext>
                  </a:extLst>
                </a:gridCol>
                <a:gridCol w="325437">
                  <a:extLst>
                    <a:ext uri="{9D8B030D-6E8A-4147-A177-3AD203B41FA5}">
                      <a16:colId xmlns:a16="http://schemas.microsoft.com/office/drawing/2014/main" val="20007"/>
                    </a:ext>
                  </a:extLst>
                </a:gridCol>
                <a:gridCol w="325438">
                  <a:extLst>
                    <a:ext uri="{9D8B030D-6E8A-4147-A177-3AD203B41FA5}">
                      <a16:colId xmlns:a16="http://schemas.microsoft.com/office/drawing/2014/main" val="20008"/>
                    </a:ext>
                  </a:extLst>
                </a:gridCol>
                <a:gridCol w="323850">
                  <a:extLst>
                    <a:ext uri="{9D8B030D-6E8A-4147-A177-3AD203B41FA5}">
                      <a16:colId xmlns:a16="http://schemas.microsoft.com/office/drawing/2014/main" val="20009"/>
                    </a:ext>
                  </a:extLst>
                </a:gridCol>
                <a:gridCol w="325437">
                  <a:extLst>
                    <a:ext uri="{9D8B030D-6E8A-4147-A177-3AD203B41FA5}">
                      <a16:colId xmlns:a16="http://schemas.microsoft.com/office/drawing/2014/main" val="20010"/>
                    </a:ext>
                  </a:extLst>
                </a:gridCol>
                <a:gridCol w="325438">
                  <a:extLst>
                    <a:ext uri="{9D8B030D-6E8A-4147-A177-3AD203B41FA5}">
                      <a16:colId xmlns:a16="http://schemas.microsoft.com/office/drawing/2014/main" val="20011"/>
                    </a:ext>
                  </a:extLst>
                </a:gridCol>
              </a:tblGrid>
              <a:tr h="3429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dirty="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0"/>
                  </a:ext>
                </a:extLst>
              </a:tr>
              <a:tr h="3429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1"/>
                  </a:ext>
                </a:extLst>
              </a:tr>
              <a:tr h="3429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2"/>
                  </a:ext>
                </a:extLst>
              </a:tr>
              <a:tr h="3429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3"/>
                  </a:ext>
                </a:extLst>
              </a:tr>
              <a:tr h="3429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4"/>
                  </a:ext>
                </a:extLst>
              </a:tr>
              <a:tr h="3429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5"/>
                  </a:ext>
                </a:extLst>
              </a:tr>
              <a:tr h="3429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6"/>
                  </a:ext>
                </a:extLst>
              </a:tr>
              <a:tr h="3429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7"/>
                  </a:ext>
                </a:extLst>
              </a:tr>
              <a:tr h="3429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8"/>
                  </a:ext>
                </a:extLst>
              </a:tr>
              <a:tr h="3429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9"/>
                  </a:ext>
                </a:extLst>
              </a:tr>
              <a:tr h="3429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FF000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10"/>
                  </a:ext>
                </a:extLst>
              </a:tr>
              <a:tr h="3429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Times New Roman" pitchFamily="18" charset="0"/>
                          <a:ea typeface="宋体" pitchFamily="2" charset="-122"/>
                        </a:rPr>
                        <a:t>　</a:t>
                      </a:r>
                      <a:endParaRPr kumimoji="0" lang="zh-CN" altLang="en-US" sz="1800" b="0" i="0" u="none" strike="noStrike" cap="none" normalizeH="0" baseline="0" dirty="0">
                        <a:ln>
                          <a:noFill/>
                        </a:ln>
                        <a:solidFill>
                          <a:schemeClr val="tx1"/>
                        </a:solidFill>
                        <a:effectLst/>
                        <a:latin typeface="Arial" charset="0"/>
                        <a:ea typeface="宋体" pitchFamily="2" charset="-122"/>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11"/>
                  </a:ext>
                </a:extLst>
              </a:tr>
            </a:tbl>
          </a:graphicData>
        </a:graphic>
      </p:graphicFrame>
      <p:sp>
        <p:nvSpPr>
          <p:cNvPr id="2" name="基础扎实 / Strong Preparation">
            <a:extLst>
              <a:ext uri="{FF2B5EF4-FFF2-40B4-BE49-F238E27FC236}">
                <a16:creationId xmlns:a16="http://schemas.microsoft.com/office/drawing/2014/main" id="{B3100DBF-E6D2-540C-A8D1-A52199C592DC}"/>
              </a:ext>
            </a:extLst>
          </p:cNvPr>
          <p:cNvSpPr txBox="1"/>
          <p:nvPr/>
        </p:nvSpPr>
        <p:spPr>
          <a:xfrm>
            <a:off x="2603627" y="367980"/>
            <a:ext cx="5870237" cy="561660"/>
          </a:xfrm>
          <a:prstGeom prst="rect">
            <a:avLst/>
          </a:prstGeom>
          <a:noFill/>
          <a:ln>
            <a:noFill/>
          </a:ln>
        </p:spPr>
        <p:txBody>
          <a:bodyPr wrap="square" lIns="68549" tIns="34274" rIns="68549" bIns="34274" rtlCol="0">
            <a:spAutoFit/>
          </a:bodyPr>
          <a:lstStyle/>
          <a:p>
            <a:pPr marL="0" marR="0" lvl="0" indent="0" algn="ctr" defTabSz="950595" rtl="0" eaLnBrk="1" fontAlgn="auto" latinLnBrk="0" hangingPunct="1">
              <a:lnSpc>
                <a:spcPct val="100000"/>
              </a:lnSpc>
              <a:spcBef>
                <a:spcPts val="0"/>
              </a:spcBef>
              <a:spcAft>
                <a:spcPts val="0"/>
              </a:spcAft>
              <a:buClr>
                <a:prstClr val="white"/>
              </a:buClr>
              <a:buSzTx/>
              <a:buFontTx/>
              <a:buNone/>
              <a:tabLst/>
              <a:defRPr/>
            </a:pPr>
            <a:r>
              <a:rPr lang="en-US" altLang="zh-CN" sz="3200"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4</a:t>
            </a:r>
            <a:r>
              <a:rPr kumimoji="0" lang="zh-CN" altLang="en-US"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a:t>
            </a:r>
            <a:r>
              <a:rPr kumimoji="0" lang="en-US" altLang="zh-CN"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2</a:t>
            </a:r>
            <a:r>
              <a:rPr kumimoji="0" lang="zh-CN" altLang="en-US"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 电子老鼠闯迷宫</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A2FB363A-1EB9-E4AC-504C-658E83F331D8}"/>
              </a:ext>
            </a:extLst>
          </p:cNvPr>
          <p:cNvSpPr>
            <a:spLocks noGrp="1" noChangeArrowheads="1"/>
          </p:cNvSpPr>
          <p:nvPr>
            <p:ph type="body" idx="4294967295"/>
          </p:nvPr>
        </p:nvSpPr>
        <p:spPr>
          <a:xfrm>
            <a:off x="118542" y="1269554"/>
            <a:ext cx="9505055" cy="5111750"/>
          </a:xfrm>
        </p:spPr>
        <p:txBody>
          <a:bodyPr>
            <a:normAutofit/>
          </a:bodyPr>
          <a:lstStyle/>
          <a:p>
            <a:pPr eaLnBrk="1" hangingPunct="1">
              <a:lnSpc>
                <a:spcPct val="80000"/>
              </a:lnSpc>
              <a:buFontTx/>
              <a:buNone/>
            </a:pPr>
            <a:r>
              <a:rPr lang="en-US" altLang="zh-CN" sz="2200" b="1" dirty="0">
                <a:solidFill>
                  <a:srgbClr val="0000FF"/>
                </a:solidFill>
                <a:latin typeface="华文楷体" panose="02010600040101010101" pitchFamily="2" charset="-122"/>
                <a:ea typeface="华文楷体" panose="02010600040101010101" pitchFamily="2" charset="-122"/>
              </a:rPr>
              <a:t>#include&lt;stdio.h&gt;</a:t>
            </a:r>
          </a:p>
          <a:p>
            <a:pPr eaLnBrk="1" hangingPunct="1">
              <a:lnSpc>
                <a:spcPct val="80000"/>
              </a:lnSpc>
              <a:buFontTx/>
              <a:buNone/>
            </a:pPr>
            <a:r>
              <a:rPr lang="en-US" altLang="zh-CN" sz="2200" b="1" dirty="0">
                <a:solidFill>
                  <a:srgbClr val="0000FF"/>
                </a:solidFill>
                <a:latin typeface="华文楷体" panose="02010600040101010101" pitchFamily="2" charset="-122"/>
                <a:ea typeface="华文楷体" panose="02010600040101010101" pitchFamily="2" charset="-122"/>
              </a:rPr>
              <a:t>void </a:t>
            </a:r>
            <a:r>
              <a:rPr lang="en-US" altLang="zh-CN" sz="2200" b="1" dirty="0" err="1">
                <a:solidFill>
                  <a:srgbClr val="0000FF"/>
                </a:solidFill>
                <a:latin typeface="华文楷体" panose="02010600040101010101" pitchFamily="2" charset="-122"/>
                <a:ea typeface="华文楷体" panose="02010600040101010101" pitchFamily="2" charset="-122"/>
              </a:rPr>
              <a:t>readdata</a:t>
            </a:r>
            <a:r>
              <a:rPr lang="en-US" altLang="zh-CN" sz="2200" b="1" dirty="0">
                <a:solidFill>
                  <a:srgbClr val="0000FF"/>
                </a:solidFill>
                <a:latin typeface="华文楷体" panose="02010600040101010101" pitchFamily="2" charset="-122"/>
                <a:ea typeface="华文楷体" panose="02010600040101010101" pitchFamily="2" charset="-122"/>
              </a:rPr>
              <a:t>();  //</a:t>
            </a:r>
            <a:r>
              <a:rPr lang="zh-CN" altLang="en-US" sz="2200" b="1" dirty="0">
                <a:solidFill>
                  <a:srgbClr val="0000FF"/>
                </a:solidFill>
                <a:latin typeface="华文楷体" panose="02010600040101010101" pitchFamily="2" charset="-122"/>
                <a:ea typeface="华文楷体" panose="02010600040101010101" pitchFamily="2" charset="-122"/>
              </a:rPr>
              <a:t>读入数据</a:t>
            </a:r>
          </a:p>
          <a:p>
            <a:pPr eaLnBrk="1" hangingPunct="1">
              <a:lnSpc>
                <a:spcPct val="80000"/>
              </a:lnSpc>
              <a:buFont typeface="Arial" panose="020B0604020202020204" pitchFamily="34" charset="0"/>
              <a:buNone/>
            </a:pPr>
            <a:r>
              <a:rPr lang="en-US" altLang="zh-CN" sz="2200" b="1" dirty="0">
                <a:solidFill>
                  <a:srgbClr val="0000FF"/>
                </a:solidFill>
                <a:latin typeface="华文楷体" panose="02010600040101010101" pitchFamily="2" charset="-122"/>
                <a:ea typeface="华文楷体" panose="02010600040101010101" pitchFamily="2" charset="-122"/>
              </a:rPr>
              <a:t>void </a:t>
            </a:r>
            <a:r>
              <a:rPr lang="en-US" altLang="zh-CN" sz="2200" b="1" dirty="0" err="1">
                <a:solidFill>
                  <a:srgbClr val="0000FF"/>
                </a:solidFill>
                <a:latin typeface="华文楷体" panose="02010600040101010101" pitchFamily="2" charset="-122"/>
                <a:ea typeface="华文楷体" panose="02010600040101010101" pitchFamily="2" charset="-122"/>
              </a:rPr>
              <a:t>init</a:t>
            </a:r>
            <a:r>
              <a:rPr lang="en-US" altLang="zh-CN" sz="2200" b="1" dirty="0">
                <a:solidFill>
                  <a:srgbClr val="0000FF"/>
                </a:solidFill>
                <a:latin typeface="华文楷体" panose="02010600040101010101" pitchFamily="2" charset="-122"/>
                <a:ea typeface="华文楷体" panose="02010600040101010101" pitchFamily="2" charset="-122"/>
              </a:rPr>
              <a:t>();       //</a:t>
            </a:r>
            <a:r>
              <a:rPr lang="zh-CN" altLang="en-US" sz="2200" b="1" dirty="0">
                <a:solidFill>
                  <a:srgbClr val="0000FF"/>
                </a:solidFill>
                <a:latin typeface="华文楷体" panose="02010600040101010101" pitchFamily="2" charset="-122"/>
                <a:ea typeface="华文楷体" panose="02010600040101010101" pitchFamily="2" charset="-122"/>
              </a:rPr>
              <a:t>初始化</a:t>
            </a:r>
          </a:p>
          <a:p>
            <a:pPr eaLnBrk="1" hangingPunct="1">
              <a:lnSpc>
                <a:spcPct val="80000"/>
              </a:lnSpc>
              <a:buFontTx/>
              <a:buNone/>
            </a:pPr>
            <a:r>
              <a:rPr lang="en-US" altLang="zh-CN" sz="2200" b="1" dirty="0">
                <a:solidFill>
                  <a:srgbClr val="0000FF"/>
                </a:solidFill>
                <a:latin typeface="华文楷体" panose="02010600040101010101" pitchFamily="2" charset="-122"/>
                <a:ea typeface="华文楷体" panose="02010600040101010101" pitchFamily="2" charset="-122"/>
              </a:rPr>
              <a:t>int search(); //</a:t>
            </a:r>
            <a:r>
              <a:rPr lang="zh-CN" altLang="en-US" sz="2200" b="1" dirty="0">
                <a:solidFill>
                  <a:srgbClr val="0000FF"/>
                </a:solidFill>
                <a:latin typeface="华文楷体" panose="02010600040101010101" pitchFamily="2" charset="-122"/>
                <a:ea typeface="华文楷体" panose="02010600040101010101" pitchFamily="2" charset="-122"/>
              </a:rPr>
              <a:t>广搜，并在每一个可到达的每一个空格出填上最小步数</a:t>
            </a:r>
          </a:p>
          <a:p>
            <a:pPr eaLnBrk="1" hangingPunct="1">
              <a:lnSpc>
                <a:spcPct val="80000"/>
              </a:lnSpc>
              <a:buFontTx/>
              <a:buNone/>
            </a:pPr>
            <a:r>
              <a:rPr lang="en-US" altLang="zh-CN" sz="2200" b="1" dirty="0">
                <a:solidFill>
                  <a:srgbClr val="0000FF"/>
                </a:solidFill>
                <a:latin typeface="华文楷体" panose="02010600040101010101" pitchFamily="2" charset="-122"/>
                <a:ea typeface="华文楷体" panose="02010600040101010101" pitchFamily="2" charset="-122"/>
              </a:rPr>
              <a:t>int </a:t>
            </a:r>
            <a:r>
              <a:rPr lang="en-US" altLang="zh-CN" sz="2200" b="1" dirty="0" err="1">
                <a:solidFill>
                  <a:srgbClr val="0000FF"/>
                </a:solidFill>
                <a:latin typeface="华文楷体" panose="02010600040101010101" pitchFamily="2" charset="-122"/>
                <a:ea typeface="华文楷体" panose="02010600040101010101" pitchFamily="2" charset="-122"/>
              </a:rPr>
              <a:t>emptyopen</a:t>
            </a:r>
            <a:r>
              <a:rPr lang="en-US" altLang="zh-CN" sz="2200" b="1" dirty="0">
                <a:solidFill>
                  <a:srgbClr val="0000FF"/>
                </a:solidFill>
                <a:latin typeface="华文楷体" panose="02010600040101010101" pitchFamily="2" charset="-122"/>
                <a:ea typeface="华文楷体" panose="02010600040101010101" pitchFamily="2" charset="-122"/>
              </a:rPr>
              <a:t>();  //</a:t>
            </a:r>
            <a:r>
              <a:rPr lang="zh-CN" altLang="en-US" sz="2200" b="1" dirty="0">
                <a:solidFill>
                  <a:srgbClr val="0000FF"/>
                </a:solidFill>
                <a:latin typeface="华文楷体" panose="02010600040101010101" pitchFamily="2" charset="-122"/>
                <a:ea typeface="华文楷体" panose="02010600040101010101" pitchFamily="2" charset="-122"/>
              </a:rPr>
              <a:t>判队列是否为空：空：</a:t>
            </a:r>
            <a:r>
              <a:rPr lang="en-US" altLang="zh-CN" sz="2200" b="1" dirty="0">
                <a:solidFill>
                  <a:srgbClr val="0000FF"/>
                </a:solidFill>
                <a:latin typeface="华文楷体" panose="02010600040101010101" pitchFamily="2" charset="-122"/>
                <a:ea typeface="华文楷体" panose="02010600040101010101" pitchFamily="2" charset="-122"/>
              </a:rPr>
              <a:t>1</a:t>
            </a:r>
            <a:r>
              <a:rPr lang="zh-CN" altLang="en-US" sz="2200" b="1" dirty="0">
                <a:solidFill>
                  <a:srgbClr val="0000FF"/>
                </a:solidFill>
                <a:latin typeface="华文楷体" panose="02010600040101010101" pitchFamily="2" charset="-122"/>
                <a:ea typeface="华文楷体" panose="02010600040101010101" pitchFamily="2" charset="-122"/>
              </a:rPr>
              <a:t>；非空：</a:t>
            </a:r>
            <a:r>
              <a:rPr lang="en-US" altLang="zh-CN" sz="2200" b="1" dirty="0">
                <a:solidFill>
                  <a:srgbClr val="0000FF"/>
                </a:solidFill>
                <a:latin typeface="华文楷体" panose="02010600040101010101" pitchFamily="2" charset="-122"/>
                <a:ea typeface="华文楷体" panose="02010600040101010101" pitchFamily="2" charset="-122"/>
              </a:rPr>
              <a:t>0</a:t>
            </a:r>
            <a:r>
              <a:rPr lang="zh-CN" altLang="en-US" sz="2200" b="1" dirty="0">
                <a:solidFill>
                  <a:srgbClr val="0000FF"/>
                </a:solidFill>
                <a:latin typeface="华文楷体" panose="02010600040101010101" pitchFamily="2" charset="-122"/>
                <a:ea typeface="华文楷体" panose="02010600040101010101" pitchFamily="2" charset="-122"/>
              </a:rPr>
              <a:t>。</a:t>
            </a:r>
          </a:p>
          <a:p>
            <a:pPr eaLnBrk="1" hangingPunct="1">
              <a:lnSpc>
                <a:spcPct val="80000"/>
              </a:lnSpc>
              <a:buFontTx/>
              <a:buNone/>
            </a:pPr>
            <a:r>
              <a:rPr lang="en-US" altLang="zh-CN" sz="2200" b="1" dirty="0">
                <a:solidFill>
                  <a:srgbClr val="0000FF"/>
                </a:solidFill>
                <a:latin typeface="华文楷体" panose="02010600040101010101" pitchFamily="2" charset="-122"/>
                <a:ea typeface="华文楷体" panose="02010600040101010101" pitchFamily="2" charset="-122"/>
              </a:rPr>
              <a:t>int </a:t>
            </a:r>
            <a:r>
              <a:rPr lang="en-US" altLang="zh-CN" sz="2200" b="1" dirty="0" err="1">
                <a:solidFill>
                  <a:srgbClr val="0000FF"/>
                </a:solidFill>
                <a:latin typeface="华文楷体" panose="02010600040101010101" pitchFamily="2" charset="-122"/>
                <a:ea typeface="华文楷体" panose="02010600040101010101" pitchFamily="2" charset="-122"/>
              </a:rPr>
              <a:t>takeoutofopen</a:t>
            </a:r>
            <a:r>
              <a:rPr lang="en-US" altLang="zh-CN" sz="2200" b="1" dirty="0">
                <a:solidFill>
                  <a:srgbClr val="0000FF"/>
                </a:solidFill>
                <a:latin typeface="华文楷体" panose="02010600040101010101" pitchFamily="2" charset="-122"/>
                <a:ea typeface="华文楷体" panose="02010600040101010101" pitchFamily="2" charset="-122"/>
              </a:rPr>
              <a:t>(); //</a:t>
            </a:r>
            <a:r>
              <a:rPr lang="zh-CN" altLang="en-US" sz="2200" b="1" dirty="0">
                <a:solidFill>
                  <a:srgbClr val="0000FF"/>
                </a:solidFill>
                <a:latin typeface="华文楷体" panose="02010600040101010101" pitchFamily="2" charset="-122"/>
                <a:ea typeface="华文楷体" panose="02010600040101010101" pitchFamily="2" charset="-122"/>
              </a:rPr>
              <a:t>从队列中取出一个元素，并把该元素从栈中删除</a:t>
            </a:r>
          </a:p>
          <a:p>
            <a:pPr eaLnBrk="1" hangingPunct="1">
              <a:lnSpc>
                <a:spcPct val="80000"/>
              </a:lnSpc>
              <a:buFontTx/>
              <a:buNone/>
            </a:pPr>
            <a:r>
              <a:rPr lang="en-US" altLang="zh-CN" sz="2200" b="1" dirty="0">
                <a:solidFill>
                  <a:srgbClr val="0000FF"/>
                </a:solidFill>
                <a:latin typeface="华文楷体" panose="02010600040101010101" pitchFamily="2" charset="-122"/>
                <a:ea typeface="华文楷体" panose="02010600040101010101" pitchFamily="2" charset="-122"/>
              </a:rPr>
              <a:t>int </a:t>
            </a:r>
            <a:r>
              <a:rPr lang="en-US" altLang="zh-CN" sz="2200" b="1" dirty="0" err="1">
                <a:solidFill>
                  <a:srgbClr val="0000FF"/>
                </a:solidFill>
                <a:latin typeface="华文楷体" panose="02010600040101010101" pitchFamily="2" charset="-122"/>
                <a:ea typeface="华文楷体" panose="02010600040101010101" pitchFamily="2" charset="-122"/>
              </a:rPr>
              <a:t>canmoveto</a:t>
            </a:r>
            <a:r>
              <a:rPr lang="en-US" altLang="zh-CN" sz="2200" b="1" dirty="0">
                <a:solidFill>
                  <a:srgbClr val="0000FF"/>
                </a:solidFill>
                <a:latin typeface="华文楷体" panose="02010600040101010101" pitchFamily="2" charset="-122"/>
                <a:ea typeface="华文楷体" panose="02010600040101010101" pitchFamily="2" charset="-122"/>
              </a:rPr>
              <a:t>(</a:t>
            </a:r>
            <a:r>
              <a:rPr lang="en-US" altLang="zh-CN" sz="2200" b="1" dirty="0" err="1">
                <a:solidFill>
                  <a:srgbClr val="0000FF"/>
                </a:solidFill>
                <a:latin typeface="华文楷体" panose="02010600040101010101" pitchFamily="2" charset="-122"/>
                <a:ea typeface="华文楷体" panose="02010600040101010101" pitchFamily="2" charset="-122"/>
              </a:rPr>
              <a:t>int,int,int</a:t>
            </a:r>
            <a:r>
              <a:rPr lang="en-US" altLang="zh-CN" sz="2200" b="1" dirty="0">
                <a:solidFill>
                  <a:srgbClr val="0000FF"/>
                </a:solidFill>
                <a:latin typeface="华文楷体" panose="02010600040101010101" pitchFamily="2" charset="-122"/>
                <a:ea typeface="华文楷体" panose="02010600040101010101" pitchFamily="2" charset="-122"/>
              </a:rPr>
              <a:t>*,int*,int);  //</a:t>
            </a:r>
            <a:r>
              <a:rPr lang="zh-CN" altLang="en-US" sz="2200" b="1" dirty="0">
                <a:solidFill>
                  <a:srgbClr val="0000FF"/>
                </a:solidFill>
                <a:latin typeface="华文楷体" panose="02010600040101010101" pitchFamily="2" charset="-122"/>
                <a:ea typeface="华文楷体" panose="02010600040101010101" pitchFamily="2" charset="-122"/>
              </a:rPr>
              <a:t>判能否移动到该方向，并带回坐标</a:t>
            </a:r>
            <a:r>
              <a:rPr lang="en-US" altLang="zh-CN" sz="2200" b="1" dirty="0">
                <a:solidFill>
                  <a:srgbClr val="0000FF"/>
                </a:solidFill>
                <a:latin typeface="华文楷体" panose="02010600040101010101" pitchFamily="2" charset="-122"/>
                <a:ea typeface="华文楷体" panose="02010600040101010101" pitchFamily="2" charset="-122"/>
              </a:rPr>
              <a:t>(</a:t>
            </a:r>
            <a:r>
              <a:rPr lang="en-US" altLang="zh-CN" sz="2200" b="1" dirty="0" err="1">
                <a:solidFill>
                  <a:srgbClr val="0000FF"/>
                </a:solidFill>
                <a:latin typeface="华文楷体" panose="02010600040101010101" pitchFamily="2" charset="-122"/>
                <a:ea typeface="华文楷体" panose="02010600040101010101" pitchFamily="2" charset="-122"/>
              </a:rPr>
              <a:t>r,c</a:t>
            </a:r>
            <a:r>
              <a:rPr lang="en-US" altLang="zh-CN" sz="2200" b="1" dirty="0">
                <a:solidFill>
                  <a:srgbClr val="0000FF"/>
                </a:solidFill>
                <a:latin typeface="华文楷体" panose="02010600040101010101" pitchFamily="2" charset="-122"/>
                <a:ea typeface="华文楷体" panose="02010600040101010101" pitchFamily="2" charset="-122"/>
              </a:rPr>
              <a:t>)</a:t>
            </a:r>
          </a:p>
          <a:p>
            <a:pPr eaLnBrk="1" hangingPunct="1">
              <a:lnSpc>
                <a:spcPct val="80000"/>
              </a:lnSpc>
              <a:buFontTx/>
              <a:buNone/>
            </a:pPr>
            <a:r>
              <a:rPr lang="en-US" altLang="zh-CN" sz="2200" b="1" dirty="0">
                <a:solidFill>
                  <a:srgbClr val="0000FF"/>
                </a:solidFill>
                <a:latin typeface="+mn-ea"/>
              </a:rPr>
              <a:t>int </a:t>
            </a:r>
            <a:r>
              <a:rPr lang="en-US" altLang="zh-CN" sz="2200" b="1" dirty="0" err="1">
                <a:solidFill>
                  <a:srgbClr val="0000FF"/>
                </a:solidFill>
                <a:latin typeface="+mn-ea"/>
              </a:rPr>
              <a:t>isaim</a:t>
            </a:r>
            <a:r>
              <a:rPr lang="en-US" altLang="zh-CN" sz="2200" b="1" dirty="0">
                <a:solidFill>
                  <a:srgbClr val="0000FF"/>
                </a:solidFill>
                <a:latin typeface="+mn-ea"/>
              </a:rPr>
              <a:t>(int row, int col);         //</a:t>
            </a:r>
            <a:r>
              <a:rPr lang="zh-CN" altLang="en-US" sz="2200" b="1" dirty="0">
                <a:solidFill>
                  <a:srgbClr val="0000FF"/>
                </a:solidFill>
                <a:latin typeface="+mn-ea"/>
              </a:rPr>
              <a:t>判断该点是否是目标</a:t>
            </a:r>
          </a:p>
          <a:p>
            <a:pPr eaLnBrk="1" hangingPunct="1">
              <a:lnSpc>
                <a:spcPct val="80000"/>
              </a:lnSpc>
              <a:buFontTx/>
              <a:buNone/>
            </a:pPr>
            <a:r>
              <a:rPr lang="en-US" altLang="zh-CN" sz="2200" b="1" dirty="0">
                <a:solidFill>
                  <a:srgbClr val="0000FF"/>
                </a:solidFill>
                <a:latin typeface="+mn-ea"/>
              </a:rPr>
              <a:t>int used(</a:t>
            </a:r>
            <a:r>
              <a:rPr lang="en-US" altLang="zh-CN" sz="2200" b="1" dirty="0" err="1">
                <a:solidFill>
                  <a:srgbClr val="0000FF"/>
                </a:solidFill>
                <a:latin typeface="+mn-ea"/>
              </a:rPr>
              <a:t>int,int</a:t>
            </a:r>
            <a:r>
              <a:rPr lang="en-US" altLang="zh-CN" sz="2200" b="1" dirty="0">
                <a:solidFill>
                  <a:srgbClr val="0000FF"/>
                </a:solidFill>
                <a:latin typeface="+mn-ea"/>
              </a:rPr>
              <a:t>);                //</a:t>
            </a:r>
            <a:r>
              <a:rPr lang="zh-CN" altLang="en-US" sz="2200" b="1" dirty="0">
                <a:solidFill>
                  <a:srgbClr val="0000FF"/>
                </a:solidFill>
                <a:latin typeface="+mn-ea"/>
              </a:rPr>
              <a:t>判断该点是否已经走过</a:t>
            </a:r>
          </a:p>
          <a:p>
            <a:pPr eaLnBrk="1" hangingPunct="1">
              <a:lnSpc>
                <a:spcPct val="80000"/>
              </a:lnSpc>
              <a:buFontTx/>
              <a:buNone/>
            </a:pPr>
            <a:r>
              <a:rPr lang="en-US" altLang="zh-CN" sz="2200" b="1" dirty="0">
                <a:solidFill>
                  <a:srgbClr val="0000FF"/>
                </a:solidFill>
                <a:latin typeface="+mn-ea"/>
              </a:rPr>
              <a:t>void </a:t>
            </a:r>
            <a:r>
              <a:rPr lang="en-US" altLang="zh-CN" sz="2200" b="1" dirty="0" err="1">
                <a:solidFill>
                  <a:srgbClr val="0000FF"/>
                </a:solidFill>
                <a:latin typeface="+mn-ea"/>
              </a:rPr>
              <a:t>addtoopen</a:t>
            </a:r>
            <a:r>
              <a:rPr lang="en-US" altLang="zh-CN" sz="2200" b="1" dirty="0">
                <a:solidFill>
                  <a:srgbClr val="0000FF"/>
                </a:solidFill>
                <a:latin typeface="+mn-ea"/>
              </a:rPr>
              <a:t>(</a:t>
            </a:r>
            <a:r>
              <a:rPr lang="en-US" altLang="zh-CN" sz="2200" b="1" dirty="0" err="1">
                <a:solidFill>
                  <a:srgbClr val="0000FF"/>
                </a:solidFill>
                <a:latin typeface="+mn-ea"/>
              </a:rPr>
              <a:t>int,int</a:t>
            </a:r>
            <a:r>
              <a:rPr lang="en-US" altLang="zh-CN" sz="2200" b="1" dirty="0">
                <a:solidFill>
                  <a:srgbClr val="0000FF"/>
                </a:solidFill>
                <a:latin typeface="+mn-ea"/>
              </a:rPr>
              <a:t>);          //</a:t>
            </a:r>
            <a:r>
              <a:rPr lang="zh-CN" altLang="en-US" sz="2200" b="1" dirty="0">
                <a:solidFill>
                  <a:srgbClr val="0000FF"/>
                </a:solidFill>
                <a:latin typeface="+mn-ea"/>
              </a:rPr>
              <a:t>把该点加入到</a:t>
            </a:r>
            <a:r>
              <a:rPr lang="en-US" altLang="zh-CN" sz="2200" b="1" dirty="0">
                <a:solidFill>
                  <a:srgbClr val="0000FF"/>
                </a:solidFill>
                <a:latin typeface="+mn-ea"/>
              </a:rPr>
              <a:t>open</a:t>
            </a:r>
            <a:r>
              <a:rPr lang="zh-CN" altLang="en-US" sz="2200" b="1" dirty="0">
                <a:solidFill>
                  <a:srgbClr val="0000FF"/>
                </a:solidFill>
                <a:latin typeface="+mn-ea"/>
              </a:rPr>
              <a:t>表</a:t>
            </a:r>
          </a:p>
          <a:p>
            <a:pPr eaLnBrk="1" hangingPunct="1">
              <a:lnSpc>
                <a:spcPct val="80000"/>
              </a:lnSpc>
              <a:buFontTx/>
              <a:buNone/>
            </a:pPr>
            <a:r>
              <a:rPr lang="en-US" altLang="zh-CN" sz="2200" b="1" dirty="0">
                <a:solidFill>
                  <a:srgbClr val="0000FF"/>
                </a:solidFill>
                <a:latin typeface="+mn-ea"/>
              </a:rPr>
              <a:t>int a[12][12];       //a</a:t>
            </a:r>
            <a:r>
              <a:rPr lang="zh-CN" altLang="en-US" sz="2200" b="1" dirty="0">
                <a:solidFill>
                  <a:srgbClr val="0000FF"/>
                </a:solidFill>
                <a:latin typeface="+mn-ea"/>
              </a:rPr>
              <a:t>存放迷宫，</a:t>
            </a:r>
            <a:r>
              <a:rPr lang="en-US" altLang="zh-CN" sz="2200" b="1" dirty="0">
                <a:solidFill>
                  <a:srgbClr val="0000FF"/>
                </a:solidFill>
                <a:latin typeface="+mn-ea"/>
              </a:rPr>
              <a:t>0</a:t>
            </a:r>
            <a:r>
              <a:rPr lang="zh-CN" altLang="en-US" sz="2200" b="1" dirty="0">
                <a:solidFill>
                  <a:srgbClr val="0000FF"/>
                </a:solidFill>
                <a:latin typeface="+mn-ea"/>
              </a:rPr>
              <a:t>表示空格，</a:t>
            </a:r>
            <a:r>
              <a:rPr lang="en-US" altLang="zh-CN" sz="2200" b="1" dirty="0">
                <a:solidFill>
                  <a:srgbClr val="0000FF"/>
                </a:solidFill>
                <a:latin typeface="+mn-ea"/>
              </a:rPr>
              <a:t>-2</a:t>
            </a:r>
            <a:r>
              <a:rPr lang="zh-CN" altLang="en-US" sz="2200" b="1" dirty="0">
                <a:solidFill>
                  <a:srgbClr val="0000FF"/>
                </a:solidFill>
                <a:latin typeface="+mn-ea"/>
              </a:rPr>
              <a:t>表示墙。</a:t>
            </a:r>
          </a:p>
          <a:p>
            <a:pPr eaLnBrk="1" hangingPunct="1">
              <a:lnSpc>
                <a:spcPct val="80000"/>
              </a:lnSpc>
              <a:buFontTx/>
              <a:buNone/>
            </a:pPr>
            <a:r>
              <a:rPr lang="zh-CN" altLang="en-US" sz="2200" b="1" dirty="0">
                <a:solidFill>
                  <a:srgbClr val="0000FF"/>
                </a:solidFill>
                <a:latin typeface="+mn-ea"/>
              </a:rPr>
              <a:t>                 </a:t>
            </a:r>
            <a:r>
              <a:rPr lang="en-US" altLang="zh-CN" sz="2200" b="1" dirty="0">
                <a:solidFill>
                  <a:srgbClr val="0000FF"/>
                </a:solidFill>
                <a:latin typeface="+mn-ea"/>
              </a:rPr>
              <a:t>//</a:t>
            </a:r>
            <a:r>
              <a:rPr lang="zh-CN" altLang="en-US" sz="2200" b="1" dirty="0">
                <a:solidFill>
                  <a:srgbClr val="0000FF"/>
                </a:solidFill>
                <a:latin typeface="+mn-ea"/>
              </a:rPr>
              <a:t>广搜时，未找到目标以前到达的空格，填上到达该点的最小步数</a:t>
            </a:r>
          </a:p>
          <a:p>
            <a:pPr eaLnBrk="1" hangingPunct="1">
              <a:lnSpc>
                <a:spcPct val="80000"/>
              </a:lnSpc>
              <a:buFontTx/>
              <a:buNone/>
            </a:pPr>
            <a:r>
              <a:rPr lang="en-US" altLang="zh-CN" sz="2200" b="1" dirty="0">
                <a:solidFill>
                  <a:srgbClr val="0000FF"/>
                </a:solidFill>
                <a:latin typeface="+mn-ea"/>
              </a:rPr>
              <a:t>int n;             //n</a:t>
            </a:r>
            <a:r>
              <a:rPr lang="zh-CN" altLang="en-US" sz="2200" b="1" dirty="0">
                <a:solidFill>
                  <a:srgbClr val="0000FF"/>
                </a:solidFill>
                <a:latin typeface="+mn-ea"/>
              </a:rPr>
              <a:t>为迷宫边长，注：若大于</a:t>
            </a:r>
            <a:r>
              <a:rPr lang="en-US" altLang="zh-CN" sz="2200" b="1" dirty="0">
                <a:solidFill>
                  <a:srgbClr val="0000FF"/>
                </a:solidFill>
                <a:latin typeface="+mn-ea"/>
              </a:rPr>
              <a:t>12</a:t>
            </a:r>
            <a:r>
              <a:rPr lang="zh-CN" altLang="en-US" sz="2200" b="1" dirty="0">
                <a:solidFill>
                  <a:srgbClr val="0000FF"/>
                </a:solidFill>
                <a:latin typeface="+mn-ea"/>
              </a:rPr>
              <a:t>，必须修改一些参数，如</a:t>
            </a:r>
            <a:r>
              <a:rPr lang="en-US" altLang="zh-CN" sz="2200" b="1" dirty="0">
                <a:solidFill>
                  <a:srgbClr val="0000FF"/>
                </a:solidFill>
                <a:latin typeface="+mn-ea"/>
              </a:rPr>
              <a:t>a</a:t>
            </a:r>
            <a:r>
              <a:rPr lang="zh-CN" altLang="en-US" sz="2200" b="1" dirty="0">
                <a:solidFill>
                  <a:srgbClr val="0000FF"/>
                </a:solidFill>
                <a:latin typeface="+mn-ea"/>
              </a:rPr>
              <a:t>的大小</a:t>
            </a:r>
          </a:p>
          <a:p>
            <a:pPr eaLnBrk="1" hangingPunct="1">
              <a:lnSpc>
                <a:spcPct val="80000"/>
              </a:lnSpc>
              <a:buFontTx/>
              <a:buNone/>
            </a:pPr>
            <a:r>
              <a:rPr lang="en-US" altLang="zh-CN" sz="2200" b="1" dirty="0">
                <a:solidFill>
                  <a:srgbClr val="0000FF"/>
                </a:solidFill>
                <a:latin typeface="+mn-ea"/>
              </a:rPr>
              <a:t>int open[20],</a:t>
            </a:r>
            <a:r>
              <a:rPr lang="en-US" altLang="zh-CN" sz="2200" b="1" dirty="0" err="1">
                <a:solidFill>
                  <a:srgbClr val="0000FF"/>
                </a:solidFill>
                <a:latin typeface="+mn-ea"/>
              </a:rPr>
              <a:t>head,tail,openlen</a:t>
            </a:r>
            <a:r>
              <a:rPr lang="en-US" altLang="zh-CN" sz="2200" b="1" dirty="0">
                <a:solidFill>
                  <a:srgbClr val="0000FF"/>
                </a:solidFill>
                <a:latin typeface="+mn-ea"/>
              </a:rPr>
              <a:t>=20;  //open</a:t>
            </a:r>
            <a:r>
              <a:rPr lang="zh-CN" altLang="en-US" sz="2200" b="1" dirty="0">
                <a:solidFill>
                  <a:srgbClr val="0000FF"/>
                </a:solidFill>
                <a:latin typeface="+mn-ea"/>
              </a:rPr>
              <a:t>表</a:t>
            </a:r>
          </a:p>
          <a:p>
            <a:pPr eaLnBrk="1" hangingPunct="1">
              <a:lnSpc>
                <a:spcPct val="80000"/>
              </a:lnSpc>
              <a:buFontTx/>
              <a:buNone/>
            </a:pPr>
            <a:r>
              <a:rPr lang="en-US" altLang="zh-CN" sz="2200" b="1" dirty="0">
                <a:solidFill>
                  <a:srgbClr val="0000FF"/>
                </a:solidFill>
                <a:latin typeface="+mn-ea"/>
              </a:rPr>
              <a:t>int </a:t>
            </a:r>
            <a:r>
              <a:rPr lang="en-US" altLang="zh-CN" sz="2200" b="1" dirty="0" err="1">
                <a:solidFill>
                  <a:srgbClr val="0000FF"/>
                </a:solidFill>
                <a:latin typeface="+mn-ea"/>
              </a:rPr>
              <a:t>s,t</a:t>
            </a:r>
            <a:r>
              <a:rPr lang="en-US" altLang="zh-CN" sz="2200" b="1" dirty="0">
                <a:solidFill>
                  <a:srgbClr val="0000FF"/>
                </a:solidFill>
                <a:latin typeface="+mn-ea"/>
              </a:rPr>
              <a:t>;                         //</a:t>
            </a:r>
            <a:r>
              <a:rPr lang="zh-CN" altLang="en-US" sz="2200" b="1" dirty="0">
                <a:solidFill>
                  <a:srgbClr val="0000FF"/>
                </a:solidFill>
                <a:latin typeface="+mn-ea"/>
              </a:rPr>
              <a:t>起点和终点</a:t>
            </a:r>
            <a:r>
              <a:rPr lang="en-US" altLang="zh-CN" sz="2200" b="1" dirty="0">
                <a:solidFill>
                  <a:srgbClr val="0000FF"/>
                </a:solidFill>
                <a:latin typeface="+mn-ea"/>
              </a:rPr>
              <a:t>20</a:t>
            </a:r>
            <a:r>
              <a:rPr lang="zh-CN" altLang="en-US" sz="2200" b="1" dirty="0">
                <a:solidFill>
                  <a:srgbClr val="0000FF"/>
                </a:solidFill>
                <a:latin typeface="+mn-ea"/>
              </a:rPr>
              <a:t>，</a:t>
            </a:r>
            <a:r>
              <a:rPr lang="en-US" altLang="zh-CN" sz="2200" b="1" dirty="0">
                <a:solidFill>
                  <a:srgbClr val="0000FF"/>
                </a:solidFill>
                <a:latin typeface="+mn-ea"/>
              </a:rPr>
              <a:t>127</a:t>
            </a:r>
          </a:p>
          <a:p>
            <a:pPr eaLnBrk="1" hangingPunct="1">
              <a:lnSpc>
                <a:spcPct val="80000"/>
              </a:lnSpc>
              <a:buFontTx/>
              <a:buNone/>
            </a:pPr>
            <a:endParaRPr lang="en-US" altLang="zh-CN" sz="2200" b="1" dirty="0">
              <a:solidFill>
                <a:srgbClr val="0000FF"/>
              </a:solidFill>
              <a:latin typeface="华文楷体" panose="02010600040101010101" pitchFamily="2" charset="-122"/>
              <a:ea typeface="华文楷体" panose="02010600040101010101" pitchFamily="2" charset="-122"/>
            </a:endParaRP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13314" name="Rectangle 3">
            <a:extLst>
              <a:ext uri="{FF2B5EF4-FFF2-40B4-BE49-F238E27FC236}">
                <a16:creationId xmlns:a16="http://schemas.microsoft.com/office/drawing/2014/main" id="{15329856-F39C-A9CD-E589-9F3716354B24}"/>
              </a:ext>
            </a:extLst>
          </p:cNvPr>
          <p:cNvSpPr>
            <a:spLocks noGrp="1" noChangeArrowheads="1"/>
          </p:cNvSpPr>
          <p:nvPr>
            <p:ph type="body" idx="4294967295"/>
          </p:nvPr>
        </p:nvSpPr>
        <p:spPr>
          <a:xfrm>
            <a:off x="478582" y="1197546"/>
            <a:ext cx="7772400" cy="4114800"/>
          </a:xfrm>
          <a:ln w="15875">
            <a:solidFill>
              <a:schemeClr val="accent6"/>
            </a:solidFill>
          </a:ln>
        </p:spPr>
        <p:txBody>
          <a:bodyPr>
            <a:normAutofit/>
          </a:bodyPr>
          <a:lstStyle/>
          <a:p>
            <a:pPr eaLnBrk="1" hangingPunct="1">
              <a:buFontTx/>
              <a:buNone/>
            </a:pPr>
            <a:r>
              <a:rPr lang="en-US" altLang="zh-CN" sz="2200" b="1" dirty="0">
                <a:solidFill>
                  <a:srgbClr val="0000FF"/>
                </a:solidFill>
                <a:latin typeface="+mn-ea"/>
              </a:rPr>
              <a:t>int main()</a:t>
            </a:r>
          </a:p>
          <a:p>
            <a:pPr eaLnBrk="1" hangingPunct="1">
              <a:buFontTx/>
              <a:buNone/>
            </a:pPr>
            <a:r>
              <a:rPr lang="en-US" altLang="zh-CN" sz="2200" b="1" dirty="0">
                <a:solidFill>
                  <a:srgbClr val="0000FF"/>
                </a:solidFill>
                <a:latin typeface="+mn-ea"/>
              </a:rPr>
              <a:t>{</a:t>
            </a:r>
          </a:p>
          <a:p>
            <a:pPr eaLnBrk="1" hangingPunct="1">
              <a:buFontTx/>
              <a:buNone/>
            </a:pPr>
            <a:r>
              <a:rPr lang="en-US" altLang="zh-CN" sz="2200" b="1" dirty="0">
                <a:solidFill>
                  <a:srgbClr val="0000FF"/>
                </a:solidFill>
                <a:latin typeface="+mn-ea"/>
              </a:rPr>
              <a:t>	int number;</a:t>
            </a:r>
          </a:p>
          <a:p>
            <a:pPr eaLnBrk="1" hangingPunct="1">
              <a:buFontTx/>
              <a:buNone/>
            </a:pPr>
            <a:r>
              <a:rPr lang="en-US" altLang="zh-CN" sz="2200" b="1" dirty="0">
                <a:solidFill>
                  <a:srgbClr val="0000FF"/>
                </a:solidFill>
                <a:latin typeface="+mn-ea"/>
              </a:rPr>
              <a:t>	</a:t>
            </a:r>
            <a:r>
              <a:rPr lang="en-US" altLang="zh-CN" sz="2200" b="1" dirty="0" err="1">
                <a:solidFill>
                  <a:srgbClr val="0000FF"/>
                </a:solidFill>
                <a:latin typeface="+mn-ea"/>
              </a:rPr>
              <a:t>readdata</a:t>
            </a:r>
            <a:r>
              <a:rPr lang="en-US" altLang="zh-CN" sz="2200" b="1" dirty="0">
                <a:solidFill>
                  <a:srgbClr val="0000FF"/>
                </a:solidFill>
                <a:latin typeface="+mn-ea"/>
              </a:rPr>
              <a:t>();            //</a:t>
            </a:r>
            <a:r>
              <a:rPr lang="zh-CN" altLang="en-US" sz="2200" b="1" dirty="0">
                <a:solidFill>
                  <a:srgbClr val="0000FF"/>
                </a:solidFill>
                <a:latin typeface="+mn-ea"/>
              </a:rPr>
              <a:t>读取数据</a:t>
            </a:r>
          </a:p>
          <a:p>
            <a:pPr eaLnBrk="1" hangingPunct="1">
              <a:buFontTx/>
              <a:buNone/>
            </a:pPr>
            <a:r>
              <a:rPr lang="zh-CN" altLang="en-US" sz="2200" b="1" dirty="0">
                <a:solidFill>
                  <a:srgbClr val="0000FF"/>
                </a:solidFill>
                <a:latin typeface="+mn-ea"/>
              </a:rPr>
              <a:t>	</a:t>
            </a:r>
            <a:r>
              <a:rPr lang="en-US" altLang="zh-CN" sz="2200" b="1" dirty="0" err="1">
                <a:solidFill>
                  <a:srgbClr val="0000FF"/>
                </a:solidFill>
                <a:latin typeface="+mn-ea"/>
              </a:rPr>
              <a:t>init</a:t>
            </a:r>
            <a:r>
              <a:rPr lang="en-US" altLang="zh-CN" sz="2200" b="1" dirty="0">
                <a:solidFill>
                  <a:srgbClr val="0000FF"/>
                </a:solidFill>
                <a:latin typeface="+mn-ea"/>
              </a:rPr>
              <a:t>();                //</a:t>
            </a:r>
            <a:r>
              <a:rPr lang="zh-CN" altLang="en-US" sz="2200" b="1" dirty="0">
                <a:solidFill>
                  <a:srgbClr val="0000FF"/>
                </a:solidFill>
                <a:latin typeface="+mn-ea"/>
              </a:rPr>
              <a:t>初始化</a:t>
            </a:r>
          </a:p>
          <a:p>
            <a:pPr eaLnBrk="1" hangingPunct="1">
              <a:buFontTx/>
              <a:buNone/>
            </a:pPr>
            <a:r>
              <a:rPr lang="zh-CN" altLang="en-US" sz="2200" b="1" dirty="0">
                <a:solidFill>
                  <a:srgbClr val="0000FF"/>
                </a:solidFill>
                <a:latin typeface="+mn-ea"/>
              </a:rPr>
              <a:t>	</a:t>
            </a:r>
            <a:r>
              <a:rPr lang="en-US" altLang="zh-CN" sz="2200" b="1" dirty="0">
                <a:solidFill>
                  <a:srgbClr val="0000FF"/>
                </a:solidFill>
                <a:latin typeface="+mn-ea"/>
              </a:rPr>
              <a:t>number=search();      //</a:t>
            </a:r>
            <a:r>
              <a:rPr lang="zh-CN" altLang="en-US" sz="2200" b="1" dirty="0">
                <a:solidFill>
                  <a:srgbClr val="0000FF"/>
                </a:solidFill>
                <a:latin typeface="+mn-ea"/>
              </a:rPr>
              <a:t>广搜并返回最小步数</a:t>
            </a:r>
          </a:p>
          <a:p>
            <a:pPr eaLnBrk="1" hangingPunct="1">
              <a:buFontTx/>
              <a:buNone/>
            </a:pPr>
            <a:r>
              <a:rPr lang="zh-CN" altLang="en-US" sz="2200" b="1" dirty="0">
                <a:solidFill>
                  <a:srgbClr val="0000FF"/>
                </a:solidFill>
                <a:latin typeface="+mn-ea"/>
              </a:rPr>
              <a:t>	</a:t>
            </a:r>
            <a:r>
              <a:rPr lang="en-US" altLang="zh-CN" sz="2200" b="1" dirty="0" err="1">
                <a:solidFill>
                  <a:srgbClr val="0000FF"/>
                </a:solidFill>
                <a:latin typeface="+mn-ea"/>
              </a:rPr>
              <a:t>printf</a:t>
            </a:r>
            <a:r>
              <a:rPr lang="en-US" altLang="zh-CN" sz="2200" b="1" dirty="0">
                <a:solidFill>
                  <a:srgbClr val="0000FF"/>
                </a:solidFill>
                <a:latin typeface="+mn-ea"/>
              </a:rPr>
              <a:t>("%</a:t>
            </a:r>
            <a:r>
              <a:rPr lang="en-US" altLang="zh-CN" sz="2200" b="1" dirty="0" err="1">
                <a:solidFill>
                  <a:srgbClr val="0000FF"/>
                </a:solidFill>
                <a:latin typeface="+mn-ea"/>
              </a:rPr>
              <a:t>d",number</a:t>
            </a:r>
            <a:r>
              <a:rPr lang="en-US" altLang="zh-CN" sz="2200" b="1" dirty="0">
                <a:solidFill>
                  <a:srgbClr val="0000FF"/>
                </a:solidFill>
                <a:latin typeface="+mn-ea"/>
              </a:rPr>
              <a:t>);   //</a:t>
            </a:r>
            <a:r>
              <a:rPr lang="zh-CN" altLang="en-US" sz="2200" b="1" dirty="0">
                <a:solidFill>
                  <a:srgbClr val="0000FF"/>
                </a:solidFill>
                <a:latin typeface="+mn-ea"/>
              </a:rPr>
              <a:t>打印结果</a:t>
            </a:r>
          </a:p>
          <a:p>
            <a:pPr eaLnBrk="1" hangingPunct="1">
              <a:buFontTx/>
              <a:buNone/>
            </a:pPr>
            <a:r>
              <a:rPr lang="en-US" altLang="zh-CN" sz="2200" b="1" dirty="0">
                <a:solidFill>
                  <a:srgbClr val="0000FF"/>
                </a:solidFill>
                <a:latin typeface="+mn-ea"/>
              </a:rPr>
              <a:t>}</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41DC8F72-69F0-63B0-7B70-0567A8A6E89F}"/>
              </a:ext>
            </a:extLst>
          </p:cNvPr>
          <p:cNvSpPr>
            <a:spLocks noGrp="1" noChangeArrowheads="1"/>
          </p:cNvSpPr>
          <p:nvPr>
            <p:ph type="body" idx="4294967295"/>
          </p:nvPr>
        </p:nvSpPr>
        <p:spPr>
          <a:xfrm>
            <a:off x="-1" y="8501"/>
            <a:ext cx="12190413" cy="6851087"/>
          </a:xfrm>
          <a:ln w="15875">
            <a:solidFill>
              <a:schemeClr val="accent6"/>
            </a:solidFill>
          </a:ln>
        </p:spPr>
        <p:txBody>
          <a:bodyPr>
            <a:noAutofit/>
          </a:bodyPr>
          <a:lstStyle/>
          <a:p>
            <a:pPr eaLnBrk="1" hangingPunct="1">
              <a:lnSpc>
                <a:spcPct val="80000"/>
              </a:lnSpc>
              <a:buFontTx/>
              <a:buNone/>
            </a:pPr>
            <a:r>
              <a:rPr lang="en-US" altLang="zh-CN" sz="2200" b="1" dirty="0">
                <a:solidFill>
                  <a:srgbClr val="0000FF"/>
                </a:solidFill>
                <a:latin typeface="+mn-ea"/>
              </a:rPr>
              <a:t>int search()</a:t>
            </a:r>
          </a:p>
          <a:p>
            <a:pPr eaLnBrk="1" hangingPunct="1">
              <a:lnSpc>
                <a:spcPct val="80000"/>
              </a:lnSpc>
              <a:buFontTx/>
              <a:buNone/>
            </a:pPr>
            <a:r>
              <a:rPr lang="en-US" altLang="zh-CN" sz="2200" b="1" dirty="0">
                <a:solidFill>
                  <a:srgbClr val="0000FF"/>
                </a:solidFill>
                <a:latin typeface="+mn-ea"/>
              </a:rPr>
              <a:t>{</a:t>
            </a:r>
          </a:p>
          <a:p>
            <a:pPr eaLnBrk="1" hangingPunct="1">
              <a:lnSpc>
                <a:spcPct val="80000"/>
              </a:lnSpc>
              <a:buFontTx/>
              <a:buNone/>
            </a:pPr>
            <a:r>
              <a:rPr lang="en-US" altLang="zh-CN" sz="2200" b="1" dirty="0">
                <a:solidFill>
                  <a:srgbClr val="0000FF"/>
                </a:solidFill>
                <a:latin typeface="+mn-ea"/>
              </a:rPr>
              <a:t>	int u, row, col, r, c, </a:t>
            </a:r>
            <a:r>
              <a:rPr lang="en-US" altLang="zh-CN" sz="2200" b="1" dirty="0" err="1">
                <a:solidFill>
                  <a:srgbClr val="0000FF"/>
                </a:solidFill>
                <a:latin typeface="+mn-ea"/>
              </a:rPr>
              <a:t>i</a:t>
            </a:r>
            <a:r>
              <a:rPr lang="en-US" altLang="zh-CN" sz="2200" b="1" dirty="0">
                <a:solidFill>
                  <a:srgbClr val="0000FF"/>
                </a:solidFill>
                <a:latin typeface="+mn-ea"/>
              </a:rPr>
              <a:t>, num;</a:t>
            </a:r>
          </a:p>
          <a:p>
            <a:pPr eaLnBrk="1" hangingPunct="1">
              <a:lnSpc>
                <a:spcPct val="80000"/>
              </a:lnSpc>
              <a:buFontTx/>
              <a:buNone/>
            </a:pPr>
            <a:r>
              <a:rPr lang="en-US" altLang="zh-CN" sz="2200" b="1" dirty="0">
                <a:solidFill>
                  <a:srgbClr val="0000FF"/>
                </a:solidFill>
                <a:latin typeface="+mn-ea"/>
              </a:rPr>
              <a:t>	while(!</a:t>
            </a:r>
            <a:r>
              <a:rPr lang="en-US" altLang="zh-CN" sz="2200" b="1" dirty="0" err="1">
                <a:solidFill>
                  <a:srgbClr val="0000FF"/>
                </a:solidFill>
                <a:latin typeface="+mn-ea"/>
              </a:rPr>
              <a:t>emptyopen</a:t>
            </a:r>
            <a:r>
              <a:rPr lang="en-US" altLang="zh-CN" sz="2200" b="1" dirty="0">
                <a:solidFill>
                  <a:srgbClr val="0000FF"/>
                </a:solidFill>
                <a:latin typeface="+mn-ea"/>
              </a:rPr>
              <a:t>())         //</a:t>
            </a:r>
            <a:r>
              <a:rPr lang="zh-CN" altLang="en-US" sz="2200" b="1" dirty="0">
                <a:solidFill>
                  <a:srgbClr val="0000FF"/>
                </a:solidFill>
                <a:latin typeface="+mn-ea"/>
              </a:rPr>
              <a:t>当队列非空</a:t>
            </a:r>
          </a:p>
          <a:p>
            <a:pPr eaLnBrk="1" hangingPunct="1">
              <a:lnSpc>
                <a:spcPct val="80000"/>
              </a:lnSpc>
              <a:buFontTx/>
              <a:buNone/>
            </a:pPr>
            <a:r>
              <a:rPr lang="zh-CN" altLang="en-US" sz="2200" b="1" dirty="0">
                <a:solidFill>
                  <a:srgbClr val="0000FF"/>
                </a:solidFill>
                <a:latin typeface="+mn-ea"/>
              </a:rPr>
              <a:t>	</a:t>
            </a:r>
            <a:r>
              <a:rPr lang="en-US" altLang="zh-CN" sz="2200" b="1" dirty="0">
                <a:solidFill>
                  <a:srgbClr val="0000FF"/>
                </a:solidFill>
                <a:latin typeface="+mn-ea"/>
              </a:rPr>
              <a:t>{</a:t>
            </a:r>
          </a:p>
          <a:p>
            <a:pPr eaLnBrk="1" hangingPunct="1">
              <a:lnSpc>
                <a:spcPct val="80000"/>
              </a:lnSpc>
              <a:buFontTx/>
              <a:buNone/>
            </a:pPr>
            <a:r>
              <a:rPr lang="en-US" altLang="zh-CN" sz="2200" b="1" dirty="0">
                <a:solidFill>
                  <a:srgbClr val="0000FF"/>
                </a:solidFill>
                <a:latin typeface="+mn-ea"/>
              </a:rPr>
              <a:t>		u=</a:t>
            </a:r>
            <a:r>
              <a:rPr lang="en-US" altLang="zh-CN" sz="2200" b="1" dirty="0" err="1">
                <a:solidFill>
                  <a:srgbClr val="0000FF"/>
                </a:solidFill>
                <a:latin typeface="+mn-ea"/>
              </a:rPr>
              <a:t>takeoutofopen</a:t>
            </a:r>
            <a:r>
              <a:rPr lang="en-US" altLang="zh-CN" sz="2200" b="1" dirty="0">
                <a:solidFill>
                  <a:srgbClr val="0000FF"/>
                </a:solidFill>
                <a:latin typeface="+mn-ea"/>
              </a:rPr>
              <a:t>();      //</a:t>
            </a:r>
            <a:r>
              <a:rPr lang="zh-CN" altLang="en-US" sz="2200" b="1" dirty="0">
                <a:solidFill>
                  <a:srgbClr val="0000FF"/>
                </a:solidFill>
                <a:latin typeface="+mn-ea"/>
              </a:rPr>
              <a:t>从队列中取出一个元素，并把该元素从队列中删除</a:t>
            </a:r>
          </a:p>
          <a:p>
            <a:pPr eaLnBrk="1" hangingPunct="1">
              <a:lnSpc>
                <a:spcPct val="80000"/>
              </a:lnSpc>
              <a:buFontTx/>
              <a:buNone/>
            </a:pPr>
            <a:r>
              <a:rPr lang="zh-CN" altLang="en-US" sz="2200" b="1" dirty="0">
                <a:solidFill>
                  <a:srgbClr val="0000FF"/>
                </a:solidFill>
                <a:latin typeface="+mn-ea"/>
              </a:rPr>
              <a:t>		</a:t>
            </a:r>
            <a:r>
              <a:rPr lang="en-US" altLang="zh-CN" sz="2200" b="1" dirty="0">
                <a:solidFill>
                  <a:srgbClr val="0000FF"/>
                </a:solidFill>
                <a:latin typeface="+mn-ea"/>
              </a:rPr>
              <a:t>row=u/n;              //</a:t>
            </a:r>
            <a:r>
              <a:rPr lang="zh-CN" altLang="en-US" sz="2200" b="1" dirty="0">
                <a:solidFill>
                  <a:srgbClr val="0000FF"/>
                </a:solidFill>
                <a:latin typeface="+mn-ea"/>
              </a:rPr>
              <a:t>计算该点的坐标</a:t>
            </a:r>
          </a:p>
          <a:p>
            <a:pPr eaLnBrk="1" hangingPunct="1">
              <a:lnSpc>
                <a:spcPct val="80000"/>
              </a:lnSpc>
              <a:buFontTx/>
              <a:buNone/>
            </a:pPr>
            <a:r>
              <a:rPr lang="zh-CN" altLang="en-US" sz="2200" b="1" dirty="0">
                <a:solidFill>
                  <a:srgbClr val="0000FF"/>
                </a:solidFill>
                <a:latin typeface="+mn-ea"/>
              </a:rPr>
              <a:t>		</a:t>
            </a:r>
            <a:r>
              <a:rPr lang="en-US" altLang="zh-CN" sz="2200" b="1" dirty="0">
                <a:solidFill>
                  <a:srgbClr val="0000FF"/>
                </a:solidFill>
                <a:latin typeface="+mn-ea"/>
              </a:rPr>
              <a:t>col=</a:t>
            </a:r>
            <a:r>
              <a:rPr lang="en-US" altLang="zh-CN" sz="2200" b="1" dirty="0" err="1">
                <a:solidFill>
                  <a:srgbClr val="0000FF"/>
                </a:solidFill>
                <a:latin typeface="+mn-ea"/>
              </a:rPr>
              <a:t>u%n</a:t>
            </a:r>
            <a:r>
              <a:rPr lang="en-US" altLang="zh-CN" sz="2200" b="1" dirty="0">
                <a:solidFill>
                  <a:srgbClr val="0000FF"/>
                </a:solidFill>
                <a:latin typeface="+mn-ea"/>
              </a:rPr>
              <a:t>;</a:t>
            </a:r>
          </a:p>
          <a:p>
            <a:pPr eaLnBrk="1" hangingPunct="1">
              <a:lnSpc>
                <a:spcPct val="80000"/>
              </a:lnSpc>
              <a:buFontTx/>
              <a:buNone/>
            </a:pPr>
            <a:r>
              <a:rPr lang="en-US" altLang="zh-CN" sz="2200" b="1" dirty="0">
                <a:solidFill>
                  <a:srgbClr val="0000FF"/>
                </a:solidFill>
                <a:latin typeface="+mn-ea"/>
              </a:rPr>
              <a:t>		num=a[row][col];       //</a:t>
            </a:r>
            <a:r>
              <a:rPr lang="zh-CN" altLang="en-US" sz="2200" b="1" dirty="0">
                <a:solidFill>
                  <a:srgbClr val="0000FF"/>
                </a:solidFill>
                <a:latin typeface="+mn-ea"/>
              </a:rPr>
              <a:t>取得该点的步数</a:t>
            </a:r>
            <a:endParaRPr lang="en-US" altLang="zh-CN" sz="2200" b="1" dirty="0">
              <a:solidFill>
                <a:srgbClr val="0000FF"/>
              </a:solidFill>
              <a:latin typeface="+mn-ea"/>
            </a:endParaRPr>
          </a:p>
          <a:p>
            <a:pPr eaLnBrk="1" hangingPunct="1">
              <a:lnSpc>
                <a:spcPct val="80000"/>
              </a:lnSpc>
              <a:buFontTx/>
              <a:buNone/>
            </a:pPr>
            <a:r>
              <a:rPr lang="en-US" altLang="zh-CN" sz="2200" b="1" dirty="0">
                <a:solidFill>
                  <a:srgbClr val="0000FF"/>
                </a:solidFill>
                <a:latin typeface="+mn-ea"/>
              </a:rPr>
              <a:t>               for(</a:t>
            </a:r>
            <a:r>
              <a:rPr lang="en-US" altLang="zh-CN" sz="2200" b="1" dirty="0" err="1">
                <a:solidFill>
                  <a:srgbClr val="0000FF"/>
                </a:solidFill>
                <a:latin typeface="+mn-ea"/>
              </a:rPr>
              <a:t>i</a:t>
            </a:r>
            <a:r>
              <a:rPr lang="en-US" altLang="zh-CN" sz="2200" b="1" dirty="0">
                <a:solidFill>
                  <a:srgbClr val="0000FF"/>
                </a:solidFill>
                <a:latin typeface="+mn-ea"/>
              </a:rPr>
              <a:t>=0;i&lt;4;i++)</a:t>
            </a:r>
          </a:p>
          <a:p>
            <a:pPr eaLnBrk="1" hangingPunct="1">
              <a:lnSpc>
                <a:spcPct val="80000"/>
              </a:lnSpc>
              <a:buFontTx/>
              <a:buNone/>
            </a:pPr>
            <a:r>
              <a:rPr lang="en-US" altLang="zh-CN" sz="2200" b="1" dirty="0">
                <a:solidFill>
                  <a:srgbClr val="0000FF"/>
                </a:solidFill>
                <a:latin typeface="+mn-ea"/>
              </a:rPr>
              <a:t>		{</a:t>
            </a:r>
          </a:p>
          <a:p>
            <a:pPr eaLnBrk="1" hangingPunct="1">
              <a:lnSpc>
                <a:spcPct val="80000"/>
              </a:lnSpc>
              <a:buFontTx/>
              <a:buNone/>
            </a:pPr>
            <a:r>
              <a:rPr lang="en-US" altLang="zh-CN" sz="2200" b="1" dirty="0">
                <a:solidFill>
                  <a:srgbClr val="0000FF"/>
                </a:solidFill>
                <a:latin typeface="+mn-ea"/>
              </a:rPr>
              <a:t>		    if(</a:t>
            </a:r>
            <a:r>
              <a:rPr lang="en-US" altLang="zh-CN" sz="2200" b="1" dirty="0" err="1">
                <a:solidFill>
                  <a:srgbClr val="0000FF"/>
                </a:solidFill>
                <a:latin typeface="+mn-ea"/>
              </a:rPr>
              <a:t>canmoveto</a:t>
            </a:r>
            <a:r>
              <a:rPr lang="en-US" altLang="zh-CN" sz="2200" b="1" dirty="0">
                <a:solidFill>
                  <a:srgbClr val="0000FF"/>
                </a:solidFill>
                <a:latin typeface="+mn-ea"/>
              </a:rPr>
              <a:t>(row,col,&amp;r,&amp;</a:t>
            </a:r>
            <a:r>
              <a:rPr lang="en-US" altLang="zh-CN" sz="2200" b="1" dirty="0" err="1">
                <a:solidFill>
                  <a:srgbClr val="0000FF"/>
                </a:solidFill>
                <a:latin typeface="+mn-ea"/>
              </a:rPr>
              <a:t>c,i</a:t>
            </a:r>
            <a:r>
              <a:rPr lang="en-US" altLang="zh-CN" sz="2200" b="1" dirty="0">
                <a:solidFill>
                  <a:srgbClr val="0000FF"/>
                </a:solidFill>
                <a:latin typeface="+mn-ea"/>
              </a:rPr>
              <a:t>))  //</a:t>
            </a:r>
            <a:r>
              <a:rPr lang="zh-CN" altLang="en-US" sz="2200" b="1" dirty="0">
                <a:solidFill>
                  <a:srgbClr val="0000FF"/>
                </a:solidFill>
                <a:latin typeface="+mn-ea"/>
              </a:rPr>
              <a:t>判能否移动到该方向，并带回坐标</a:t>
            </a:r>
            <a:r>
              <a:rPr lang="en-US" altLang="zh-CN" sz="2200" b="1" dirty="0">
                <a:solidFill>
                  <a:srgbClr val="0000FF"/>
                </a:solidFill>
                <a:latin typeface="+mn-ea"/>
              </a:rPr>
              <a:t>(</a:t>
            </a:r>
            <a:r>
              <a:rPr lang="en-US" altLang="zh-CN" sz="2200" b="1" dirty="0" err="1">
                <a:solidFill>
                  <a:srgbClr val="0000FF"/>
                </a:solidFill>
                <a:latin typeface="+mn-ea"/>
              </a:rPr>
              <a:t>r,c</a:t>
            </a:r>
            <a:r>
              <a:rPr lang="en-US" altLang="zh-CN" sz="2200" b="1" dirty="0">
                <a:solidFill>
                  <a:srgbClr val="0000FF"/>
                </a:solidFill>
                <a:latin typeface="+mn-ea"/>
              </a:rPr>
              <a:t>)</a:t>
            </a:r>
          </a:p>
          <a:p>
            <a:pPr eaLnBrk="1" hangingPunct="1">
              <a:lnSpc>
                <a:spcPct val="80000"/>
              </a:lnSpc>
              <a:buFontTx/>
              <a:buNone/>
            </a:pPr>
            <a:r>
              <a:rPr lang="en-US" altLang="zh-CN" sz="2200" b="1" dirty="0">
                <a:solidFill>
                  <a:srgbClr val="0000FF"/>
                </a:solidFill>
                <a:latin typeface="+mn-ea"/>
              </a:rPr>
              <a:t>		    { if(</a:t>
            </a:r>
            <a:r>
              <a:rPr lang="en-US" altLang="zh-CN" sz="2200" b="1" dirty="0" err="1">
                <a:solidFill>
                  <a:srgbClr val="0000FF"/>
                </a:solidFill>
                <a:latin typeface="+mn-ea"/>
              </a:rPr>
              <a:t>isaim</a:t>
            </a:r>
            <a:r>
              <a:rPr lang="en-US" altLang="zh-CN" sz="2200" b="1" dirty="0">
                <a:solidFill>
                  <a:srgbClr val="0000FF"/>
                </a:solidFill>
                <a:latin typeface="+mn-ea"/>
              </a:rPr>
              <a:t>(</a:t>
            </a:r>
            <a:r>
              <a:rPr lang="en-US" altLang="zh-CN" sz="2200" b="1" dirty="0" err="1">
                <a:solidFill>
                  <a:srgbClr val="0000FF"/>
                </a:solidFill>
                <a:latin typeface="+mn-ea"/>
              </a:rPr>
              <a:t>r,c</a:t>
            </a:r>
            <a:r>
              <a:rPr lang="en-US" altLang="zh-CN" sz="2200" b="1" dirty="0">
                <a:solidFill>
                  <a:srgbClr val="0000FF"/>
                </a:solidFill>
                <a:latin typeface="+mn-ea"/>
              </a:rPr>
              <a:t>))            //</a:t>
            </a:r>
            <a:r>
              <a:rPr lang="zh-CN" altLang="en-US" sz="2200" b="1" dirty="0">
                <a:solidFill>
                  <a:srgbClr val="0000FF"/>
                </a:solidFill>
                <a:latin typeface="+mn-ea"/>
              </a:rPr>
              <a:t>如果是目标结点</a:t>
            </a:r>
          </a:p>
          <a:p>
            <a:pPr eaLnBrk="1" hangingPunct="1">
              <a:lnSpc>
                <a:spcPct val="80000"/>
              </a:lnSpc>
              <a:buFontTx/>
              <a:buNone/>
            </a:pPr>
            <a:r>
              <a:rPr lang="zh-CN" altLang="en-US" sz="2200" b="1" dirty="0">
                <a:solidFill>
                  <a:srgbClr val="0000FF"/>
                </a:solidFill>
                <a:latin typeface="+mn-ea"/>
              </a:rPr>
              <a:t>		      </a:t>
            </a:r>
            <a:r>
              <a:rPr lang="en-US" altLang="zh-CN" sz="2200" b="1" dirty="0">
                <a:solidFill>
                  <a:srgbClr val="0000FF"/>
                </a:solidFill>
                <a:latin typeface="+mn-ea"/>
              </a:rPr>
              <a:t>return(num+1);      //</a:t>
            </a:r>
            <a:r>
              <a:rPr lang="zh-CN" altLang="en-US" sz="2200" b="1" dirty="0">
                <a:solidFill>
                  <a:srgbClr val="0000FF"/>
                </a:solidFill>
                <a:latin typeface="+mn-ea"/>
              </a:rPr>
              <a:t>返回最小步数</a:t>
            </a:r>
          </a:p>
          <a:p>
            <a:pPr eaLnBrk="1" hangingPunct="1">
              <a:lnSpc>
                <a:spcPct val="80000"/>
              </a:lnSpc>
              <a:buFontTx/>
              <a:buNone/>
            </a:pPr>
            <a:r>
              <a:rPr lang="zh-CN" altLang="en-US" sz="2200" b="1" dirty="0">
                <a:solidFill>
                  <a:srgbClr val="0000FF"/>
                </a:solidFill>
                <a:latin typeface="+mn-ea"/>
              </a:rPr>
              <a:t>		      </a:t>
            </a:r>
            <a:r>
              <a:rPr lang="en-US" altLang="zh-CN" sz="2200" b="1" dirty="0">
                <a:solidFill>
                  <a:srgbClr val="0000FF"/>
                </a:solidFill>
                <a:latin typeface="+mn-ea"/>
              </a:rPr>
              <a:t>a[r][c]=num+1;      //</a:t>
            </a:r>
            <a:r>
              <a:rPr lang="zh-CN" altLang="en-US" sz="2200" b="1" dirty="0">
                <a:solidFill>
                  <a:srgbClr val="0000FF"/>
                </a:solidFill>
                <a:latin typeface="+mn-ea"/>
              </a:rPr>
              <a:t>记录该点的最小步数</a:t>
            </a:r>
          </a:p>
          <a:p>
            <a:pPr eaLnBrk="1" hangingPunct="1">
              <a:lnSpc>
                <a:spcPct val="80000"/>
              </a:lnSpc>
              <a:buFontTx/>
              <a:buNone/>
            </a:pPr>
            <a:r>
              <a:rPr lang="zh-CN" altLang="en-US" sz="2200" b="1" dirty="0">
                <a:solidFill>
                  <a:srgbClr val="0000FF"/>
                </a:solidFill>
                <a:latin typeface="+mn-ea"/>
              </a:rPr>
              <a:t>		      </a:t>
            </a:r>
            <a:r>
              <a:rPr lang="en-US" altLang="zh-CN" sz="2200" b="1" dirty="0" err="1">
                <a:solidFill>
                  <a:srgbClr val="0000FF"/>
                </a:solidFill>
                <a:latin typeface="+mn-ea"/>
              </a:rPr>
              <a:t>addtoopen</a:t>
            </a:r>
            <a:r>
              <a:rPr lang="en-US" altLang="zh-CN" sz="2200" b="1" dirty="0">
                <a:solidFill>
                  <a:srgbClr val="0000FF"/>
                </a:solidFill>
                <a:latin typeface="+mn-ea"/>
              </a:rPr>
              <a:t>(</a:t>
            </a:r>
            <a:r>
              <a:rPr lang="en-US" altLang="zh-CN" sz="2200" b="1" dirty="0" err="1">
                <a:solidFill>
                  <a:srgbClr val="0000FF"/>
                </a:solidFill>
                <a:latin typeface="+mn-ea"/>
              </a:rPr>
              <a:t>r,c</a:t>
            </a:r>
            <a:r>
              <a:rPr lang="en-US" altLang="zh-CN" sz="2200" b="1" dirty="0">
                <a:solidFill>
                  <a:srgbClr val="0000FF"/>
                </a:solidFill>
                <a:latin typeface="+mn-ea"/>
              </a:rPr>
              <a:t>);      //</a:t>
            </a:r>
            <a:r>
              <a:rPr lang="zh-CN" altLang="en-US" sz="2200" b="1" dirty="0">
                <a:solidFill>
                  <a:srgbClr val="0000FF"/>
                </a:solidFill>
                <a:latin typeface="+mn-ea"/>
              </a:rPr>
              <a:t>把该点加入到</a:t>
            </a:r>
            <a:r>
              <a:rPr lang="en-US" altLang="zh-CN" sz="2200" b="1" dirty="0">
                <a:solidFill>
                  <a:srgbClr val="0000FF"/>
                </a:solidFill>
                <a:latin typeface="+mn-ea"/>
              </a:rPr>
              <a:t>open</a:t>
            </a:r>
            <a:r>
              <a:rPr lang="zh-CN" altLang="en-US" sz="2200" b="1" dirty="0">
                <a:solidFill>
                  <a:srgbClr val="0000FF"/>
                </a:solidFill>
                <a:latin typeface="+mn-ea"/>
              </a:rPr>
              <a:t>表</a:t>
            </a:r>
          </a:p>
          <a:p>
            <a:pPr eaLnBrk="1" hangingPunct="1">
              <a:lnSpc>
                <a:spcPct val="80000"/>
              </a:lnSpc>
              <a:buFontTx/>
              <a:buNone/>
            </a:pPr>
            <a:r>
              <a:rPr lang="zh-CN" altLang="en-US" sz="2200" b="1" dirty="0">
                <a:solidFill>
                  <a:srgbClr val="0000FF"/>
                </a:solidFill>
                <a:latin typeface="+mn-ea"/>
              </a:rPr>
              <a:t>		     </a:t>
            </a:r>
            <a:r>
              <a:rPr lang="en-US" altLang="zh-CN" sz="2200" b="1" dirty="0">
                <a:solidFill>
                  <a:srgbClr val="0000FF"/>
                </a:solidFill>
                <a:latin typeface="+mn-ea"/>
              </a:rPr>
              <a:t>}//end if</a:t>
            </a:r>
          </a:p>
          <a:p>
            <a:pPr eaLnBrk="1" hangingPunct="1">
              <a:lnSpc>
                <a:spcPct val="80000"/>
              </a:lnSpc>
              <a:buFontTx/>
              <a:buNone/>
            </a:pPr>
            <a:r>
              <a:rPr lang="en-US" altLang="zh-CN" sz="2200" b="1" dirty="0">
                <a:solidFill>
                  <a:srgbClr val="0000FF"/>
                </a:solidFill>
                <a:latin typeface="+mn-ea"/>
              </a:rPr>
              <a:t>	           }//end for</a:t>
            </a:r>
          </a:p>
          <a:p>
            <a:pPr eaLnBrk="1" hangingPunct="1">
              <a:lnSpc>
                <a:spcPct val="80000"/>
              </a:lnSpc>
              <a:buFontTx/>
              <a:buNone/>
            </a:pPr>
            <a:r>
              <a:rPr lang="en-US" altLang="zh-CN" sz="2200" b="1" dirty="0">
                <a:solidFill>
                  <a:srgbClr val="0000FF"/>
                </a:solidFill>
                <a:latin typeface="+mn-ea"/>
              </a:rPr>
              <a:t>    }//end while</a:t>
            </a:r>
          </a:p>
          <a:p>
            <a:pPr eaLnBrk="1" hangingPunct="1">
              <a:lnSpc>
                <a:spcPct val="80000"/>
              </a:lnSpc>
              <a:buFontTx/>
              <a:buNone/>
            </a:pPr>
            <a:r>
              <a:rPr lang="en-US" altLang="zh-CN" sz="2200" b="1" dirty="0">
                <a:solidFill>
                  <a:srgbClr val="0000FF"/>
                </a:solidFill>
                <a:latin typeface="+mn-ea"/>
              </a:rPr>
              <a:t>}//end search</a:t>
            </a:r>
          </a:p>
          <a:p>
            <a:pPr eaLnBrk="1" hangingPunct="1">
              <a:lnSpc>
                <a:spcPct val="80000"/>
              </a:lnSpc>
              <a:buFontTx/>
              <a:buNone/>
            </a:pPr>
            <a:endParaRPr lang="zh-CN" altLang="en-US" sz="2200" b="1" dirty="0">
              <a:solidFill>
                <a:srgbClr val="0000FF"/>
              </a:solidFill>
              <a:latin typeface="+mn-ea"/>
            </a:endParaRPr>
          </a:p>
          <a:p>
            <a:pPr eaLnBrk="1" hangingPunct="1">
              <a:lnSpc>
                <a:spcPct val="80000"/>
              </a:lnSpc>
              <a:buFontTx/>
              <a:buNone/>
            </a:pPr>
            <a:r>
              <a:rPr lang="zh-CN" altLang="en-US" sz="2200" b="1" dirty="0">
                <a:solidFill>
                  <a:srgbClr val="0000FF"/>
                </a:solidFill>
                <a:latin typeface="+mn-ea"/>
              </a:rPr>
              <a:t>		</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1EC06C13-8DED-4B6E-48DA-2C93286C177F}"/>
              </a:ext>
            </a:extLst>
          </p:cNvPr>
          <p:cNvSpPr>
            <a:spLocks noGrp="1" noChangeArrowheads="1"/>
          </p:cNvSpPr>
          <p:nvPr>
            <p:ph type="body" idx="4294967295"/>
          </p:nvPr>
        </p:nvSpPr>
        <p:spPr>
          <a:xfrm>
            <a:off x="1270670" y="1135413"/>
            <a:ext cx="2566813" cy="4103762"/>
          </a:xfrm>
          <a:ln w="15875">
            <a:solidFill>
              <a:schemeClr val="accent6"/>
            </a:solidFill>
          </a:ln>
        </p:spPr>
        <p:txBody>
          <a:bodyPr>
            <a:normAutofit/>
          </a:bodyPr>
          <a:lstStyle/>
          <a:p>
            <a:pPr eaLnBrk="1" hangingPunct="1">
              <a:buFontTx/>
              <a:buNone/>
            </a:pPr>
            <a:r>
              <a:rPr lang="en-US" altLang="zh-CN" sz="2200" b="1" dirty="0">
                <a:solidFill>
                  <a:srgbClr val="0000FF"/>
                </a:solidFill>
                <a:latin typeface="+mn-ea"/>
              </a:rPr>
              <a:t>int </a:t>
            </a:r>
            <a:r>
              <a:rPr lang="en-US" altLang="zh-CN" sz="2200" b="1" dirty="0" err="1">
                <a:solidFill>
                  <a:srgbClr val="0000FF"/>
                </a:solidFill>
                <a:latin typeface="+mn-ea"/>
              </a:rPr>
              <a:t>emptyopen</a:t>
            </a:r>
            <a:r>
              <a:rPr lang="en-US" altLang="zh-CN" sz="2200" b="1" dirty="0">
                <a:solidFill>
                  <a:srgbClr val="0000FF"/>
                </a:solidFill>
                <a:latin typeface="+mn-ea"/>
              </a:rPr>
              <a:t>()</a:t>
            </a:r>
          </a:p>
          <a:p>
            <a:pPr eaLnBrk="1" hangingPunct="1">
              <a:buFontTx/>
              <a:buNone/>
            </a:pPr>
            <a:r>
              <a:rPr lang="en-US" altLang="zh-CN" sz="2200" b="1" dirty="0">
                <a:solidFill>
                  <a:srgbClr val="0000FF"/>
                </a:solidFill>
                <a:latin typeface="+mn-ea"/>
              </a:rPr>
              <a:t>{</a:t>
            </a:r>
          </a:p>
          <a:p>
            <a:pPr eaLnBrk="1" hangingPunct="1">
              <a:buFontTx/>
              <a:buNone/>
            </a:pPr>
            <a:r>
              <a:rPr lang="en-US" altLang="zh-CN" sz="2200" b="1" dirty="0">
                <a:solidFill>
                  <a:srgbClr val="0000FF"/>
                </a:solidFill>
                <a:latin typeface="+mn-ea"/>
              </a:rPr>
              <a:t>	if(head==tail)</a:t>
            </a:r>
          </a:p>
          <a:p>
            <a:pPr eaLnBrk="1" hangingPunct="1">
              <a:buFontTx/>
              <a:buNone/>
            </a:pPr>
            <a:r>
              <a:rPr lang="en-US" altLang="zh-CN" sz="2200" b="1" dirty="0">
                <a:solidFill>
                  <a:srgbClr val="0000FF"/>
                </a:solidFill>
                <a:latin typeface="+mn-ea"/>
              </a:rPr>
              <a:t>		return(1);</a:t>
            </a:r>
          </a:p>
          <a:p>
            <a:pPr eaLnBrk="1" hangingPunct="1">
              <a:buFontTx/>
              <a:buNone/>
            </a:pPr>
            <a:r>
              <a:rPr lang="en-US" altLang="zh-CN" sz="2200" b="1" dirty="0">
                <a:solidFill>
                  <a:srgbClr val="0000FF"/>
                </a:solidFill>
                <a:latin typeface="+mn-ea"/>
              </a:rPr>
              <a:t>	else</a:t>
            </a:r>
          </a:p>
          <a:p>
            <a:pPr eaLnBrk="1" hangingPunct="1">
              <a:buFontTx/>
              <a:buNone/>
            </a:pPr>
            <a:r>
              <a:rPr lang="en-US" altLang="zh-CN" sz="2200" b="1" dirty="0">
                <a:solidFill>
                  <a:srgbClr val="0000FF"/>
                </a:solidFill>
                <a:latin typeface="+mn-ea"/>
              </a:rPr>
              <a:t>		return(0);</a:t>
            </a:r>
          </a:p>
          <a:p>
            <a:pPr eaLnBrk="1" hangingPunct="1">
              <a:buFontTx/>
              <a:buNone/>
            </a:pPr>
            <a:r>
              <a:rPr lang="en-US" altLang="zh-CN" sz="2200" b="1" dirty="0">
                <a:solidFill>
                  <a:srgbClr val="0000FF"/>
                </a:solidFill>
                <a:latin typeface="+mn-ea"/>
              </a:rPr>
              <a:t>}</a:t>
            </a:r>
          </a:p>
        </p:txBody>
      </p:sp>
      <p:sp>
        <p:nvSpPr>
          <p:cNvPr id="2" name="Rectangle 3">
            <a:extLst>
              <a:ext uri="{FF2B5EF4-FFF2-40B4-BE49-F238E27FC236}">
                <a16:creationId xmlns:a16="http://schemas.microsoft.com/office/drawing/2014/main" id="{B14FDCFE-F048-CA28-5707-3466BC7608A7}"/>
              </a:ext>
            </a:extLst>
          </p:cNvPr>
          <p:cNvSpPr txBox="1">
            <a:spLocks noChangeArrowheads="1"/>
          </p:cNvSpPr>
          <p:nvPr/>
        </p:nvSpPr>
        <p:spPr>
          <a:xfrm>
            <a:off x="4367014" y="1125538"/>
            <a:ext cx="4608512" cy="4103762"/>
          </a:xfrm>
          <a:prstGeom prst="rect">
            <a:avLst/>
          </a:prstGeom>
          <a:ln w="15875">
            <a:solidFill>
              <a:schemeClr val="accent6"/>
            </a:solidFill>
          </a:ln>
        </p:spPr>
        <p:txBody>
          <a:bodyPr vert="horz" rtlCol="0">
            <a:normAutofit/>
          </a:bodyPr>
          <a:lstStyle>
            <a:lvl1pPr marL="342866" indent="-342866"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876" indent="-285721"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2886" indent="-228577"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040" indent="-228577"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194"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349"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503" indent="-228577"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8657" indent="-228577"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811" indent="-228577"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pPr marL="228577" indent="-228577" defTabSz="914309" fontAlgn="auto">
              <a:lnSpc>
                <a:spcPct val="80000"/>
              </a:lnSpc>
              <a:spcAft>
                <a:spcPts val="0"/>
              </a:spcAft>
              <a:buFontTx/>
              <a:buNone/>
              <a:defRPr/>
            </a:pPr>
            <a:r>
              <a:rPr lang="en-US" altLang="zh-CN" sz="2200" b="1" dirty="0">
                <a:solidFill>
                  <a:srgbClr val="0000FF"/>
                </a:solidFill>
                <a:latin typeface="+mn-ea"/>
              </a:rPr>
              <a:t>int </a:t>
            </a:r>
            <a:r>
              <a:rPr lang="en-US" altLang="zh-CN" sz="2200" b="1" dirty="0" err="1">
                <a:solidFill>
                  <a:srgbClr val="0000FF"/>
                </a:solidFill>
                <a:latin typeface="+mn-ea"/>
              </a:rPr>
              <a:t>takeoutofopen</a:t>
            </a:r>
            <a:r>
              <a:rPr lang="en-US" altLang="zh-CN" sz="2200" b="1" dirty="0">
                <a:solidFill>
                  <a:srgbClr val="0000FF"/>
                </a:solidFill>
                <a:latin typeface="+mn-ea"/>
              </a:rPr>
              <a:t>()</a:t>
            </a:r>
          </a:p>
          <a:p>
            <a:pPr marL="228577" indent="-228577" defTabSz="914309" fontAlgn="auto">
              <a:lnSpc>
                <a:spcPct val="80000"/>
              </a:lnSpc>
              <a:spcAft>
                <a:spcPts val="0"/>
              </a:spcAft>
              <a:buFontTx/>
              <a:buNone/>
              <a:defRPr/>
            </a:pPr>
            <a:r>
              <a:rPr lang="en-US" altLang="zh-CN" sz="2200" b="1" dirty="0">
                <a:solidFill>
                  <a:srgbClr val="0000FF"/>
                </a:solidFill>
                <a:latin typeface="+mn-ea"/>
              </a:rPr>
              <a:t>{</a:t>
            </a:r>
          </a:p>
          <a:p>
            <a:pPr marL="228577" indent="-228577" defTabSz="914309" fontAlgn="auto">
              <a:lnSpc>
                <a:spcPct val="80000"/>
              </a:lnSpc>
              <a:spcAft>
                <a:spcPts val="0"/>
              </a:spcAft>
              <a:buFontTx/>
              <a:buNone/>
              <a:defRPr/>
            </a:pPr>
            <a:r>
              <a:rPr lang="en-US" altLang="zh-CN" sz="2200" b="1" dirty="0">
                <a:solidFill>
                  <a:srgbClr val="0000FF"/>
                </a:solidFill>
                <a:latin typeface="+mn-ea"/>
              </a:rPr>
              <a:t>	int u;</a:t>
            </a:r>
          </a:p>
          <a:p>
            <a:pPr marL="228577" indent="-228577" defTabSz="914309" fontAlgn="auto">
              <a:lnSpc>
                <a:spcPct val="80000"/>
              </a:lnSpc>
              <a:spcAft>
                <a:spcPts val="0"/>
              </a:spcAft>
              <a:buFontTx/>
              <a:buNone/>
              <a:defRPr/>
            </a:pPr>
            <a:r>
              <a:rPr lang="en-US" altLang="zh-CN" sz="2200" b="1" dirty="0">
                <a:solidFill>
                  <a:srgbClr val="0000FF"/>
                </a:solidFill>
                <a:latin typeface="+mn-ea"/>
              </a:rPr>
              <a:t>	if(head==tail)</a:t>
            </a:r>
          </a:p>
          <a:p>
            <a:pPr marL="228577" indent="-228577" defTabSz="914309" fontAlgn="auto">
              <a:lnSpc>
                <a:spcPct val="80000"/>
              </a:lnSpc>
              <a:spcAft>
                <a:spcPts val="0"/>
              </a:spcAft>
              <a:buFontTx/>
              <a:buNone/>
              <a:defRPr/>
            </a:pPr>
            <a:r>
              <a:rPr lang="en-US" altLang="zh-CN" sz="2200" b="1" dirty="0">
                <a:solidFill>
                  <a:srgbClr val="0000FF"/>
                </a:solidFill>
                <a:latin typeface="+mn-ea"/>
              </a:rPr>
              <a:t>	{</a:t>
            </a:r>
          </a:p>
          <a:p>
            <a:pPr marL="228577" indent="-228577" defTabSz="914309" fontAlgn="auto">
              <a:lnSpc>
                <a:spcPct val="80000"/>
              </a:lnSpc>
              <a:spcAft>
                <a:spcPts val="0"/>
              </a:spcAft>
              <a:buFontTx/>
              <a:buNone/>
              <a:defRPr/>
            </a:pPr>
            <a:r>
              <a:rPr lang="en-US" altLang="zh-CN" sz="2200" b="1" dirty="0">
                <a:solidFill>
                  <a:srgbClr val="0000FF"/>
                </a:solidFill>
                <a:latin typeface="+mn-ea"/>
              </a:rPr>
              <a:t>		</a:t>
            </a:r>
            <a:r>
              <a:rPr lang="en-US" altLang="zh-CN" sz="2200" b="1" dirty="0" err="1">
                <a:solidFill>
                  <a:srgbClr val="0000FF"/>
                </a:solidFill>
                <a:latin typeface="+mn-ea"/>
              </a:rPr>
              <a:t>printf</a:t>
            </a:r>
            <a:r>
              <a:rPr lang="en-US" altLang="zh-CN" sz="2200" b="1" dirty="0">
                <a:solidFill>
                  <a:srgbClr val="0000FF"/>
                </a:solidFill>
                <a:latin typeface="+mn-ea"/>
              </a:rPr>
              <a:t>("error: queue is empty");</a:t>
            </a:r>
          </a:p>
          <a:p>
            <a:pPr marL="228577" indent="-228577" defTabSz="914309" fontAlgn="auto">
              <a:lnSpc>
                <a:spcPct val="80000"/>
              </a:lnSpc>
              <a:spcAft>
                <a:spcPts val="0"/>
              </a:spcAft>
              <a:buFontTx/>
              <a:buNone/>
              <a:defRPr/>
            </a:pPr>
            <a:r>
              <a:rPr lang="en-US" altLang="zh-CN" sz="2200" b="1" dirty="0">
                <a:solidFill>
                  <a:srgbClr val="0000FF"/>
                </a:solidFill>
                <a:latin typeface="+mn-ea"/>
              </a:rPr>
              <a:t>		return(-1);</a:t>
            </a:r>
          </a:p>
          <a:p>
            <a:pPr marL="228577" indent="-228577" defTabSz="914309" fontAlgn="auto">
              <a:lnSpc>
                <a:spcPct val="80000"/>
              </a:lnSpc>
              <a:spcAft>
                <a:spcPts val="0"/>
              </a:spcAft>
              <a:buFontTx/>
              <a:buNone/>
              <a:defRPr/>
            </a:pPr>
            <a:r>
              <a:rPr lang="en-US" altLang="zh-CN" sz="2200" b="1" dirty="0">
                <a:solidFill>
                  <a:srgbClr val="0000FF"/>
                </a:solidFill>
                <a:latin typeface="+mn-ea"/>
              </a:rPr>
              <a:t>	}</a:t>
            </a:r>
          </a:p>
          <a:p>
            <a:pPr marL="228577" indent="-228577" defTabSz="914309" fontAlgn="auto">
              <a:lnSpc>
                <a:spcPct val="80000"/>
              </a:lnSpc>
              <a:spcAft>
                <a:spcPts val="0"/>
              </a:spcAft>
              <a:buFontTx/>
              <a:buNone/>
              <a:defRPr/>
            </a:pPr>
            <a:r>
              <a:rPr lang="en-US" altLang="zh-CN" sz="2200" b="1" dirty="0">
                <a:solidFill>
                  <a:srgbClr val="0000FF"/>
                </a:solidFill>
                <a:latin typeface="+mn-ea"/>
              </a:rPr>
              <a:t>	u=open[head++];</a:t>
            </a:r>
          </a:p>
          <a:p>
            <a:pPr marL="228577" indent="-228577" defTabSz="914309" fontAlgn="auto">
              <a:lnSpc>
                <a:spcPct val="80000"/>
              </a:lnSpc>
              <a:spcAft>
                <a:spcPts val="0"/>
              </a:spcAft>
              <a:buFontTx/>
              <a:buNone/>
              <a:defRPr/>
            </a:pPr>
            <a:r>
              <a:rPr lang="en-US" altLang="zh-CN" sz="2200" b="1" dirty="0">
                <a:solidFill>
                  <a:srgbClr val="0000FF"/>
                </a:solidFill>
                <a:latin typeface="+mn-ea"/>
              </a:rPr>
              <a:t>	head=</a:t>
            </a:r>
            <a:r>
              <a:rPr lang="en-US" altLang="zh-CN" sz="2200" b="1" dirty="0" err="1">
                <a:solidFill>
                  <a:srgbClr val="0000FF"/>
                </a:solidFill>
                <a:latin typeface="+mn-ea"/>
              </a:rPr>
              <a:t>head%openlen</a:t>
            </a:r>
            <a:r>
              <a:rPr lang="en-US" altLang="zh-CN" sz="2200" b="1" dirty="0">
                <a:solidFill>
                  <a:srgbClr val="0000FF"/>
                </a:solidFill>
                <a:latin typeface="+mn-ea"/>
              </a:rPr>
              <a:t>;</a:t>
            </a:r>
          </a:p>
          <a:p>
            <a:pPr marL="228577" indent="-228577" defTabSz="914309" fontAlgn="auto">
              <a:lnSpc>
                <a:spcPct val="80000"/>
              </a:lnSpc>
              <a:spcAft>
                <a:spcPts val="0"/>
              </a:spcAft>
              <a:buFontTx/>
              <a:buNone/>
              <a:defRPr/>
            </a:pPr>
            <a:r>
              <a:rPr lang="en-US" altLang="zh-CN" sz="2200" b="1" dirty="0">
                <a:solidFill>
                  <a:srgbClr val="0000FF"/>
                </a:solidFill>
                <a:latin typeface="+mn-ea"/>
              </a:rPr>
              <a:t>	return(u);</a:t>
            </a:r>
          </a:p>
          <a:p>
            <a:pPr marL="228577" indent="-228577" defTabSz="914309" fontAlgn="auto">
              <a:lnSpc>
                <a:spcPct val="80000"/>
              </a:lnSpc>
              <a:spcAft>
                <a:spcPts val="0"/>
              </a:spcAft>
              <a:buFontTx/>
              <a:buNone/>
              <a:defRPr/>
            </a:pPr>
            <a:r>
              <a:rPr lang="en-US" altLang="zh-CN" sz="2200" b="1" dirty="0">
                <a:solidFill>
                  <a:srgbClr val="0000FF"/>
                </a:solidFill>
                <a:latin typeface="+mn-ea"/>
              </a:rPr>
              <a:t>}</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F4C84529-86E5-2D44-017F-CBCF182F8405}"/>
              </a:ext>
            </a:extLst>
          </p:cNvPr>
          <p:cNvSpPr txBox="1">
            <a:spLocks noChangeArrowheads="1"/>
          </p:cNvSpPr>
          <p:nvPr/>
        </p:nvSpPr>
        <p:spPr>
          <a:xfrm>
            <a:off x="118542" y="1053530"/>
            <a:ext cx="11881320" cy="4824536"/>
          </a:xfrm>
          <a:prstGeom prst="rect">
            <a:avLst/>
          </a:prstGeom>
          <a:ln w="15875">
            <a:solidFill>
              <a:schemeClr val="accent6"/>
            </a:solidFill>
          </a:ln>
        </p:spPr>
        <p:txBody>
          <a:bodyPr>
            <a:noAutofit/>
          </a:bodyPr>
          <a:lstStyle>
            <a:lvl1pPr marL="228577" indent="-228577" algn="l" defTabSz="914309"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31" indent="-228577" algn="l" defTabSz="914309"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886" indent="-228577" algn="l" defTabSz="914309"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40"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194"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80000"/>
              </a:lnSpc>
              <a:spcAft>
                <a:spcPts val="0"/>
              </a:spcAft>
              <a:buFontTx/>
              <a:buNone/>
              <a:defRPr/>
            </a:pPr>
            <a:r>
              <a:rPr lang="en-US" altLang="zh-CN" sz="2200" b="1" dirty="0">
                <a:solidFill>
                  <a:srgbClr val="0000FF"/>
                </a:solidFill>
                <a:latin typeface="+mn-ea"/>
              </a:rPr>
              <a:t>int </a:t>
            </a:r>
            <a:r>
              <a:rPr lang="en-US" altLang="zh-CN" sz="2200" b="1" dirty="0" err="1">
                <a:solidFill>
                  <a:srgbClr val="0000FF"/>
                </a:solidFill>
                <a:latin typeface="+mn-ea"/>
              </a:rPr>
              <a:t>canmoveto</a:t>
            </a:r>
            <a:r>
              <a:rPr lang="en-US" altLang="zh-CN" sz="2200" b="1" dirty="0">
                <a:solidFill>
                  <a:srgbClr val="0000FF"/>
                </a:solidFill>
                <a:latin typeface="+mn-ea"/>
              </a:rPr>
              <a:t>(int row, int col, int *p, int *q, int direction)</a:t>
            </a:r>
          </a:p>
          <a:p>
            <a:pPr fontAlgn="auto">
              <a:lnSpc>
                <a:spcPct val="80000"/>
              </a:lnSpc>
              <a:spcAft>
                <a:spcPts val="0"/>
              </a:spcAft>
              <a:buFontTx/>
              <a:buNone/>
              <a:defRPr/>
            </a:pPr>
            <a:r>
              <a:rPr lang="en-US" altLang="zh-CN" sz="2200" b="1" dirty="0">
                <a:solidFill>
                  <a:srgbClr val="0000FF"/>
                </a:solidFill>
                <a:latin typeface="+mn-ea"/>
              </a:rPr>
              <a:t>{	int r, c; r=row;	c=col;</a:t>
            </a:r>
          </a:p>
          <a:p>
            <a:pPr fontAlgn="auto">
              <a:lnSpc>
                <a:spcPct val="80000"/>
              </a:lnSpc>
              <a:spcAft>
                <a:spcPts val="0"/>
              </a:spcAft>
              <a:buFontTx/>
              <a:buNone/>
              <a:defRPr/>
            </a:pPr>
            <a:r>
              <a:rPr lang="en-US" altLang="zh-CN" sz="2200" b="1" dirty="0">
                <a:solidFill>
                  <a:srgbClr val="0000FF"/>
                </a:solidFill>
                <a:latin typeface="+mn-ea"/>
              </a:rPr>
              <a:t>	switch(direction)</a:t>
            </a:r>
          </a:p>
          <a:p>
            <a:pPr fontAlgn="auto">
              <a:lnSpc>
                <a:spcPct val="80000"/>
              </a:lnSpc>
              <a:spcAft>
                <a:spcPts val="0"/>
              </a:spcAft>
              <a:buFontTx/>
              <a:buNone/>
              <a:defRPr/>
            </a:pPr>
            <a:r>
              <a:rPr lang="en-US" altLang="zh-CN" sz="2200" b="1" dirty="0">
                <a:solidFill>
                  <a:srgbClr val="0000FF"/>
                </a:solidFill>
                <a:latin typeface="+mn-ea"/>
              </a:rPr>
              <a:t>	{	case 0: c--;            //</a:t>
            </a:r>
            <a:r>
              <a:rPr lang="zh-CN" altLang="en-US" sz="2200" b="1" dirty="0">
                <a:solidFill>
                  <a:srgbClr val="0000FF"/>
                </a:solidFill>
                <a:latin typeface="+mn-ea"/>
              </a:rPr>
              <a:t>左</a:t>
            </a:r>
          </a:p>
          <a:p>
            <a:pPr fontAlgn="auto">
              <a:lnSpc>
                <a:spcPct val="80000"/>
              </a:lnSpc>
              <a:spcAft>
                <a:spcPts val="0"/>
              </a:spcAft>
              <a:buFontTx/>
              <a:buNone/>
              <a:defRPr/>
            </a:pPr>
            <a:r>
              <a:rPr lang="zh-CN" altLang="en-US" sz="2200" b="1" dirty="0">
                <a:solidFill>
                  <a:srgbClr val="0000FF"/>
                </a:solidFill>
                <a:latin typeface="+mn-ea"/>
              </a:rPr>
              <a:t>		</a:t>
            </a:r>
            <a:r>
              <a:rPr lang="en-US" altLang="zh-CN" sz="2200" b="1" dirty="0">
                <a:solidFill>
                  <a:srgbClr val="0000FF"/>
                </a:solidFill>
                <a:latin typeface="+mn-ea"/>
              </a:rPr>
              <a:t>break;</a:t>
            </a:r>
          </a:p>
          <a:p>
            <a:pPr fontAlgn="auto">
              <a:lnSpc>
                <a:spcPct val="80000"/>
              </a:lnSpc>
              <a:spcAft>
                <a:spcPts val="0"/>
              </a:spcAft>
              <a:buFontTx/>
              <a:buNone/>
              <a:defRPr/>
            </a:pPr>
            <a:r>
              <a:rPr lang="en-US" altLang="zh-CN" sz="2200" b="1" dirty="0">
                <a:solidFill>
                  <a:srgbClr val="0000FF"/>
                </a:solidFill>
                <a:latin typeface="+mn-ea"/>
              </a:rPr>
              <a:t>		case 1: r++;           //</a:t>
            </a:r>
            <a:r>
              <a:rPr lang="zh-CN" altLang="en-US" sz="2200" b="1" dirty="0">
                <a:solidFill>
                  <a:srgbClr val="0000FF"/>
                </a:solidFill>
                <a:latin typeface="+mn-ea"/>
              </a:rPr>
              <a:t>下</a:t>
            </a:r>
          </a:p>
          <a:p>
            <a:pPr fontAlgn="auto">
              <a:lnSpc>
                <a:spcPct val="80000"/>
              </a:lnSpc>
              <a:spcAft>
                <a:spcPts val="0"/>
              </a:spcAft>
              <a:buFontTx/>
              <a:buNone/>
              <a:defRPr/>
            </a:pPr>
            <a:r>
              <a:rPr lang="zh-CN" altLang="en-US" sz="2200" b="1" dirty="0">
                <a:solidFill>
                  <a:srgbClr val="0000FF"/>
                </a:solidFill>
                <a:latin typeface="+mn-ea"/>
              </a:rPr>
              <a:t>		</a:t>
            </a:r>
            <a:r>
              <a:rPr lang="en-US" altLang="zh-CN" sz="2200" b="1" dirty="0">
                <a:solidFill>
                  <a:srgbClr val="0000FF"/>
                </a:solidFill>
                <a:latin typeface="+mn-ea"/>
              </a:rPr>
              <a:t>break;</a:t>
            </a:r>
          </a:p>
          <a:p>
            <a:pPr fontAlgn="auto">
              <a:lnSpc>
                <a:spcPct val="80000"/>
              </a:lnSpc>
              <a:spcAft>
                <a:spcPts val="0"/>
              </a:spcAft>
              <a:buFontTx/>
              <a:buNone/>
              <a:defRPr/>
            </a:pPr>
            <a:r>
              <a:rPr lang="en-US" altLang="zh-CN" sz="2200" b="1" dirty="0">
                <a:solidFill>
                  <a:srgbClr val="0000FF"/>
                </a:solidFill>
                <a:latin typeface="+mn-ea"/>
              </a:rPr>
              <a:t>		case 2: </a:t>
            </a:r>
            <a:r>
              <a:rPr lang="en-US" altLang="zh-CN" sz="2200" b="1" dirty="0" err="1">
                <a:solidFill>
                  <a:srgbClr val="0000FF"/>
                </a:solidFill>
                <a:latin typeface="+mn-ea"/>
              </a:rPr>
              <a:t>c++</a:t>
            </a:r>
            <a:r>
              <a:rPr lang="en-US" altLang="zh-CN" sz="2200" b="1" dirty="0">
                <a:solidFill>
                  <a:srgbClr val="0000FF"/>
                </a:solidFill>
                <a:latin typeface="+mn-ea"/>
              </a:rPr>
              <a:t>;           //</a:t>
            </a:r>
            <a:r>
              <a:rPr lang="zh-CN" altLang="en-US" sz="2200" b="1" dirty="0">
                <a:solidFill>
                  <a:srgbClr val="0000FF"/>
                </a:solidFill>
                <a:latin typeface="+mn-ea"/>
              </a:rPr>
              <a:t>右</a:t>
            </a:r>
          </a:p>
          <a:p>
            <a:pPr fontAlgn="auto">
              <a:lnSpc>
                <a:spcPct val="80000"/>
              </a:lnSpc>
              <a:spcAft>
                <a:spcPts val="0"/>
              </a:spcAft>
              <a:buFontTx/>
              <a:buNone/>
              <a:defRPr/>
            </a:pPr>
            <a:r>
              <a:rPr lang="zh-CN" altLang="en-US" sz="2200" b="1" dirty="0">
                <a:solidFill>
                  <a:srgbClr val="0000FF"/>
                </a:solidFill>
                <a:latin typeface="+mn-ea"/>
              </a:rPr>
              <a:t>		</a:t>
            </a:r>
            <a:r>
              <a:rPr lang="en-US" altLang="zh-CN" sz="2200" b="1" dirty="0">
                <a:solidFill>
                  <a:srgbClr val="0000FF"/>
                </a:solidFill>
                <a:latin typeface="+mn-ea"/>
              </a:rPr>
              <a:t>break;</a:t>
            </a:r>
          </a:p>
          <a:p>
            <a:pPr fontAlgn="auto">
              <a:lnSpc>
                <a:spcPct val="80000"/>
              </a:lnSpc>
              <a:spcAft>
                <a:spcPts val="0"/>
              </a:spcAft>
              <a:buFontTx/>
              <a:buNone/>
              <a:defRPr/>
            </a:pPr>
            <a:r>
              <a:rPr lang="en-US" altLang="zh-CN" sz="2200" b="1" dirty="0">
                <a:solidFill>
                  <a:srgbClr val="0000FF"/>
                </a:solidFill>
                <a:latin typeface="+mn-ea"/>
              </a:rPr>
              <a:t>		case 3: r--;            //</a:t>
            </a:r>
            <a:r>
              <a:rPr lang="zh-CN" altLang="en-US" sz="2200" b="1" dirty="0">
                <a:solidFill>
                  <a:srgbClr val="0000FF"/>
                </a:solidFill>
                <a:latin typeface="+mn-ea"/>
              </a:rPr>
              <a:t>上</a:t>
            </a:r>
            <a:endParaRPr lang="en-US" altLang="zh-CN" sz="2200" b="1" dirty="0">
              <a:solidFill>
                <a:srgbClr val="0000FF"/>
              </a:solidFill>
              <a:latin typeface="+mn-ea"/>
            </a:endParaRPr>
          </a:p>
          <a:p>
            <a:pPr fontAlgn="auto">
              <a:lnSpc>
                <a:spcPct val="80000"/>
              </a:lnSpc>
              <a:spcAft>
                <a:spcPts val="0"/>
              </a:spcAft>
              <a:buFontTx/>
              <a:buNone/>
              <a:defRPr/>
            </a:pPr>
            <a:r>
              <a:rPr lang="en-US" altLang="zh-CN" sz="2200" b="1" dirty="0">
                <a:solidFill>
                  <a:srgbClr val="0000FF"/>
                </a:solidFill>
                <a:latin typeface="+mn-ea"/>
              </a:rPr>
              <a:t>             break</a:t>
            </a:r>
            <a:r>
              <a:rPr lang="zh-CN" altLang="en-US" sz="2200" b="1" dirty="0">
                <a:solidFill>
                  <a:srgbClr val="0000FF"/>
                </a:solidFill>
                <a:latin typeface="+mn-ea"/>
              </a:rPr>
              <a:t>；</a:t>
            </a:r>
          </a:p>
          <a:p>
            <a:pPr fontAlgn="auto">
              <a:lnSpc>
                <a:spcPct val="80000"/>
              </a:lnSpc>
              <a:spcAft>
                <a:spcPts val="0"/>
              </a:spcAft>
              <a:buFontTx/>
              <a:buNone/>
              <a:defRPr/>
            </a:pPr>
            <a:r>
              <a:rPr lang="zh-CN" altLang="en-US" sz="2200" b="1" dirty="0">
                <a:solidFill>
                  <a:srgbClr val="0000FF"/>
                </a:solidFill>
                <a:latin typeface="+mn-ea"/>
              </a:rPr>
              <a:t>	</a:t>
            </a:r>
            <a:r>
              <a:rPr lang="en-US" altLang="zh-CN" sz="2200" b="1" dirty="0">
                <a:solidFill>
                  <a:srgbClr val="0000FF"/>
                </a:solidFill>
                <a:latin typeface="+mn-ea"/>
              </a:rPr>
              <a:t>}</a:t>
            </a:r>
          </a:p>
          <a:p>
            <a:pPr fontAlgn="auto">
              <a:lnSpc>
                <a:spcPct val="80000"/>
              </a:lnSpc>
              <a:spcAft>
                <a:spcPts val="0"/>
              </a:spcAft>
              <a:buFontTx/>
              <a:buNone/>
              <a:defRPr/>
            </a:pPr>
            <a:r>
              <a:rPr lang="en-US" altLang="zh-CN" sz="2100" b="1" dirty="0">
                <a:solidFill>
                  <a:srgbClr val="0000FF"/>
                </a:solidFill>
                <a:latin typeface="+mn-ea"/>
              </a:rPr>
              <a:t>	</a:t>
            </a:r>
          </a:p>
        </p:txBody>
      </p:sp>
      <p:sp>
        <p:nvSpPr>
          <p:cNvPr id="4" name="文本框 3">
            <a:extLst>
              <a:ext uri="{FF2B5EF4-FFF2-40B4-BE49-F238E27FC236}">
                <a16:creationId xmlns:a16="http://schemas.microsoft.com/office/drawing/2014/main" id="{DFBD3B52-945E-1745-2C71-2EF839AD2844}"/>
              </a:ext>
            </a:extLst>
          </p:cNvPr>
          <p:cNvSpPr txBox="1"/>
          <p:nvPr/>
        </p:nvSpPr>
        <p:spPr>
          <a:xfrm>
            <a:off x="6743278" y="1053530"/>
            <a:ext cx="5256584" cy="2811667"/>
          </a:xfrm>
          <a:prstGeom prst="rect">
            <a:avLst/>
          </a:prstGeom>
          <a:noFill/>
        </p:spPr>
        <p:txBody>
          <a:bodyPr wrap="square">
            <a:spAutoFit/>
          </a:bodyPr>
          <a:lstStyle/>
          <a:p>
            <a:pPr fontAlgn="auto">
              <a:lnSpc>
                <a:spcPct val="80000"/>
              </a:lnSpc>
              <a:spcAft>
                <a:spcPts val="0"/>
              </a:spcAft>
              <a:buFontTx/>
              <a:buNone/>
              <a:defRPr/>
            </a:pPr>
            <a:r>
              <a:rPr lang="en-US" altLang="zh-CN" sz="2200" b="1" dirty="0">
                <a:solidFill>
                  <a:srgbClr val="0000FF"/>
                </a:solidFill>
                <a:latin typeface="+mn-ea"/>
              </a:rPr>
              <a:t>*p=r;</a:t>
            </a:r>
          </a:p>
          <a:p>
            <a:pPr fontAlgn="auto">
              <a:lnSpc>
                <a:spcPct val="80000"/>
              </a:lnSpc>
              <a:spcAft>
                <a:spcPts val="0"/>
              </a:spcAft>
              <a:buFontTx/>
              <a:buNone/>
              <a:defRPr/>
            </a:pPr>
            <a:r>
              <a:rPr lang="en-US" altLang="zh-CN" sz="2200" b="1" dirty="0">
                <a:solidFill>
                  <a:srgbClr val="0000FF"/>
                </a:solidFill>
                <a:latin typeface="+mn-ea"/>
              </a:rPr>
              <a:t>*q=c;</a:t>
            </a:r>
          </a:p>
          <a:p>
            <a:pPr fontAlgn="auto">
              <a:lnSpc>
                <a:spcPct val="80000"/>
              </a:lnSpc>
              <a:spcAft>
                <a:spcPts val="0"/>
              </a:spcAft>
              <a:buFontTx/>
              <a:buNone/>
              <a:defRPr/>
            </a:pPr>
            <a:r>
              <a:rPr lang="en-US" altLang="zh-CN" sz="2200" b="1" dirty="0">
                <a:solidFill>
                  <a:srgbClr val="0000FF"/>
                </a:solidFill>
                <a:latin typeface="+mn-ea"/>
              </a:rPr>
              <a:t>	if(r&lt;0||r&gt;=n||c&lt;0||c&gt;=n)   </a:t>
            </a:r>
          </a:p>
          <a:p>
            <a:pPr fontAlgn="auto">
              <a:lnSpc>
                <a:spcPct val="80000"/>
              </a:lnSpc>
              <a:spcAft>
                <a:spcPts val="0"/>
              </a:spcAft>
              <a:buFontTx/>
              <a:buNone/>
              <a:defRPr/>
            </a:pPr>
            <a:r>
              <a:rPr lang="en-US" altLang="zh-CN" sz="2200" b="1" dirty="0">
                <a:solidFill>
                  <a:srgbClr val="0000FF"/>
                </a:solidFill>
                <a:latin typeface="+mn-ea"/>
              </a:rPr>
              <a:t>//</a:t>
            </a:r>
            <a:r>
              <a:rPr lang="zh-CN" altLang="en-US" sz="2200" b="1" dirty="0">
                <a:solidFill>
                  <a:srgbClr val="0000FF"/>
                </a:solidFill>
                <a:latin typeface="+mn-ea"/>
              </a:rPr>
              <a:t>如果越界返回</a:t>
            </a:r>
            <a:r>
              <a:rPr lang="en-US" altLang="zh-CN" sz="2200" b="1" dirty="0">
                <a:solidFill>
                  <a:srgbClr val="0000FF"/>
                </a:solidFill>
                <a:latin typeface="+mn-ea"/>
              </a:rPr>
              <a:t>0</a:t>
            </a:r>
          </a:p>
          <a:p>
            <a:pPr fontAlgn="auto">
              <a:lnSpc>
                <a:spcPct val="80000"/>
              </a:lnSpc>
              <a:spcAft>
                <a:spcPts val="0"/>
              </a:spcAft>
              <a:buFontTx/>
              <a:buNone/>
              <a:defRPr/>
            </a:pPr>
            <a:r>
              <a:rPr lang="en-US" altLang="zh-CN" sz="2200" b="1" dirty="0">
                <a:solidFill>
                  <a:srgbClr val="0000FF"/>
                </a:solidFill>
                <a:latin typeface="+mn-ea"/>
              </a:rPr>
              <a:t>		return(0);</a:t>
            </a:r>
          </a:p>
          <a:p>
            <a:pPr fontAlgn="auto">
              <a:lnSpc>
                <a:spcPct val="80000"/>
              </a:lnSpc>
              <a:spcAft>
                <a:spcPts val="0"/>
              </a:spcAft>
              <a:buFontTx/>
              <a:buNone/>
              <a:defRPr/>
            </a:pPr>
            <a:r>
              <a:rPr lang="en-US" altLang="zh-CN" sz="2200" b="1" dirty="0">
                <a:solidFill>
                  <a:srgbClr val="0000FF"/>
                </a:solidFill>
                <a:latin typeface="+mn-ea"/>
              </a:rPr>
              <a:t>	if(a[r][c]==0)           </a:t>
            </a:r>
          </a:p>
          <a:p>
            <a:pPr fontAlgn="auto">
              <a:lnSpc>
                <a:spcPct val="80000"/>
              </a:lnSpc>
              <a:spcAft>
                <a:spcPts val="0"/>
              </a:spcAft>
              <a:buFontTx/>
              <a:buNone/>
              <a:defRPr/>
            </a:pPr>
            <a:r>
              <a:rPr lang="en-US" altLang="zh-CN" sz="2200" b="1" dirty="0">
                <a:solidFill>
                  <a:srgbClr val="0000FF"/>
                </a:solidFill>
                <a:latin typeface="+mn-ea"/>
              </a:rPr>
              <a:t>//</a:t>
            </a:r>
            <a:r>
              <a:rPr lang="zh-CN" altLang="en-US" sz="2200" b="1" dirty="0">
                <a:solidFill>
                  <a:srgbClr val="0000FF"/>
                </a:solidFill>
                <a:latin typeface="+mn-ea"/>
              </a:rPr>
              <a:t>如果是空格返回</a:t>
            </a:r>
            <a:r>
              <a:rPr lang="en-US" altLang="zh-CN" sz="2200" b="1" dirty="0">
                <a:solidFill>
                  <a:srgbClr val="0000FF"/>
                </a:solidFill>
                <a:latin typeface="+mn-ea"/>
              </a:rPr>
              <a:t>1</a:t>
            </a:r>
          </a:p>
          <a:p>
            <a:pPr fontAlgn="auto">
              <a:lnSpc>
                <a:spcPct val="80000"/>
              </a:lnSpc>
              <a:spcAft>
                <a:spcPts val="0"/>
              </a:spcAft>
              <a:buFontTx/>
              <a:buNone/>
              <a:defRPr/>
            </a:pPr>
            <a:r>
              <a:rPr lang="en-US" altLang="zh-CN" sz="2200" b="1" dirty="0">
                <a:solidFill>
                  <a:srgbClr val="0000FF"/>
                </a:solidFill>
                <a:latin typeface="+mn-ea"/>
              </a:rPr>
              <a:t>		return(1);</a:t>
            </a:r>
          </a:p>
          <a:p>
            <a:pPr fontAlgn="auto">
              <a:lnSpc>
                <a:spcPct val="80000"/>
              </a:lnSpc>
              <a:spcAft>
                <a:spcPts val="0"/>
              </a:spcAft>
              <a:buFontTx/>
              <a:buNone/>
              <a:defRPr/>
            </a:pPr>
            <a:r>
              <a:rPr lang="en-US" altLang="zh-CN" sz="2200" b="1" dirty="0">
                <a:solidFill>
                  <a:srgbClr val="0000FF"/>
                </a:solidFill>
                <a:latin typeface="+mn-ea"/>
              </a:rPr>
              <a:t>	return(0);              //</a:t>
            </a:r>
            <a:r>
              <a:rPr lang="zh-CN" altLang="en-US" sz="2200" b="1" dirty="0">
                <a:solidFill>
                  <a:srgbClr val="0000FF"/>
                </a:solidFill>
                <a:latin typeface="+mn-ea"/>
              </a:rPr>
              <a:t>其余情况返回</a:t>
            </a:r>
            <a:r>
              <a:rPr lang="en-US" altLang="zh-CN" sz="2200" b="1" dirty="0">
                <a:solidFill>
                  <a:srgbClr val="0000FF"/>
                </a:solidFill>
                <a:latin typeface="+mn-ea"/>
              </a:rPr>
              <a:t>0</a:t>
            </a:r>
          </a:p>
          <a:p>
            <a:pPr fontAlgn="auto">
              <a:lnSpc>
                <a:spcPct val="80000"/>
              </a:lnSpc>
              <a:spcAft>
                <a:spcPts val="0"/>
              </a:spcAft>
              <a:buFontTx/>
              <a:buNone/>
              <a:defRPr/>
            </a:pPr>
            <a:r>
              <a:rPr lang="en-US" altLang="zh-CN" sz="2200" b="1" dirty="0">
                <a:solidFill>
                  <a:srgbClr val="0000FF"/>
                </a:solidFill>
                <a:latin typeface="+mn-ea"/>
              </a:rPr>
              <a:t>}</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15EC734A-AC70-7E99-F00B-E051D47712B7}"/>
              </a:ext>
            </a:extLst>
          </p:cNvPr>
          <p:cNvSpPr>
            <a:spLocks noGrp="1" noChangeArrowheads="1"/>
          </p:cNvSpPr>
          <p:nvPr>
            <p:ph type="body" idx="4294967295"/>
          </p:nvPr>
        </p:nvSpPr>
        <p:spPr>
          <a:xfrm>
            <a:off x="910630" y="1197546"/>
            <a:ext cx="3960440" cy="2994666"/>
          </a:xfrm>
          <a:ln w="15875">
            <a:solidFill>
              <a:schemeClr val="accent6"/>
            </a:solidFill>
          </a:ln>
        </p:spPr>
        <p:txBody>
          <a:bodyPr>
            <a:normAutofit/>
          </a:bodyPr>
          <a:lstStyle/>
          <a:p>
            <a:pPr eaLnBrk="1" hangingPunct="1">
              <a:buFontTx/>
              <a:buNone/>
            </a:pPr>
            <a:r>
              <a:rPr lang="en-US" altLang="zh-CN" sz="2200" b="1" dirty="0">
                <a:solidFill>
                  <a:srgbClr val="0000FF"/>
                </a:solidFill>
                <a:latin typeface="+mn-ea"/>
              </a:rPr>
              <a:t>int </a:t>
            </a:r>
            <a:r>
              <a:rPr lang="en-US" altLang="zh-CN" sz="2200" b="1" dirty="0" err="1">
                <a:solidFill>
                  <a:srgbClr val="0000FF"/>
                </a:solidFill>
                <a:latin typeface="+mn-ea"/>
              </a:rPr>
              <a:t>isaim</a:t>
            </a:r>
            <a:r>
              <a:rPr lang="en-US" altLang="zh-CN" sz="2200" b="1" dirty="0">
                <a:solidFill>
                  <a:srgbClr val="0000FF"/>
                </a:solidFill>
                <a:latin typeface="+mn-ea"/>
              </a:rPr>
              <a:t>(int row, int col)</a:t>
            </a:r>
          </a:p>
          <a:p>
            <a:pPr eaLnBrk="1" hangingPunct="1">
              <a:buFontTx/>
              <a:buNone/>
            </a:pPr>
            <a:r>
              <a:rPr lang="en-US" altLang="zh-CN" sz="2200" b="1" dirty="0">
                <a:solidFill>
                  <a:srgbClr val="0000FF"/>
                </a:solidFill>
                <a:latin typeface="+mn-ea"/>
              </a:rPr>
              <a:t>{</a:t>
            </a:r>
          </a:p>
          <a:p>
            <a:pPr eaLnBrk="1" hangingPunct="1">
              <a:buFontTx/>
              <a:buNone/>
            </a:pPr>
            <a:r>
              <a:rPr lang="en-US" altLang="zh-CN" sz="2200" b="1" dirty="0">
                <a:solidFill>
                  <a:srgbClr val="0000FF"/>
                </a:solidFill>
                <a:latin typeface="+mn-ea"/>
              </a:rPr>
              <a:t>	if(row*</a:t>
            </a:r>
            <a:r>
              <a:rPr lang="en-US" altLang="zh-CN" sz="2200" b="1" dirty="0" err="1">
                <a:solidFill>
                  <a:srgbClr val="0000FF"/>
                </a:solidFill>
                <a:latin typeface="+mn-ea"/>
              </a:rPr>
              <a:t>n+col</a:t>
            </a:r>
            <a:r>
              <a:rPr lang="en-US" altLang="zh-CN" sz="2200" b="1" dirty="0">
                <a:solidFill>
                  <a:srgbClr val="0000FF"/>
                </a:solidFill>
                <a:latin typeface="+mn-ea"/>
              </a:rPr>
              <a:t>==t)</a:t>
            </a:r>
          </a:p>
          <a:p>
            <a:pPr eaLnBrk="1" hangingPunct="1">
              <a:buFontTx/>
              <a:buNone/>
            </a:pPr>
            <a:r>
              <a:rPr lang="en-US" altLang="zh-CN" sz="2200" b="1" dirty="0">
                <a:solidFill>
                  <a:srgbClr val="0000FF"/>
                </a:solidFill>
                <a:latin typeface="+mn-ea"/>
              </a:rPr>
              <a:t>		return(1);</a:t>
            </a:r>
          </a:p>
          <a:p>
            <a:pPr eaLnBrk="1" hangingPunct="1">
              <a:buFontTx/>
              <a:buNone/>
            </a:pPr>
            <a:r>
              <a:rPr lang="en-US" altLang="zh-CN" sz="2200" b="1" dirty="0">
                <a:solidFill>
                  <a:srgbClr val="0000FF"/>
                </a:solidFill>
                <a:latin typeface="+mn-ea"/>
              </a:rPr>
              <a:t>	else</a:t>
            </a:r>
          </a:p>
          <a:p>
            <a:pPr eaLnBrk="1" hangingPunct="1">
              <a:buFontTx/>
              <a:buNone/>
            </a:pPr>
            <a:r>
              <a:rPr lang="en-US" altLang="zh-CN" sz="2200" b="1" dirty="0">
                <a:solidFill>
                  <a:srgbClr val="0000FF"/>
                </a:solidFill>
                <a:latin typeface="+mn-ea"/>
              </a:rPr>
              <a:t>		return(0);</a:t>
            </a:r>
          </a:p>
          <a:p>
            <a:pPr eaLnBrk="1" hangingPunct="1">
              <a:buFontTx/>
              <a:buNone/>
            </a:pPr>
            <a:r>
              <a:rPr lang="en-US" altLang="zh-CN" sz="2200" b="1" dirty="0">
                <a:solidFill>
                  <a:srgbClr val="0000FF"/>
                </a:solidFill>
                <a:latin typeface="+mn-ea"/>
              </a:rPr>
              <a:t>}</a:t>
            </a:r>
          </a:p>
        </p:txBody>
      </p:sp>
      <p:sp>
        <p:nvSpPr>
          <p:cNvPr id="3" name="文本框 2">
            <a:extLst>
              <a:ext uri="{FF2B5EF4-FFF2-40B4-BE49-F238E27FC236}">
                <a16:creationId xmlns:a16="http://schemas.microsoft.com/office/drawing/2014/main" id="{598C6229-FE50-2F86-32A4-6F2DEF5D3914}"/>
              </a:ext>
            </a:extLst>
          </p:cNvPr>
          <p:cNvSpPr txBox="1"/>
          <p:nvPr/>
        </p:nvSpPr>
        <p:spPr>
          <a:xfrm>
            <a:off x="5375126" y="1197546"/>
            <a:ext cx="4896544" cy="2994666"/>
          </a:xfrm>
          <a:prstGeom prst="rect">
            <a:avLst/>
          </a:prstGeom>
          <a:noFill/>
          <a:ln w="15875">
            <a:solidFill>
              <a:schemeClr val="accent6"/>
            </a:solidFill>
          </a:ln>
        </p:spPr>
        <p:txBody>
          <a:bodyPr wrap="square">
            <a:spAutoFit/>
          </a:bodyPr>
          <a:lstStyle/>
          <a:p>
            <a:pPr eaLnBrk="1" hangingPunct="1">
              <a:lnSpc>
                <a:spcPct val="90000"/>
              </a:lnSpc>
              <a:spcBef>
                <a:spcPts val="1000"/>
              </a:spcBef>
            </a:pPr>
            <a:r>
              <a:rPr lang="en-US" altLang="zh-CN" sz="2200" b="1" dirty="0">
                <a:solidFill>
                  <a:srgbClr val="0000FF"/>
                </a:solidFill>
                <a:latin typeface="+mn-ea"/>
              </a:rPr>
              <a:t>int used(int row, int col)</a:t>
            </a:r>
          </a:p>
          <a:p>
            <a:pPr eaLnBrk="1" hangingPunct="1">
              <a:lnSpc>
                <a:spcPct val="90000"/>
              </a:lnSpc>
              <a:spcBef>
                <a:spcPts val="1000"/>
              </a:spcBef>
            </a:pPr>
            <a:r>
              <a:rPr lang="en-US" altLang="zh-CN" sz="2200" b="1" dirty="0">
                <a:solidFill>
                  <a:srgbClr val="0000FF"/>
                </a:solidFill>
                <a:latin typeface="+mn-ea"/>
              </a:rPr>
              <a:t>{</a:t>
            </a:r>
          </a:p>
          <a:p>
            <a:pPr eaLnBrk="1" hangingPunct="1">
              <a:lnSpc>
                <a:spcPct val="90000"/>
              </a:lnSpc>
              <a:spcBef>
                <a:spcPts val="1000"/>
              </a:spcBef>
            </a:pPr>
            <a:r>
              <a:rPr lang="en-US" altLang="zh-CN" sz="2200" b="1" dirty="0">
                <a:solidFill>
                  <a:srgbClr val="0000FF"/>
                </a:solidFill>
                <a:latin typeface="+mn-ea"/>
              </a:rPr>
              <a:t>	if(a[row][col]==0)      // 0</a:t>
            </a:r>
            <a:r>
              <a:rPr lang="zh-CN" altLang="en-US" sz="2200" b="1" dirty="0">
                <a:solidFill>
                  <a:srgbClr val="0000FF"/>
                </a:solidFill>
                <a:latin typeface="+mn-ea"/>
              </a:rPr>
              <a:t>表示空格</a:t>
            </a:r>
          </a:p>
          <a:p>
            <a:pPr eaLnBrk="1" hangingPunct="1">
              <a:lnSpc>
                <a:spcPct val="90000"/>
              </a:lnSpc>
              <a:spcBef>
                <a:spcPts val="1000"/>
              </a:spcBef>
            </a:pPr>
            <a:r>
              <a:rPr lang="zh-CN" altLang="en-US" sz="2200" b="1" dirty="0">
                <a:solidFill>
                  <a:srgbClr val="0000FF"/>
                </a:solidFill>
                <a:latin typeface="+mn-ea"/>
              </a:rPr>
              <a:t>		</a:t>
            </a:r>
            <a:r>
              <a:rPr lang="en-US" altLang="zh-CN" sz="2200" b="1" dirty="0">
                <a:solidFill>
                  <a:srgbClr val="0000FF"/>
                </a:solidFill>
                <a:latin typeface="+mn-ea"/>
              </a:rPr>
              <a:t>return(0);</a:t>
            </a:r>
          </a:p>
          <a:p>
            <a:pPr eaLnBrk="1" hangingPunct="1">
              <a:lnSpc>
                <a:spcPct val="90000"/>
              </a:lnSpc>
              <a:spcBef>
                <a:spcPts val="1000"/>
              </a:spcBef>
            </a:pPr>
            <a:r>
              <a:rPr lang="en-US" altLang="zh-CN" sz="2200" b="1" dirty="0">
                <a:solidFill>
                  <a:srgbClr val="0000FF"/>
                </a:solidFill>
                <a:latin typeface="+mn-ea"/>
              </a:rPr>
              <a:t>	else</a:t>
            </a:r>
          </a:p>
          <a:p>
            <a:pPr eaLnBrk="1" hangingPunct="1">
              <a:lnSpc>
                <a:spcPct val="90000"/>
              </a:lnSpc>
              <a:spcBef>
                <a:spcPts val="1000"/>
              </a:spcBef>
            </a:pPr>
            <a:r>
              <a:rPr lang="en-US" altLang="zh-CN" sz="2200" b="1" dirty="0">
                <a:solidFill>
                  <a:srgbClr val="0000FF"/>
                </a:solidFill>
                <a:latin typeface="+mn-ea"/>
              </a:rPr>
              <a:t>		return(1);</a:t>
            </a:r>
          </a:p>
          <a:p>
            <a:pPr eaLnBrk="1" hangingPunct="1">
              <a:lnSpc>
                <a:spcPct val="90000"/>
              </a:lnSpc>
              <a:spcBef>
                <a:spcPts val="1000"/>
              </a:spcBef>
            </a:pPr>
            <a:r>
              <a:rPr lang="en-US" altLang="zh-CN" sz="2200" b="1" dirty="0">
                <a:solidFill>
                  <a:srgbClr val="0000FF"/>
                </a:solidFill>
                <a:latin typeface="+mn-ea"/>
              </a:rPr>
              <a:t>}</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0275D770-0BEF-970F-E401-833B9E70CEF6}"/>
              </a:ext>
            </a:extLst>
          </p:cNvPr>
          <p:cNvSpPr>
            <a:spLocks noGrp="1" noChangeArrowheads="1"/>
          </p:cNvSpPr>
          <p:nvPr>
            <p:ph type="body" idx="4294967295"/>
          </p:nvPr>
        </p:nvSpPr>
        <p:spPr>
          <a:xfrm>
            <a:off x="982638" y="1197546"/>
            <a:ext cx="3816424" cy="2921496"/>
          </a:xfrm>
          <a:ln w="15875">
            <a:solidFill>
              <a:schemeClr val="accent6"/>
            </a:solidFill>
          </a:ln>
        </p:spPr>
        <p:txBody>
          <a:bodyPr>
            <a:normAutofit/>
          </a:bodyPr>
          <a:lstStyle/>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void </a:t>
            </a:r>
            <a:r>
              <a:rPr lang="en-US" altLang="zh-CN" sz="2200" b="1" dirty="0" err="1">
                <a:solidFill>
                  <a:srgbClr val="0000FF"/>
                </a:solidFill>
                <a:latin typeface="华文楷体" panose="02010600040101010101" pitchFamily="2" charset="-122"/>
                <a:ea typeface="华文楷体" panose="02010600040101010101" pitchFamily="2" charset="-122"/>
              </a:rPr>
              <a:t>addtoopen</a:t>
            </a:r>
            <a:r>
              <a:rPr lang="en-US" altLang="zh-CN" sz="2200" b="1" dirty="0">
                <a:solidFill>
                  <a:srgbClr val="0000FF"/>
                </a:solidFill>
                <a:latin typeface="华文楷体" panose="02010600040101010101" pitchFamily="2" charset="-122"/>
                <a:ea typeface="华文楷体" panose="02010600040101010101" pitchFamily="2" charset="-122"/>
              </a:rPr>
              <a:t>(int row, int col)</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	int u;</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	u=row*</a:t>
            </a:r>
            <a:r>
              <a:rPr lang="en-US" altLang="zh-CN" sz="2200" b="1" dirty="0" err="1">
                <a:solidFill>
                  <a:srgbClr val="0000FF"/>
                </a:solidFill>
                <a:latin typeface="华文楷体" panose="02010600040101010101" pitchFamily="2" charset="-122"/>
                <a:ea typeface="华文楷体" panose="02010600040101010101" pitchFamily="2" charset="-122"/>
              </a:rPr>
              <a:t>n+col</a:t>
            </a:r>
            <a:r>
              <a:rPr lang="en-US" altLang="zh-CN" sz="2200" b="1" dirty="0">
                <a:solidFill>
                  <a:srgbClr val="0000FF"/>
                </a:solidFill>
                <a:latin typeface="华文楷体" panose="02010600040101010101" pitchFamily="2" charset="-122"/>
                <a:ea typeface="华文楷体" panose="02010600040101010101" pitchFamily="2" charset="-122"/>
              </a:rPr>
              <a:t>;</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	open[tail++]= u;</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	tail=</a:t>
            </a:r>
            <a:r>
              <a:rPr lang="en-US" altLang="zh-CN" sz="2200" b="1" dirty="0" err="1">
                <a:solidFill>
                  <a:srgbClr val="0000FF"/>
                </a:solidFill>
                <a:latin typeface="华文楷体" panose="02010600040101010101" pitchFamily="2" charset="-122"/>
                <a:ea typeface="华文楷体" panose="02010600040101010101" pitchFamily="2" charset="-122"/>
              </a:rPr>
              <a:t>tail%openlen</a:t>
            </a:r>
            <a:r>
              <a:rPr lang="en-US" altLang="zh-CN" sz="2200" b="1" dirty="0">
                <a:solidFill>
                  <a:srgbClr val="0000FF"/>
                </a:solidFill>
                <a:latin typeface="华文楷体" panose="02010600040101010101" pitchFamily="2" charset="-122"/>
                <a:ea typeface="华文楷体" panose="02010600040101010101" pitchFamily="2" charset="-122"/>
              </a:rPr>
              <a:t>;</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a:t>
            </a:r>
          </a:p>
        </p:txBody>
      </p:sp>
      <p:sp>
        <p:nvSpPr>
          <p:cNvPr id="2" name="Rectangle 3">
            <a:extLst>
              <a:ext uri="{FF2B5EF4-FFF2-40B4-BE49-F238E27FC236}">
                <a16:creationId xmlns:a16="http://schemas.microsoft.com/office/drawing/2014/main" id="{E1374B81-33C2-A80A-9C1C-3743F6137672}"/>
              </a:ext>
            </a:extLst>
          </p:cNvPr>
          <p:cNvSpPr txBox="1">
            <a:spLocks noChangeArrowheads="1"/>
          </p:cNvSpPr>
          <p:nvPr/>
        </p:nvSpPr>
        <p:spPr>
          <a:xfrm>
            <a:off x="5183758" y="1201408"/>
            <a:ext cx="3096344" cy="2917634"/>
          </a:xfrm>
          <a:prstGeom prst="rect">
            <a:avLst/>
          </a:prstGeom>
          <a:ln w="15875">
            <a:solidFill>
              <a:schemeClr val="accent6"/>
            </a:solidFill>
          </a:ln>
        </p:spPr>
        <p:txBody>
          <a:bodyPr vert="horz">
            <a:normAutofit/>
          </a:bodyPr>
          <a:lstStyle>
            <a:lvl1pPr marL="342866" indent="-342866"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876" indent="-285721"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2886" indent="-228577"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040" indent="-228577"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194"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349"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503" indent="-228577"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8657" indent="-228577"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811" indent="-228577"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pPr defTabSz="914400" fontAlgn="auto">
              <a:spcAft>
                <a:spcPts val="0"/>
              </a:spcAft>
              <a:buFontTx/>
              <a:buNone/>
            </a:pPr>
            <a:r>
              <a:rPr lang="en-US" altLang="zh-CN" sz="2200" b="1" dirty="0">
                <a:solidFill>
                  <a:srgbClr val="0000FF"/>
                </a:solidFill>
                <a:latin typeface="+mn-ea"/>
              </a:rPr>
              <a:t>void </a:t>
            </a:r>
            <a:r>
              <a:rPr lang="en-US" altLang="zh-CN" sz="2200" b="1" dirty="0" err="1">
                <a:solidFill>
                  <a:srgbClr val="0000FF"/>
                </a:solidFill>
                <a:latin typeface="+mn-ea"/>
              </a:rPr>
              <a:t>init</a:t>
            </a:r>
            <a:r>
              <a:rPr lang="en-US" altLang="zh-CN" sz="2200" b="1" dirty="0">
                <a:solidFill>
                  <a:srgbClr val="0000FF"/>
                </a:solidFill>
                <a:latin typeface="+mn-ea"/>
              </a:rPr>
              <a:t>()</a:t>
            </a:r>
          </a:p>
          <a:p>
            <a:pPr defTabSz="914400" fontAlgn="auto">
              <a:spcAft>
                <a:spcPts val="0"/>
              </a:spcAft>
              <a:buFontTx/>
              <a:buNone/>
            </a:pPr>
            <a:r>
              <a:rPr lang="en-US" altLang="zh-CN" sz="2200" b="1" dirty="0">
                <a:solidFill>
                  <a:srgbClr val="0000FF"/>
                </a:solidFill>
                <a:latin typeface="+mn-ea"/>
              </a:rPr>
              <a:t>{</a:t>
            </a:r>
          </a:p>
          <a:p>
            <a:pPr defTabSz="914400" fontAlgn="auto">
              <a:spcAft>
                <a:spcPts val="0"/>
              </a:spcAft>
              <a:buFontTx/>
              <a:buNone/>
            </a:pPr>
            <a:r>
              <a:rPr lang="en-US" altLang="zh-CN" sz="2200" b="1" dirty="0">
                <a:solidFill>
                  <a:srgbClr val="0000FF"/>
                </a:solidFill>
                <a:latin typeface="+mn-ea"/>
              </a:rPr>
              <a:t>	head=0;</a:t>
            </a:r>
          </a:p>
          <a:p>
            <a:pPr defTabSz="914400" fontAlgn="auto">
              <a:spcAft>
                <a:spcPts val="0"/>
              </a:spcAft>
              <a:buFontTx/>
              <a:buNone/>
            </a:pPr>
            <a:r>
              <a:rPr lang="en-US" altLang="zh-CN" sz="2200" b="1" dirty="0">
                <a:solidFill>
                  <a:srgbClr val="0000FF"/>
                </a:solidFill>
                <a:latin typeface="+mn-ea"/>
              </a:rPr>
              <a:t>	tail=1;</a:t>
            </a:r>
          </a:p>
          <a:p>
            <a:pPr defTabSz="914400" fontAlgn="auto">
              <a:spcAft>
                <a:spcPts val="0"/>
              </a:spcAft>
              <a:buFontTx/>
              <a:buNone/>
            </a:pPr>
            <a:r>
              <a:rPr lang="en-US" altLang="zh-CN" sz="2200" b="1" dirty="0">
                <a:solidFill>
                  <a:srgbClr val="0000FF"/>
                </a:solidFill>
                <a:latin typeface="+mn-ea"/>
              </a:rPr>
              <a:t>	open[0]=s;</a:t>
            </a:r>
          </a:p>
          <a:p>
            <a:pPr defTabSz="914400" fontAlgn="auto">
              <a:spcAft>
                <a:spcPts val="0"/>
              </a:spcAft>
              <a:buFontTx/>
              <a:buNone/>
            </a:pPr>
            <a:r>
              <a:rPr lang="en-US" altLang="zh-CN" sz="2200" b="1" dirty="0">
                <a:solidFill>
                  <a:srgbClr val="0000FF"/>
                </a:solidFill>
                <a:latin typeface="+mn-ea"/>
              </a:rPr>
              <a:t>}</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B5FA8505-E413-0D6B-7819-77D14EB12CAD}"/>
              </a:ext>
            </a:extLst>
          </p:cNvPr>
          <p:cNvSpPr>
            <a:spLocks noGrp="1" noChangeArrowheads="1"/>
          </p:cNvSpPr>
          <p:nvPr>
            <p:ph type="body" idx="4294967295"/>
          </p:nvPr>
        </p:nvSpPr>
        <p:spPr>
          <a:xfrm>
            <a:off x="838622" y="1341562"/>
            <a:ext cx="8183563" cy="5259388"/>
          </a:xfrm>
        </p:spPr>
        <p:txBody>
          <a:bodyPr/>
          <a:lstStyle/>
          <a:p>
            <a:pPr marL="609600" indent="-609600" eaLnBrk="1" hangingPunct="1"/>
            <a:r>
              <a:rPr lang="zh-CN" altLang="en-US" sz="2300" b="1" dirty="0">
                <a:solidFill>
                  <a:srgbClr val="0000FF"/>
                </a:solidFill>
                <a:latin typeface="+mn-ea"/>
              </a:rPr>
              <a:t>跳马</a:t>
            </a:r>
          </a:p>
          <a:p>
            <a:pPr marL="609600" indent="-609600" eaLnBrk="1" hangingPunct="1"/>
            <a:r>
              <a:rPr lang="zh-CN" altLang="en-US" sz="2300" b="1" dirty="0">
                <a:solidFill>
                  <a:srgbClr val="0000FF"/>
                </a:solidFill>
                <a:latin typeface="+mn-ea"/>
              </a:rPr>
              <a:t>给一个</a:t>
            </a:r>
            <a:r>
              <a:rPr lang="en-US" altLang="zh-CN" sz="2300" b="1" dirty="0">
                <a:solidFill>
                  <a:srgbClr val="0000FF"/>
                </a:solidFill>
                <a:latin typeface="+mn-ea"/>
              </a:rPr>
              <a:t>200×200</a:t>
            </a:r>
            <a:r>
              <a:rPr lang="zh-CN" altLang="en-US" sz="2300" b="1" dirty="0">
                <a:solidFill>
                  <a:srgbClr val="0000FF"/>
                </a:solidFill>
                <a:latin typeface="+mn-ea"/>
              </a:rPr>
              <a:t>的棋盘，问国际象棋的马从给定的起点到给定的终点最少需要几步。</a:t>
            </a:r>
          </a:p>
        </p:txBody>
      </p:sp>
      <p:sp>
        <p:nvSpPr>
          <p:cNvPr id="2" name="基础扎实 / Strong Preparation">
            <a:extLst>
              <a:ext uri="{FF2B5EF4-FFF2-40B4-BE49-F238E27FC236}">
                <a16:creationId xmlns:a16="http://schemas.microsoft.com/office/drawing/2014/main" id="{FCE39A20-5907-2065-13CC-542929AC5CE1}"/>
              </a:ext>
            </a:extLst>
          </p:cNvPr>
          <p:cNvSpPr txBox="1"/>
          <p:nvPr/>
        </p:nvSpPr>
        <p:spPr>
          <a:xfrm>
            <a:off x="2603627" y="367980"/>
            <a:ext cx="5870237" cy="561660"/>
          </a:xfrm>
          <a:prstGeom prst="rect">
            <a:avLst/>
          </a:prstGeom>
          <a:noFill/>
          <a:ln>
            <a:noFill/>
          </a:ln>
        </p:spPr>
        <p:txBody>
          <a:bodyPr wrap="square" lIns="68549" tIns="34274" rIns="68549" bIns="34274" rtlCol="0">
            <a:spAutoFit/>
          </a:bodyPr>
          <a:lstStyle/>
          <a:p>
            <a:pPr marL="0" marR="0" lvl="0" indent="0" algn="ctr" defTabSz="950595" rtl="0" eaLnBrk="1" fontAlgn="auto" latinLnBrk="0" hangingPunct="1">
              <a:lnSpc>
                <a:spcPct val="100000"/>
              </a:lnSpc>
              <a:spcBef>
                <a:spcPts val="0"/>
              </a:spcBef>
              <a:spcAft>
                <a:spcPts val="0"/>
              </a:spcAft>
              <a:buClr>
                <a:prstClr val="white"/>
              </a:buClr>
              <a:buSzTx/>
              <a:buFontTx/>
              <a:buNone/>
              <a:tabLst/>
              <a:defRPr/>
            </a:pPr>
            <a:r>
              <a:rPr lang="en-US" altLang="zh-CN" sz="3200"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4</a:t>
            </a:r>
            <a:r>
              <a:rPr kumimoji="0" lang="zh-CN" altLang="en-US"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a:t>
            </a:r>
            <a:r>
              <a:rPr kumimoji="0" lang="en-US" altLang="zh-CN"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3</a:t>
            </a:r>
            <a:r>
              <a:rPr kumimoji="0" lang="zh-CN" altLang="en-US"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 跳马问题</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321AEBAF-CBA8-9EA0-2DD7-08C6C3C4F52A}"/>
              </a:ext>
            </a:extLst>
          </p:cNvPr>
          <p:cNvSpPr>
            <a:spLocks noGrp="1" noChangeArrowheads="1"/>
          </p:cNvSpPr>
          <p:nvPr>
            <p:ph type="body" idx="4294967295"/>
          </p:nvPr>
        </p:nvSpPr>
        <p:spPr>
          <a:xfrm>
            <a:off x="694607" y="1125538"/>
            <a:ext cx="9793088" cy="5616575"/>
          </a:xfrm>
        </p:spPr>
        <p:txBody>
          <a:bodyPr>
            <a:normAutofit/>
          </a:bodyPr>
          <a:lstStyle/>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#include&lt;stdio.h&gt;</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void </a:t>
            </a:r>
            <a:r>
              <a:rPr lang="en-US" altLang="zh-CN" sz="2200" b="1" dirty="0" err="1">
                <a:solidFill>
                  <a:srgbClr val="0000FF"/>
                </a:solidFill>
                <a:latin typeface="华文楷体" panose="02010600040101010101" pitchFamily="2" charset="-122"/>
                <a:ea typeface="华文楷体" panose="02010600040101010101" pitchFamily="2" charset="-122"/>
              </a:rPr>
              <a:t>readdata</a:t>
            </a:r>
            <a:r>
              <a:rPr lang="en-US" altLang="zh-CN" sz="2200" b="1" dirty="0">
                <a:solidFill>
                  <a:srgbClr val="0000FF"/>
                </a:solidFill>
                <a:latin typeface="华文楷体" panose="02010600040101010101" pitchFamily="2" charset="-122"/>
                <a:ea typeface="华文楷体" panose="02010600040101010101" pitchFamily="2" charset="-122"/>
              </a:rPr>
              <a:t>();                //</a:t>
            </a:r>
            <a:r>
              <a:rPr lang="zh-CN" altLang="en-US" sz="2200" b="1" dirty="0">
                <a:solidFill>
                  <a:srgbClr val="0000FF"/>
                </a:solidFill>
                <a:latin typeface="华文楷体" panose="02010600040101010101" pitchFamily="2" charset="-122"/>
                <a:ea typeface="华文楷体" panose="02010600040101010101" pitchFamily="2" charset="-122"/>
              </a:rPr>
              <a:t>读入数据</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void </a:t>
            </a:r>
            <a:r>
              <a:rPr lang="en-US" altLang="zh-CN" sz="2200" b="1" dirty="0" err="1">
                <a:solidFill>
                  <a:srgbClr val="0000FF"/>
                </a:solidFill>
                <a:latin typeface="华文楷体" panose="02010600040101010101" pitchFamily="2" charset="-122"/>
                <a:ea typeface="华文楷体" panose="02010600040101010101" pitchFamily="2" charset="-122"/>
              </a:rPr>
              <a:t>init</a:t>
            </a:r>
            <a:r>
              <a:rPr lang="en-US" altLang="zh-CN" sz="2200" b="1" dirty="0">
                <a:solidFill>
                  <a:srgbClr val="0000FF"/>
                </a:solidFill>
                <a:latin typeface="华文楷体" panose="02010600040101010101" pitchFamily="2" charset="-122"/>
                <a:ea typeface="华文楷体" panose="02010600040101010101" pitchFamily="2" charset="-122"/>
              </a:rPr>
              <a:t>();                    //</a:t>
            </a:r>
            <a:r>
              <a:rPr lang="zh-CN" altLang="en-US" sz="2200" b="1" dirty="0">
                <a:solidFill>
                  <a:srgbClr val="0000FF"/>
                </a:solidFill>
                <a:latin typeface="华文楷体" panose="02010600040101010101" pitchFamily="2" charset="-122"/>
                <a:ea typeface="华文楷体" panose="02010600040101010101" pitchFamily="2" charset="-122"/>
              </a:rPr>
              <a:t>初始化</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int search();                   //</a:t>
            </a:r>
            <a:r>
              <a:rPr lang="zh-CN" altLang="en-US" sz="2200" b="1" dirty="0">
                <a:solidFill>
                  <a:srgbClr val="0000FF"/>
                </a:solidFill>
                <a:latin typeface="华文楷体" panose="02010600040101010101" pitchFamily="2" charset="-122"/>
                <a:ea typeface="华文楷体" panose="02010600040101010101" pitchFamily="2" charset="-122"/>
              </a:rPr>
              <a:t>广度优先搜索</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int </a:t>
            </a:r>
            <a:r>
              <a:rPr lang="en-US" altLang="zh-CN" sz="2200" b="1" dirty="0" err="1">
                <a:solidFill>
                  <a:srgbClr val="0000FF"/>
                </a:solidFill>
                <a:latin typeface="华文楷体" panose="02010600040101010101" pitchFamily="2" charset="-122"/>
                <a:ea typeface="华文楷体" panose="02010600040101010101" pitchFamily="2" charset="-122"/>
              </a:rPr>
              <a:t>emptyopen</a:t>
            </a:r>
            <a:r>
              <a:rPr lang="en-US" altLang="zh-CN" sz="2200" b="1" dirty="0">
                <a:solidFill>
                  <a:srgbClr val="0000FF"/>
                </a:solidFill>
                <a:latin typeface="华文楷体" panose="02010600040101010101" pitchFamily="2" charset="-122"/>
                <a:ea typeface="华文楷体" panose="02010600040101010101" pitchFamily="2" charset="-122"/>
              </a:rPr>
              <a:t>();                //</a:t>
            </a:r>
            <a:r>
              <a:rPr lang="zh-CN" altLang="en-US" sz="2200" b="1" dirty="0">
                <a:solidFill>
                  <a:srgbClr val="0000FF"/>
                </a:solidFill>
                <a:latin typeface="华文楷体" panose="02010600040101010101" pitchFamily="2" charset="-122"/>
                <a:ea typeface="华文楷体" panose="02010600040101010101" pitchFamily="2" charset="-122"/>
              </a:rPr>
              <a:t>判队列是否为空：空：</a:t>
            </a:r>
            <a:r>
              <a:rPr lang="en-US" altLang="zh-CN" sz="2200" b="1" dirty="0">
                <a:solidFill>
                  <a:srgbClr val="0000FF"/>
                </a:solidFill>
                <a:latin typeface="华文楷体" panose="02010600040101010101" pitchFamily="2" charset="-122"/>
                <a:ea typeface="华文楷体" panose="02010600040101010101" pitchFamily="2" charset="-122"/>
              </a:rPr>
              <a:t>1</a:t>
            </a:r>
            <a:r>
              <a:rPr lang="zh-CN" altLang="en-US" sz="2200" b="1" dirty="0">
                <a:solidFill>
                  <a:srgbClr val="0000FF"/>
                </a:solidFill>
                <a:latin typeface="华文楷体" panose="02010600040101010101" pitchFamily="2" charset="-122"/>
                <a:ea typeface="华文楷体" panose="02010600040101010101" pitchFamily="2" charset="-122"/>
              </a:rPr>
              <a:t>；非空：</a:t>
            </a:r>
            <a:r>
              <a:rPr lang="en-US" altLang="zh-CN" sz="2200" b="1" dirty="0">
                <a:solidFill>
                  <a:srgbClr val="0000FF"/>
                </a:solidFill>
                <a:latin typeface="华文楷体" panose="02010600040101010101" pitchFamily="2" charset="-122"/>
                <a:ea typeface="华文楷体" panose="02010600040101010101" pitchFamily="2" charset="-122"/>
              </a:rPr>
              <a:t>0</a:t>
            </a:r>
            <a:r>
              <a:rPr lang="zh-CN" altLang="en-US" sz="2200" b="1" dirty="0">
                <a:solidFill>
                  <a:srgbClr val="0000FF"/>
                </a:solidFill>
                <a:latin typeface="华文楷体" panose="02010600040101010101" pitchFamily="2" charset="-122"/>
                <a:ea typeface="华文楷体" panose="02010600040101010101" pitchFamily="2" charset="-122"/>
              </a:rPr>
              <a:t>。</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long </a:t>
            </a:r>
            <a:r>
              <a:rPr lang="en-US" altLang="zh-CN" sz="2200" b="1" dirty="0" err="1">
                <a:solidFill>
                  <a:srgbClr val="0000FF"/>
                </a:solidFill>
                <a:latin typeface="华文楷体" panose="02010600040101010101" pitchFamily="2" charset="-122"/>
                <a:ea typeface="华文楷体" panose="02010600040101010101" pitchFamily="2" charset="-122"/>
              </a:rPr>
              <a:t>takeoutofopen</a:t>
            </a:r>
            <a:r>
              <a:rPr lang="en-US" altLang="zh-CN" sz="2200" b="1" dirty="0">
                <a:solidFill>
                  <a:srgbClr val="0000FF"/>
                </a:solidFill>
                <a:latin typeface="华文楷体" panose="02010600040101010101" pitchFamily="2" charset="-122"/>
                <a:ea typeface="华文楷体" panose="02010600040101010101" pitchFamily="2" charset="-122"/>
              </a:rPr>
              <a:t>();         //</a:t>
            </a:r>
            <a:r>
              <a:rPr lang="zh-CN" altLang="en-US" sz="2200" b="1" dirty="0">
                <a:solidFill>
                  <a:srgbClr val="0000FF"/>
                </a:solidFill>
                <a:latin typeface="华文楷体" panose="02010600040101010101" pitchFamily="2" charset="-122"/>
                <a:ea typeface="华文楷体" panose="02010600040101010101" pitchFamily="2" charset="-122"/>
              </a:rPr>
              <a:t>从队列中取出一个元素，并把该元素从队列中删除</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int </a:t>
            </a:r>
            <a:r>
              <a:rPr lang="en-US" altLang="zh-CN" sz="2200" b="1" dirty="0" err="1">
                <a:solidFill>
                  <a:srgbClr val="0000FF"/>
                </a:solidFill>
                <a:latin typeface="华文楷体" panose="02010600040101010101" pitchFamily="2" charset="-122"/>
                <a:ea typeface="华文楷体" panose="02010600040101010101" pitchFamily="2" charset="-122"/>
              </a:rPr>
              <a:t>canmoveto</a:t>
            </a:r>
            <a:r>
              <a:rPr lang="en-US" altLang="zh-CN" sz="2200" b="1" dirty="0">
                <a:solidFill>
                  <a:srgbClr val="0000FF"/>
                </a:solidFill>
                <a:latin typeface="华文楷体" panose="02010600040101010101" pitchFamily="2" charset="-122"/>
                <a:ea typeface="华文楷体" panose="02010600040101010101" pitchFamily="2" charset="-122"/>
              </a:rPr>
              <a:t>(</a:t>
            </a:r>
            <a:r>
              <a:rPr lang="en-US" altLang="zh-CN" sz="2200" b="1" dirty="0" err="1">
                <a:solidFill>
                  <a:srgbClr val="0000FF"/>
                </a:solidFill>
                <a:latin typeface="华文楷体" panose="02010600040101010101" pitchFamily="2" charset="-122"/>
                <a:ea typeface="华文楷体" panose="02010600040101010101" pitchFamily="2" charset="-122"/>
              </a:rPr>
              <a:t>int,int,int</a:t>
            </a:r>
            <a:r>
              <a:rPr lang="en-US" altLang="zh-CN" sz="2200" b="1" dirty="0">
                <a:solidFill>
                  <a:srgbClr val="0000FF"/>
                </a:solidFill>
                <a:latin typeface="华文楷体" panose="02010600040101010101" pitchFamily="2" charset="-122"/>
                <a:ea typeface="华文楷体" panose="02010600040101010101" pitchFamily="2" charset="-122"/>
              </a:rPr>
              <a:t>*,int*,int);    //</a:t>
            </a:r>
            <a:r>
              <a:rPr lang="zh-CN" altLang="en-US" sz="2200" b="1" dirty="0">
                <a:solidFill>
                  <a:srgbClr val="0000FF"/>
                </a:solidFill>
                <a:latin typeface="华文楷体" panose="02010600040101010101" pitchFamily="2" charset="-122"/>
                <a:ea typeface="华文楷体" panose="02010600040101010101" pitchFamily="2" charset="-122"/>
              </a:rPr>
              <a:t>判能否移动到该方向，并带回坐标</a:t>
            </a:r>
            <a:r>
              <a:rPr lang="en-US" altLang="zh-CN" sz="2200" b="1" dirty="0">
                <a:solidFill>
                  <a:srgbClr val="0000FF"/>
                </a:solidFill>
                <a:latin typeface="华文楷体" panose="02010600040101010101" pitchFamily="2" charset="-122"/>
                <a:ea typeface="华文楷体" panose="02010600040101010101" pitchFamily="2" charset="-122"/>
              </a:rPr>
              <a:t>(</a:t>
            </a:r>
            <a:r>
              <a:rPr lang="en-US" altLang="zh-CN" sz="2200" b="1" dirty="0" err="1">
                <a:solidFill>
                  <a:srgbClr val="0000FF"/>
                </a:solidFill>
                <a:latin typeface="华文楷体" panose="02010600040101010101" pitchFamily="2" charset="-122"/>
                <a:ea typeface="华文楷体" panose="02010600040101010101" pitchFamily="2" charset="-122"/>
              </a:rPr>
              <a:t>r,c</a:t>
            </a:r>
            <a:r>
              <a:rPr lang="en-US" altLang="zh-CN" sz="2200" b="1" dirty="0">
                <a:solidFill>
                  <a:srgbClr val="0000FF"/>
                </a:solidFill>
                <a:latin typeface="华文楷体" panose="02010600040101010101" pitchFamily="2" charset="-122"/>
                <a:ea typeface="华文楷体" panose="02010600040101010101" pitchFamily="2" charset="-122"/>
              </a:rPr>
              <a:t>)</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int </a:t>
            </a:r>
            <a:r>
              <a:rPr lang="en-US" altLang="zh-CN" sz="2200" b="1" dirty="0" err="1">
                <a:solidFill>
                  <a:srgbClr val="0000FF"/>
                </a:solidFill>
                <a:latin typeface="华文楷体" panose="02010600040101010101" pitchFamily="2" charset="-122"/>
                <a:ea typeface="华文楷体" panose="02010600040101010101" pitchFamily="2" charset="-122"/>
              </a:rPr>
              <a:t>isaim</a:t>
            </a:r>
            <a:r>
              <a:rPr lang="en-US" altLang="zh-CN" sz="2200" b="1" dirty="0">
                <a:solidFill>
                  <a:srgbClr val="0000FF"/>
                </a:solidFill>
                <a:latin typeface="华文楷体" panose="02010600040101010101" pitchFamily="2" charset="-122"/>
                <a:ea typeface="华文楷体" panose="02010600040101010101" pitchFamily="2" charset="-122"/>
              </a:rPr>
              <a:t>(int row, int col);             //</a:t>
            </a:r>
            <a:r>
              <a:rPr lang="zh-CN" altLang="en-US" sz="2200" b="1" dirty="0">
                <a:solidFill>
                  <a:srgbClr val="0000FF"/>
                </a:solidFill>
                <a:latin typeface="华文楷体" panose="02010600040101010101" pitchFamily="2" charset="-122"/>
                <a:ea typeface="华文楷体" panose="02010600040101010101" pitchFamily="2" charset="-122"/>
              </a:rPr>
              <a:t>判断该点是否是目标</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int used(</a:t>
            </a:r>
            <a:r>
              <a:rPr lang="en-US" altLang="zh-CN" sz="2200" b="1" dirty="0" err="1">
                <a:solidFill>
                  <a:srgbClr val="0000FF"/>
                </a:solidFill>
                <a:latin typeface="华文楷体" panose="02010600040101010101" pitchFamily="2" charset="-122"/>
                <a:ea typeface="华文楷体" panose="02010600040101010101" pitchFamily="2" charset="-122"/>
              </a:rPr>
              <a:t>int,int</a:t>
            </a:r>
            <a:r>
              <a:rPr lang="en-US" altLang="zh-CN" sz="2200" b="1" dirty="0">
                <a:solidFill>
                  <a:srgbClr val="0000FF"/>
                </a:solidFill>
                <a:latin typeface="华文楷体" panose="02010600040101010101" pitchFamily="2" charset="-122"/>
                <a:ea typeface="华文楷体" panose="02010600040101010101" pitchFamily="2" charset="-122"/>
              </a:rPr>
              <a:t>);                       //</a:t>
            </a:r>
            <a:r>
              <a:rPr lang="zh-CN" altLang="en-US" sz="2200" b="1" dirty="0">
                <a:solidFill>
                  <a:srgbClr val="0000FF"/>
                </a:solidFill>
                <a:latin typeface="华文楷体" panose="02010600040101010101" pitchFamily="2" charset="-122"/>
                <a:ea typeface="华文楷体" panose="02010600040101010101" pitchFamily="2" charset="-122"/>
              </a:rPr>
              <a:t>判断该点是否已经走过</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void </a:t>
            </a:r>
            <a:r>
              <a:rPr lang="en-US" altLang="zh-CN" sz="2200" b="1" dirty="0" err="1">
                <a:solidFill>
                  <a:srgbClr val="0000FF"/>
                </a:solidFill>
                <a:latin typeface="华文楷体" panose="02010600040101010101" pitchFamily="2" charset="-122"/>
                <a:ea typeface="华文楷体" panose="02010600040101010101" pitchFamily="2" charset="-122"/>
              </a:rPr>
              <a:t>addtoopen</a:t>
            </a:r>
            <a:r>
              <a:rPr lang="en-US" altLang="zh-CN" sz="2200" b="1" dirty="0">
                <a:solidFill>
                  <a:srgbClr val="0000FF"/>
                </a:solidFill>
                <a:latin typeface="华文楷体" panose="02010600040101010101" pitchFamily="2" charset="-122"/>
                <a:ea typeface="华文楷体" panose="02010600040101010101" pitchFamily="2" charset="-122"/>
              </a:rPr>
              <a:t>(</a:t>
            </a:r>
            <a:r>
              <a:rPr lang="en-US" altLang="zh-CN" sz="2200" b="1" dirty="0" err="1">
                <a:solidFill>
                  <a:srgbClr val="0000FF"/>
                </a:solidFill>
                <a:latin typeface="华文楷体" panose="02010600040101010101" pitchFamily="2" charset="-122"/>
                <a:ea typeface="华文楷体" panose="02010600040101010101" pitchFamily="2" charset="-122"/>
              </a:rPr>
              <a:t>int,int</a:t>
            </a:r>
            <a:r>
              <a:rPr lang="en-US" altLang="zh-CN" sz="2200" b="1" dirty="0">
                <a:solidFill>
                  <a:srgbClr val="0000FF"/>
                </a:solidFill>
                <a:latin typeface="华文楷体" panose="02010600040101010101" pitchFamily="2" charset="-122"/>
                <a:ea typeface="华文楷体" panose="02010600040101010101" pitchFamily="2" charset="-122"/>
              </a:rPr>
              <a:t>);                 //</a:t>
            </a:r>
            <a:r>
              <a:rPr lang="zh-CN" altLang="en-US" sz="2200" b="1" dirty="0">
                <a:solidFill>
                  <a:srgbClr val="0000FF"/>
                </a:solidFill>
                <a:latin typeface="华文楷体" panose="02010600040101010101" pitchFamily="2" charset="-122"/>
                <a:ea typeface="华文楷体" panose="02010600040101010101" pitchFamily="2" charset="-122"/>
              </a:rPr>
              <a:t>把该点加入到</a:t>
            </a:r>
            <a:r>
              <a:rPr lang="en-US" altLang="zh-CN" sz="2200" b="1" dirty="0">
                <a:solidFill>
                  <a:srgbClr val="0000FF"/>
                </a:solidFill>
                <a:latin typeface="华文楷体" panose="02010600040101010101" pitchFamily="2" charset="-122"/>
                <a:ea typeface="华文楷体" panose="02010600040101010101" pitchFamily="2" charset="-122"/>
              </a:rPr>
              <a:t>open</a:t>
            </a:r>
            <a:r>
              <a:rPr lang="zh-CN" altLang="en-US" sz="2200" b="1" dirty="0">
                <a:solidFill>
                  <a:srgbClr val="0000FF"/>
                </a:solidFill>
                <a:latin typeface="华文楷体" panose="02010600040101010101" pitchFamily="2" charset="-122"/>
                <a:ea typeface="华文楷体" panose="02010600040101010101" pitchFamily="2" charset="-122"/>
              </a:rPr>
              <a:t>表</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int a[200][200],n=200;                   //a</a:t>
            </a:r>
            <a:r>
              <a:rPr lang="zh-CN" altLang="en-US" sz="2200" b="1" dirty="0">
                <a:solidFill>
                  <a:srgbClr val="0000FF"/>
                </a:solidFill>
                <a:latin typeface="华文楷体" panose="02010600040101010101" pitchFamily="2" charset="-122"/>
                <a:ea typeface="华文楷体" panose="02010600040101010101" pitchFamily="2" charset="-122"/>
              </a:rPr>
              <a:t>存放棋盘，</a:t>
            </a:r>
            <a:r>
              <a:rPr lang="en-US" altLang="zh-CN" sz="2200" b="1" dirty="0">
                <a:solidFill>
                  <a:srgbClr val="0000FF"/>
                </a:solidFill>
                <a:latin typeface="华文楷体" panose="02010600040101010101" pitchFamily="2" charset="-122"/>
                <a:ea typeface="华文楷体" panose="02010600040101010101" pitchFamily="2" charset="-122"/>
              </a:rPr>
              <a:t>n</a:t>
            </a:r>
            <a:r>
              <a:rPr lang="zh-CN" altLang="en-US" sz="2200" b="1" dirty="0">
                <a:solidFill>
                  <a:srgbClr val="0000FF"/>
                </a:solidFill>
                <a:latin typeface="华文楷体" panose="02010600040101010101" pitchFamily="2" charset="-122"/>
                <a:ea typeface="华文楷体" panose="02010600040101010101" pitchFamily="2" charset="-122"/>
              </a:rPr>
              <a:t>为迷宫边长</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long open[2000],</a:t>
            </a:r>
            <a:r>
              <a:rPr lang="en-US" altLang="zh-CN" sz="2200" b="1" dirty="0" err="1">
                <a:solidFill>
                  <a:srgbClr val="0000FF"/>
                </a:solidFill>
                <a:latin typeface="华文楷体" panose="02010600040101010101" pitchFamily="2" charset="-122"/>
                <a:ea typeface="华文楷体" panose="02010600040101010101" pitchFamily="2" charset="-122"/>
              </a:rPr>
              <a:t>head,tail,openlen</a:t>
            </a:r>
            <a:r>
              <a:rPr lang="en-US" altLang="zh-CN" sz="2200" b="1" dirty="0">
                <a:solidFill>
                  <a:srgbClr val="0000FF"/>
                </a:solidFill>
                <a:latin typeface="华文楷体" panose="02010600040101010101" pitchFamily="2" charset="-122"/>
                <a:ea typeface="华文楷体" panose="02010600040101010101" pitchFamily="2" charset="-122"/>
              </a:rPr>
              <a:t>=2000; </a:t>
            </a:r>
          </a:p>
          <a:p>
            <a:pPr eaLnBrk="1" hangingPunct="1">
              <a:buFontTx/>
              <a:buNone/>
            </a:pPr>
            <a:r>
              <a:rPr lang="en-US" altLang="zh-CN" sz="2200" b="1" dirty="0">
                <a:solidFill>
                  <a:srgbClr val="0000FF"/>
                </a:solidFill>
                <a:latin typeface="华文楷体" panose="02010600040101010101" pitchFamily="2" charset="-122"/>
                <a:ea typeface="华文楷体" panose="02010600040101010101" pitchFamily="2" charset="-122"/>
              </a:rPr>
              <a:t>long </a:t>
            </a:r>
            <a:r>
              <a:rPr lang="en-US" altLang="zh-CN" sz="2200" b="1" dirty="0" err="1">
                <a:solidFill>
                  <a:srgbClr val="0000FF"/>
                </a:solidFill>
                <a:latin typeface="华文楷体" panose="02010600040101010101" pitchFamily="2" charset="-122"/>
                <a:ea typeface="华文楷体" panose="02010600040101010101" pitchFamily="2" charset="-122"/>
              </a:rPr>
              <a:t>s,t</a:t>
            </a:r>
            <a:r>
              <a:rPr lang="en-US" altLang="zh-CN" sz="2200" b="1" dirty="0">
                <a:solidFill>
                  <a:srgbClr val="0000FF"/>
                </a:solidFill>
                <a:latin typeface="华文楷体" panose="02010600040101010101" pitchFamily="2" charset="-122"/>
                <a:ea typeface="华文楷体" panose="02010600040101010101" pitchFamily="2" charset="-122"/>
              </a:rPr>
              <a:t>;                                //</a:t>
            </a:r>
            <a:r>
              <a:rPr lang="zh-CN" altLang="en-US" sz="2200" b="1" dirty="0">
                <a:solidFill>
                  <a:srgbClr val="0000FF"/>
                </a:solidFill>
                <a:latin typeface="华文楷体" panose="02010600040101010101" pitchFamily="2" charset="-122"/>
                <a:ea typeface="华文楷体" panose="02010600040101010101" pitchFamily="2" charset="-122"/>
              </a:rPr>
              <a:t>起点和终点</a:t>
            </a:r>
          </a:p>
          <a:p>
            <a:pPr eaLnBrk="1" hangingPunct="1"/>
            <a:endParaRPr lang="en-US" altLang="zh-CN" sz="2400" dirty="0"/>
          </a:p>
          <a:p>
            <a:pPr eaLnBrk="1" hangingPunct="1">
              <a:buFontTx/>
              <a:buNone/>
            </a:pPr>
            <a:endParaRPr lang="en-US" altLang="zh-CN" sz="2200" b="1" dirty="0">
              <a:solidFill>
                <a:srgbClr val="0000FF"/>
              </a:solidFill>
              <a:latin typeface="华文楷体" panose="02010600040101010101" pitchFamily="2" charset="-122"/>
              <a:ea typeface="华文楷体" panose="02010600040101010101" pitchFamily="2" charset="-122"/>
            </a:endParaRP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id="{5F7B1A8E-462E-43F1-D147-6F93DDF9B099}"/>
              </a:ext>
            </a:extLst>
          </p:cNvPr>
          <p:cNvSpPr>
            <a:spLocks noGrp="1" noChangeArrowheads="1"/>
          </p:cNvSpPr>
          <p:nvPr>
            <p:ph type="body" idx="4294967295"/>
          </p:nvPr>
        </p:nvSpPr>
        <p:spPr>
          <a:xfrm>
            <a:off x="982638" y="1125538"/>
            <a:ext cx="8062913" cy="5330825"/>
          </a:xfrm>
        </p:spPr>
        <p:txBody>
          <a:bodyPr>
            <a:normAutofit/>
          </a:bodyPr>
          <a:lstStyle/>
          <a:p>
            <a:pPr eaLnBrk="1" hangingPunct="1">
              <a:buFontTx/>
              <a:buNone/>
            </a:pPr>
            <a:r>
              <a:rPr lang="en-US" altLang="zh-CN" sz="2200" b="1" dirty="0">
                <a:solidFill>
                  <a:srgbClr val="0000FF"/>
                </a:solidFill>
              </a:rPr>
              <a:t>int main()</a:t>
            </a:r>
          </a:p>
          <a:p>
            <a:pPr eaLnBrk="1" hangingPunct="1">
              <a:buFontTx/>
              <a:buNone/>
            </a:pPr>
            <a:r>
              <a:rPr lang="en-US" altLang="zh-CN" sz="2200" b="1" dirty="0">
                <a:solidFill>
                  <a:srgbClr val="0000FF"/>
                </a:solidFill>
              </a:rPr>
              <a:t>{                       </a:t>
            </a:r>
          </a:p>
          <a:p>
            <a:pPr eaLnBrk="1" hangingPunct="1">
              <a:buFontTx/>
              <a:buNone/>
            </a:pPr>
            <a:r>
              <a:rPr lang="en-US" altLang="zh-CN" sz="2200" b="1" dirty="0">
                <a:solidFill>
                  <a:srgbClr val="0000FF"/>
                </a:solidFill>
              </a:rPr>
              <a:t>	int number;</a:t>
            </a:r>
          </a:p>
          <a:p>
            <a:pPr eaLnBrk="1" hangingPunct="1">
              <a:buFontTx/>
              <a:buNone/>
            </a:pPr>
            <a:r>
              <a:rPr lang="en-US" altLang="zh-CN" sz="2200" b="1" dirty="0">
                <a:solidFill>
                  <a:srgbClr val="0000FF"/>
                </a:solidFill>
              </a:rPr>
              <a:t>	</a:t>
            </a:r>
            <a:r>
              <a:rPr lang="en-US" altLang="zh-CN" sz="2200" b="1" dirty="0" err="1">
                <a:solidFill>
                  <a:srgbClr val="0000FF"/>
                </a:solidFill>
              </a:rPr>
              <a:t>readdata</a:t>
            </a:r>
            <a:r>
              <a:rPr lang="en-US" altLang="zh-CN" sz="2200" b="1" dirty="0">
                <a:solidFill>
                  <a:srgbClr val="0000FF"/>
                </a:solidFill>
              </a:rPr>
              <a:t>();           //</a:t>
            </a:r>
            <a:r>
              <a:rPr lang="zh-CN" altLang="en-US" sz="2200" b="1" dirty="0">
                <a:solidFill>
                  <a:srgbClr val="0000FF"/>
                </a:solidFill>
              </a:rPr>
              <a:t>读取数据</a:t>
            </a:r>
          </a:p>
          <a:p>
            <a:pPr eaLnBrk="1" hangingPunct="1">
              <a:buFontTx/>
              <a:buNone/>
            </a:pPr>
            <a:r>
              <a:rPr lang="zh-CN" altLang="en-US" sz="2200" b="1" dirty="0">
                <a:solidFill>
                  <a:srgbClr val="0000FF"/>
                </a:solidFill>
              </a:rPr>
              <a:t>	</a:t>
            </a:r>
            <a:r>
              <a:rPr lang="en-US" altLang="zh-CN" sz="2200" b="1" dirty="0" err="1">
                <a:solidFill>
                  <a:srgbClr val="0000FF"/>
                </a:solidFill>
              </a:rPr>
              <a:t>init</a:t>
            </a:r>
            <a:r>
              <a:rPr lang="en-US" altLang="zh-CN" sz="2200" b="1" dirty="0">
                <a:solidFill>
                  <a:srgbClr val="0000FF"/>
                </a:solidFill>
              </a:rPr>
              <a:t>();               //</a:t>
            </a:r>
            <a:r>
              <a:rPr lang="zh-CN" altLang="en-US" sz="2200" b="1" dirty="0">
                <a:solidFill>
                  <a:srgbClr val="0000FF"/>
                </a:solidFill>
              </a:rPr>
              <a:t>初始化</a:t>
            </a:r>
          </a:p>
          <a:p>
            <a:pPr eaLnBrk="1" hangingPunct="1">
              <a:buFontTx/>
              <a:buNone/>
            </a:pPr>
            <a:r>
              <a:rPr lang="zh-CN" altLang="en-US" sz="2200" b="1" dirty="0">
                <a:solidFill>
                  <a:srgbClr val="0000FF"/>
                </a:solidFill>
              </a:rPr>
              <a:t>	</a:t>
            </a:r>
            <a:r>
              <a:rPr lang="en-US" altLang="zh-CN" sz="2200" b="1" dirty="0">
                <a:solidFill>
                  <a:srgbClr val="0000FF"/>
                </a:solidFill>
              </a:rPr>
              <a:t>number=search();     //</a:t>
            </a:r>
            <a:r>
              <a:rPr lang="zh-CN" altLang="en-US" sz="2200" b="1" dirty="0">
                <a:solidFill>
                  <a:srgbClr val="0000FF"/>
                </a:solidFill>
              </a:rPr>
              <a:t>广搜并返回最小步数</a:t>
            </a:r>
          </a:p>
          <a:p>
            <a:pPr eaLnBrk="1" hangingPunct="1">
              <a:buFontTx/>
              <a:buNone/>
            </a:pPr>
            <a:r>
              <a:rPr lang="zh-CN" altLang="en-US" sz="2200" b="1" dirty="0">
                <a:solidFill>
                  <a:srgbClr val="0000FF"/>
                </a:solidFill>
              </a:rPr>
              <a:t>	</a:t>
            </a:r>
            <a:r>
              <a:rPr lang="en-US" altLang="zh-CN" sz="2200" b="1" dirty="0" err="1">
                <a:solidFill>
                  <a:srgbClr val="0000FF"/>
                </a:solidFill>
              </a:rPr>
              <a:t>printf</a:t>
            </a:r>
            <a:r>
              <a:rPr lang="en-US" altLang="zh-CN" sz="2200" b="1" dirty="0">
                <a:solidFill>
                  <a:srgbClr val="0000FF"/>
                </a:solidFill>
              </a:rPr>
              <a:t>("%</a:t>
            </a:r>
            <a:r>
              <a:rPr lang="en-US" altLang="zh-CN" sz="2200" b="1" dirty="0" err="1">
                <a:solidFill>
                  <a:srgbClr val="0000FF"/>
                </a:solidFill>
              </a:rPr>
              <a:t>d",number</a:t>
            </a:r>
            <a:r>
              <a:rPr lang="en-US" altLang="zh-CN" sz="2200" b="1" dirty="0">
                <a:solidFill>
                  <a:srgbClr val="0000FF"/>
                </a:solidFill>
              </a:rPr>
              <a:t>);  //</a:t>
            </a:r>
            <a:r>
              <a:rPr lang="zh-CN" altLang="en-US" sz="2200" b="1" dirty="0">
                <a:solidFill>
                  <a:srgbClr val="0000FF"/>
                </a:solidFill>
              </a:rPr>
              <a:t>打印结果</a:t>
            </a:r>
          </a:p>
          <a:p>
            <a:pPr eaLnBrk="1" hangingPunct="1">
              <a:buFontTx/>
              <a:buNone/>
            </a:pPr>
            <a:r>
              <a:rPr lang="en-US" altLang="zh-CN" sz="2200" b="1" dirty="0">
                <a:solidFill>
                  <a:srgbClr val="0000FF"/>
                </a:solidFill>
              </a:rPr>
              <a:t>}</a:t>
            </a: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6123143A-B51F-8C04-A7E5-E1AD7F313B03}"/>
              </a:ext>
            </a:extLst>
          </p:cNvPr>
          <p:cNvSpPr>
            <a:spLocks noGrp="1" noChangeArrowheads="1"/>
          </p:cNvSpPr>
          <p:nvPr>
            <p:ph type="body" idx="4294967295"/>
          </p:nvPr>
        </p:nvSpPr>
        <p:spPr>
          <a:xfrm>
            <a:off x="190551" y="1125538"/>
            <a:ext cx="5832647" cy="5403850"/>
          </a:xfrm>
        </p:spPr>
        <p:txBody>
          <a:bodyPr>
            <a:normAutofit/>
          </a:bodyPr>
          <a:lstStyle/>
          <a:p>
            <a:pPr eaLnBrk="1" hangingPunct="1">
              <a:buFontTx/>
              <a:buNone/>
            </a:pPr>
            <a:r>
              <a:rPr lang="en-US" altLang="zh-CN" sz="2200" b="1" dirty="0">
                <a:solidFill>
                  <a:srgbClr val="0000FF"/>
                </a:solidFill>
              </a:rPr>
              <a:t>int search()</a:t>
            </a:r>
          </a:p>
          <a:p>
            <a:pPr eaLnBrk="1" hangingPunct="1">
              <a:buFontTx/>
              <a:buNone/>
            </a:pPr>
            <a:r>
              <a:rPr lang="en-US" altLang="zh-CN" sz="2200" b="1" dirty="0">
                <a:solidFill>
                  <a:srgbClr val="0000FF"/>
                </a:solidFill>
              </a:rPr>
              <a:t>{</a:t>
            </a:r>
          </a:p>
          <a:p>
            <a:pPr eaLnBrk="1" hangingPunct="1">
              <a:buFontTx/>
              <a:buNone/>
            </a:pPr>
            <a:r>
              <a:rPr lang="en-US" altLang="zh-CN" sz="2200" b="1" dirty="0">
                <a:solidFill>
                  <a:srgbClr val="0000FF"/>
                </a:solidFill>
              </a:rPr>
              <a:t>	long u;</a:t>
            </a:r>
          </a:p>
          <a:p>
            <a:pPr eaLnBrk="1" hangingPunct="1">
              <a:buFontTx/>
              <a:buNone/>
            </a:pPr>
            <a:r>
              <a:rPr lang="en-US" altLang="zh-CN" sz="2200" b="1" dirty="0">
                <a:solidFill>
                  <a:srgbClr val="0000FF"/>
                </a:solidFill>
              </a:rPr>
              <a:t>	int row, col, r, c, </a:t>
            </a:r>
            <a:r>
              <a:rPr lang="en-US" altLang="zh-CN" sz="2200" b="1" dirty="0" err="1">
                <a:solidFill>
                  <a:srgbClr val="0000FF"/>
                </a:solidFill>
              </a:rPr>
              <a:t>i</a:t>
            </a:r>
            <a:r>
              <a:rPr lang="en-US" altLang="zh-CN" sz="2200" b="1" dirty="0">
                <a:solidFill>
                  <a:srgbClr val="0000FF"/>
                </a:solidFill>
              </a:rPr>
              <a:t>, num;</a:t>
            </a:r>
          </a:p>
          <a:p>
            <a:pPr eaLnBrk="1" hangingPunct="1">
              <a:buFontTx/>
              <a:buNone/>
            </a:pPr>
            <a:r>
              <a:rPr lang="en-US" altLang="zh-CN" sz="2200" b="1" dirty="0">
                <a:solidFill>
                  <a:srgbClr val="0000FF"/>
                </a:solidFill>
              </a:rPr>
              <a:t>	while(!</a:t>
            </a:r>
            <a:r>
              <a:rPr lang="en-US" altLang="zh-CN" sz="2200" b="1" dirty="0" err="1">
                <a:solidFill>
                  <a:srgbClr val="0000FF"/>
                </a:solidFill>
              </a:rPr>
              <a:t>emptyopen</a:t>
            </a:r>
            <a:r>
              <a:rPr lang="en-US" altLang="zh-CN" sz="2200" b="1" dirty="0">
                <a:solidFill>
                  <a:srgbClr val="0000FF"/>
                </a:solidFill>
              </a:rPr>
              <a:t>())         //</a:t>
            </a:r>
            <a:r>
              <a:rPr lang="zh-CN" altLang="en-US" sz="2200" b="1" dirty="0">
                <a:solidFill>
                  <a:srgbClr val="0000FF"/>
                </a:solidFill>
              </a:rPr>
              <a:t>当队列非空</a:t>
            </a:r>
          </a:p>
          <a:p>
            <a:pPr eaLnBrk="1" hangingPunct="1">
              <a:buFontTx/>
              <a:buNone/>
            </a:pPr>
            <a:r>
              <a:rPr lang="zh-CN" altLang="en-US" sz="2200" b="1" dirty="0">
                <a:solidFill>
                  <a:srgbClr val="0000FF"/>
                </a:solidFill>
              </a:rPr>
              <a:t>	</a:t>
            </a:r>
            <a:r>
              <a:rPr lang="en-US" altLang="zh-CN" sz="2200" b="1" dirty="0">
                <a:solidFill>
                  <a:srgbClr val="0000FF"/>
                </a:solidFill>
              </a:rPr>
              <a:t>{</a:t>
            </a:r>
          </a:p>
          <a:p>
            <a:pPr eaLnBrk="1" hangingPunct="1">
              <a:buFontTx/>
              <a:buNone/>
            </a:pPr>
            <a:r>
              <a:rPr lang="en-US" altLang="zh-CN" sz="2200" b="1" dirty="0">
                <a:solidFill>
                  <a:srgbClr val="0000FF"/>
                </a:solidFill>
              </a:rPr>
              <a:t>		u=</a:t>
            </a:r>
            <a:r>
              <a:rPr lang="en-US" altLang="zh-CN" sz="2200" b="1" dirty="0" err="1">
                <a:solidFill>
                  <a:srgbClr val="0000FF"/>
                </a:solidFill>
              </a:rPr>
              <a:t>takeoutofopen</a:t>
            </a:r>
            <a:r>
              <a:rPr lang="en-US" altLang="zh-CN" sz="2200" b="1" dirty="0">
                <a:solidFill>
                  <a:srgbClr val="0000FF"/>
                </a:solidFill>
              </a:rPr>
              <a:t>();      </a:t>
            </a:r>
          </a:p>
          <a:p>
            <a:pPr eaLnBrk="1" hangingPunct="1">
              <a:buFontTx/>
              <a:buNone/>
            </a:pPr>
            <a:r>
              <a:rPr lang="en-US" altLang="zh-CN" sz="2200" b="1" dirty="0">
                <a:solidFill>
                  <a:srgbClr val="0000FF"/>
                </a:solidFill>
              </a:rPr>
              <a:t>//</a:t>
            </a:r>
            <a:r>
              <a:rPr lang="zh-CN" altLang="en-US" sz="2200" b="1" dirty="0">
                <a:solidFill>
                  <a:srgbClr val="0000FF"/>
                </a:solidFill>
              </a:rPr>
              <a:t>从队列中取出一个元素，并把该元素从队列中删除</a:t>
            </a:r>
          </a:p>
          <a:p>
            <a:pPr eaLnBrk="1" hangingPunct="1">
              <a:buFontTx/>
              <a:buNone/>
            </a:pPr>
            <a:r>
              <a:rPr lang="zh-CN" altLang="en-US" sz="2200" b="1" dirty="0">
                <a:solidFill>
                  <a:srgbClr val="0000FF"/>
                </a:solidFill>
              </a:rPr>
              <a:t>		</a:t>
            </a:r>
            <a:r>
              <a:rPr lang="en-US" altLang="zh-CN" sz="2200" b="1" dirty="0">
                <a:solidFill>
                  <a:srgbClr val="0000FF"/>
                </a:solidFill>
              </a:rPr>
              <a:t>row=u/n;              //</a:t>
            </a:r>
            <a:r>
              <a:rPr lang="zh-CN" altLang="en-US" sz="2200" b="1" dirty="0">
                <a:solidFill>
                  <a:srgbClr val="0000FF"/>
                </a:solidFill>
              </a:rPr>
              <a:t>计算该点所在的行</a:t>
            </a:r>
          </a:p>
          <a:p>
            <a:pPr eaLnBrk="1" hangingPunct="1">
              <a:buFontTx/>
              <a:buNone/>
            </a:pPr>
            <a:r>
              <a:rPr lang="zh-CN" altLang="en-US" sz="2200" b="1" dirty="0">
                <a:solidFill>
                  <a:srgbClr val="0000FF"/>
                </a:solidFill>
              </a:rPr>
              <a:t>		</a:t>
            </a:r>
            <a:r>
              <a:rPr lang="en-US" altLang="zh-CN" sz="2200" b="1" dirty="0">
                <a:solidFill>
                  <a:srgbClr val="0000FF"/>
                </a:solidFill>
              </a:rPr>
              <a:t>col=</a:t>
            </a:r>
            <a:r>
              <a:rPr lang="en-US" altLang="zh-CN" sz="2200" b="1" dirty="0" err="1">
                <a:solidFill>
                  <a:srgbClr val="0000FF"/>
                </a:solidFill>
              </a:rPr>
              <a:t>u%n</a:t>
            </a:r>
            <a:r>
              <a:rPr lang="en-US" altLang="zh-CN" sz="2200" b="1" dirty="0">
                <a:solidFill>
                  <a:srgbClr val="0000FF"/>
                </a:solidFill>
              </a:rPr>
              <a:t>;             //</a:t>
            </a:r>
            <a:r>
              <a:rPr lang="zh-CN" altLang="en-US" sz="2200" b="1" dirty="0">
                <a:solidFill>
                  <a:srgbClr val="0000FF"/>
                </a:solidFill>
              </a:rPr>
              <a:t>计算该点所在的列</a:t>
            </a:r>
          </a:p>
          <a:p>
            <a:pPr eaLnBrk="1" hangingPunct="1">
              <a:buFontTx/>
              <a:buNone/>
            </a:pPr>
            <a:r>
              <a:rPr lang="zh-CN" altLang="en-US" sz="2200" b="1" dirty="0">
                <a:solidFill>
                  <a:srgbClr val="0000FF"/>
                </a:solidFill>
              </a:rPr>
              <a:t>		</a:t>
            </a:r>
            <a:r>
              <a:rPr lang="en-US" altLang="zh-CN" sz="2200" b="1" dirty="0">
                <a:solidFill>
                  <a:srgbClr val="0000FF"/>
                </a:solidFill>
              </a:rPr>
              <a:t>num=a[row][col];      //</a:t>
            </a:r>
            <a:r>
              <a:rPr lang="zh-CN" altLang="en-US" sz="2200" b="1" dirty="0">
                <a:solidFill>
                  <a:srgbClr val="0000FF"/>
                </a:solidFill>
              </a:rPr>
              <a:t>取得该点的步数</a:t>
            </a:r>
          </a:p>
        </p:txBody>
      </p:sp>
      <p:sp>
        <p:nvSpPr>
          <p:cNvPr id="3" name="文本框 2">
            <a:extLst>
              <a:ext uri="{FF2B5EF4-FFF2-40B4-BE49-F238E27FC236}">
                <a16:creationId xmlns:a16="http://schemas.microsoft.com/office/drawing/2014/main" id="{E6F9D11C-FE5A-78B9-24C6-CEA71C5DAB8D}"/>
              </a:ext>
            </a:extLst>
          </p:cNvPr>
          <p:cNvSpPr txBox="1"/>
          <p:nvPr/>
        </p:nvSpPr>
        <p:spPr>
          <a:xfrm>
            <a:off x="6290774" y="1097740"/>
            <a:ext cx="6189076" cy="5786841"/>
          </a:xfrm>
          <a:prstGeom prst="rect">
            <a:avLst/>
          </a:prstGeom>
          <a:noFill/>
        </p:spPr>
        <p:txBody>
          <a:bodyPr wrap="square">
            <a:spAutoFit/>
          </a:bodyPr>
          <a:lstStyle/>
          <a:p>
            <a:pPr fontAlgn="auto">
              <a:lnSpc>
                <a:spcPct val="80000"/>
              </a:lnSpc>
              <a:spcAft>
                <a:spcPts val="0"/>
              </a:spcAft>
              <a:buFontTx/>
              <a:buNone/>
              <a:defRPr/>
            </a:pPr>
            <a:r>
              <a:rPr lang="en-US" altLang="zh-CN" sz="2200" b="1" dirty="0">
                <a:solidFill>
                  <a:srgbClr val="0000FF"/>
                </a:solidFill>
                <a:latin typeface="+mn-lt"/>
              </a:rPr>
              <a:t>for(</a:t>
            </a:r>
            <a:r>
              <a:rPr lang="en-US" altLang="zh-CN" sz="2200" b="1" dirty="0" err="1">
                <a:solidFill>
                  <a:srgbClr val="0000FF"/>
                </a:solidFill>
                <a:latin typeface="+mn-lt"/>
              </a:rPr>
              <a:t>i</a:t>
            </a:r>
            <a:r>
              <a:rPr lang="en-US" altLang="zh-CN" sz="2200" b="1" dirty="0">
                <a:solidFill>
                  <a:srgbClr val="0000FF"/>
                </a:solidFill>
                <a:latin typeface="+mn-lt"/>
              </a:rPr>
              <a:t>=0;i&lt;8;i++)</a:t>
            </a:r>
          </a:p>
          <a:p>
            <a:pPr fontAlgn="auto">
              <a:lnSpc>
                <a:spcPct val="80000"/>
              </a:lnSpc>
              <a:spcAft>
                <a:spcPts val="0"/>
              </a:spcAft>
              <a:buFontTx/>
              <a:buNone/>
              <a:defRPr/>
            </a:pPr>
            <a:r>
              <a:rPr lang="en-US" altLang="zh-CN" sz="2200" b="1" dirty="0">
                <a:solidFill>
                  <a:srgbClr val="0000FF"/>
                </a:solidFill>
                <a:latin typeface="+mn-lt"/>
              </a:rPr>
              <a:t>		{</a:t>
            </a:r>
          </a:p>
          <a:p>
            <a:pPr fontAlgn="auto">
              <a:lnSpc>
                <a:spcPct val="80000"/>
              </a:lnSpc>
              <a:spcAft>
                <a:spcPts val="0"/>
              </a:spcAft>
              <a:buFontTx/>
              <a:buNone/>
              <a:defRPr/>
            </a:pPr>
            <a:r>
              <a:rPr lang="en-US" altLang="zh-CN" sz="2200" b="1" dirty="0">
                <a:solidFill>
                  <a:srgbClr val="0000FF"/>
                </a:solidFill>
                <a:latin typeface="+mn-lt"/>
              </a:rPr>
              <a:t>			if(</a:t>
            </a:r>
            <a:r>
              <a:rPr lang="en-US" altLang="zh-CN" sz="2200" b="1" dirty="0" err="1">
                <a:solidFill>
                  <a:srgbClr val="0000FF"/>
                </a:solidFill>
                <a:latin typeface="+mn-lt"/>
              </a:rPr>
              <a:t>canmoveto</a:t>
            </a:r>
            <a:r>
              <a:rPr lang="en-US" altLang="zh-CN" sz="2200" b="1" dirty="0">
                <a:solidFill>
                  <a:srgbClr val="0000FF"/>
                </a:solidFill>
                <a:latin typeface="+mn-lt"/>
              </a:rPr>
              <a:t>(row,col,&amp;r,&amp;</a:t>
            </a:r>
            <a:r>
              <a:rPr lang="en-US" altLang="zh-CN" sz="2200" b="1" dirty="0" err="1">
                <a:solidFill>
                  <a:srgbClr val="0000FF"/>
                </a:solidFill>
                <a:latin typeface="+mn-lt"/>
              </a:rPr>
              <a:t>c,i</a:t>
            </a:r>
            <a:r>
              <a:rPr lang="en-US" altLang="zh-CN" sz="2200" b="1" dirty="0">
                <a:solidFill>
                  <a:srgbClr val="0000FF"/>
                </a:solidFill>
                <a:latin typeface="+mn-lt"/>
              </a:rPr>
              <a:t>))   </a:t>
            </a:r>
          </a:p>
          <a:p>
            <a:pPr fontAlgn="auto">
              <a:lnSpc>
                <a:spcPct val="80000"/>
              </a:lnSpc>
              <a:spcAft>
                <a:spcPts val="0"/>
              </a:spcAft>
              <a:buFontTx/>
              <a:buNone/>
              <a:defRPr/>
            </a:pPr>
            <a:r>
              <a:rPr lang="en-US" altLang="zh-CN" sz="2200" b="1" dirty="0">
                <a:solidFill>
                  <a:srgbClr val="0000FF"/>
                </a:solidFill>
                <a:latin typeface="+mn-lt"/>
              </a:rPr>
              <a:t>           //</a:t>
            </a:r>
            <a:r>
              <a:rPr lang="zh-CN" altLang="en-US" sz="2200" b="1" dirty="0">
                <a:solidFill>
                  <a:srgbClr val="0000FF"/>
                </a:solidFill>
                <a:latin typeface="+mn-lt"/>
              </a:rPr>
              <a:t>判能否移动到该方向，并带回坐标</a:t>
            </a:r>
            <a:r>
              <a:rPr lang="en-US" altLang="zh-CN" sz="2200" b="1" dirty="0">
                <a:solidFill>
                  <a:srgbClr val="0000FF"/>
                </a:solidFill>
                <a:latin typeface="+mn-lt"/>
              </a:rPr>
              <a:t>(</a:t>
            </a:r>
            <a:r>
              <a:rPr lang="en-US" altLang="zh-CN" sz="2200" b="1" dirty="0" err="1">
                <a:solidFill>
                  <a:srgbClr val="0000FF"/>
                </a:solidFill>
                <a:latin typeface="+mn-lt"/>
              </a:rPr>
              <a:t>r,c</a:t>
            </a:r>
            <a:r>
              <a:rPr lang="en-US" altLang="zh-CN" sz="2200" b="1" dirty="0">
                <a:solidFill>
                  <a:srgbClr val="0000FF"/>
                </a:solidFill>
                <a:latin typeface="+mn-lt"/>
              </a:rPr>
              <a:t>)</a:t>
            </a:r>
          </a:p>
          <a:p>
            <a:pPr fontAlgn="auto">
              <a:lnSpc>
                <a:spcPct val="80000"/>
              </a:lnSpc>
              <a:spcAft>
                <a:spcPts val="0"/>
              </a:spcAft>
              <a:buFontTx/>
              <a:buNone/>
              <a:defRPr/>
            </a:pPr>
            <a:r>
              <a:rPr lang="en-US" altLang="zh-CN" sz="2200" b="1" dirty="0">
                <a:solidFill>
                  <a:srgbClr val="0000FF"/>
                </a:solidFill>
                <a:latin typeface="+mn-lt"/>
              </a:rPr>
              <a:t>			{</a:t>
            </a:r>
          </a:p>
          <a:p>
            <a:pPr fontAlgn="auto">
              <a:lnSpc>
                <a:spcPct val="80000"/>
              </a:lnSpc>
              <a:spcAft>
                <a:spcPts val="0"/>
              </a:spcAft>
              <a:buFontTx/>
              <a:buNone/>
              <a:defRPr/>
            </a:pPr>
            <a:r>
              <a:rPr lang="en-US" altLang="zh-CN" sz="2200" b="1" dirty="0">
                <a:solidFill>
                  <a:srgbClr val="0000FF"/>
                </a:solidFill>
                <a:latin typeface="+mn-lt"/>
              </a:rPr>
              <a:t>				if(</a:t>
            </a:r>
            <a:r>
              <a:rPr lang="en-US" altLang="zh-CN" sz="2200" b="1" dirty="0" err="1">
                <a:solidFill>
                  <a:srgbClr val="0000FF"/>
                </a:solidFill>
                <a:latin typeface="+mn-lt"/>
              </a:rPr>
              <a:t>isaim</a:t>
            </a:r>
            <a:r>
              <a:rPr lang="en-US" altLang="zh-CN" sz="2200" b="1" dirty="0">
                <a:solidFill>
                  <a:srgbClr val="0000FF"/>
                </a:solidFill>
                <a:latin typeface="+mn-lt"/>
              </a:rPr>
              <a:t>(</a:t>
            </a:r>
            <a:r>
              <a:rPr lang="en-US" altLang="zh-CN" sz="2200" b="1" dirty="0" err="1">
                <a:solidFill>
                  <a:srgbClr val="0000FF"/>
                </a:solidFill>
                <a:latin typeface="+mn-lt"/>
              </a:rPr>
              <a:t>r,c</a:t>
            </a:r>
            <a:r>
              <a:rPr lang="en-US" altLang="zh-CN" sz="2200" b="1" dirty="0">
                <a:solidFill>
                  <a:srgbClr val="0000FF"/>
                </a:solidFill>
                <a:latin typeface="+mn-lt"/>
              </a:rPr>
              <a:t>))              </a:t>
            </a:r>
          </a:p>
          <a:p>
            <a:pPr fontAlgn="auto">
              <a:lnSpc>
                <a:spcPct val="80000"/>
              </a:lnSpc>
              <a:spcAft>
                <a:spcPts val="0"/>
              </a:spcAft>
              <a:buFontTx/>
              <a:buNone/>
              <a:defRPr/>
            </a:pPr>
            <a:r>
              <a:rPr lang="en-US" altLang="zh-CN" sz="2200" b="1" dirty="0">
                <a:solidFill>
                  <a:srgbClr val="0000FF"/>
                </a:solidFill>
                <a:latin typeface="+mn-lt"/>
              </a:rPr>
              <a:t>           //</a:t>
            </a:r>
            <a:r>
              <a:rPr lang="zh-CN" altLang="en-US" sz="2200" b="1" dirty="0">
                <a:solidFill>
                  <a:srgbClr val="0000FF"/>
                </a:solidFill>
                <a:latin typeface="+mn-lt"/>
              </a:rPr>
              <a:t>如果是目标结点</a:t>
            </a:r>
          </a:p>
          <a:p>
            <a:pPr fontAlgn="auto">
              <a:lnSpc>
                <a:spcPct val="80000"/>
              </a:lnSpc>
              <a:spcAft>
                <a:spcPts val="0"/>
              </a:spcAft>
              <a:buFontTx/>
              <a:buNone/>
              <a:defRPr/>
            </a:pPr>
            <a:r>
              <a:rPr lang="zh-CN" altLang="en-US" sz="2200" b="1" dirty="0">
                <a:solidFill>
                  <a:srgbClr val="0000FF"/>
                </a:solidFill>
                <a:latin typeface="+mn-lt"/>
              </a:rPr>
              <a:t>					</a:t>
            </a:r>
            <a:r>
              <a:rPr lang="en-US" altLang="zh-CN" sz="2200" b="1" dirty="0">
                <a:solidFill>
                  <a:srgbClr val="0000FF"/>
                </a:solidFill>
                <a:latin typeface="+mn-lt"/>
              </a:rPr>
              <a:t>return(num+1);       </a:t>
            </a:r>
          </a:p>
          <a:p>
            <a:pPr fontAlgn="auto">
              <a:lnSpc>
                <a:spcPct val="80000"/>
              </a:lnSpc>
              <a:spcAft>
                <a:spcPts val="0"/>
              </a:spcAft>
              <a:buFontTx/>
              <a:buNone/>
              <a:defRPr/>
            </a:pPr>
            <a:r>
              <a:rPr lang="en-US" altLang="zh-CN" sz="2200" b="1" dirty="0">
                <a:solidFill>
                  <a:srgbClr val="0000FF"/>
                </a:solidFill>
                <a:latin typeface="+mn-lt"/>
              </a:rPr>
              <a:t>          //</a:t>
            </a:r>
            <a:r>
              <a:rPr lang="zh-CN" altLang="en-US" sz="2200" b="1" dirty="0">
                <a:solidFill>
                  <a:srgbClr val="0000FF"/>
                </a:solidFill>
                <a:latin typeface="+mn-lt"/>
              </a:rPr>
              <a:t>返回最小步数</a:t>
            </a:r>
          </a:p>
          <a:p>
            <a:pPr fontAlgn="auto">
              <a:lnSpc>
                <a:spcPct val="80000"/>
              </a:lnSpc>
              <a:spcAft>
                <a:spcPts val="0"/>
              </a:spcAft>
              <a:buFontTx/>
              <a:buNone/>
              <a:defRPr/>
            </a:pPr>
            <a:r>
              <a:rPr lang="zh-CN" altLang="en-US" sz="2200" b="1" dirty="0">
                <a:solidFill>
                  <a:srgbClr val="0000FF"/>
                </a:solidFill>
                <a:latin typeface="+mn-lt"/>
              </a:rPr>
              <a:t>				</a:t>
            </a:r>
            <a:r>
              <a:rPr lang="en-US" altLang="zh-CN" sz="2200" b="1" dirty="0">
                <a:solidFill>
                  <a:srgbClr val="0000FF"/>
                </a:solidFill>
                <a:latin typeface="+mn-lt"/>
              </a:rPr>
              <a:t>if(!used(</a:t>
            </a:r>
            <a:r>
              <a:rPr lang="en-US" altLang="zh-CN" sz="2200" b="1" dirty="0" err="1">
                <a:solidFill>
                  <a:srgbClr val="0000FF"/>
                </a:solidFill>
                <a:latin typeface="+mn-lt"/>
              </a:rPr>
              <a:t>r,c</a:t>
            </a:r>
            <a:r>
              <a:rPr lang="en-US" altLang="zh-CN" sz="2200" b="1" dirty="0">
                <a:solidFill>
                  <a:srgbClr val="0000FF"/>
                </a:solidFill>
                <a:latin typeface="+mn-lt"/>
              </a:rPr>
              <a:t>))              </a:t>
            </a:r>
          </a:p>
          <a:p>
            <a:pPr fontAlgn="auto">
              <a:lnSpc>
                <a:spcPct val="80000"/>
              </a:lnSpc>
              <a:spcAft>
                <a:spcPts val="0"/>
              </a:spcAft>
              <a:buFontTx/>
              <a:buNone/>
              <a:defRPr/>
            </a:pPr>
            <a:r>
              <a:rPr lang="en-US" altLang="zh-CN" sz="2200" b="1" dirty="0">
                <a:solidFill>
                  <a:srgbClr val="0000FF"/>
                </a:solidFill>
                <a:latin typeface="+mn-lt"/>
              </a:rPr>
              <a:t>           //</a:t>
            </a:r>
            <a:r>
              <a:rPr lang="zh-CN" altLang="en-US" sz="2200" b="1" dirty="0">
                <a:solidFill>
                  <a:srgbClr val="0000FF"/>
                </a:solidFill>
                <a:latin typeface="+mn-lt"/>
              </a:rPr>
              <a:t>如果</a:t>
            </a:r>
            <a:r>
              <a:rPr lang="en-US" altLang="zh-CN" sz="2200" b="1" dirty="0">
                <a:solidFill>
                  <a:srgbClr val="0000FF"/>
                </a:solidFill>
                <a:latin typeface="+mn-lt"/>
              </a:rPr>
              <a:t>(</a:t>
            </a:r>
            <a:r>
              <a:rPr lang="en-US" altLang="zh-CN" sz="2200" b="1" dirty="0" err="1">
                <a:solidFill>
                  <a:srgbClr val="0000FF"/>
                </a:solidFill>
                <a:latin typeface="+mn-lt"/>
              </a:rPr>
              <a:t>r,c</a:t>
            </a:r>
            <a:r>
              <a:rPr lang="en-US" altLang="zh-CN" sz="2200" b="1" dirty="0">
                <a:solidFill>
                  <a:srgbClr val="0000FF"/>
                </a:solidFill>
                <a:latin typeface="+mn-lt"/>
              </a:rPr>
              <a:t>)</a:t>
            </a:r>
            <a:r>
              <a:rPr lang="zh-CN" altLang="en-US" sz="2200" b="1" dirty="0">
                <a:solidFill>
                  <a:srgbClr val="0000FF"/>
                </a:solidFill>
                <a:latin typeface="+mn-lt"/>
              </a:rPr>
              <a:t>还未到达过</a:t>
            </a:r>
          </a:p>
          <a:p>
            <a:pPr fontAlgn="auto">
              <a:lnSpc>
                <a:spcPct val="80000"/>
              </a:lnSpc>
              <a:spcAft>
                <a:spcPts val="0"/>
              </a:spcAft>
              <a:buFontTx/>
              <a:buNone/>
              <a:defRPr/>
            </a:pPr>
            <a:r>
              <a:rPr lang="zh-CN" altLang="en-US" sz="2200" b="1" dirty="0">
                <a:solidFill>
                  <a:srgbClr val="0000FF"/>
                </a:solidFill>
                <a:latin typeface="+mn-lt"/>
              </a:rPr>
              <a:t>				</a:t>
            </a:r>
            <a:r>
              <a:rPr lang="en-US" altLang="zh-CN" sz="2200" b="1" dirty="0">
                <a:solidFill>
                  <a:srgbClr val="0000FF"/>
                </a:solidFill>
                <a:latin typeface="+mn-lt"/>
              </a:rPr>
              <a:t>{</a:t>
            </a:r>
          </a:p>
          <a:p>
            <a:pPr fontAlgn="auto">
              <a:lnSpc>
                <a:spcPct val="80000"/>
              </a:lnSpc>
              <a:spcAft>
                <a:spcPts val="0"/>
              </a:spcAft>
              <a:buFontTx/>
              <a:buNone/>
              <a:defRPr/>
            </a:pPr>
            <a:r>
              <a:rPr lang="en-US" altLang="zh-CN" sz="2200" b="1" dirty="0">
                <a:solidFill>
                  <a:srgbClr val="0000FF"/>
                </a:solidFill>
                <a:latin typeface="+mn-lt"/>
              </a:rPr>
              <a:t>					a[r][c]=num+1;       </a:t>
            </a:r>
          </a:p>
          <a:p>
            <a:pPr fontAlgn="auto">
              <a:lnSpc>
                <a:spcPct val="80000"/>
              </a:lnSpc>
              <a:spcAft>
                <a:spcPts val="0"/>
              </a:spcAft>
              <a:buFontTx/>
              <a:buNone/>
              <a:defRPr/>
            </a:pPr>
            <a:r>
              <a:rPr lang="en-US" altLang="zh-CN" sz="2200" b="1" dirty="0">
                <a:solidFill>
                  <a:srgbClr val="0000FF"/>
                </a:solidFill>
                <a:latin typeface="+mn-lt"/>
              </a:rPr>
              <a:t>           //</a:t>
            </a:r>
            <a:r>
              <a:rPr lang="zh-CN" altLang="en-US" sz="2200" b="1" dirty="0">
                <a:solidFill>
                  <a:srgbClr val="0000FF"/>
                </a:solidFill>
                <a:latin typeface="+mn-lt"/>
              </a:rPr>
              <a:t>记录该点的最小步数</a:t>
            </a:r>
          </a:p>
          <a:p>
            <a:pPr fontAlgn="auto">
              <a:lnSpc>
                <a:spcPct val="80000"/>
              </a:lnSpc>
              <a:spcAft>
                <a:spcPts val="0"/>
              </a:spcAft>
              <a:buFontTx/>
              <a:buNone/>
              <a:defRPr/>
            </a:pPr>
            <a:r>
              <a:rPr lang="zh-CN" altLang="en-US" sz="2200" b="1" dirty="0">
                <a:solidFill>
                  <a:srgbClr val="0000FF"/>
                </a:solidFill>
                <a:latin typeface="+mn-lt"/>
              </a:rPr>
              <a:t>					</a:t>
            </a:r>
            <a:r>
              <a:rPr lang="en-US" altLang="zh-CN" sz="2200" b="1" dirty="0" err="1">
                <a:solidFill>
                  <a:srgbClr val="0000FF"/>
                </a:solidFill>
                <a:latin typeface="+mn-lt"/>
              </a:rPr>
              <a:t>addtoopen</a:t>
            </a:r>
            <a:r>
              <a:rPr lang="en-US" altLang="zh-CN" sz="2200" b="1" dirty="0">
                <a:solidFill>
                  <a:srgbClr val="0000FF"/>
                </a:solidFill>
                <a:latin typeface="+mn-lt"/>
              </a:rPr>
              <a:t>(</a:t>
            </a:r>
            <a:r>
              <a:rPr lang="en-US" altLang="zh-CN" sz="2200" b="1" dirty="0" err="1">
                <a:solidFill>
                  <a:srgbClr val="0000FF"/>
                </a:solidFill>
                <a:latin typeface="+mn-lt"/>
              </a:rPr>
              <a:t>r,c</a:t>
            </a:r>
            <a:r>
              <a:rPr lang="en-US" altLang="zh-CN" sz="2200" b="1" dirty="0">
                <a:solidFill>
                  <a:srgbClr val="0000FF"/>
                </a:solidFill>
                <a:latin typeface="+mn-lt"/>
              </a:rPr>
              <a:t>);       </a:t>
            </a:r>
          </a:p>
          <a:p>
            <a:pPr fontAlgn="auto">
              <a:lnSpc>
                <a:spcPct val="80000"/>
              </a:lnSpc>
              <a:spcAft>
                <a:spcPts val="0"/>
              </a:spcAft>
              <a:buFontTx/>
              <a:buNone/>
              <a:defRPr/>
            </a:pPr>
            <a:r>
              <a:rPr lang="en-US" altLang="zh-CN" sz="2200" b="1" dirty="0">
                <a:solidFill>
                  <a:srgbClr val="0000FF"/>
                </a:solidFill>
                <a:latin typeface="+mn-lt"/>
              </a:rPr>
              <a:t>          //</a:t>
            </a:r>
            <a:r>
              <a:rPr lang="zh-CN" altLang="en-US" sz="2200" b="1" dirty="0">
                <a:solidFill>
                  <a:srgbClr val="0000FF"/>
                </a:solidFill>
                <a:latin typeface="+mn-lt"/>
              </a:rPr>
              <a:t>把该点加入到</a:t>
            </a:r>
            <a:r>
              <a:rPr lang="en-US" altLang="zh-CN" sz="2200" b="1" dirty="0">
                <a:solidFill>
                  <a:srgbClr val="0000FF"/>
                </a:solidFill>
                <a:latin typeface="+mn-lt"/>
              </a:rPr>
              <a:t>open</a:t>
            </a:r>
            <a:r>
              <a:rPr lang="zh-CN" altLang="en-US" sz="2200" b="1" dirty="0">
                <a:solidFill>
                  <a:srgbClr val="0000FF"/>
                </a:solidFill>
                <a:latin typeface="+mn-lt"/>
              </a:rPr>
              <a:t>表</a:t>
            </a:r>
          </a:p>
          <a:p>
            <a:pPr fontAlgn="auto">
              <a:lnSpc>
                <a:spcPct val="80000"/>
              </a:lnSpc>
              <a:spcAft>
                <a:spcPts val="0"/>
              </a:spcAft>
              <a:buFontTx/>
              <a:buNone/>
              <a:defRPr/>
            </a:pPr>
            <a:r>
              <a:rPr lang="zh-CN" altLang="en-US" sz="2200" b="1" dirty="0">
                <a:solidFill>
                  <a:srgbClr val="0000FF"/>
                </a:solidFill>
                <a:latin typeface="+mn-lt"/>
              </a:rPr>
              <a:t>				</a:t>
            </a:r>
            <a:r>
              <a:rPr lang="en-US" altLang="zh-CN" sz="2200" b="1" dirty="0">
                <a:solidFill>
                  <a:srgbClr val="0000FF"/>
                </a:solidFill>
                <a:latin typeface="+mn-lt"/>
              </a:rPr>
              <a:t>}</a:t>
            </a:r>
          </a:p>
          <a:p>
            <a:pPr fontAlgn="auto">
              <a:lnSpc>
                <a:spcPct val="80000"/>
              </a:lnSpc>
              <a:spcAft>
                <a:spcPts val="0"/>
              </a:spcAft>
              <a:buFontTx/>
              <a:buNone/>
              <a:defRPr/>
            </a:pPr>
            <a:r>
              <a:rPr lang="en-US" altLang="zh-CN" sz="2200" b="1" dirty="0">
                <a:solidFill>
                  <a:srgbClr val="0000FF"/>
                </a:solidFill>
                <a:latin typeface="+mn-lt"/>
              </a:rPr>
              <a:t>			}//end if</a:t>
            </a:r>
          </a:p>
          <a:p>
            <a:pPr fontAlgn="auto">
              <a:lnSpc>
                <a:spcPct val="80000"/>
              </a:lnSpc>
              <a:spcAft>
                <a:spcPts val="0"/>
              </a:spcAft>
              <a:buFontTx/>
              <a:buNone/>
              <a:defRPr/>
            </a:pPr>
            <a:r>
              <a:rPr lang="en-US" altLang="zh-CN" sz="2200" b="1" dirty="0">
                <a:solidFill>
                  <a:srgbClr val="0000FF"/>
                </a:solidFill>
                <a:latin typeface="+mn-lt"/>
              </a:rPr>
              <a:t>		}//end for</a:t>
            </a:r>
          </a:p>
          <a:p>
            <a:pPr fontAlgn="auto">
              <a:lnSpc>
                <a:spcPct val="80000"/>
              </a:lnSpc>
              <a:spcAft>
                <a:spcPts val="0"/>
              </a:spcAft>
              <a:buFontTx/>
              <a:buNone/>
              <a:defRPr/>
            </a:pPr>
            <a:r>
              <a:rPr lang="en-US" altLang="zh-CN" sz="2200" b="1" dirty="0">
                <a:solidFill>
                  <a:srgbClr val="0000FF"/>
                </a:solidFill>
                <a:latin typeface="+mn-lt"/>
              </a:rPr>
              <a:t>	}//end while</a:t>
            </a:r>
          </a:p>
          <a:p>
            <a:pPr fontAlgn="auto">
              <a:lnSpc>
                <a:spcPct val="80000"/>
              </a:lnSpc>
              <a:spcAft>
                <a:spcPts val="0"/>
              </a:spcAft>
              <a:buFontTx/>
              <a:buNone/>
              <a:defRPr/>
            </a:pPr>
            <a:r>
              <a:rPr lang="en-US" altLang="zh-CN" sz="2200" b="1" dirty="0">
                <a:solidFill>
                  <a:srgbClr val="0000FF"/>
                </a:solidFill>
                <a:latin typeface="+mn-lt"/>
              </a:rPr>
              <a:t>	return -1;}</a:t>
            </a:r>
            <a:endParaRPr lang="zh-CN" altLang="en-US" sz="2200" b="1" dirty="0">
              <a:solidFill>
                <a:srgbClr val="0000FF"/>
              </a:solidFill>
              <a:latin typeface="+mn-lt"/>
            </a:endParaRP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2EA3C951-4071-D5AF-DCEB-E67CF60CE0D8}"/>
              </a:ext>
            </a:extLst>
          </p:cNvPr>
          <p:cNvSpPr>
            <a:spLocks noGrp="1" noChangeArrowheads="1"/>
          </p:cNvSpPr>
          <p:nvPr>
            <p:ph type="body" idx="4294967295"/>
          </p:nvPr>
        </p:nvSpPr>
        <p:spPr>
          <a:xfrm>
            <a:off x="1198662" y="1270000"/>
            <a:ext cx="2304256" cy="4114800"/>
          </a:xfrm>
          <a:ln w="15875">
            <a:solidFill>
              <a:schemeClr val="accent6"/>
            </a:solidFill>
          </a:ln>
        </p:spPr>
        <p:txBody>
          <a:bodyPr>
            <a:normAutofit/>
          </a:bodyPr>
          <a:lstStyle/>
          <a:p>
            <a:pPr eaLnBrk="1" hangingPunct="1">
              <a:buFontTx/>
              <a:buNone/>
            </a:pPr>
            <a:r>
              <a:rPr lang="en-US" altLang="zh-CN" sz="2200" b="1" dirty="0">
                <a:solidFill>
                  <a:srgbClr val="0000FF"/>
                </a:solidFill>
              </a:rPr>
              <a:t>int </a:t>
            </a:r>
            <a:r>
              <a:rPr lang="en-US" altLang="zh-CN" sz="2200" b="1" dirty="0" err="1">
                <a:solidFill>
                  <a:srgbClr val="0000FF"/>
                </a:solidFill>
              </a:rPr>
              <a:t>emptyopen</a:t>
            </a:r>
            <a:r>
              <a:rPr lang="en-US" altLang="zh-CN" sz="2200" b="1" dirty="0">
                <a:solidFill>
                  <a:srgbClr val="0000FF"/>
                </a:solidFill>
              </a:rPr>
              <a:t>()</a:t>
            </a:r>
          </a:p>
          <a:p>
            <a:pPr eaLnBrk="1" hangingPunct="1">
              <a:buFontTx/>
              <a:buNone/>
            </a:pPr>
            <a:r>
              <a:rPr lang="en-US" altLang="zh-CN" sz="2200" b="1" dirty="0">
                <a:solidFill>
                  <a:srgbClr val="0000FF"/>
                </a:solidFill>
              </a:rPr>
              <a:t>{</a:t>
            </a:r>
          </a:p>
          <a:p>
            <a:pPr eaLnBrk="1" hangingPunct="1">
              <a:buFontTx/>
              <a:buNone/>
            </a:pPr>
            <a:r>
              <a:rPr lang="en-US" altLang="zh-CN" sz="2200" b="1" dirty="0">
                <a:solidFill>
                  <a:srgbClr val="0000FF"/>
                </a:solidFill>
              </a:rPr>
              <a:t>	if(head==tail)</a:t>
            </a:r>
          </a:p>
          <a:p>
            <a:pPr eaLnBrk="1" hangingPunct="1">
              <a:buFontTx/>
              <a:buNone/>
            </a:pPr>
            <a:r>
              <a:rPr lang="en-US" altLang="zh-CN" sz="2200" b="1" dirty="0">
                <a:solidFill>
                  <a:srgbClr val="0000FF"/>
                </a:solidFill>
              </a:rPr>
              <a:t>		return(1);</a:t>
            </a:r>
          </a:p>
          <a:p>
            <a:pPr eaLnBrk="1" hangingPunct="1">
              <a:buFontTx/>
              <a:buNone/>
            </a:pPr>
            <a:r>
              <a:rPr lang="en-US" altLang="zh-CN" sz="2200" b="1" dirty="0">
                <a:solidFill>
                  <a:srgbClr val="0000FF"/>
                </a:solidFill>
              </a:rPr>
              <a:t>	else</a:t>
            </a:r>
          </a:p>
          <a:p>
            <a:pPr eaLnBrk="1" hangingPunct="1">
              <a:buFontTx/>
              <a:buNone/>
            </a:pPr>
            <a:r>
              <a:rPr lang="en-US" altLang="zh-CN" sz="2200" b="1" dirty="0">
                <a:solidFill>
                  <a:srgbClr val="0000FF"/>
                </a:solidFill>
              </a:rPr>
              <a:t>		return(0);</a:t>
            </a:r>
          </a:p>
          <a:p>
            <a:pPr eaLnBrk="1" hangingPunct="1">
              <a:buFontTx/>
              <a:buNone/>
            </a:pPr>
            <a:r>
              <a:rPr lang="en-US" altLang="zh-CN" sz="2200" b="1" dirty="0">
                <a:solidFill>
                  <a:srgbClr val="0000FF"/>
                </a:solidFill>
              </a:rPr>
              <a:t>}</a:t>
            </a:r>
          </a:p>
        </p:txBody>
      </p:sp>
      <p:sp>
        <p:nvSpPr>
          <p:cNvPr id="2" name="Rectangle 3">
            <a:extLst>
              <a:ext uri="{FF2B5EF4-FFF2-40B4-BE49-F238E27FC236}">
                <a16:creationId xmlns:a16="http://schemas.microsoft.com/office/drawing/2014/main" id="{BF69693F-99FB-6530-010C-B9EDD6C32C86}"/>
              </a:ext>
            </a:extLst>
          </p:cNvPr>
          <p:cNvSpPr txBox="1">
            <a:spLocks noChangeArrowheads="1"/>
          </p:cNvSpPr>
          <p:nvPr/>
        </p:nvSpPr>
        <p:spPr>
          <a:xfrm>
            <a:off x="4006974" y="1270000"/>
            <a:ext cx="5684168" cy="4114800"/>
          </a:xfrm>
          <a:prstGeom prst="rect">
            <a:avLst/>
          </a:prstGeom>
          <a:ln w="15875">
            <a:solidFill>
              <a:schemeClr val="accent6"/>
            </a:solidFill>
          </a:ln>
        </p:spPr>
        <p:txBody>
          <a:bodyPr vert="horz" rtlCol="0">
            <a:normAutofit/>
          </a:bodyPr>
          <a:lstStyle>
            <a:lvl1pPr marL="342866" indent="-342866"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876" indent="-285721"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2886" indent="-228577"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040" indent="-228577"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194"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349"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503" indent="-228577"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8657" indent="-228577"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811" indent="-228577"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pPr marL="228577" indent="-228577" defTabSz="914309" fontAlgn="auto">
              <a:lnSpc>
                <a:spcPct val="80000"/>
              </a:lnSpc>
              <a:spcAft>
                <a:spcPts val="0"/>
              </a:spcAft>
              <a:buFontTx/>
              <a:buNone/>
              <a:defRPr/>
            </a:pPr>
            <a:r>
              <a:rPr lang="en-US" altLang="zh-CN" sz="2200" b="1" dirty="0">
                <a:solidFill>
                  <a:srgbClr val="0000FF"/>
                </a:solidFill>
              </a:rPr>
              <a:t>long </a:t>
            </a:r>
            <a:r>
              <a:rPr lang="en-US" altLang="zh-CN" sz="2200" b="1" dirty="0" err="1">
                <a:solidFill>
                  <a:srgbClr val="0000FF"/>
                </a:solidFill>
              </a:rPr>
              <a:t>takeoutofopen</a:t>
            </a:r>
            <a:r>
              <a:rPr lang="en-US" altLang="zh-CN" sz="2200" b="1" dirty="0">
                <a:solidFill>
                  <a:srgbClr val="0000FF"/>
                </a:solidFill>
              </a:rPr>
              <a:t>()</a:t>
            </a:r>
          </a:p>
          <a:p>
            <a:pPr marL="228577" indent="-228577" defTabSz="914309" fontAlgn="auto">
              <a:lnSpc>
                <a:spcPct val="80000"/>
              </a:lnSpc>
              <a:spcAft>
                <a:spcPts val="0"/>
              </a:spcAft>
              <a:buFontTx/>
              <a:buNone/>
              <a:defRPr/>
            </a:pPr>
            <a:r>
              <a:rPr lang="en-US" altLang="zh-CN" sz="2200" b="1" dirty="0">
                <a:solidFill>
                  <a:srgbClr val="0000FF"/>
                </a:solidFill>
              </a:rPr>
              <a:t>{</a:t>
            </a:r>
          </a:p>
          <a:p>
            <a:pPr marL="228577" indent="-228577" defTabSz="914309" fontAlgn="auto">
              <a:lnSpc>
                <a:spcPct val="80000"/>
              </a:lnSpc>
              <a:spcAft>
                <a:spcPts val="0"/>
              </a:spcAft>
              <a:buFontTx/>
              <a:buNone/>
              <a:defRPr/>
            </a:pPr>
            <a:r>
              <a:rPr lang="en-US" altLang="zh-CN" sz="2200" b="1" dirty="0">
                <a:solidFill>
                  <a:srgbClr val="0000FF"/>
                </a:solidFill>
              </a:rPr>
              <a:t>	long u;</a:t>
            </a:r>
          </a:p>
          <a:p>
            <a:pPr marL="228577" indent="-228577" defTabSz="914309" fontAlgn="auto">
              <a:lnSpc>
                <a:spcPct val="80000"/>
              </a:lnSpc>
              <a:spcAft>
                <a:spcPts val="0"/>
              </a:spcAft>
              <a:buFontTx/>
              <a:buNone/>
              <a:defRPr/>
            </a:pPr>
            <a:r>
              <a:rPr lang="en-US" altLang="zh-CN" sz="2200" b="1" dirty="0">
                <a:solidFill>
                  <a:srgbClr val="0000FF"/>
                </a:solidFill>
              </a:rPr>
              <a:t>	if(head==tail)</a:t>
            </a:r>
          </a:p>
          <a:p>
            <a:pPr marL="228577" indent="-228577" defTabSz="914309" fontAlgn="auto">
              <a:lnSpc>
                <a:spcPct val="80000"/>
              </a:lnSpc>
              <a:spcAft>
                <a:spcPts val="0"/>
              </a:spcAft>
              <a:buFontTx/>
              <a:buNone/>
              <a:defRPr/>
            </a:pPr>
            <a:r>
              <a:rPr lang="en-US" altLang="zh-CN" sz="2200" b="1" dirty="0">
                <a:solidFill>
                  <a:srgbClr val="0000FF"/>
                </a:solidFill>
              </a:rPr>
              <a:t>	{</a:t>
            </a:r>
          </a:p>
          <a:p>
            <a:pPr marL="228577" indent="-228577" defTabSz="914309" fontAlgn="auto">
              <a:lnSpc>
                <a:spcPct val="80000"/>
              </a:lnSpc>
              <a:spcAft>
                <a:spcPts val="0"/>
              </a:spcAft>
              <a:buFontTx/>
              <a:buNone/>
              <a:defRPr/>
            </a:pPr>
            <a:r>
              <a:rPr lang="en-US" altLang="zh-CN" sz="2200" b="1" dirty="0">
                <a:solidFill>
                  <a:srgbClr val="0000FF"/>
                </a:solidFill>
              </a:rPr>
              <a:t>		</a:t>
            </a:r>
            <a:r>
              <a:rPr lang="en-US" altLang="zh-CN" sz="2200" b="1" dirty="0" err="1">
                <a:solidFill>
                  <a:srgbClr val="0000FF"/>
                </a:solidFill>
              </a:rPr>
              <a:t>printf</a:t>
            </a:r>
            <a:r>
              <a:rPr lang="en-US" altLang="zh-CN" sz="2200" b="1" dirty="0">
                <a:solidFill>
                  <a:srgbClr val="0000FF"/>
                </a:solidFill>
              </a:rPr>
              <a:t>("</a:t>
            </a:r>
            <a:r>
              <a:rPr lang="en-US" altLang="zh-CN" sz="2200" b="1" dirty="0" err="1">
                <a:solidFill>
                  <a:srgbClr val="0000FF"/>
                </a:solidFill>
              </a:rPr>
              <a:t>errer</a:t>
            </a:r>
            <a:r>
              <a:rPr lang="en-US" altLang="zh-CN" sz="2200" b="1" dirty="0">
                <a:solidFill>
                  <a:srgbClr val="0000FF"/>
                </a:solidFill>
              </a:rPr>
              <a:t>: open table is empty");</a:t>
            </a:r>
          </a:p>
          <a:p>
            <a:pPr marL="228577" indent="-228577" defTabSz="914309" fontAlgn="auto">
              <a:lnSpc>
                <a:spcPct val="80000"/>
              </a:lnSpc>
              <a:spcAft>
                <a:spcPts val="0"/>
              </a:spcAft>
              <a:buFontTx/>
              <a:buNone/>
              <a:defRPr/>
            </a:pPr>
            <a:r>
              <a:rPr lang="en-US" altLang="zh-CN" sz="2200" b="1" dirty="0">
                <a:solidFill>
                  <a:srgbClr val="0000FF"/>
                </a:solidFill>
              </a:rPr>
              <a:t>		return(-1);</a:t>
            </a:r>
          </a:p>
          <a:p>
            <a:pPr marL="228577" indent="-228577" defTabSz="914309" fontAlgn="auto">
              <a:lnSpc>
                <a:spcPct val="80000"/>
              </a:lnSpc>
              <a:spcAft>
                <a:spcPts val="0"/>
              </a:spcAft>
              <a:buFontTx/>
              <a:buNone/>
              <a:defRPr/>
            </a:pPr>
            <a:r>
              <a:rPr lang="en-US" altLang="zh-CN" sz="2200" b="1" dirty="0">
                <a:solidFill>
                  <a:srgbClr val="0000FF"/>
                </a:solidFill>
              </a:rPr>
              <a:t>	}</a:t>
            </a:r>
          </a:p>
          <a:p>
            <a:pPr marL="228577" indent="-228577" defTabSz="914309" fontAlgn="auto">
              <a:lnSpc>
                <a:spcPct val="80000"/>
              </a:lnSpc>
              <a:spcAft>
                <a:spcPts val="0"/>
              </a:spcAft>
              <a:buFontTx/>
              <a:buNone/>
              <a:defRPr/>
            </a:pPr>
            <a:r>
              <a:rPr lang="en-US" altLang="zh-CN" sz="2200" b="1" dirty="0">
                <a:solidFill>
                  <a:srgbClr val="0000FF"/>
                </a:solidFill>
              </a:rPr>
              <a:t>	u=open[head++];</a:t>
            </a:r>
          </a:p>
          <a:p>
            <a:pPr marL="228577" indent="-228577" defTabSz="914309" fontAlgn="auto">
              <a:lnSpc>
                <a:spcPct val="80000"/>
              </a:lnSpc>
              <a:spcAft>
                <a:spcPts val="0"/>
              </a:spcAft>
              <a:buFontTx/>
              <a:buNone/>
              <a:defRPr/>
            </a:pPr>
            <a:r>
              <a:rPr lang="en-US" altLang="zh-CN" sz="2200" b="1" dirty="0">
                <a:solidFill>
                  <a:srgbClr val="0000FF"/>
                </a:solidFill>
              </a:rPr>
              <a:t>	head=</a:t>
            </a:r>
            <a:r>
              <a:rPr lang="en-US" altLang="zh-CN" sz="2200" b="1" dirty="0" err="1">
                <a:solidFill>
                  <a:srgbClr val="0000FF"/>
                </a:solidFill>
              </a:rPr>
              <a:t>head%openlen</a:t>
            </a:r>
            <a:r>
              <a:rPr lang="en-US" altLang="zh-CN" sz="2200" b="1" dirty="0">
                <a:solidFill>
                  <a:srgbClr val="0000FF"/>
                </a:solidFill>
              </a:rPr>
              <a:t>;</a:t>
            </a:r>
          </a:p>
          <a:p>
            <a:pPr marL="228577" indent="-228577" defTabSz="914309" fontAlgn="auto">
              <a:lnSpc>
                <a:spcPct val="80000"/>
              </a:lnSpc>
              <a:spcAft>
                <a:spcPts val="0"/>
              </a:spcAft>
              <a:buFontTx/>
              <a:buNone/>
              <a:defRPr/>
            </a:pPr>
            <a:r>
              <a:rPr lang="en-US" altLang="zh-CN" sz="2200" b="1" dirty="0">
                <a:solidFill>
                  <a:srgbClr val="0000FF"/>
                </a:solidFill>
              </a:rPr>
              <a:t>	return(u);</a:t>
            </a:r>
          </a:p>
          <a:p>
            <a:pPr marL="228577" indent="-228577" defTabSz="914309" fontAlgn="auto">
              <a:lnSpc>
                <a:spcPct val="80000"/>
              </a:lnSpc>
              <a:spcAft>
                <a:spcPts val="0"/>
              </a:spcAft>
              <a:buFontTx/>
              <a:buNone/>
              <a:defRPr/>
            </a:pPr>
            <a:r>
              <a:rPr lang="en-US" altLang="zh-CN" sz="2200" b="1" dirty="0">
                <a:solidFill>
                  <a:srgbClr val="0000FF"/>
                </a:solidFill>
              </a:rPr>
              <a:t>}</a:t>
            </a: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31746" name="Rectangle 3">
            <a:extLst>
              <a:ext uri="{FF2B5EF4-FFF2-40B4-BE49-F238E27FC236}">
                <a16:creationId xmlns:a16="http://schemas.microsoft.com/office/drawing/2014/main" id="{31F53BE5-0C31-07D9-F34F-075BFEBAADA2}"/>
              </a:ext>
            </a:extLst>
          </p:cNvPr>
          <p:cNvSpPr>
            <a:spLocks noGrp="1" noChangeArrowheads="1"/>
          </p:cNvSpPr>
          <p:nvPr>
            <p:ph type="body" idx="4294967295"/>
          </p:nvPr>
        </p:nvSpPr>
        <p:spPr>
          <a:xfrm>
            <a:off x="838622" y="1197547"/>
            <a:ext cx="3240360" cy="4463355"/>
          </a:xfrm>
          <a:ln w="15875">
            <a:solidFill>
              <a:schemeClr val="accent6"/>
            </a:solidFill>
          </a:ln>
        </p:spPr>
        <p:txBody>
          <a:bodyPr>
            <a:normAutofit/>
          </a:bodyPr>
          <a:lstStyle/>
          <a:p>
            <a:pPr eaLnBrk="1" hangingPunct="1">
              <a:buFontTx/>
              <a:buNone/>
            </a:pPr>
            <a:r>
              <a:rPr lang="en-US" altLang="zh-CN" sz="2200" b="1" dirty="0">
                <a:solidFill>
                  <a:srgbClr val="0000FF"/>
                </a:solidFill>
              </a:rPr>
              <a:t>int used(int row, int col)</a:t>
            </a:r>
          </a:p>
          <a:p>
            <a:pPr eaLnBrk="1" hangingPunct="1">
              <a:buFontTx/>
              <a:buNone/>
            </a:pPr>
            <a:r>
              <a:rPr lang="en-US" altLang="zh-CN" sz="2200" b="1" dirty="0">
                <a:solidFill>
                  <a:srgbClr val="0000FF"/>
                </a:solidFill>
              </a:rPr>
              <a:t>{</a:t>
            </a:r>
          </a:p>
          <a:p>
            <a:pPr eaLnBrk="1" hangingPunct="1">
              <a:buFontTx/>
              <a:buNone/>
            </a:pPr>
            <a:r>
              <a:rPr lang="en-US" altLang="zh-CN" sz="2200" b="1" dirty="0">
                <a:solidFill>
                  <a:srgbClr val="0000FF"/>
                </a:solidFill>
              </a:rPr>
              <a:t>	if(a[row][col]==0)</a:t>
            </a:r>
          </a:p>
          <a:p>
            <a:pPr eaLnBrk="1" hangingPunct="1">
              <a:buFontTx/>
              <a:buNone/>
            </a:pPr>
            <a:r>
              <a:rPr lang="en-US" altLang="zh-CN" sz="2200" b="1" dirty="0">
                <a:solidFill>
                  <a:srgbClr val="0000FF"/>
                </a:solidFill>
              </a:rPr>
              <a:t>		return(0);</a:t>
            </a:r>
          </a:p>
          <a:p>
            <a:pPr eaLnBrk="1" hangingPunct="1">
              <a:buFontTx/>
              <a:buNone/>
            </a:pPr>
            <a:r>
              <a:rPr lang="en-US" altLang="zh-CN" sz="2200" b="1" dirty="0">
                <a:solidFill>
                  <a:srgbClr val="0000FF"/>
                </a:solidFill>
              </a:rPr>
              <a:t>	else</a:t>
            </a:r>
          </a:p>
          <a:p>
            <a:pPr eaLnBrk="1" hangingPunct="1">
              <a:buFontTx/>
              <a:buNone/>
            </a:pPr>
            <a:r>
              <a:rPr lang="en-US" altLang="zh-CN" sz="2200" b="1" dirty="0">
                <a:solidFill>
                  <a:srgbClr val="0000FF"/>
                </a:solidFill>
              </a:rPr>
              <a:t>		return(1);</a:t>
            </a:r>
          </a:p>
          <a:p>
            <a:pPr eaLnBrk="1" hangingPunct="1">
              <a:buFontTx/>
              <a:buNone/>
            </a:pPr>
            <a:r>
              <a:rPr lang="en-US" altLang="zh-CN" sz="2200" b="1" dirty="0">
                <a:solidFill>
                  <a:srgbClr val="0000FF"/>
                </a:solidFill>
              </a:rPr>
              <a:t>}</a:t>
            </a:r>
          </a:p>
        </p:txBody>
      </p:sp>
      <p:sp>
        <p:nvSpPr>
          <p:cNvPr id="2" name="Rectangle 3">
            <a:extLst>
              <a:ext uri="{FF2B5EF4-FFF2-40B4-BE49-F238E27FC236}">
                <a16:creationId xmlns:a16="http://schemas.microsoft.com/office/drawing/2014/main" id="{A79E00F0-06FC-0DA1-70BD-9AC65DBADAD6}"/>
              </a:ext>
            </a:extLst>
          </p:cNvPr>
          <p:cNvSpPr txBox="1">
            <a:spLocks noChangeArrowheads="1"/>
          </p:cNvSpPr>
          <p:nvPr/>
        </p:nvSpPr>
        <p:spPr>
          <a:xfrm>
            <a:off x="4439022" y="1204533"/>
            <a:ext cx="5087094" cy="4463355"/>
          </a:xfrm>
          <a:prstGeom prst="rect">
            <a:avLst/>
          </a:prstGeom>
          <a:ln w="15875">
            <a:solidFill>
              <a:schemeClr val="accent6"/>
            </a:solidFill>
          </a:ln>
        </p:spPr>
        <p:txBody>
          <a:bodyPr vert="horz">
            <a:normAutofit/>
          </a:bodyPr>
          <a:lstStyle>
            <a:lvl1pPr marL="342866" indent="-342866"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876" indent="-285721"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2886" indent="-228577"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040" indent="-228577"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194"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349"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503" indent="-228577"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8657" indent="-228577"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811" indent="-228577"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pPr defTabSz="914400" fontAlgn="auto">
              <a:spcAft>
                <a:spcPts val="0"/>
              </a:spcAft>
              <a:buFontTx/>
              <a:buNone/>
            </a:pPr>
            <a:r>
              <a:rPr lang="en-US" altLang="zh-CN" sz="2200" b="1" dirty="0">
                <a:solidFill>
                  <a:srgbClr val="0000FF"/>
                </a:solidFill>
              </a:rPr>
              <a:t>void </a:t>
            </a:r>
            <a:r>
              <a:rPr lang="en-US" altLang="zh-CN" sz="2200" b="1" dirty="0" err="1">
                <a:solidFill>
                  <a:srgbClr val="0000FF"/>
                </a:solidFill>
              </a:rPr>
              <a:t>addtoopen</a:t>
            </a:r>
            <a:r>
              <a:rPr lang="en-US" altLang="zh-CN" sz="2200" b="1" dirty="0">
                <a:solidFill>
                  <a:srgbClr val="0000FF"/>
                </a:solidFill>
              </a:rPr>
              <a:t>(int row, int col)</a:t>
            </a:r>
          </a:p>
          <a:p>
            <a:pPr defTabSz="914400" fontAlgn="auto">
              <a:spcAft>
                <a:spcPts val="0"/>
              </a:spcAft>
              <a:buFontTx/>
              <a:buNone/>
            </a:pPr>
            <a:r>
              <a:rPr lang="en-US" altLang="zh-CN" sz="2200" b="1" dirty="0">
                <a:solidFill>
                  <a:srgbClr val="0000FF"/>
                </a:solidFill>
              </a:rPr>
              <a:t>{</a:t>
            </a:r>
          </a:p>
          <a:p>
            <a:pPr defTabSz="914400" fontAlgn="auto">
              <a:spcAft>
                <a:spcPts val="0"/>
              </a:spcAft>
              <a:buFontTx/>
              <a:buNone/>
            </a:pPr>
            <a:r>
              <a:rPr lang="en-US" altLang="zh-CN" sz="2200" b="1" dirty="0">
                <a:solidFill>
                  <a:srgbClr val="0000FF"/>
                </a:solidFill>
              </a:rPr>
              <a:t>	int u;</a:t>
            </a:r>
          </a:p>
          <a:p>
            <a:pPr defTabSz="914400" fontAlgn="auto">
              <a:spcAft>
                <a:spcPts val="0"/>
              </a:spcAft>
              <a:buFontTx/>
              <a:buNone/>
            </a:pPr>
            <a:r>
              <a:rPr lang="en-US" altLang="zh-CN" sz="2200" b="1" dirty="0">
                <a:solidFill>
                  <a:srgbClr val="0000FF"/>
                </a:solidFill>
              </a:rPr>
              <a:t>	if((tail+1)%</a:t>
            </a:r>
            <a:r>
              <a:rPr lang="en-US" altLang="zh-CN" sz="2200" b="1" dirty="0" err="1">
                <a:solidFill>
                  <a:srgbClr val="0000FF"/>
                </a:solidFill>
              </a:rPr>
              <a:t>openlen</a:t>
            </a:r>
            <a:r>
              <a:rPr lang="en-US" altLang="zh-CN" sz="2200" b="1" dirty="0">
                <a:solidFill>
                  <a:srgbClr val="0000FF"/>
                </a:solidFill>
              </a:rPr>
              <a:t>==head)//</a:t>
            </a:r>
            <a:r>
              <a:rPr lang="zh-CN" altLang="en-US" sz="2200" b="1" dirty="0">
                <a:solidFill>
                  <a:srgbClr val="0000FF"/>
                </a:solidFill>
              </a:rPr>
              <a:t>有改动</a:t>
            </a:r>
          </a:p>
          <a:p>
            <a:pPr defTabSz="914400" fontAlgn="auto">
              <a:spcAft>
                <a:spcPts val="0"/>
              </a:spcAft>
              <a:buFontTx/>
              <a:buNone/>
            </a:pPr>
            <a:r>
              <a:rPr lang="zh-CN" altLang="en-US" sz="2200" b="1" dirty="0">
                <a:solidFill>
                  <a:srgbClr val="0000FF"/>
                </a:solidFill>
              </a:rPr>
              <a:t>		</a:t>
            </a:r>
            <a:r>
              <a:rPr lang="en-US" altLang="zh-CN" sz="2200" b="1" dirty="0" err="1">
                <a:solidFill>
                  <a:srgbClr val="0000FF"/>
                </a:solidFill>
              </a:rPr>
              <a:t>printf</a:t>
            </a:r>
            <a:r>
              <a:rPr lang="en-US" altLang="zh-CN" sz="2200" b="1" dirty="0">
                <a:solidFill>
                  <a:srgbClr val="0000FF"/>
                </a:solidFill>
              </a:rPr>
              <a:t>("open table overflow");</a:t>
            </a:r>
          </a:p>
          <a:p>
            <a:pPr defTabSz="914400" fontAlgn="auto">
              <a:spcAft>
                <a:spcPts val="0"/>
              </a:spcAft>
              <a:buFontTx/>
              <a:buNone/>
            </a:pPr>
            <a:r>
              <a:rPr lang="en-US" altLang="zh-CN" sz="2200" b="1" dirty="0">
                <a:solidFill>
                  <a:srgbClr val="0000FF"/>
                </a:solidFill>
              </a:rPr>
              <a:t>	u=row;</a:t>
            </a:r>
          </a:p>
          <a:p>
            <a:pPr defTabSz="914400" fontAlgn="auto">
              <a:spcAft>
                <a:spcPts val="0"/>
              </a:spcAft>
              <a:buFontTx/>
              <a:buNone/>
            </a:pPr>
            <a:r>
              <a:rPr lang="en-US" altLang="zh-CN" sz="2200" b="1" dirty="0">
                <a:solidFill>
                  <a:srgbClr val="0000FF"/>
                </a:solidFill>
              </a:rPr>
              <a:t>	u=u*</a:t>
            </a:r>
            <a:r>
              <a:rPr lang="en-US" altLang="zh-CN" sz="2200" b="1" dirty="0" err="1">
                <a:solidFill>
                  <a:srgbClr val="0000FF"/>
                </a:solidFill>
              </a:rPr>
              <a:t>n+col</a:t>
            </a:r>
            <a:r>
              <a:rPr lang="en-US" altLang="zh-CN" sz="2200" b="1" dirty="0">
                <a:solidFill>
                  <a:srgbClr val="0000FF"/>
                </a:solidFill>
              </a:rPr>
              <a:t>;</a:t>
            </a:r>
          </a:p>
          <a:p>
            <a:pPr defTabSz="914400" fontAlgn="auto">
              <a:spcAft>
                <a:spcPts val="0"/>
              </a:spcAft>
              <a:buFontTx/>
              <a:buNone/>
            </a:pPr>
            <a:r>
              <a:rPr lang="en-US" altLang="zh-CN" sz="2200" b="1" dirty="0">
                <a:solidFill>
                  <a:srgbClr val="0000FF"/>
                </a:solidFill>
              </a:rPr>
              <a:t>	open[tail++]= u;</a:t>
            </a:r>
          </a:p>
          <a:p>
            <a:pPr defTabSz="914400" fontAlgn="auto">
              <a:spcAft>
                <a:spcPts val="0"/>
              </a:spcAft>
              <a:buFontTx/>
              <a:buNone/>
            </a:pPr>
            <a:r>
              <a:rPr lang="en-US" altLang="zh-CN" sz="2200" b="1" dirty="0">
                <a:solidFill>
                  <a:srgbClr val="0000FF"/>
                </a:solidFill>
              </a:rPr>
              <a:t>	tail=</a:t>
            </a:r>
            <a:r>
              <a:rPr lang="en-US" altLang="zh-CN" sz="2200" b="1" dirty="0" err="1">
                <a:solidFill>
                  <a:srgbClr val="0000FF"/>
                </a:solidFill>
              </a:rPr>
              <a:t>tail%openlen</a:t>
            </a:r>
            <a:r>
              <a:rPr lang="en-US" altLang="zh-CN" sz="2200" b="1" dirty="0">
                <a:solidFill>
                  <a:srgbClr val="0000FF"/>
                </a:solidFill>
              </a:rPr>
              <a:t>;</a:t>
            </a:r>
          </a:p>
          <a:p>
            <a:pPr defTabSz="914400" fontAlgn="auto">
              <a:spcAft>
                <a:spcPts val="0"/>
              </a:spcAft>
              <a:buFontTx/>
              <a:buNone/>
            </a:pPr>
            <a:r>
              <a:rPr lang="en-US" altLang="zh-CN" sz="2200" b="1" dirty="0">
                <a:solidFill>
                  <a:srgbClr val="0000FF"/>
                </a:solidFill>
              </a:rPr>
              <a:t>}</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33794" name="Rectangle 3">
            <a:extLst>
              <a:ext uri="{FF2B5EF4-FFF2-40B4-BE49-F238E27FC236}">
                <a16:creationId xmlns:a16="http://schemas.microsoft.com/office/drawing/2014/main" id="{B78E102C-A8F1-BA2F-6DD6-3DAE562252D7}"/>
              </a:ext>
            </a:extLst>
          </p:cNvPr>
          <p:cNvSpPr>
            <a:spLocks noGrp="1" noChangeArrowheads="1"/>
          </p:cNvSpPr>
          <p:nvPr>
            <p:ph type="body" idx="4294967295"/>
          </p:nvPr>
        </p:nvSpPr>
        <p:spPr>
          <a:xfrm>
            <a:off x="1054646" y="1197546"/>
            <a:ext cx="5231110" cy="3888432"/>
          </a:xfrm>
          <a:ln w="15875">
            <a:solidFill>
              <a:schemeClr val="accent6"/>
            </a:solidFill>
          </a:ln>
        </p:spPr>
        <p:txBody>
          <a:bodyPr>
            <a:normAutofit/>
          </a:bodyPr>
          <a:lstStyle/>
          <a:p>
            <a:pPr eaLnBrk="1" hangingPunct="1">
              <a:buFontTx/>
              <a:buNone/>
            </a:pPr>
            <a:r>
              <a:rPr lang="en-US" altLang="zh-CN" sz="2200" b="1" dirty="0">
                <a:solidFill>
                  <a:srgbClr val="0000FF"/>
                </a:solidFill>
              </a:rPr>
              <a:t>void </a:t>
            </a:r>
            <a:r>
              <a:rPr lang="en-US" altLang="zh-CN" sz="2200" b="1" dirty="0" err="1">
                <a:solidFill>
                  <a:srgbClr val="0000FF"/>
                </a:solidFill>
              </a:rPr>
              <a:t>readdata</a:t>
            </a:r>
            <a:r>
              <a:rPr lang="en-US" altLang="zh-CN" sz="2200" b="1" dirty="0">
                <a:solidFill>
                  <a:srgbClr val="0000FF"/>
                </a:solidFill>
              </a:rPr>
              <a:t>()</a:t>
            </a:r>
          </a:p>
          <a:p>
            <a:pPr eaLnBrk="1" hangingPunct="1">
              <a:buFontTx/>
              <a:buNone/>
            </a:pPr>
            <a:r>
              <a:rPr lang="en-US" altLang="zh-CN" sz="2200" b="1" dirty="0">
                <a:solidFill>
                  <a:srgbClr val="0000FF"/>
                </a:solidFill>
              </a:rPr>
              <a:t>{</a:t>
            </a:r>
          </a:p>
          <a:p>
            <a:pPr eaLnBrk="1" hangingPunct="1">
              <a:buFontTx/>
              <a:buNone/>
            </a:pPr>
            <a:r>
              <a:rPr lang="en-US" altLang="zh-CN" sz="2200" b="1" dirty="0">
                <a:solidFill>
                  <a:srgbClr val="0000FF"/>
                </a:solidFill>
              </a:rPr>
              <a:t>	long </a:t>
            </a:r>
            <a:r>
              <a:rPr lang="en-US" altLang="zh-CN" sz="2200" b="1" dirty="0" err="1">
                <a:solidFill>
                  <a:srgbClr val="0000FF"/>
                </a:solidFill>
              </a:rPr>
              <a:t>row,col</a:t>
            </a:r>
            <a:r>
              <a:rPr lang="en-US" altLang="zh-CN" sz="2200" b="1" dirty="0">
                <a:solidFill>
                  <a:srgbClr val="0000FF"/>
                </a:solidFill>
              </a:rPr>
              <a:t>;</a:t>
            </a:r>
          </a:p>
          <a:p>
            <a:pPr eaLnBrk="1" hangingPunct="1">
              <a:buFontTx/>
              <a:buNone/>
            </a:pPr>
            <a:r>
              <a:rPr lang="en-US" altLang="zh-CN" sz="2200" b="1" dirty="0">
                <a:solidFill>
                  <a:srgbClr val="0000FF"/>
                </a:solidFill>
              </a:rPr>
              <a:t>	</a:t>
            </a:r>
            <a:r>
              <a:rPr lang="en-US" altLang="zh-CN" sz="2200" b="1" dirty="0" err="1">
                <a:solidFill>
                  <a:srgbClr val="0000FF"/>
                </a:solidFill>
              </a:rPr>
              <a:t>scanf</a:t>
            </a:r>
            <a:r>
              <a:rPr lang="en-US" altLang="zh-CN" sz="2200" b="1" dirty="0">
                <a:solidFill>
                  <a:srgbClr val="0000FF"/>
                </a:solidFill>
              </a:rPr>
              <a:t>("%</a:t>
            </a:r>
            <a:r>
              <a:rPr lang="en-US" altLang="zh-CN" sz="2200" b="1" dirty="0" err="1">
                <a:solidFill>
                  <a:srgbClr val="0000FF"/>
                </a:solidFill>
              </a:rPr>
              <a:t>ld%ld</a:t>
            </a:r>
            <a:r>
              <a:rPr lang="en-US" altLang="zh-CN" sz="2200" b="1" dirty="0">
                <a:solidFill>
                  <a:srgbClr val="0000FF"/>
                </a:solidFill>
              </a:rPr>
              <a:t>",&amp;</a:t>
            </a:r>
            <a:r>
              <a:rPr lang="en-US" altLang="zh-CN" sz="2200" b="1" dirty="0" err="1">
                <a:solidFill>
                  <a:srgbClr val="0000FF"/>
                </a:solidFill>
              </a:rPr>
              <a:t>row,&amp;col</a:t>
            </a:r>
            <a:r>
              <a:rPr lang="en-US" altLang="zh-CN" sz="2200" b="1" dirty="0">
                <a:solidFill>
                  <a:srgbClr val="0000FF"/>
                </a:solidFill>
              </a:rPr>
              <a:t>);  //</a:t>
            </a:r>
            <a:r>
              <a:rPr lang="zh-CN" altLang="en-US" sz="2200" b="1" dirty="0">
                <a:solidFill>
                  <a:srgbClr val="0000FF"/>
                </a:solidFill>
              </a:rPr>
              <a:t>起点坐标</a:t>
            </a:r>
          </a:p>
          <a:p>
            <a:pPr eaLnBrk="1" hangingPunct="1">
              <a:buFontTx/>
              <a:buNone/>
            </a:pPr>
            <a:r>
              <a:rPr lang="zh-CN" altLang="en-US" sz="2200" b="1" dirty="0">
                <a:solidFill>
                  <a:srgbClr val="0000FF"/>
                </a:solidFill>
              </a:rPr>
              <a:t>	</a:t>
            </a:r>
            <a:r>
              <a:rPr lang="en-US" altLang="zh-CN" sz="2200" b="1" dirty="0">
                <a:solidFill>
                  <a:srgbClr val="0000FF"/>
                </a:solidFill>
              </a:rPr>
              <a:t>s=row*</a:t>
            </a:r>
            <a:r>
              <a:rPr lang="en-US" altLang="zh-CN" sz="2200" b="1" dirty="0" err="1">
                <a:solidFill>
                  <a:srgbClr val="0000FF"/>
                </a:solidFill>
              </a:rPr>
              <a:t>n+col</a:t>
            </a:r>
            <a:r>
              <a:rPr lang="en-US" altLang="zh-CN" sz="2200" b="1" dirty="0">
                <a:solidFill>
                  <a:srgbClr val="0000FF"/>
                </a:solidFill>
              </a:rPr>
              <a:t>;</a:t>
            </a:r>
          </a:p>
          <a:p>
            <a:pPr eaLnBrk="1" hangingPunct="1">
              <a:buFontTx/>
              <a:buNone/>
            </a:pPr>
            <a:r>
              <a:rPr lang="en-US" altLang="zh-CN" sz="2200" b="1" dirty="0">
                <a:solidFill>
                  <a:srgbClr val="0000FF"/>
                </a:solidFill>
              </a:rPr>
              <a:t>	</a:t>
            </a:r>
            <a:r>
              <a:rPr lang="en-US" altLang="zh-CN" sz="2200" b="1" dirty="0" err="1">
                <a:solidFill>
                  <a:srgbClr val="0000FF"/>
                </a:solidFill>
              </a:rPr>
              <a:t>scanf</a:t>
            </a:r>
            <a:r>
              <a:rPr lang="en-US" altLang="zh-CN" sz="2200" b="1" dirty="0">
                <a:solidFill>
                  <a:srgbClr val="0000FF"/>
                </a:solidFill>
              </a:rPr>
              <a:t>("%</a:t>
            </a:r>
            <a:r>
              <a:rPr lang="en-US" altLang="zh-CN" sz="2200" b="1" dirty="0" err="1">
                <a:solidFill>
                  <a:srgbClr val="0000FF"/>
                </a:solidFill>
              </a:rPr>
              <a:t>ld%ld</a:t>
            </a:r>
            <a:r>
              <a:rPr lang="en-US" altLang="zh-CN" sz="2200" b="1" dirty="0">
                <a:solidFill>
                  <a:srgbClr val="0000FF"/>
                </a:solidFill>
              </a:rPr>
              <a:t>",&amp;</a:t>
            </a:r>
            <a:r>
              <a:rPr lang="en-US" altLang="zh-CN" sz="2200" b="1" dirty="0" err="1">
                <a:solidFill>
                  <a:srgbClr val="0000FF"/>
                </a:solidFill>
              </a:rPr>
              <a:t>row,&amp;col</a:t>
            </a:r>
            <a:r>
              <a:rPr lang="en-US" altLang="zh-CN" sz="2200" b="1" dirty="0">
                <a:solidFill>
                  <a:srgbClr val="0000FF"/>
                </a:solidFill>
              </a:rPr>
              <a:t>);  //</a:t>
            </a:r>
            <a:r>
              <a:rPr lang="zh-CN" altLang="en-US" sz="2200" b="1" dirty="0">
                <a:solidFill>
                  <a:srgbClr val="0000FF"/>
                </a:solidFill>
              </a:rPr>
              <a:t>终点坐标</a:t>
            </a:r>
          </a:p>
          <a:p>
            <a:pPr eaLnBrk="1" hangingPunct="1">
              <a:buFontTx/>
              <a:buNone/>
            </a:pPr>
            <a:r>
              <a:rPr lang="zh-CN" altLang="en-US" sz="2200" b="1" dirty="0">
                <a:solidFill>
                  <a:srgbClr val="0000FF"/>
                </a:solidFill>
              </a:rPr>
              <a:t>	</a:t>
            </a:r>
            <a:r>
              <a:rPr lang="en-US" altLang="zh-CN" sz="2200" b="1" dirty="0">
                <a:solidFill>
                  <a:srgbClr val="0000FF"/>
                </a:solidFill>
              </a:rPr>
              <a:t>t=row*</a:t>
            </a:r>
            <a:r>
              <a:rPr lang="en-US" altLang="zh-CN" sz="2200" b="1" dirty="0" err="1">
                <a:solidFill>
                  <a:srgbClr val="0000FF"/>
                </a:solidFill>
              </a:rPr>
              <a:t>n+col</a:t>
            </a:r>
            <a:r>
              <a:rPr lang="en-US" altLang="zh-CN" sz="2200" b="1" dirty="0">
                <a:solidFill>
                  <a:srgbClr val="0000FF"/>
                </a:solidFill>
              </a:rPr>
              <a:t>;</a:t>
            </a:r>
          </a:p>
          <a:p>
            <a:pPr eaLnBrk="1" hangingPunct="1">
              <a:buFontTx/>
              <a:buNone/>
            </a:pPr>
            <a:r>
              <a:rPr lang="en-US" altLang="zh-CN" sz="2200" b="1" dirty="0">
                <a:solidFill>
                  <a:srgbClr val="0000FF"/>
                </a:solidFill>
              </a:rPr>
              <a:t>}</a:t>
            </a:r>
          </a:p>
        </p:txBody>
      </p:sp>
      <p:sp>
        <p:nvSpPr>
          <p:cNvPr id="2" name="Rectangle 3">
            <a:extLst>
              <a:ext uri="{FF2B5EF4-FFF2-40B4-BE49-F238E27FC236}">
                <a16:creationId xmlns:a16="http://schemas.microsoft.com/office/drawing/2014/main" id="{7D04DF8B-D123-14AB-9737-8DA08D27783A}"/>
              </a:ext>
            </a:extLst>
          </p:cNvPr>
          <p:cNvSpPr txBox="1">
            <a:spLocks noChangeArrowheads="1"/>
          </p:cNvSpPr>
          <p:nvPr/>
        </p:nvSpPr>
        <p:spPr>
          <a:xfrm>
            <a:off x="6599262" y="1197546"/>
            <a:ext cx="1944216" cy="3888432"/>
          </a:xfrm>
          <a:prstGeom prst="rect">
            <a:avLst/>
          </a:prstGeom>
          <a:ln w="15875">
            <a:solidFill>
              <a:schemeClr val="accent6"/>
            </a:solidFill>
          </a:ln>
        </p:spPr>
        <p:txBody>
          <a:bodyPr vert="horz">
            <a:normAutofit/>
          </a:bodyPr>
          <a:lstStyle>
            <a:lvl1pPr marL="342866" indent="-342866"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876" indent="-285721"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2886" indent="-228577"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040" indent="-228577"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194"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349"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503" indent="-228577"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8657" indent="-228577"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811" indent="-228577"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pPr defTabSz="914400" fontAlgn="auto">
              <a:spcAft>
                <a:spcPts val="0"/>
              </a:spcAft>
              <a:buFontTx/>
              <a:buNone/>
            </a:pPr>
            <a:r>
              <a:rPr lang="en-US" altLang="zh-CN" sz="2200" b="1" dirty="0">
                <a:solidFill>
                  <a:srgbClr val="0000FF"/>
                </a:solidFill>
              </a:rPr>
              <a:t>void </a:t>
            </a:r>
            <a:r>
              <a:rPr lang="en-US" altLang="zh-CN" sz="2200" b="1" dirty="0" err="1">
                <a:solidFill>
                  <a:srgbClr val="0000FF"/>
                </a:solidFill>
              </a:rPr>
              <a:t>init</a:t>
            </a:r>
            <a:r>
              <a:rPr lang="en-US" altLang="zh-CN" sz="2200" b="1" dirty="0">
                <a:solidFill>
                  <a:srgbClr val="0000FF"/>
                </a:solidFill>
              </a:rPr>
              <a:t>()</a:t>
            </a:r>
          </a:p>
          <a:p>
            <a:pPr defTabSz="914400" fontAlgn="auto">
              <a:spcAft>
                <a:spcPts val="0"/>
              </a:spcAft>
              <a:buFontTx/>
              <a:buNone/>
            </a:pPr>
            <a:r>
              <a:rPr lang="en-US" altLang="zh-CN" sz="2200" b="1" dirty="0">
                <a:solidFill>
                  <a:srgbClr val="0000FF"/>
                </a:solidFill>
              </a:rPr>
              <a:t>{</a:t>
            </a:r>
          </a:p>
          <a:p>
            <a:pPr defTabSz="914400" fontAlgn="auto">
              <a:spcAft>
                <a:spcPts val="0"/>
              </a:spcAft>
              <a:buFontTx/>
              <a:buNone/>
            </a:pPr>
            <a:r>
              <a:rPr lang="en-US" altLang="zh-CN" sz="2200" b="1" dirty="0">
                <a:solidFill>
                  <a:srgbClr val="0000FF"/>
                </a:solidFill>
              </a:rPr>
              <a:t>	head=0;</a:t>
            </a:r>
          </a:p>
          <a:p>
            <a:pPr defTabSz="914400" fontAlgn="auto">
              <a:spcAft>
                <a:spcPts val="0"/>
              </a:spcAft>
              <a:buFontTx/>
              <a:buNone/>
            </a:pPr>
            <a:r>
              <a:rPr lang="en-US" altLang="zh-CN" sz="2200" b="1" dirty="0">
                <a:solidFill>
                  <a:srgbClr val="0000FF"/>
                </a:solidFill>
              </a:rPr>
              <a:t>	tail=1;</a:t>
            </a:r>
          </a:p>
          <a:p>
            <a:pPr defTabSz="914400" fontAlgn="auto">
              <a:spcAft>
                <a:spcPts val="0"/>
              </a:spcAft>
              <a:buFontTx/>
              <a:buNone/>
            </a:pPr>
            <a:r>
              <a:rPr lang="en-US" altLang="zh-CN" sz="2200" b="1" dirty="0">
                <a:solidFill>
                  <a:srgbClr val="0000FF"/>
                </a:solidFill>
              </a:rPr>
              <a:t>	open[0]=s;</a:t>
            </a:r>
          </a:p>
          <a:p>
            <a:pPr defTabSz="914400" fontAlgn="auto">
              <a:spcAft>
                <a:spcPts val="0"/>
              </a:spcAft>
              <a:buFontTx/>
              <a:buNone/>
            </a:pPr>
            <a:r>
              <a:rPr lang="en-US" altLang="zh-CN" sz="2200" b="1" dirty="0">
                <a:solidFill>
                  <a:srgbClr val="0000FF"/>
                </a:solidFill>
              </a:rPr>
              <a:t>}</a:t>
            </a:r>
          </a:p>
        </p:txBody>
      </p:sp>
      <p:sp>
        <p:nvSpPr>
          <p:cNvPr id="3" name="Rectangle 3">
            <a:extLst>
              <a:ext uri="{FF2B5EF4-FFF2-40B4-BE49-F238E27FC236}">
                <a16:creationId xmlns:a16="http://schemas.microsoft.com/office/drawing/2014/main" id="{AE9C9120-CB7C-CE32-1AB4-6FF066F04EA4}"/>
              </a:ext>
            </a:extLst>
          </p:cNvPr>
          <p:cNvSpPr txBox="1">
            <a:spLocks noChangeArrowheads="1"/>
          </p:cNvSpPr>
          <p:nvPr/>
        </p:nvSpPr>
        <p:spPr>
          <a:xfrm>
            <a:off x="8759502" y="1197546"/>
            <a:ext cx="3070870" cy="3888432"/>
          </a:xfrm>
          <a:prstGeom prst="rect">
            <a:avLst/>
          </a:prstGeom>
          <a:ln w="15875">
            <a:solidFill>
              <a:schemeClr val="accent6"/>
            </a:solidFill>
          </a:ln>
        </p:spPr>
        <p:txBody>
          <a:bodyPr vert="horz">
            <a:normAutofit/>
          </a:bodyPr>
          <a:lstStyle>
            <a:lvl1pPr marL="342866" indent="-342866"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876" indent="-285721"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2886" indent="-228577"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040" indent="-228577"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194"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349"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503" indent="-228577"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8657" indent="-228577"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811" indent="-228577"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pPr defTabSz="914400" fontAlgn="auto">
              <a:spcAft>
                <a:spcPts val="0"/>
              </a:spcAft>
              <a:buFontTx/>
              <a:buNone/>
            </a:pPr>
            <a:r>
              <a:rPr lang="en-US" altLang="zh-CN" sz="2200" b="1" dirty="0">
                <a:solidFill>
                  <a:srgbClr val="0000FF"/>
                </a:solidFill>
              </a:rPr>
              <a:t>int </a:t>
            </a:r>
            <a:r>
              <a:rPr lang="en-US" altLang="zh-CN" sz="2200" b="1" dirty="0" err="1">
                <a:solidFill>
                  <a:srgbClr val="0000FF"/>
                </a:solidFill>
              </a:rPr>
              <a:t>isaim</a:t>
            </a:r>
            <a:r>
              <a:rPr lang="en-US" altLang="zh-CN" sz="2200" b="1" dirty="0">
                <a:solidFill>
                  <a:srgbClr val="0000FF"/>
                </a:solidFill>
              </a:rPr>
              <a:t>(int row, int col)</a:t>
            </a:r>
          </a:p>
          <a:p>
            <a:pPr defTabSz="914400" fontAlgn="auto">
              <a:spcAft>
                <a:spcPts val="0"/>
              </a:spcAft>
              <a:buFontTx/>
              <a:buNone/>
            </a:pPr>
            <a:r>
              <a:rPr lang="en-US" altLang="zh-CN" sz="2200" b="1" dirty="0">
                <a:solidFill>
                  <a:srgbClr val="0000FF"/>
                </a:solidFill>
              </a:rPr>
              <a:t>{</a:t>
            </a:r>
          </a:p>
          <a:p>
            <a:pPr defTabSz="914400" fontAlgn="auto">
              <a:spcAft>
                <a:spcPts val="0"/>
              </a:spcAft>
              <a:buFontTx/>
              <a:buNone/>
            </a:pPr>
            <a:r>
              <a:rPr lang="en-US" altLang="zh-CN" sz="2200" b="1" dirty="0">
                <a:solidFill>
                  <a:srgbClr val="0000FF"/>
                </a:solidFill>
              </a:rPr>
              <a:t>	if(row*</a:t>
            </a:r>
            <a:r>
              <a:rPr lang="en-US" altLang="zh-CN" sz="2200" b="1" dirty="0" err="1">
                <a:solidFill>
                  <a:srgbClr val="0000FF"/>
                </a:solidFill>
              </a:rPr>
              <a:t>n+col</a:t>
            </a:r>
            <a:r>
              <a:rPr lang="en-US" altLang="zh-CN" sz="2200" b="1" dirty="0">
                <a:solidFill>
                  <a:srgbClr val="0000FF"/>
                </a:solidFill>
              </a:rPr>
              <a:t>==t)</a:t>
            </a:r>
          </a:p>
          <a:p>
            <a:pPr defTabSz="914400" fontAlgn="auto">
              <a:spcAft>
                <a:spcPts val="0"/>
              </a:spcAft>
              <a:buFontTx/>
              <a:buNone/>
            </a:pPr>
            <a:r>
              <a:rPr lang="en-US" altLang="zh-CN" sz="2200" b="1" dirty="0">
                <a:solidFill>
                  <a:srgbClr val="0000FF"/>
                </a:solidFill>
              </a:rPr>
              <a:t>		return(1);</a:t>
            </a:r>
          </a:p>
          <a:p>
            <a:pPr defTabSz="914400" fontAlgn="auto">
              <a:spcAft>
                <a:spcPts val="0"/>
              </a:spcAft>
              <a:buFontTx/>
              <a:buNone/>
            </a:pPr>
            <a:r>
              <a:rPr lang="en-US" altLang="zh-CN" sz="2200" b="1" dirty="0">
                <a:solidFill>
                  <a:srgbClr val="0000FF"/>
                </a:solidFill>
              </a:rPr>
              <a:t>	else</a:t>
            </a:r>
          </a:p>
          <a:p>
            <a:pPr defTabSz="914400" fontAlgn="auto">
              <a:spcAft>
                <a:spcPts val="0"/>
              </a:spcAft>
              <a:buFontTx/>
              <a:buNone/>
            </a:pPr>
            <a:r>
              <a:rPr lang="en-US" altLang="zh-CN" sz="2200" b="1" dirty="0">
                <a:solidFill>
                  <a:srgbClr val="0000FF"/>
                </a:solidFill>
              </a:rPr>
              <a:t>		return(0);</a:t>
            </a:r>
          </a:p>
          <a:p>
            <a:pPr defTabSz="914400" fontAlgn="auto">
              <a:spcAft>
                <a:spcPts val="0"/>
              </a:spcAft>
              <a:buFontTx/>
              <a:buNone/>
            </a:pPr>
            <a:r>
              <a:rPr lang="en-US" altLang="zh-CN" sz="2200" b="1" dirty="0">
                <a:solidFill>
                  <a:srgbClr val="0000FF"/>
                </a:solidFill>
              </a:rPr>
              <a:t>}</a:t>
            </a: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36866" name="Rectangle 3">
            <a:extLst>
              <a:ext uri="{FF2B5EF4-FFF2-40B4-BE49-F238E27FC236}">
                <a16:creationId xmlns:a16="http://schemas.microsoft.com/office/drawing/2014/main" id="{1A0F22F5-4C5B-2621-D738-C8EF6EAF1D3F}"/>
              </a:ext>
            </a:extLst>
          </p:cNvPr>
          <p:cNvSpPr>
            <a:spLocks noGrp="1" noChangeArrowheads="1"/>
          </p:cNvSpPr>
          <p:nvPr>
            <p:ph type="body" idx="4294967295"/>
          </p:nvPr>
        </p:nvSpPr>
        <p:spPr>
          <a:xfrm>
            <a:off x="16439" y="1197546"/>
            <a:ext cx="9319127" cy="5475287"/>
          </a:xfrm>
        </p:spPr>
        <p:txBody>
          <a:bodyPr/>
          <a:lstStyle/>
          <a:p>
            <a:pPr marL="0" indent="0" eaLnBrk="1" hangingPunct="1"/>
            <a:r>
              <a:rPr lang="zh-CN" altLang="en-US" sz="2300" dirty="0">
                <a:solidFill>
                  <a:srgbClr val="0000FF"/>
                </a:solidFill>
                <a:latin typeface="+mn-ea"/>
              </a:rPr>
              <a:t>独轮车</a:t>
            </a:r>
          </a:p>
          <a:p>
            <a:pPr marL="0" indent="0" eaLnBrk="1" hangingPunct="1">
              <a:buFont typeface="Arial" panose="020B0604020202020204" pitchFamily="34" charset="0"/>
              <a:buNone/>
            </a:pPr>
            <a:r>
              <a:rPr lang="zh-CN" altLang="en-US" sz="2300" dirty="0">
                <a:solidFill>
                  <a:srgbClr val="0000FF"/>
                </a:solidFill>
                <a:latin typeface="+mn-ea"/>
              </a:rPr>
              <a:t>独轮车的轮子上有</a:t>
            </a:r>
            <a:r>
              <a:rPr lang="en-US" altLang="zh-CN" sz="2300" dirty="0">
                <a:solidFill>
                  <a:srgbClr val="0000FF"/>
                </a:solidFill>
                <a:latin typeface="+mn-ea"/>
              </a:rPr>
              <a:t>5</a:t>
            </a:r>
            <a:r>
              <a:rPr lang="zh-CN" altLang="en-US" sz="2300" dirty="0">
                <a:solidFill>
                  <a:srgbClr val="0000FF"/>
                </a:solidFill>
                <a:latin typeface="+mn-ea"/>
              </a:rPr>
              <a:t>种颜色，每走一格颜色变化一次，独轮车只能往前推，也可以在原地旋转，每走一格，需要一个单位的时间，每转</a:t>
            </a:r>
            <a:r>
              <a:rPr lang="en-US" altLang="zh-CN" sz="2300" dirty="0">
                <a:solidFill>
                  <a:srgbClr val="0000FF"/>
                </a:solidFill>
                <a:latin typeface="+mn-ea"/>
              </a:rPr>
              <a:t>90</a:t>
            </a:r>
            <a:r>
              <a:rPr lang="zh-CN" altLang="en-US" sz="2300" dirty="0">
                <a:solidFill>
                  <a:srgbClr val="0000FF"/>
                </a:solidFill>
                <a:latin typeface="+mn-ea"/>
              </a:rPr>
              <a:t>度需要一个单位的时间，转</a:t>
            </a:r>
            <a:r>
              <a:rPr lang="en-US" altLang="zh-CN" sz="2300" dirty="0">
                <a:solidFill>
                  <a:srgbClr val="0000FF"/>
                </a:solidFill>
                <a:latin typeface="+mn-ea"/>
              </a:rPr>
              <a:t>180</a:t>
            </a:r>
            <a:r>
              <a:rPr lang="zh-CN" altLang="en-US" sz="2300" dirty="0">
                <a:solidFill>
                  <a:srgbClr val="0000FF"/>
                </a:solidFill>
                <a:latin typeface="+mn-ea"/>
              </a:rPr>
              <a:t>度需要两个单位的时间。现给定一个</a:t>
            </a:r>
            <a:r>
              <a:rPr lang="en-US" altLang="zh-CN" sz="2300" dirty="0">
                <a:solidFill>
                  <a:srgbClr val="0000FF"/>
                </a:solidFill>
                <a:latin typeface="+mn-ea"/>
              </a:rPr>
              <a:t>20×20</a:t>
            </a:r>
            <a:r>
              <a:rPr lang="zh-CN" altLang="en-US" sz="2300" dirty="0">
                <a:solidFill>
                  <a:srgbClr val="0000FF"/>
                </a:solidFill>
                <a:latin typeface="+mn-ea"/>
              </a:rPr>
              <a:t>的迷宫、一个起点、一个终点和到达终点的颜色，问独轮车最少需要多少时间到达。</a:t>
            </a:r>
          </a:p>
          <a:p>
            <a:pPr marL="0" indent="0" eaLnBrk="1" hangingPunct="1">
              <a:buFont typeface="Arial" panose="020B0604020202020204" pitchFamily="34" charset="0"/>
              <a:buNone/>
            </a:pPr>
            <a:endParaRPr lang="zh-CN" altLang="en-US" sz="2300" dirty="0">
              <a:solidFill>
                <a:srgbClr val="0000FF"/>
              </a:solidFill>
              <a:latin typeface="+mn-ea"/>
            </a:endParaRPr>
          </a:p>
          <a:p>
            <a:pPr marL="0" indent="0" eaLnBrk="1" hangingPunct="1">
              <a:buFont typeface="Arial" panose="020B0604020202020204" pitchFamily="34" charset="0"/>
              <a:buNone/>
            </a:pPr>
            <a:r>
              <a:rPr lang="zh-CN" altLang="en-US" sz="2300" dirty="0">
                <a:solidFill>
                  <a:srgbClr val="0000FF"/>
                </a:solidFill>
                <a:latin typeface="+mn-ea"/>
              </a:rPr>
              <a:t>状态：独轮车所在的行、列、当前颜色、方向。</a:t>
            </a:r>
          </a:p>
          <a:p>
            <a:pPr marL="0" indent="0" eaLnBrk="1" hangingPunct="1">
              <a:buFont typeface="Arial" panose="020B0604020202020204" pitchFamily="34" charset="0"/>
              <a:buNone/>
            </a:pPr>
            <a:r>
              <a:rPr lang="zh-CN" altLang="en-US" sz="2300" dirty="0">
                <a:solidFill>
                  <a:srgbClr val="0000FF"/>
                </a:solidFill>
                <a:latin typeface="+mn-ea"/>
              </a:rPr>
              <a:t>另外为了方便在结点中加上到达该点的最小步数。</a:t>
            </a:r>
          </a:p>
        </p:txBody>
      </p:sp>
      <p:pic>
        <p:nvPicPr>
          <p:cNvPr id="36867" name="Picture 4">
            <a:extLst>
              <a:ext uri="{FF2B5EF4-FFF2-40B4-BE49-F238E27FC236}">
                <a16:creationId xmlns:a16="http://schemas.microsoft.com/office/drawing/2014/main" id="{ADD183FE-D7FD-FE6C-156F-87BFDEBE5E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9650" y="5446713"/>
            <a:ext cx="2665413"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基础扎实 / Strong Preparation">
            <a:extLst>
              <a:ext uri="{FF2B5EF4-FFF2-40B4-BE49-F238E27FC236}">
                <a16:creationId xmlns:a16="http://schemas.microsoft.com/office/drawing/2014/main" id="{7A27AB09-4FAF-F626-CF4F-AA033F0DCA8C}"/>
              </a:ext>
            </a:extLst>
          </p:cNvPr>
          <p:cNvSpPr txBox="1"/>
          <p:nvPr/>
        </p:nvSpPr>
        <p:spPr>
          <a:xfrm>
            <a:off x="2638822" y="344803"/>
            <a:ext cx="5870237" cy="561660"/>
          </a:xfrm>
          <a:prstGeom prst="rect">
            <a:avLst/>
          </a:prstGeom>
          <a:noFill/>
          <a:ln>
            <a:noFill/>
          </a:ln>
        </p:spPr>
        <p:txBody>
          <a:bodyPr wrap="square" lIns="68549" tIns="34274" rIns="68549" bIns="34274" rtlCol="0">
            <a:spAutoFit/>
          </a:bodyPr>
          <a:lstStyle/>
          <a:p>
            <a:pPr marL="0" marR="0" lvl="0" indent="0" algn="ctr" defTabSz="950595" rtl="0" eaLnBrk="1" fontAlgn="auto" latinLnBrk="0" hangingPunct="1">
              <a:lnSpc>
                <a:spcPct val="100000"/>
              </a:lnSpc>
              <a:spcBef>
                <a:spcPts val="0"/>
              </a:spcBef>
              <a:spcAft>
                <a:spcPts val="0"/>
              </a:spcAft>
              <a:buClr>
                <a:prstClr val="white"/>
              </a:buClr>
              <a:buSzTx/>
              <a:buFontTx/>
              <a:buNone/>
              <a:tabLst/>
              <a:defRPr/>
            </a:pPr>
            <a:r>
              <a:rPr lang="en-US" altLang="zh-CN" sz="3200"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4</a:t>
            </a:r>
            <a:r>
              <a:rPr kumimoji="0" lang="zh-CN" altLang="en-US"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a:t>
            </a:r>
            <a:r>
              <a:rPr lang="en-US" altLang="zh-CN" sz="3200"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4</a:t>
            </a:r>
            <a:r>
              <a:rPr kumimoji="0" lang="zh-CN" altLang="en-US"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 独轮车问题</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7106" name="Rectangle 3">
            <a:extLst>
              <a:ext uri="{FF2B5EF4-FFF2-40B4-BE49-F238E27FC236}">
                <a16:creationId xmlns:a16="http://schemas.microsoft.com/office/drawing/2014/main" id="{C2635C8F-615A-1FB1-865F-6F284CE0575A}"/>
              </a:ext>
            </a:extLst>
          </p:cNvPr>
          <p:cNvSpPr>
            <a:spLocks noGrp="1" noChangeArrowheads="1"/>
          </p:cNvSpPr>
          <p:nvPr>
            <p:ph type="body" idx="4294967295"/>
          </p:nvPr>
        </p:nvSpPr>
        <p:spPr>
          <a:xfrm>
            <a:off x="406574" y="1125538"/>
            <a:ext cx="9191550" cy="5543550"/>
          </a:xfrm>
        </p:spPr>
        <p:txBody>
          <a:bodyPr rtlCol="0">
            <a:normAutofit/>
          </a:bodyPr>
          <a:lstStyle/>
          <a:p>
            <a:pPr marL="228577" indent="-228577" defTabSz="914309" eaLnBrk="1" fontAlgn="auto" hangingPunct="1">
              <a:lnSpc>
                <a:spcPct val="80000"/>
              </a:lnSpc>
              <a:spcAft>
                <a:spcPts val="0"/>
              </a:spcAft>
              <a:buFontTx/>
              <a:buNone/>
              <a:defRPr/>
            </a:pPr>
            <a:r>
              <a:rPr lang="en-US" altLang="zh-CN" sz="2200" b="1" dirty="0">
                <a:solidFill>
                  <a:srgbClr val="0000FF"/>
                </a:solidFill>
              </a:rPr>
              <a:t>#include&lt;stdio.h&gt;</a:t>
            </a:r>
          </a:p>
          <a:p>
            <a:pPr marL="228577" indent="-228577" defTabSz="914309" eaLnBrk="1" fontAlgn="auto" hangingPunct="1">
              <a:lnSpc>
                <a:spcPct val="80000"/>
              </a:lnSpc>
              <a:spcAft>
                <a:spcPts val="0"/>
              </a:spcAft>
              <a:buFontTx/>
              <a:buNone/>
              <a:defRPr/>
            </a:pPr>
            <a:r>
              <a:rPr lang="en-US" altLang="zh-CN" sz="2200" b="1" dirty="0">
                <a:solidFill>
                  <a:srgbClr val="0000FF"/>
                </a:solidFill>
              </a:rPr>
              <a:t>struct </a:t>
            </a:r>
            <a:r>
              <a:rPr lang="en-US" altLang="zh-CN" sz="2200" b="1" dirty="0" err="1">
                <a:solidFill>
                  <a:srgbClr val="0000FF"/>
                </a:solidFill>
              </a:rPr>
              <a:t>colornode</a:t>
            </a:r>
            <a:endParaRPr lang="en-US" altLang="zh-CN" sz="2200" b="1" dirty="0">
              <a:solidFill>
                <a:srgbClr val="0000FF"/>
              </a:solidFill>
            </a:endParaRPr>
          </a:p>
          <a:p>
            <a:pPr marL="228577" indent="-228577" defTabSz="914309" eaLnBrk="1" fontAlgn="auto" hangingPunct="1">
              <a:lnSpc>
                <a:spcPct val="80000"/>
              </a:lnSpc>
              <a:spcAft>
                <a:spcPts val="0"/>
              </a:spcAft>
              <a:buFontTx/>
              <a:buNone/>
              <a:defRPr/>
            </a:pPr>
            <a:r>
              <a:rPr lang="en-US" altLang="zh-CN" sz="2200" b="1" dirty="0">
                <a:solidFill>
                  <a:srgbClr val="0000FF"/>
                </a:solidFill>
              </a:rPr>
              <a:t>{</a:t>
            </a:r>
          </a:p>
          <a:p>
            <a:pPr marL="228577" indent="-228577" defTabSz="914309" eaLnBrk="1" fontAlgn="auto" hangingPunct="1">
              <a:lnSpc>
                <a:spcPct val="80000"/>
              </a:lnSpc>
              <a:spcAft>
                <a:spcPts val="0"/>
              </a:spcAft>
              <a:buFontTx/>
              <a:buNone/>
              <a:defRPr/>
            </a:pPr>
            <a:r>
              <a:rPr lang="en-US" altLang="zh-CN" sz="2200" b="1" dirty="0">
                <a:solidFill>
                  <a:srgbClr val="0000FF"/>
                </a:solidFill>
              </a:rPr>
              <a:t>	int row;                        //</a:t>
            </a:r>
            <a:r>
              <a:rPr lang="zh-CN" altLang="en-US" sz="2200" b="1" dirty="0">
                <a:solidFill>
                  <a:srgbClr val="0000FF"/>
                </a:solidFill>
              </a:rPr>
              <a:t>该状态的行</a:t>
            </a:r>
          </a:p>
          <a:p>
            <a:pPr marL="228577" indent="-228577" defTabSz="914309" eaLnBrk="1" fontAlgn="auto" hangingPunct="1">
              <a:lnSpc>
                <a:spcPct val="80000"/>
              </a:lnSpc>
              <a:spcAft>
                <a:spcPts val="0"/>
              </a:spcAft>
              <a:buFontTx/>
              <a:buNone/>
              <a:defRPr/>
            </a:pPr>
            <a:r>
              <a:rPr lang="zh-CN" altLang="en-US" sz="2200" b="1" dirty="0">
                <a:solidFill>
                  <a:srgbClr val="0000FF"/>
                </a:solidFill>
              </a:rPr>
              <a:t>	</a:t>
            </a:r>
            <a:r>
              <a:rPr lang="en-US" altLang="zh-CN" sz="2200" b="1" dirty="0">
                <a:solidFill>
                  <a:srgbClr val="0000FF"/>
                </a:solidFill>
              </a:rPr>
              <a:t>int col;                         //        </a:t>
            </a:r>
            <a:r>
              <a:rPr lang="zh-CN" altLang="en-US" sz="2200" b="1" dirty="0">
                <a:solidFill>
                  <a:srgbClr val="0000FF"/>
                </a:solidFill>
              </a:rPr>
              <a:t>列</a:t>
            </a:r>
          </a:p>
          <a:p>
            <a:pPr marL="228577" indent="-228577" defTabSz="914309" eaLnBrk="1" fontAlgn="auto" hangingPunct="1">
              <a:lnSpc>
                <a:spcPct val="80000"/>
              </a:lnSpc>
              <a:spcAft>
                <a:spcPts val="0"/>
              </a:spcAft>
              <a:buFontTx/>
              <a:buNone/>
              <a:defRPr/>
            </a:pPr>
            <a:r>
              <a:rPr lang="zh-CN" altLang="en-US" sz="2200" b="1" dirty="0">
                <a:solidFill>
                  <a:srgbClr val="0000FF"/>
                </a:solidFill>
              </a:rPr>
              <a:t>	</a:t>
            </a:r>
            <a:r>
              <a:rPr lang="en-US" altLang="zh-CN" sz="2200" b="1" dirty="0">
                <a:solidFill>
                  <a:srgbClr val="0000FF"/>
                </a:solidFill>
              </a:rPr>
              <a:t>int color;                       //        </a:t>
            </a:r>
            <a:r>
              <a:rPr lang="zh-CN" altLang="en-US" sz="2200" b="1" dirty="0">
                <a:solidFill>
                  <a:srgbClr val="0000FF"/>
                </a:solidFill>
              </a:rPr>
              <a:t>颜色</a:t>
            </a:r>
          </a:p>
          <a:p>
            <a:pPr marL="228577" indent="-228577" defTabSz="914309" eaLnBrk="1" fontAlgn="auto" hangingPunct="1">
              <a:lnSpc>
                <a:spcPct val="80000"/>
              </a:lnSpc>
              <a:spcAft>
                <a:spcPts val="0"/>
              </a:spcAft>
              <a:buFontTx/>
              <a:buNone/>
              <a:defRPr/>
            </a:pPr>
            <a:r>
              <a:rPr lang="zh-CN" altLang="en-US" sz="2200" b="1" dirty="0">
                <a:solidFill>
                  <a:srgbClr val="0000FF"/>
                </a:solidFill>
              </a:rPr>
              <a:t>	</a:t>
            </a:r>
            <a:r>
              <a:rPr lang="en-US" altLang="zh-CN" sz="2200" b="1" dirty="0">
                <a:solidFill>
                  <a:srgbClr val="0000FF"/>
                </a:solidFill>
              </a:rPr>
              <a:t>int direction;                    //        </a:t>
            </a:r>
            <a:r>
              <a:rPr lang="zh-CN" altLang="en-US" sz="2200" b="1" dirty="0">
                <a:solidFill>
                  <a:srgbClr val="0000FF"/>
                </a:solidFill>
              </a:rPr>
              <a:t>方向 </a:t>
            </a:r>
            <a:r>
              <a:rPr lang="en-US" altLang="zh-CN" sz="2200" b="1" dirty="0">
                <a:solidFill>
                  <a:srgbClr val="0000FF"/>
                </a:solidFill>
              </a:rPr>
              <a:t>0</a:t>
            </a:r>
            <a:r>
              <a:rPr lang="zh-CN" altLang="en-US" sz="2200" b="1" dirty="0">
                <a:solidFill>
                  <a:srgbClr val="0000FF"/>
                </a:solidFill>
              </a:rPr>
              <a:t>，</a:t>
            </a:r>
            <a:r>
              <a:rPr lang="en-US" altLang="zh-CN" sz="2200" b="1" dirty="0">
                <a:solidFill>
                  <a:srgbClr val="0000FF"/>
                </a:solidFill>
              </a:rPr>
              <a:t>1</a:t>
            </a:r>
            <a:r>
              <a:rPr lang="zh-CN" altLang="en-US" sz="2200" b="1" dirty="0">
                <a:solidFill>
                  <a:srgbClr val="0000FF"/>
                </a:solidFill>
              </a:rPr>
              <a:t>，</a:t>
            </a:r>
            <a:r>
              <a:rPr lang="en-US" altLang="zh-CN" sz="2200" b="1" dirty="0">
                <a:solidFill>
                  <a:srgbClr val="0000FF"/>
                </a:solidFill>
              </a:rPr>
              <a:t>2</a:t>
            </a:r>
            <a:r>
              <a:rPr lang="zh-CN" altLang="en-US" sz="2200" b="1" dirty="0">
                <a:solidFill>
                  <a:srgbClr val="0000FF"/>
                </a:solidFill>
              </a:rPr>
              <a:t>，</a:t>
            </a:r>
            <a:r>
              <a:rPr lang="en-US" altLang="zh-CN" sz="2200" b="1" dirty="0">
                <a:solidFill>
                  <a:srgbClr val="0000FF"/>
                </a:solidFill>
              </a:rPr>
              <a:t>3</a:t>
            </a:r>
          </a:p>
          <a:p>
            <a:pPr marL="228577" indent="-228577" defTabSz="914309" eaLnBrk="1" fontAlgn="auto" hangingPunct="1">
              <a:lnSpc>
                <a:spcPct val="80000"/>
              </a:lnSpc>
              <a:spcAft>
                <a:spcPts val="0"/>
              </a:spcAft>
              <a:buFontTx/>
              <a:buNone/>
              <a:defRPr/>
            </a:pPr>
            <a:r>
              <a:rPr lang="en-US" altLang="zh-CN" sz="2200" b="1" dirty="0">
                <a:solidFill>
                  <a:srgbClr val="0000FF"/>
                </a:solidFill>
              </a:rPr>
              <a:t>	int num;                       //        </a:t>
            </a:r>
            <a:r>
              <a:rPr lang="zh-CN" altLang="en-US" sz="2200" b="1" dirty="0">
                <a:solidFill>
                  <a:srgbClr val="0000FF"/>
                </a:solidFill>
              </a:rPr>
              <a:t>最小步数</a:t>
            </a:r>
          </a:p>
          <a:p>
            <a:pPr marL="228577" indent="-228577" defTabSz="914309" eaLnBrk="1" fontAlgn="auto" hangingPunct="1">
              <a:lnSpc>
                <a:spcPct val="80000"/>
              </a:lnSpc>
              <a:spcAft>
                <a:spcPts val="0"/>
              </a:spcAft>
              <a:buFontTx/>
              <a:buNone/>
              <a:defRPr/>
            </a:pPr>
            <a:r>
              <a:rPr lang="en-US" altLang="zh-CN" sz="2200" b="1" dirty="0">
                <a:solidFill>
                  <a:srgbClr val="0000FF"/>
                </a:solidFill>
              </a:rPr>
              <a:t>};</a:t>
            </a:r>
          </a:p>
          <a:p>
            <a:pPr marL="228577" indent="-228577" defTabSz="914309" eaLnBrk="1" fontAlgn="auto" hangingPunct="1">
              <a:lnSpc>
                <a:spcPct val="80000"/>
              </a:lnSpc>
              <a:spcAft>
                <a:spcPts val="0"/>
              </a:spcAft>
              <a:buFontTx/>
              <a:buNone/>
              <a:defRPr/>
            </a:pPr>
            <a:r>
              <a:rPr lang="en-US" altLang="zh-CN" sz="2200" b="1" dirty="0">
                <a:solidFill>
                  <a:srgbClr val="0000FF"/>
                </a:solidFill>
              </a:rPr>
              <a:t>int search();                        //</a:t>
            </a:r>
            <a:r>
              <a:rPr lang="zh-CN" altLang="en-US" sz="2200" b="1" dirty="0">
                <a:solidFill>
                  <a:srgbClr val="0000FF"/>
                </a:solidFill>
              </a:rPr>
              <a:t>广搜返回目标结点的最小步数</a:t>
            </a:r>
          </a:p>
          <a:p>
            <a:pPr marL="228577" indent="-228577" defTabSz="914309" eaLnBrk="1" fontAlgn="auto" hangingPunct="1">
              <a:lnSpc>
                <a:spcPct val="80000"/>
              </a:lnSpc>
              <a:spcAft>
                <a:spcPts val="0"/>
              </a:spcAft>
              <a:buFontTx/>
              <a:buNone/>
              <a:defRPr/>
            </a:pPr>
            <a:r>
              <a:rPr lang="en-US" altLang="zh-CN" sz="2200" b="1" dirty="0">
                <a:solidFill>
                  <a:srgbClr val="0000FF"/>
                </a:solidFill>
              </a:rPr>
              <a:t>void </a:t>
            </a:r>
            <a:r>
              <a:rPr lang="en-US" altLang="zh-CN" sz="2200" b="1" dirty="0" err="1">
                <a:solidFill>
                  <a:srgbClr val="0000FF"/>
                </a:solidFill>
              </a:rPr>
              <a:t>readdata</a:t>
            </a:r>
            <a:r>
              <a:rPr lang="en-US" altLang="zh-CN" sz="2200" b="1" dirty="0">
                <a:solidFill>
                  <a:srgbClr val="0000FF"/>
                </a:solidFill>
              </a:rPr>
              <a:t>();                     //</a:t>
            </a:r>
            <a:r>
              <a:rPr lang="zh-CN" altLang="en-US" sz="2200" b="1" dirty="0">
                <a:solidFill>
                  <a:srgbClr val="0000FF"/>
                </a:solidFill>
              </a:rPr>
              <a:t>读入数据</a:t>
            </a:r>
          </a:p>
          <a:p>
            <a:pPr marL="228577" indent="-228577" defTabSz="914309" eaLnBrk="1" fontAlgn="auto" hangingPunct="1">
              <a:lnSpc>
                <a:spcPct val="80000"/>
              </a:lnSpc>
              <a:spcAft>
                <a:spcPts val="0"/>
              </a:spcAft>
              <a:buFontTx/>
              <a:buNone/>
              <a:defRPr/>
            </a:pPr>
            <a:r>
              <a:rPr lang="en-US" altLang="zh-CN" sz="2200" b="1" dirty="0">
                <a:solidFill>
                  <a:srgbClr val="0000FF"/>
                </a:solidFill>
              </a:rPr>
              <a:t>void </a:t>
            </a:r>
            <a:r>
              <a:rPr lang="en-US" altLang="zh-CN" sz="2200" b="1" dirty="0" err="1">
                <a:solidFill>
                  <a:srgbClr val="0000FF"/>
                </a:solidFill>
              </a:rPr>
              <a:t>init</a:t>
            </a:r>
            <a:r>
              <a:rPr lang="en-US" altLang="zh-CN" sz="2200" b="1" dirty="0">
                <a:solidFill>
                  <a:srgbClr val="0000FF"/>
                </a:solidFill>
              </a:rPr>
              <a:t>();                         //</a:t>
            </a:r>
            <a:r>
              <a:rPr lang="zh-CN" altLang="en-US" sz="2200" b="1" dirty="0">
                <a:solidFill>
                  <a:srgbClr val="0000FF"/>
                </a:solidFill>
              </a:rPr>
              <a:t>初始化</a:t>
            </a: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38914" name="Rectangle 3">
            <a:extLst>
              <a:ext uri="{FF2B5EF4-FFF2-40B4-BE49-F238E27FC236}">
                <a16:creationId xmlns:a16="http://schemas.microsoft.com/office/drawing/2014/main" id="{233A57D5-BB33-C22F-9AF4-0E28D9CBDADF}"/>
              </a:ext>
            </a:extLst>
          </p:cNvPr>
          <p:cNvSpPr txBox="1">
            <a:spLocks noChangeArrowheads="1"/>
          </p:cNvSpPr>
          <p:nvPr/>
        </p:nvSpPr>
        <p:spPr bwMode="auto">
          <a:xfrm>
            <a:off x="406574" y="1125538"/>
            <a:ext cx="9289032" cy="497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7013" indent="-227013" defTabSz="912813">
              <a:defRPr>
                <a:solidFill>
                  <a:schemeClr val="tx1"/>
                </a:solidFill>
                <a:latin typeface="Calibri" panose="020F0502020204030204" pitchFamily="34" charset="0"/>
              </a:defRPr>
            </a:lvl1pPr>
            <a:lvl2pPr marL="742950" indent="-285750" defTabSz="912813">
              <a:defRPr>
                <a:solidFill>
                  <a:schemeClr val="tx1"/>
                </a:solidFill>
                <a:latin typeface="Calibri" panose="020F0502020204030204" pitchFamily="34" charset="0"/>
              </a:defRPr>
            </a:lvl2pPr>
            <a:lvl3pPr marL="1143000" indent="-228600" defTabSz="912813">
              <a:defRPr>
                <a:solidFill>
                  <a:schemeClr val="tx1"/>
                </a:solidFill>
                <a:latin typeface="Calibri" panose="020F0502020204030204" pitchFamily="34" charset="0"/>
              </a:defRPr>
            </a:lvl3pPr>
            <a:lvl4pPr marL="1600200" indent="-228600" defTabSz="912813">
              <a:defRPr>
                <a:solidFill>
                  <a:schemeClr val="tx1"/>
                </a:solidFill>
                <a:latin typeface="Calibri" panose="020F0502020204030204" pitchFamily="34" charset="0"/>
              </a:defRPr>
            </a:lvl4pPr>
            <a:lvl5pPr marL="2057400" indent="-228600" defTabSz="912813">
              <a:defRPr>
                <a:solidFill>
                  <a:schemeClr val="tx1"/>
                </a:solidFill>
                <a:latin typeface="Calibri" panose="020F0502020204030204" pitchFamily="34" charset="0"/>
              </a:defRPr>
            </a:lvl5pPr>
            <a:lvl6pPr marL="2514600" indent="-228600" defTabSz="912813" eaLnBrk="0" fontAlgn="base" hangingPunct="0">
              <a:spcBef>
                <a:spcPct val="0"/>
              </a:spcBef>
              <a:spcAft>
                <a:spcPct val="0"/>
              </a:spcAft>
              <a:defRPr>
                <a:solidFill>
                  <a:schemeClr val="tx1"/>
                </a:solidFill>
                <a:latin typeface="Calibri" panose="020F0502020204030204" pitchFamily="34" charset="0"/>
              </a:defRPr>
            </a:lvl6pPr>
            <a:lvl7pPr marL="2971800" indent="-228600" defTabSz="912813" eaLnBrk="0" fontAlgn="base" hangingPunct="0">
              <a:spcBef>
                <a:spcPct val="0"/>
              </a:spcBef>
              <a:spcAft>
                <a:spcPct val="0"/>
              </a:spcAft>
              <a:defRPr>
                <a:solidFill>
                  <a:schemeClr val="tx1"/>
                </a:solidFill>
                <a:latin typeface="Calibri" panose="020F0502020204030204" pitchFamily="34" charset="0"/>
              </a:defRPr>
            </a:lvl7pPr>
            <a:lvl8pPr marL="3429000" indent="-228600" defTabSz="912813" eaLnBrk="0" fontAlgn="base" hangingPunct="0">
              <a:spcBef>
                <a:spcPct val="0"/>
              </a:spcBef>
              <a:spcAft>
                <a:spcPct val="0"/>
              </a:spcAft>
              <a:defRPr>
                <a:solidFill>
                  <a:schemeClr val="tx1"/>
                </a:solidFill>
                <a:latin typeface="Calibri" panose="020F0502020204030204" pitchFamily="34" charset="0"/>
              </a:defRPr>
            </a:lvl8pPr>
            <a:lvl9pPr marL="3886200" indent="-228600" defTabSz="912813"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80000"/>
              </a:lnSpc>
              <a:spcBef>
                <a:spcPts val="1000"/>
              </a:spcBef>
            </a:pPr>
            <a:r>
              <a:rPr lang="en-US" altLang="zh-CN" sz="2300" b="1" dirty="0">
                <a:solidFill>
                  <a:srgbClr val="0000FF"/>
                </a:solidFill>
                <a:latin typeface="华文楷体" panose="02010600040101010101" pitchFamily="2" charset="-122"/>
                <a:ea typeface="华文楷体" panose="02010600040101010101" pitchFamily="2" charset="-122"/>
              </a:rPr>
              <a:t>struct </a:t>
            </a:r>
            <a:r>
              <a:rPr lang="en-US" altLang="zh-CN" sz="2300" b="1" dirty="0" err="1">
                <a:solidFill>
                  <a:srgbClr val="0000FF"/>
                </a:solidFill>
                <a:latin typeface="华文楷体" panose="02010600040101010101" pitchFamily="2" charset="-122"/>
                <a:ea typeface="华文楷体" panose="02010600040101010101" pitchFamily="2" charset="-122"/>
              </a:rPr>
              <a:t>colornode</a:t>
            </a:r>
            <a:r>
              <a:rPr lang="en-US" altLang="zh-CN" sz="2300" b="1" dirty="0">
                <a:solidFill>
                  <a:srgbClr val="0000FF"/>
                </a:solidFill>
                <a:latin typeface="华文楷体" panose="02010600040101010101" pitchFamily="2" charset="-122"/>
                <a:ea typeface="华文楷体" panose="02010600040101010101" pitchFamily="2" charset="-122"/>
              </a:rPr>
              <a:t> </a:t>
            </a:r>
            <a:r>
              <a:rPr lang="en-US" altLang="zh-CN" sz="2300" b="1" dirty="0" err="1">
                <a:solidFill>
                  <a:srgbClr val="0000FF"/>
                </a:solidFill>
                <a:latin typeface="华文楷体" panose="02010600040101010101" pitchFamily="2" charset="-122"/>
                <a:ea typeface="华文楷体" panose="02010600040101010101" pitchFamily="2" charset="-122"/>
              </a:rPr>
              <a:t>moveahead</a:t>
            </a:r>
            <a:r>
              <a:rPr lang="en-US" altLang="zh-CN" sz="2300" b="1" dirty="0">
                <a:solidFill>
                  <a:srgbClr val="0000FF"/>
                </a:solidFill>
                <a:latin typeface="华文楷体" panose="02010600040101010101" pitchFamily="2" charset="-122"/>
                <a:ea typeface="华文楷体" panose="02010600040101010101" pitchFamily="2" charset="-122"/>
              </a:rPr>
              <a:t>(struct </a:t>
            </a:r>
            <a:r>
              <a:rPr lang="en-US" altLang="zh-CN" sz="2300" b="1" dirty="0" err="1">
                <a:solidFill>
                  <a:srgbClr val="0000FF"/>
                </a:solidFill>
                <a:latin typeface="华文楷体" panose="02010600040101010101" pitchFamily="2" charset="-122"/>
                <a:ea typeface="华文楷体" panose="02010600040101010101" pitchFamily="2" charset="-122"/>
              </a:rPr>
              <a:t>colornode</a:t>
            </a:r>
            <a:r>
              <a:rPr lang="en-US" altLang="zh-CN" sz="2300" b="1" dirty="0">
                <a:solidFill>
                  <a:srgbClr val="0000FF"/>
                </a:solidFill>
                <a:latin typeface="华文楷体" panose="02010600040101010101" pitchFamily="2" charset="-122"/>
                <a:ea typeface="华文楷体" panose="02010600040101010101" pitchFamily="2" charset="-122"/>
              </a:rPr>
              <a:t> u);  </a:t>
            </a:r>
          </a:p>
          <a:p>
            <a:pPr eaLnBrk="1" hangingPunct="1">
              <a:lnSpc>
                <a:spcPct val="80000"/>
              </a:lnSpc>
              <a:spcBef>
                <a:spcPts val="1000"/>
              </a:spcBef>
            </a:pP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返回</a:t>
            </a:r>
            <a:r>
              <a:rPr lang="en-US" altLang="zh-CN" sz="2300" b="1" dirty="0">
                <a:solidFill>
                  <a:srgbClr val="0000FF"/>
                </a:solidFill>
                <a:latin typeface="华文楷体" panose="02010600040101010101" pitchFamily="2" charset="-122"/>
                <a:ea typeface="华文楷体" panose="02010600040101010101" pitchFamily="2" charset="-122"/>
              </a:rPr>
              <a:t>u</a:t>
            </a:r>
            <a:r>
              <a:rPr lang="zh-CN" altLang="en-US" sz="2300" b="1" dirty="0">
                <a:solidFill>
                  <a:srgbClr val="0000FF"/>
                </a:solidFill>
                <a:latin typeface="华文楷体" panose="02010600040101010101" pitchFamily="2" charset="-122"/>
                <a:ea typeface="华文楷体" panose="02010600040101010101" pitchFamily="2" charset="-122"/>
              </a:rPr>
              <a:t>向前走一格得到的结点</a:t>
            </a:r>
          </a:p>
          <a:p>
            <a:pPr eaLnBrk="1" hangingPunct="1">
              <a:lnSpc>
                <a:spcPct val="80000"/>
              </a:lnSpc>
              <a:spcBef>
                <a:spcPts val="1000"/>
              </a:spcBef>
            </a:pPr>
            <a:r>
              <a:rPr lang="en-US" altLang="zh-CN" sz="2300" b="1" dirty="0">
                <a:solidFill>
                  <a:srgbClr val="0000FF"/>
                </a:solidFill>
                <a:latin typeface="华文楷体" panose="02010600040101010101" pitchFamily="2" charset="-122"/>
                <a:ea typeface="华文楷体" panose="02010600040101010101" pitchFamily="2" charset="-122"/>
              </a:rPr>
              <a:t>int used(struct </a:t>
            </a:r>
            <a:r>
              <a:rPr lang="en-US" altLang="zh-CN" sz="2300" b="1" dirty="0" err="1">
                <a:solidFill>
                  <a:srgbClr val="0000FF"/>
                </a:solidFill>
                <a:latin typeface="华文楷体" panose="02010600040101010101" pitchFamily="2" charset="-122"/>
                <a:ea typeface="华文楷体" panose="02010600040101010101" pitchFamily="2" charset="-122"/>
              </a:rPr>
              <a:t>colornode</a:t>
            </a:r>
            <a:r>
              <a:rPr lang="en-US" altLang="zh-CN" sz="2300" b="1" dirty="0">
                <a:solidFill>
                  <a:srgbClr val="0000FF"/>
                </a:solidFill>
                <a:latin typeface="华文楷体" panose="02010600040101010101" pitchFamily="2" charset="-122"/>
                <a:ea typeface="华文楷体" panose="02010600040101010101" pitchFamily="2" charset="-122"/>
              </a:rPr>
              <a:t> v);        </a:t>
            </a:r>
          </a:p>
          <a:p>
            <a:pPr eaLnBrk="1" hangingPunct="1">
              <a:lnSpc>
                <a:spcPct val="80000"/>
              </a:lnSpc>
              <a:spcBef>
                <a:spcPts val="1000"/>
              </a:spcBef>
            </a:pP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判断该结点是否是到达过的结点</a:t>
            </a:r>
          </a:p>
          <a:p>
            <a:pPr eaLnBrk="1" hangingPunct="1">
              <a:lnSpc>
                <a:spcPct val="80000"/>
              </a:lnSpc>
              <a:spcBef>
                <a:spcPts val="1000"/>
              </a:spcBef>
            </a:pPr>
            <a:r>
              <a:rPr lang="en-US" altLang="zh-CN" sz="2300" b="1" dirty="0">
                <a:solidFill>
                  <a:srgbClr val="0000FF"/>
                </a:solidFill>
                <a:latin typeface="华文楷体" panose="02010600040101010101" pitchFamily="2" charset="-122"/>
                <a:ea typeface="华文楷体" panose="02010600040101010101" pitchFamily="2" charset="-122"/>
              </a:rPr>
              <a:t>void </a:t>
            </a:r>
            <a:r>
              <a:rPr lang="en-US" altLang="zh-CN" sz="2300" b="1" dirty="0" err="1">
                <a:solidFill>
                  <a:srgbClr val="0000FF"/>
                </a:solidFill>
                <a:latin typeface="华文楷体" panose="02010600040101010101" pitchFamily="2" charset="-122"/>
                <a:ea typeface="华文楷体" panose="02010600040101010101" pitchFamily="2" charset="-122"/>
              </a:rPr>
              <a:t>addtoopen</a:t>
            </a:r>
            <a:r>
              <a:rPr lang="en-US" altLang="zh-CN" sz="2300" b="1" dirty="0">
                <a:solidFill>
                  <a:srgbClr val="0000FF"/>
                </a:solidFill>
                <a:latin typeface="华文楷体" panose="02010600040101010101" pitchFamily="2" charset="-122"/>
                <a:ea typeface="华文楷体" panose="02010600040101010101" pitchFamily="2" charset="-122"/>
              </a:rPr>
              <a:t>(struct </a:t>
            </a:r>
            <a:r>
              <a:rPr lang="en-US" altLang="zh-CN" sz="2300" b="1" dirty="0" err="1">
                <a:solidFill>
                  <a:srgbClr val="0000FF"/>
                </a:solidFill>
                <a:latin typeface="华文楷体" panose="02010600040101010101" pitchFamily="2" charset="-122"/>
                <a:ea typeface="华文楷体" panose="02010600040101010101" pitchFamily="2" charset="-122"/>
              </a:rPr>
              <a:t>colornode</a:t>
            </a:r>
            <a:r>
              <a:rPr lang="en-US" altLang="zh-CN" sz="2300" b="1" dirty="0">
                <a:solidFill>
                  <a:srgbClr val="0000FF"/>
                </a:solidFill>
                <a:latin typeface="华文楷体" panose="02010600040101010101" pitchFamily="2" charset="-122"/>
                <a:ea typeface="华文楷体" panose="02010600040101010101" pitchFamily="2" charset="-122"/>
              </a:rPr>
              <a:t> v);  //</a:t>
            </a:r>
            <a:r>
              <a:rPr lang="zh-CN" altLang="en-US" sz="2300" b="1" dirty="0">
                <a:solidFill>
                  <a:srgbClr val="0000FF"/>
                </a:solidFill>
                <a:latin typeface="华文楷体" panose="02010600040101010101" pitchFamily="2" charset="-122"/>
                <a:ea typeface="华文楷体" panose="02010600040101010101" pitchFamily="2" charset="-122"/>
              </a:rPr>
              <a:t>加入到</a:t>
            </a:r>
            <a:r>
              <a:rPr lang="en-US" altLang="zh-CN" sz="2300" b="1" dirty="0">
                <a:solidFill>
                  <a:srgbClr val="0000FF"/>
                </a:solidFill>
                <a:latin typeface="华文楷体" panose="02010600040101010101" pitchFamily="2" charset="-122"/>
                <a:ea typeface="华文楷体" panose="02010600040101010101" pitchFamily="2" charset="-122"/>
              </a:rPr>
              <a:t>open</a:t>
            </a:r>
            <a:r>
              <a:rPr lang="zh-CN" altLang="en-US" sz="2300" b="1" dirty="0">
                <a:solidFill>
                  <a:srgbClr val="0000FF"/>
                </a:solidFill>
                <a:latin typeface="华文楷体" panose="02010600040101010101" pitchFamily="2" charset="-122"/>
                <a:ea typeface="华文楷体" panose="02010600040101010101" pitchFamily="2" charset="-122"/>
              </a:rPr>
              <a:t>表</a:t>
            </a:r>
          </a:p>
          <a:p>
            <a:pPr eaLnBrk="1" hangingPunct="1">
              <a:lnSpc>
                <a:spcPct val="80000"/>
              </a:lnSpc>
              <a:spcBef>
                <a:spcPts val="1000"/>
              </a:spcBef>
            </a:pPr>
            <a:r>
              <a:rPr lang="en-US" altLang="zh-CN" sz="2300" b="1" dirty="0">
                <a:solidFill>
                  <a:srgbClr val="0000FF"/>
                </a:solidFill>
                <a:latin typeface="华文楷体" panose="02010600040101010101" pitchFamily="2" charset="-122"/>
                <a:ea typeface="华文楷体" panose="02010600040101010101" pitchFamily="2" charset="-122"/>
              </a:rPr>
              <a:t>int </a:t>
            </a:r>
            <a:r>
              <a:rPr lang="en-US" altLang="zh-CN" sz="2300" b="1" dirty="0" err="1">
                <a:solidFill>
                  <a:srgbClr val="0000FF"/>
                </a:solidFill>
                <a:latin typeface="华文楷体" panose="02010600040101010101" pitchFamily="2" charset="-122"/>
                <a:ea typeface="华文楷体" panose="02010600040101010101" pitchFamily="2" charset="-122"/>
              </a:rPr>
              <a:t>islegal</a:t>
            </a:r>
            <a:r>
              <a:rPr lang="en-US" altLang="zh-CN" sz="2300" b="1" dirty="0">
                <a:solidFill>
                  <a:srgbClr val="0000FF"/>
                </a:solidFill>
                <a:latin typeface="华文楷体" panose="02010600040101010101" pitchFamily="2" charset="-122"/>
                <a:ea typeface="华文楷体" panose="02010600040101010101" pitchFamily="2" charset="-122"/>
              </a:rPr>
              <a:t>(struct </a:t>
            </a:r>
            <a:r>
              <a:rPr lang="en-US" altLang="zh-CN" sz="2300" b="1" dirty="0" err="1">
                <a:solidFill>
                  <a:srgbClr val="0000FF"/>
                </a:solidFill>
                <a:latin typeface="华文楷体" panose="02010600040101010101" pitchFamily="2" charset="-122"/>
                <a:ea typeface="华文楷体" panose="02010600040101010101" pitchFamily="2" charset="-122"/>
              </a:rPr>
              <a:t>colornode</a:t>
            </a:r>
            <a:r>
              <a:rPr lang="en-US" altLang="zh-CN" sz="2300" b="1" dirty="0">
                <a:solidFill>
                  <a:srgbClr val="0000FF"/>
                </a:solidFill>
                <a:latin typeface="华文楷体" panose="02010600040101010101" pitchFamily="2" charset="-122"/>
                <a:ea typeface="华文楷体" panose="02010600040101010101" pitchFamily="2" charset="-122"/>
              </a:rPr>
              <a:t> v);      </a:t>
            </a:r>
          </a:p>
          <a:p>
            <a:pPr eaLnBrk="1" hangingPunct="1">
              <a:lnSpc>
                <a:spcPct val="80000"/>
              </a:lnSpc>
              <a:spcBef>
                <a:spcPts val="1000"/>
              </a:spcBef>
            </a:pP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如果该结点是合法的结点</a:t>
            </a: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未越界且是空格</a:t>
            </a:r>
            <a:r>
              <a:rPr lang="en-US" altLang="zh-CN" sz="2300" b="1" dirty="0">
                <a:solidFill>
                  <a:srgbClr val="0000FF"/>
                </a:solidFill>
                <a:latin typeface="华文楷体" panose="02010600040101010101" pitchFamily="2" charset="-122"/>
                <a:ea typeface="华文楷体" panose="02010600040101010101" pitchFamily="2" charset="-122"/>
              </a:rPr>
              <a:t>)</a:t>
            </a:r>
          </a:p>
          <a:p>
            <a:pPr eaLnBrk="1" hangingPunct="1">
              <a:lnSpc>
                <a:spcPct val="80000"/>
              </a:lnSpc>
              <a:spcBef>
                <a:spcPts val="1000"/>
              </a:spcBef>
            </a:pPr>
            <a:r>
              <a:rPr lang="en-US" altLang="zh-CN" sz="2300" b="1" dirty="0">
                <a:solidFill>
                  <a:srgbClr val="0000FF"/>
                </a:solidFill>
                <a:latin typeface="华文楷体" panose="02010600040101010101" pitchFamily="2" charset="-122"/>
                <a:ea typeface="华文楷体" panose="02010600040101010101" pitchFamily="2" charset="-122"/>
              </a:rPr>
              <a:t>int </a:t>
            </a:r>
            <a:r>
              <a:rPr lang="en-US" altLang="zh-CN" sz="2300" b="1" dirty="0" err="1">
                <a:solidFill>
                  <a:srgbClr val="0000FF"/>
                </a:solidFill>
                <a:latin typeface="华文楷体" panose="02010600040101010101" pitchFamily="2" charset="-122"/>
                <a:ea typeface="华文楷体" panose="02010600040101010101" pitchFamily="2" charset="-122"/>
              </a:rPr>
              <a:t>isaim</a:t>
            </a:r>
            <a:r>
              <a:rPr lang="en-US" altLang="zh-CN" sz="2300" b="1" dirty="0">
                <a:solidFill>
                  <a:srgbClr val="0000FF"/>
                </a:solidFill>
                <a:latin typeface="华文楷体" panose="02010600040101010101" pitchFamily="2" charset="-122"/>
                <a:ea typeface="华文楷体" panose="02010600040101010101" pitchFamily="2" charset="-122"/>
              </a:rPr>
              <a:t>(struct </a:t>
            </a:r>
            <a:r>
              <a:rPr lang="en-US" altLang="zh-CN" sz="2300" b="1" dirty="0" err="1">
                <a:solidFill>
                  <a:srgbClr val="0000FF"/>
                </a:solidFill>
                <a:latin typeface="华文楷体" panose="02010600040101010101" pitchFamily="2" charset="-122"/>
                <a:ea typeface="华文楷体" panose="02010600040101010101" pitchFamily="2" charset="-122"/>
              </a:rPr>
              <a:t>colornode</a:t>
            </a:r>
            <a:r>
              <a:rPr lang="en-US" altLang="zh-CN" sz="2300" b="1" dirty="0">
                <a:solidFill>
                  <a:srgbClr val="0000FF"/>
                </a:solidFill>
                <a:latin typeface="华文楷体" panose="02010600040101010101" pitchFamily="2" charset="-122"/>
                <a:ea typeface="华文楷体" panose="02010600040101010101" pitchFamily="2" charset="-122"/>
              </a:rPr>
              <a:t> v);       </a:t>
            </a:r>
          </a:p>
          <a:p>
            <a:pPr eaLnBrk="1" hangingPunct="1">
              <a:lnSpc>
                <a:spcPct val="80000"/>
              </a:lnSpc>
              <a:spcBef>
                <a:spcPts val="1000"/>
              </a:spcBef>
            </a:pP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判断该结点是否是目标结点</a:t>
            </a:r>
          </a:p>
          <a:p>
            <a:pPr eaLnBrk="1" hangingPunct="1">
              <a:lnSpc>
                <a:spcPct val="80000"/>
              </a:lnSpc>
              <a:spcBef>
                <a:spcPts val="1000"/>
              </a:spcBef>
            </a:pPr>
            <a:r>
              <a:rPr lang="en-US" altLang="zh-CN" sz="2300" b="1" dirty="0">
                <a:solidFill>
                  <a:srgbClr val="0000FF"/>
                </a:solidFill>
                <a:latin typeface="华文楷体" panose="02010600040101010101" pitchFamily="2" charset="-122"/>
                <a:ea typeface="华文楷体" panose="02010600040101010101" pitchFamily="2" charset="-122"/>
              </a:rPr>
              <a:t>struct </a:t>
            </a:r>
            <a:r>
              <a:rPr lang="en-US" altLang="zh-CN" sz="2300" b="1" dirty="0" err="1">
                <a:solidFill>
                  <a:srgbClr val="0000FF"/>
                </a:solidFill>
                <a:latin typeface="华文楷体" panose="02010600040101010101" pitchFamily="2" charset="-122"/>
                <a:ea typeface="华文楷体" panose="02010600040101010101" pitchFamily="2" charset="-122"/>
              </a:rPr>
              <a:t>colornode</a:t>
            </a:r>
            <a:r>
              <a:rPr lang="en-US" altLang="zh-CN" sz="2300" b="1" dirty="0">
                <a:solidFill>
                  <a:srgbClr val="0000FF"/>
                </a:solidFill>
                <a:latin typeface="华文楷体" panose="02010600040101010101" pitchFamily="2" charset="-122"/>
                <a:ea typeface="华文楷体" panose="02010600040101010101" pitchFamily="2" charset="-122"/>
              </a:rPr>
              <a:t> </a:t>
            </a:r>
            <a:r>
              <a:rPr lang="en-US" altLang="zh-CN" sz="2300" b="1" dirty="0" err="1">
                <a:solidFill>
                  <a:srgbClr val="0000FF"/>
                </a:solidFill>
                <a:latin typeface="华文楷体" panose="02010600040101010101" pitchFamily="2" charset="-122"/>
                <a:ea typeface="华文楷体" panose="02010600040101010101" pitchFamily="2" charset="-122"/>
              </a:rPr>
              <a:t>takeoutofopen</a:t>
            </a:r>
            <a:r>
              <a:rPr lang="en-US" altLang="zh-CN" sz="2300" b="1" dirty="0">
                <a:solidFill>
                  <a:srgbClr val="0000FF"/>
                </a:solidFill>
                <a:latin typeface="华文楷体" panose="02010600040101010101" pitchFamily="2" charset="-122"/>
                <a:ea typeface="华文楷体" panose="02010600040101010101" pitchFamily="2" charset="-122"/>
              </a:rPr>
              <a:t>();    </a:t>
            </a:r>
          </a:p>
          <a:p>
            <a:pPr eaLnBrk="1" hangingPunct="1">
              <a:lnSpc>
                <a:spcPct val="80000"/>
              </a:lnSpc>
              <a:spcBef>
                <a:spcPts val="1000"/>
              </a:spcBef>
            </a:pP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从</a:t>
            </a:r>
            <a:r>
              <a:rPr lang="en-US" altLang="zh-CN" sz="2300" b="1" dirty="0">
                <a:solidFill>
                  <a:srgbClr val="0000FF"/>
                </a:solidFill>
                <a:latin typeface="华文楷体" panose="02010600040101010101" pitchFamily="2" charset="-122"/>
                <a:ea typeface="华文楷体" panose="02010600040101010101" pitchFamily="2" charset="-122"/>
              </a:rPr>
              <a:t>open</a:t>
            </a:r>
            <a:r>
              <a:rPr lang="zh-CN" altLang="en-US" sz="2300" b="1" dirty="0">
                <a:solidFill>
                  <a:srgbClr val="0000FF"/>
                </a:solidFill>
                <a:latin typeface="华文楷体" panose="02010600040101010101" pitchFamily="2" charset="-122"/>
                <a:ea typeface="华文楷体" panose="02010600040101010101" pitchFamily="2" charset="-122"/>
              </a:rPr>
              <a:t>表中取出一个结点并把该结点从</a:t>
            </a:r>
            <a:r>
              <a:rPr lang="en-US" altLang="zh-CN" sz="2300" b="1" dirty="0">
                <a:solidFill>
                  <a:srgbClr val="0000FF"/>
                </a:solidFill>
                <a:latin typeface="华文楷体" panose="02010600040101010101" pitchFamily="2" charset="-122"/>
                <a:ea typeface="华文楷体" panose="02010600040101010101" pitchFamily="2" charset="-122"/>
              </a:rPr>
              <a:t>open</a:t>
            </a:r>
            <a:r>
              <a:rPr lang="zh-CN" altLang="en-US" sz="2300" b="1" dirty="0">
                <a:solidFill>
                  <a:srgbClr val="0000FF"/>
                </a:solidFill>
                <a:latin typeface="华文楷体" panose="02010600040101010101" pitchFamily="2" charset="-122"/>
                <a:ea typeface="华文楷体" panose="02010600040101010101" pitchFamily="2" charset="-122"/>
              </a:rPr>
              <a:t>表中删除</a:t>
            </a:r>
          </a:p>
          <a:p>
            <a:pPr eaLnBrk="1" hangingPunct="1">
              <a:lnSpc>
                <a:spcPct val="80000"/>
              </a:lnSpc>
              <a:spcBef>
                <a:spcPts val="1000"/>
              </a:spcBef>
            </a:pPr>
            <a:r>
              <a:rPr lang="en-US" altLang="zh-CN" sz="2300" b="1" dirty="0">
                <a:solidFill>
                  <a:srgbClr val="0000FF"/>
                </a:solidFill>
                <a:latin typeface="华文楷体" panose="02010600040101010101" pitchFamily="2" charset="-122"/>
                <a:ea typeface="华文楷体" panose="02010600040101010101" pitchFamily="2" charset="-122"/>
              </a:rPr>
              <a:t>struct </a:t>
            </a:r>
            <a:r>
              <a:rPr lang="en-US" altLang="zh-CN" sz="2300" b="1" dirty="0" err="1">
                <a:solidFill>
                  <a:srgbClr val="0000FF"/>
                </a:solidFill>
                <a:latin typeface="华文楷体" panose="02010600040101010101" pitchFamily="2" charset="-122"/>
                <a:ea typeface="华文楷体" panose="02010600040101010101" pitchFamily="2" charset="-122"/>
              </a:rPr>
              <a:t>colornode</a:t>
            </a:r>
            <a:r>
              <a:rPr lang="en-US" altLang="zh-CN" sz="2300" b="1" dirty="0">
                <a:solidFill>
                  <a:srgbClr val="0000FF"/>
                </a:solidFill>
                <a:latin typeface="华文楷体" panose="02010600040101010101" pitchFamily="2" charset="-122"/>
                <a:ea typeface="华文楷体" panose="02010600040101010101" pitchFamily="2" charset="-122"/>
              </a:rPr>
              <a:t> </a:t>
            </a:r>
            <a:r>
              <a:rPr lang="en-US" altLang="zh-CN" sz="2300" b="1" dirty="0" err="1">
                <a:solidFill>
                  <a:srgbClr val="0000FF"/>
                </a:solidFill>
                <a:latin typeface="华文楷体" panose="02010600040101010101" pitchFamily="2" charset="-122"/>
                <a:ea typeface="华文楷体" panose="02010600040101010101" pitchFamily="2" charset="-122"/>
              </a:rPr>
              <a:t>turntoleft</a:t>
            </a:r>
            <a:r>
              <a:rPr lang="en-US" altLang="zh-CN" sz="2300" b="1" dirty="0">
                <a:solidFill>
                  <a:srgbClr val="0000FF"/>
                </a:solidFill>
                <a:latin typeface="华文楷体" panose="02010600040101010101" pitchFamily="2" charset="-122"/>
                <a:ea typeface="华文楷体" panose="02010600040101010101" pitchFamily="2" charset="-122"/>
              </a:rPr>
              <a:t>(struct </a:t>
            </a:r>
            <a:r>
              <a:rPr lang="en-US" altLang="zh-CN" sz="2300" b="1" dirty="0" err="1">
                <a:solidFill>
                  <a:srgbClr val="0000FF"/>
                </a:solidFill>
                <a:latin typeface="华文楷体" panose="02010600040101010101" pitchFamily="2" charset="-122"/>
                <a:ea typeface="华文楷体" panose="02010600040101010101" pitchFamily="2" charset="-122"/>
              </a:rPr>
              <a:t>colornode</a:t>
            </a:r>
            <a:r>
              <a:rPr lang="en-US" altLang="zh-CN" sz="2300" b="1" dirty="0">
                <a:solidFill>
                  <a:srgbClr val="0000FF"/>
                </a:solidFill>
                <a:latin typeface="华文楷体" panose="02010600040101010101" pitchFamily="2" charset="-122"/>
                <a:ea typeface="华文楷体" panose="02010600040101010101" pitchFamily="2" charset="-122"/>
              </a:rPr>
              <a:t> u);     //u</a:t>
            </a:r>
            <a:r>
              <a:rPr lang="zh-CN" altLang="en-US" sz="2300" b="1" dirty="0">
                <a:solidFill>
                  <a:srgbClr val="0000FF"/>
                </a:solidFill>
                <a:latin typeface="华文楷体" panose="02010600040101010101" pitchFamily="2" charset="-122"/>
                <a:ea typeface="华文楷体" panose="02010600040101010101" pitchFamily="2" charset="-122"/>
              </a:rPr>
              <a:t>向左转得到新结点</a:t>
            </a:r>
            <a:r>
              <a:rPr lang="en-US" altLang="zh-CN" sz="2300" b="1" dirty="0">
                <a:solidFill>
                  <a:srgbClr val="0000FF"/>
                </a:solidFill>
                <a:latin typeface="华文楷体" panose="02010600040101010101" pitchFamily="2" charset="-122"/>
                <a:ea typeface="华文楷体" panose="02010600040101010101" pitchFamily="2" charset="-122"/>
              </a:rPr>
              <a:t>v</a:t>
            </a:r>
          </a:p>
          <a:p>
            <a:pPr eaLnBrk="1" hangingPunct="1">
              <a:lnSpc>
                <a:spcPct val="80000"/>
              </a:lnSpc>
              <a:spcBef>
                <a:spcPts val="1000"/>
              </a:spcBef>
            </a:pPr>
            <a:r>
              <a:rPr lang="en-US" altLang="zh-CN" sz="2300" b="1" dirty="0">
                <a:solidFill>
                  <a:srgbClr val="0000FF"/>
                </a:solidFill>
                <a:latin typeface="华文楷体" panose="02010600040101010101" pitchFamily="2" charset="-122"/>
                <a:ea typeface="华文楷体" panose="02010600040101010101" pitchFamily="2" charset="-122"/>
              </a:rPr>
              <a:t>struct </a:t>
            </a:r>
            <a:r>
              <a:rPr lang="en-US" altLang="zh-CN" sz="2300" b="1" dirty="0" err="1">
                <a:solidFill>
                  <a:srgbClr val="0000FF"/>
                </a:solidFill>
                <a:latin typeface="华文楷体" panose="02010600040101010101" pitchFamily="2" charset="-122"/>
                <a:ea typeface="华文楷体" panose="02010600040101010101" pitchFamily="2" charset="-122"/>
              </a:rPr>
              <a:t>colornode</a:t>
            </a:r>
            <a:r>
              <a:rPr lang="en-US" altLang="zh-CN" sz="2300" b="1" dirty="0">
                <a:solidFill>
                  <a:srgbClr val="0000FF"/>
                </a:solidFill>
                <a:latin typeface="华文楷体" panose="02010600040101010101" pitchFamily="2" charset="-122"/>
                <a:ea typeface="华文楷体" panose="02010600040101010101" pitchFamily="2" charset="-122"/>
              </a:rPr>
              <a:t> </a:t>
            </a:r>
            <a:r>
              <a:rPr lang="en-US" altLang="zh-CN" sz="2300" b="1" dirty="0" err="1">
                <a:solidFill>
                  <a:srgbClr val="0000FF"/>
                </a:solidFill>
                <a:latin typeface="华文楷体" panose="02010600040101010101" pitchFamily="2" charset="-122"/>
                <a:ea typeface="华文楷体" panose="02010600040101010101" pitchFamily="2" charset="-122"/>
              </a:rPr>
              <a:t>turntoright</a:t>
            </a:r>
            <a:r>
              <a:rPr lang="en-US" altLang="zh-CN" sz="2300" b="1" dirty="0">
                <a:solidFill>
                  <a:srgbClr val="0000FF"/>
                </a:solidFill>
                <a:latin typeface="华文楷体" panose="02010600040101010101" pitchFamily="2" charset="-122"/>
                <a:ea typeface="华文楷体" panose="02010600040101010101" pitchFamily="2" charset="-122"/>
              </a:rPr>
              <a:t>(struct </a:t>
            </a:r>
            <a:r>
              <a:rPr lang="en-US" altLang="zh-CN" sz="2300" b="1" dirty="0" err="1">
                <a:solidFill>
                  <a:srgbClr val="0000FF"/>
                </a:solidFill>
                <a:latin typeface="华文楷体" panose="02010600040101010101" pitchFamily="2" charset="-122"/>
                <a:ea typeface="华文楷体" panose="02010600040101010101" pitchFamily="2" charset="-122"/>
              </a:rPr>
              <a:t>colornode</a:t>
            </a:r>
            <a:r>
              <a:rPr lang="en-US" altLang="zh-CN" sz="2300" b="1" dirty="0">
                <a:solidFill>
                  <a:srgbClr val="0000FF"/>
                </a:solidFill>
                <a:latin typeface="华文楷体" panose="02010600040101010101" pitchFamily="2" charset="-122"/>
                <a:ea typeface="华文楷体" panose="02010600040101010101" pitchFamily="2" charset="-122"/>
              </a:rPr>
              <a:t> u);    //u</a:t>
            </a:r>
            <a:r>
              <a:rPr lang="zh-CN" altLang="en-US" sz="2300" b="1" dirty="0">
                <a:solidFill>
                  <a:srgbClr val="0000FF"/>
                </a:solidFill>
                <a:latin typeface="华文楷体" panose="02010600040101010101" pitchFamily="2" charset="-122"/>
                <a:ea typeface="华文楷体" panose="02010600040101010101" pitchFamily="2" charset="-122"/>
              </a:rPr>
              <a:t>向左转得到新结点</a:t>
            </a:r>
            <a:r>
              <a:rPr lang="en-US" altLang="zh-CN" sz="2300" b="1" dirty="0">
                <a:solidFill>
                  <a:srgbClr val="0000FF"/>
                </a:solidFill>
                <a:latin typeface="华文楷体" panose="02010600040101010101" pitchFamily="2" charset="-122"/>
                <a:ea typeface="华文楷体" panose="02010600040101010101" pitchFamily="2" charset="-122"/>
              </a:rPr>
              <a:t>v</a:t>
            </a:r>
          </a:p>
          <a:p>
            <a:pPr eaLnBrk="1" hangingPunct="1">
              <a:lnSpc>
                <a:spcPct val="80000"/>
              </a:lnSpc>
              <a:spcBef>
                <a:spcPts val="1000"/>
              </a:spcBef>
            </a:pPr>
            <a:endParaRPr lang="en-US" altLang="zh-CN" sz="2200" b="1" dirty="0">
              <a:solidFill>
                <a:srgbClr val="0000FF"/>
              </a:solidFill>
              <a:latin typeface="华文楷体" panose="02010600040101010101" pitchFamily="2" charset="-122"/>
              <a:ea typeface="华文楷体" panose="02010600040101010101" pitchFamily="2" charset="-122"/>
            </a:endParaRPr>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F137F1A-E40A-F6E0-2385-1916E84BCC78}"/>
              </a:ext>
            </a:extLst>
          </p:cNvPr>
          <p:cNvSpPr txBox="1"/>
          <p:nvPr/>
        </p:nvSpPr>
        <p:spPr>
          <a:xfrm>
            <a:off x="766614" y="1269554"/>
            <a:ext cx="8568952" cy="3430042"/>
          </a:xfrm>
          <a:prstGeom prst="rect">
            <a:avLst/>
          </a:prstGeom>
          <a:noFill/>
        </p:spPr>
        <p:txBody>
          <a:bodyPr wrap="square">
            <a:spAutoFit/>
          </a:bodyPr>
          <a:lstStyle/>
          <a:p>
            <a:pPr eaLnBrk="1" hangingPunct="1">
              <a:lnSpc>
                <a:spcPct val="90000"/>
              </a:lnSpc>
              <a:spcBef>
                <a:spcPts val="1000"/>
              </a:spcBef>
            </a:pPr>
            <a:r>
              <a:rPr lang="en-US" altLang="zh-CN" sz="2200" b="1" dirty="0">
                <a:solidFill>
                  <a:srgbClr val="0000FF"/>
                </a:solidFill>
                <a:latin typeface="华文楷体" panose="02010600040101010101" pitchFamily="2" charset="-122"/>
                <a:ea typeface="华文楷体" panose="02010600040101010101" pitchFamily="2" charset="-122"/>
              </a:rPr>
              <a:t>struct </a:t>
            </a:r>
            <a:r>
              <a:rPr lang="en-US" altLang="zh-CN" sz="2200" b="1" dirty="0" err="1">
                <a:solidFill>
                  <a:srgbClr val="0000FF"/>
                </a:solidFill>
                <a:latin typeface="华文楷体" panose="02010600040101010101" pitchFamily="2" charset="-122"/>
                <a:ea typeface="华文楷体" panose="02010600040101010101" pitchFamily="2" charset="-122"/>
              </a:rPr>
              <a:t>colornode</a:t>
            </a:r>
            <a:r>
              <a:rPr lang="en-US" altLang="zh-CN" sz="2200" b="1" dirty="0">
                <a:solidFill>
                  <a:srgbClr val="0000FF"/>
                </a:solidFill>
                <a:latin typeface="华文楷体" panose="02010600040101010101" pitchFamily="2" charset="-122"/>
                <a:ea typeface="华文楷体" panose="02010600040101010101" pitchFamily="2" charset="-122"/>
              </a:rPr>
              <a:t> </a:t>
            </a:r>
            <a:r>
              <a:rPr lang="en-US" altLang="zh-CN" sz="2200" b="1" dirty="0" err="1">
                <a:solidFill>
                  <a:srgbClr val="0000FF"/>
                </a:solidFill>
                <a:latin typeface="华文楷体" panose="02010600040101010101" pitchFamily="2" charset="-122"/>
                <a:ea typeface="华文楷体" panose="02010600040101010101" pitchFamily="2" charset="-122"/>
              </a:rPr>
              <a:t>s,t</a:t>
            </a:r>
            <a:r>
              <a:rPr lang="en-US" altLang="zh-CN" sz="2200" b="1" dirty="0">
                <a:solidFill>
                  <a:srgbClr val="0000FF"/>
                </a:solidFill>
                <a:latin typeface="华文楷体" panose="02010600040101010101" pitchFamily="2" charset="-122"/>
                <a:ea typeface="华文楷体" panose="02010600040101010101" pitchFamily="2" charset="-122"/>
              </a:rPr>
              <a:t>;                //s:</a:t>
            </a:r>
            <a:r>
              <a:rPr lang="zh-CN" altLang="en-US" sz="2200" b="1" dirty="0">
                <a:solidFill>
                  <a:srgbClr val="0000FF"/>
                </a:solidFill>
                <a:latin typeface="华文楷体" panose="02010600040101010101" pitchFamily="2" charset="-122"/>
                <a:ea typeface="华文楷体" panose="02010600040101010101" pitchFamily="2" charset="-122"/>
              </a:rPr>
              <a:t>起始结点；</a:t>
            </a:r>
            <a:r>
              <a:rPr lang="en-US" altLang="zh-CN" sz="2200" b="1" dirty="0">
                <a:solidFill>
                  <a:srgbClr val="0000FF"/>
                </a:solidFill>
                <a:latin typeface="华文楷体" panose="02010600040101010101" pitchFamily="2" charset="-122"/>
                <a:ea typeface="华文楷体" panose="02010600040101010101" pitchFamily="2" charset="-122"/>
              </a:rPr>
              <a:t>t</a:t>
            </a:r>
            <a:r>
              <a:rPr lang="zh-CN" altLang="en-US" sz="2200" b="1" dirty="0">
                <a:solidFill>
                  <a:srgbClr val="0000FF"/>
                </a:solidFill>
                <a:latin typeface="华文楷体" panose="02010600040101010101" pitchFamily="2" charset="-122"/>
                <a:ea typeface="华文楷体" panose="02010600040101010101" pitchFamily="2" charset="-122"/>
              </a:rPr>
              <a:t>目标结点</a:t>
            </a:r>
          </a:p>
          <a:p>
            <a:pPr eaLnBrk="1" hangingPunct="1">
              <a:lnSpc>
                <a:spcPct val="90000"/>
              </a:lnSpc>
              <a:spcBef>
                <a:spcPts val="1000"/>
              </a:spcBef>
            </a:pPr>
            <a:r>
              <a:rPr lang="en-US" altLang="zh-CN" sz="2200" b="1" dirty="0">
                <a:solidFill>
                  <a:srgbClr val="0000FF"/>
                </a:solidFill>
                <a:latin typeface="华文楷体" panose="02010600040101010101" pitchFamily="2" charset="-122"/>
                <a:ea typeface="华文楷体" panose="02010600040101010101" pitchFamily="2" charset="-122"/>
              </a:rPr>
              <a:t>struct </a:t>
            </a:r>
            <a:r>
              <a:rPr lang="en-US" altLang="zh-CN" sz="2200" b="1" dirty="0" err="1">
                <a:solidFill>
                  <a:srgbClr val="0000FF"/>
                </a:solidFill>
                <a:latin typeface="华文楷体" panose="02010600040101010101" pitchFamily="2" charset="-122"/>
                <a:ea typeface="华文楷体" panose="02010600040101010101" pitchFamily="2" charset="-122"/>
              </a:rPr>
              <a:t>colornode</a:t>
            </a:r>
            <a:r>
              <a:rPr lang="en-US" altLang="zh-CN" sz="2200" b="1" dirty="0">
                <a:solidFill>
                  <a:srgbClr val="0000FF"/>
                </a:solidFill>
                <a:latin typeface="华文楷体" panose="02010600040101010101" pitchFamily="2" charset="-122"/>
                <a:ea typeface="华文楷体" panose="02010600040101010101" pitchFamily="2" charset="-122"/>
              </a:rPr>
              <a:t> open[200];          //open</a:t>
            </a:r>
            <a:r>
              <a:rPr lang="zh-CN" altLang="en-US" sz="2200" b="1" dirty="0">
                <a:solidFill>
                  <a:srgbClr val="0000FF"/>
                </a:solidFill>
                <a:latin typeface="华文楷体" panose="02010600040101010101" pitchFamily="2" charset="-122"/>
                <a:ea typeface="华文楷体" panose="02010600040101010101" pitchFamily="2" charset="-122"/>
              </a:rPr>
              <a:t>表</a:t>
            </a:r>
          </a:p>
          <a:p>
            <a:pPr eaLnBrk="1" hangingPunct="1">
              <a:lnSpc>
                <a:spcPct val="90000"/>
              </a:lnSpc>
              <a:spcBef>
                <a:spcPts val="1000"/>
              </a:spcBef>
            </a:pPr>
            <a:r>
              <a:rPr lang="en-US" altLang="zh-CN" sz="2200" b="1" dirty="0">
                <a:solidFill>
                  <a:srgbClr val="0000FF"/>
                </a:solidFill>
                <a:latin typeface="华文楷体" panose="02010600040101010101" pitchFamily="2" charset="-122"/>
                <a:ea typeface="华文楷体" panose="02010600040101010101" pitchFamily="2" charset="-122"/>
              </a:rPr>
              <a:t>int </a:t>
            </a:r>
            <a:r>
              <a:rPr lang="en-US" altLang="zh-CN" sz="2200" b="1" dirty="0" err="1">
                <a:solidFill>
                  <a:srgbClr val="0000FF"/>
                </a:solidFill>
                <a:latin typeface="华文楷体" panose="02010600040101010101" pitchFamily="2" charset="-122"/>
                <a:ea typeface="华文楷体" panose="02010600040101010101" pitchFamily="2" charset="-122"/>
              </a:rPr>
              <a:t>head,tail,openlen</a:t>
            </a:r>
            <a:r>
              <a:rPr lang="en-US" altLang="zh-CN" sz="2200" b="1" dirty="0">
                <a:solidFill>
                  <a:srgbClr val="0000FF"/>
                </a:solidFill>
                <a:latin typeface="华文楷体" panose="02010600040101010101" pitchFamily="2" charset="-122"/>
                <a:ea typeface="华文楷体" panose="02010600040101010101" pitchFamily="2" charset="-122"/>
              </a:rPr>
              <a:t>=200;           //open</a:t>
            </a:r>
            <a:r>
              <a:rPr lang="zh-CN" altLang="en-US" sz="2200" b="1" dirty="0">
                <a:solidFill>
                  <a:srgbClr val="0000FF"/>
                </a:solidFill>
                <a:latin typeface="华文楷体" panose="02010600040101010101" pitchFamily="2" charset="-122"/>
                <a:ea typeface="华文楷体" panose="02010600040101010101" pitchFamily="2" charset="-122"/>
              </a:rPr>
              <a:t>表相关数据</a:t>
            </a:r>
          </a:p>
          <a:p>
            <a:pPr eaLnBrk="1" hangingPunct="1">
              <a:lnSpc>
                <a:spcPct val="90000"/>
              </a:lnSpc>
              <a:spcBef>
                <a:spcPts val="1000"/>
              </a:spcBef>
            </a:pPr>
            <a:r>
              <a:rPr lang="en-US" altLang="zh-CN" sz="2200" b="1" dirty="0">
                <a:solidFill>
                  <a:srgbClr val="0000FF"/>
                </a:solidFill>
                <a:latin typeface="华文楷体" panose="02010600040101010101" pitchFamily="2" charset="-122"/>
                <a:ea typeface="华文楷体" panose="02010600040101010101" pitchFamily="2" charset="-122"/>
              </a:rPr>
              <a:t>int direct[4][2]={{0,-1},{1,0},{0,1},{-1,0}};</a:t>
            </a:r>
          </a:p>
          <a:p>
            <a:pPr eaLnBrk="1" hangingPunct="1">
              <a:lnSpc>
                <a:spcPct val="90000"/>
              </a:lnSpc>
              <a:spcBef>
                <a:spcPts val="1000"/>
              </a:spcBef>
            </a:pPr>
            <a:r>
              <a:rPr lang="en-US" altLang="zh-CN" sz="2200" b="1" dirty="0">
                <a:solidFill>
                  <a:srgbClr val="0000FF"/>
                </a:solidFill>
                <a:latin typeface="华文楷体" panose="02010600040101010101" pitchFamily="2" charset="-122"/>
                <a:ea typeface="华文楷体" panose="02010600040101010101" pitchFamily="2" charset="-122"/>
              </a:rPr>
              <a:t>//</a:t>
            </a:r>
            <a:r>
              <a:rPr lang="zh-CN" altLang="en-US" sz="2200" b="1" dirty="0">
                <a:solidFill>
                  <a:srgbClr val="0000FF"/>
                </a:solidFill>
                <a:latin typeface="华文楷体" panose="02010600040101010101" pitchFamily="2" charset="-122"/>
                <a:ea typeface="华文楷体" panose="02010600040101010101" pitchFamily="2" charset="-122"/>
              </a:rPr>
              <a:t>向左、下、右、上四个方向转时，行列的增加值</a:t>
            </a:r>
          </a:p>
          <a:p>
            <a:pPr eaLnBrk="1" hangingPunct="1">
              <a:lnSpc>
                <a:spcPct val="90000"/>
              </a:lnSpc>
              <a:spcBef>
                <a:spcPts val="1000"/>
              </a:spcBef>
            </a:pPr>
            <a:r>
              <a:rPr lang="en-US" altLang="zh-CN" sz="2200" b="1" dirty="0">
                <a:solidFill>
                  <a:srgbClr val="0000FF"/>
                </a:solidFill>
                <a:latin typeface="华文楷体" panose="02010600040101010101" pitchFamily="2" charset="-122"/>
                <a:ea typeface="华文楷体" panose="02010600040101010101" pitchFamily="2" charset="-122"/>
              </a:rPr>
              <a:t>int a[20][20],n=20;                  //a</a:t>
            </a:r>
            <a:r>
              <a:rPr lang="zh-CN" altLang="en-US" sz="2200" b="1" dirty="0">
                <a:solidFill>
                  <a:srgbClr val="0000FF"/>
                </a:solidFill>
                <a:latin typeface="华文楷体" panose="02010600040101010101" pitchFamily="2" charset="-122"/>
                <a:ea typeface="华文楷体" panose="02010600040101010101" pitchFamily="2" charset="-122"/>
              </a:rPr>
              <a:t>数组表示迷宫；</a:t>
            </a:r>
            <a:r>
              <a:rPr lang="en-US" altLang="zh-CN" sz="2200" b="1" dirty="0">
                <a:solidFill>
                  <a:srgbClr val="0000FF"/>
                </a:solidFill>
                <a:latin typeface="华文楷体" panose="02010600040101010101" pitchFamily="2" charset="-122"/>
                <a:ea typeface="华文楷体" panose="02010600040101010101" pitchFamily="2" charset="-122"/>
              </a:rPr>
              <a:t>n</a:t>
            </a:r>
            <a:r>
              <a:rPr lang="zh-CN" altLang="en-US" sz="2200" b="1" dirty="0">
                <a:solidFill>
                  <a:srgbClr val="0000FF"/>
                </a:solidFill>
                <a:latin typeface="华文楷体" panose="02010600040101010101" pitchFamily="2" charset="-122"/>
                <a:ea typeface="华文楷体" panose="02010600040101010101" pitchFamily="2" charset="-122"/>
              </a:rPr>
              <a:t>为迷宫边长</a:t>
            </a:r>
          </a:p>
          <a:p>
            <a:pPr eaLnBrk="1" hangingPunct="1">
              <a:lnSpc>
                <a:spcPct val="90000"/>
              </a:lnSpc>
              <a:spcBef>
                <a:spcPts val="1000"/>
              </a:spcBef>
            </a:pPr>
            <a:r>
              <a:rPr lang="en-US" altLang="zh-CN" sz="2200" b="1" dirty="0">
                <a:solidFill>
                  <a:srgbClr val="0000FF"/>
                </a:solidFill>
                <a:latin typeface="华文楷体" panose="02010600040101010101" pitchFamily="2" charset="-122"/>
                <a:ea typeface="华文楷体" panose="02010600040101010101" pitchFamily="2" charset="-122"/>
              </a:rPr>
              <a:t>int b[20][20][5][4];                 </a:t>
            </a:r>
          </a:p>
          <a:p>
            <a:pPr eaLnBrk="1" hangingPunct="1">
              <a:lnSpc>
                <a:spcPct val="90000"/>
              </a:lnSpc>
              <a:spcBef>
                <a:spcPts val="1000"/>
              </a:spcBef>
            </a:pPr>
            <a:r>
              <a:rPr lang="en-US" altLang="zh-CN" sz="2200" b="1" dirty="0">
                <a:solidFill>
                  <a:srgbClr val="0000FF"/>
                </a:solidFill>
                <a:latin typeface="华文楷体" panose="02010600040101010101" pitchFamily="2" charset="-122"/>
                <a:ea typeface="华文楷体" panose="02010600040101010101" pitchFamily="2" charset="-122"/>
              </a:rPr>
              <a:t>//b</a:t>
            </a:r>
            <a:r>
              <a:rPr lang="zh-CN" altLang="en-US" sz="2200" b="1" dirty="0">
                <a:solidFill>
                  <a:srgbClr val="0000FF"/>
                </a:solidFill>
                <a:latin typeface="华文楷体" panose="02010600040101010101" pitchFamily="2" charset="-122"/>
                <a:ea typeface="华文楷体" panose="02010600040101010101" pitchFamily="2" charset="-122"/>
              </a:rPr>
              <a:t>数组表示搜索时的所有状态</a:t>
            </a:r>
            <a:r>
              <a:rPr lang="en-US" altLang="zh-CN" sz="2200" b="1" dirty="0">
                <a:solidFill>
                  <a:srgbClr val="0000FF"/>
                </a:solidFill>
                <a:latin typeface="华文楷体" panose="02010600040101010101" pitchFamily="2" charset="-122"/>
                <a:ea typeface="华文楷体" panose="02010600040101010101" pitchFamily="2" charset="-122"/>
              </a:rPr>
              <a:t>(0</a:t>
            </a:r>
            <a:r>
              <a:rPr lang="zh-CN" altLang="en-US" sz="2200" b="1" dirty="0">
                <a:solidFill>
                  <a:srgbClr val="0000FF"/>
                </a:solidFill>
                <a:latin typeface="华文楷体" panose="02010600040101010101" pitchFamily="2" charset="-122"/>
                <a:ea typeface="华文楷体" panose="02010600040101010101" pitchFamily="2" charset="-122"/>
              </a:rPr>
              <a:t>：未访问；</a:t>
            </a:r>
            <a:r>
              <a:rPr lang="en-US" altLang="zh-CN" sz="2200" b="1" dirty="0">
                <a:solidFill>
                  <a:srgbClr val="0000FF"/>
                </a:solidFill>
                <a:latin typeface="华文楷体" panose="02010600040101010101" pitchFamily="2" charset="-122"/>
                <a:ea typeface="华文楷体" panose="02010600040101010101" pitchFamily="2" charset="-122"/>
              </a:rPr>
              <a:t>1</a:t>
            </a:r>
            <a:r>
              <a:rPr lang="zh-CN" altLang="en-US" sz="2200" b="1" dirty="0">
                <a:solidFill>
                  <a:srgbClr val="0000FF"/>
                </a:solidFill>
                <a:latin typeface="华文楷体" panose="02010600040101010101" pitchFamily="2" charset="-122"/>
                <a:ea typeface="华文楷体" panose="02010600040101010101" pitchFamily="2" charset="-122"/>
              </a:rPr>
              <a:t>：已访问</a:t>
            </a:r>
            <a:r>
              <a:rPr lang="en-US" altLang="zh-CN" sz="2200" b="1" dirty="0">
                <a:solidFill>
                  <a:srgbClr val="0000FF"/>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4110165482"/>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0962" name="Rectangle 3">
            <a:extLst>
              <a:ext uri="{FF2B5EF4-FFF2-40B4-BE49-F238E27FC236}">
                <a16:creationId xmlns:a16="http://schemas.microsoft.com/office/drawing/2014/main" id="{C6213437-27D7-20DB-8DA8-3B6CEB348C69}"/>
              </a:ext>
            </a:extLst>
          </p:cNvPr>
          <p:cNvSpPr>
            <a:spLocks noGrp="1" noChangeArrowheads="1"/>
          </p:cNvSpPr>
          <p:nvPr>
            <p:ph type="body" idx="4294967295"/>
          </p:nvPr>
        </p:nvSpPr>
        <p:spPr>
          <a:xfrm>
            <a:off x="1054646" y="1125538"/>
            <a:ext cx="3312368" cy="4970463"/>
          </a:xfrm>
        </p:spPr>
        <p:txBody>
          <a:bodyPr>
            <a:normAutofit/>
          </a:bodyPr>
          <a:lstStyle/>
          <a:p>
            <a:pPr eaLnBrk="1" hangingPunct="1">
              <a:buFontTx/>
              <a:buNone/>
            </a:pPr>
            <a:r>
              <a:rPr lang="en-US" altLang="zh-CN" sz="2300" b="1" dirty="0">
                <a:solidFill>
                  <a:srgbClr val="0000FF"/>
                </a:solidFill>
              </a:rPr>
              <a:t>int main()</a:t>
            </a:r>
          </a:p>
          <a:p>
            <a:pPr eaLnBrk="1" hangingPunct="1">
              <a:buFontTx/>
              <a:buNone/>
            </a:pPr>
            <a:r>
              <a:rPr lang="en-US" altLang="zh-CN" sz="2300" b="1" dirty="0">
                <a:solidFill>
                  <a:srgbClr val="0000FF"/>
                </a:solidFill>
              </a:rPr>
              <a:t>{</a:t>
            </a:r>
          </a:p>
          <a:p>
            <a:pPr eaLnBrk="1" hangingPunct="1">
              <a:buFontTx/>
              <a:buNone/>
            </a:pPr>
            <a:r>
              <a:rPr lang="en-US" altLang="zh-CN" sz="2300" b="1" dirty="0">
                <a:solidFill>
                  <a:srgbClr val="0000FF"/>
                </a:solidFill>
              </a:rPr>
              <a:t>	int number;</a:t>
            </a:r>
          </a:p>
          <a:p>
            <a:pPr eaLnBrk="1" hangingPunct="1">
              <a:buFontTx/>
              <a:buNone/>
            </a:pPr>
            <a:r>
              <a:rPr lang="en-US" altLang="zh-CN" sz="2300" b="1" dirty="0">
                <a:solidFill>
                  <a:srgbClr val="0000FF"/>
                </a:solidFill>
              </a:rPr>
              <a:t>	</a:t>
            </a:r>
            <a:r>
              <a:rPr lang="en-US" altLang="zh-CN" sz="2300" b="1" dirty="0" err="1">
                <a:solidFill>
                  <a:srgbClr val="0000FF"/>
                </a:solidFill>
              </a:rPr>
              <a:t>readdata</a:t>
            </a:r>
            <a:r>
              <a:rPr lang="en-US" altLang="zh-CN" sz="2300" b="1" dirty="0">
                <a:solidFill>
                  <a:srgbClr val="0000FF"/>
                </a:solidFill>
              </a:rPr>
              <a:t>();</a:t>
            </a:r>
          </a:p>
          <a:p>
            <a:pPr eaLnBrk="1" hangingPunct="1">
              <a:buFontTx/>
              <a:buNone/>
            </a:pPr>
            <a:r>
              <a:rPr lang="en-US" altLang="zh-CN" sz="2300" b="1" dirty="0">
                <a:solidFill>
                  <a:srgbClr val="0000FF"/>
                </a:solidFill>
              </a:rPr>
              <a:t>	</a:t>
            </a:r>
            <a:r>
              <a:rPr lang="en-US" altLang="zh-CN" sz="2300" b="1" dirty="0" err="1">
                <a:solidFill>
                  <a:srgbClr val="0000FF"/>
                </a:solidFill>
              </a:rPr>
              <a:t>init</a:t>
            </a:r>
            <a:r>
              <a:rPr lang="en-US" altLang="zh-CN" sz="2300" b="1" dirty="0">
                <a:solidFill>
                  <a:srgbClr val="0000FF"/>
                </a:solidFill>
              </a:rPr>
              <a:t>();</a:t>
            </a:r>
          </a:p>
          <a:p>
            <a:pPr eaLnBrk="1" hangingPunct="1">
              <a:buFontTx/>
              <a:buNone/>
            </a:pPr>
            <a:r>
              <a:rPr lang="en-US" altLang="zh-CN" sz="2300" b="1" dirty="0">
                <a:solidFill>
                  <a:srgbClr val="0000FF"/>
                </a:solidFill>
              </a:rPr>
              <a:t>	number=search();</a:t>
            </a:r>
          </a:p>
          <a:p>
            <a:pPr eaLnBrk="1" hangingPunct="1">
              <a:buFontTx/>
              <a:buNone/>
            </a:pPr>
            <a:r>
              <a:rPr lang="en-US" altLang="zh-CN" sz="2300" b="1" dirty="0">
                <a:solidFill>
                  <a:srgbClr val="0000FF"/>
                </a:solidFill>
              </a:rPr>
              <a:t>	</a:t>
            </a:r>
            <a:r>
              <a:rPr lang="en-US" altLang="zh-CN" sz="2300" b="1" dirty="0" err="1">
                <a:solidFill>
                  <a:srgbClr val="0000FF"/>
                </a:solidFill>
              </a:rPr>
              <a:t>printf</a:t>
            </a:r>
            <a:r>
              <a:rPr lang="en-US" altLang="zh-CN" sz="2300" b="1" dirty="0">
                <a:solidFill>
                  <a:srgbClr val="0000FF"/>
                </a:solidFill>
              </a:rPr>
              <a:t>("%d\</a:t>
            </a:r>
            <a:r>
              <a:rPr lang="en-US" altLang="zh-CN" sz="2300" b="1" dirty="0" err="1">
                <a:solidFill>
                  <a:srgbClr val="0000FF"/>
                </a:solidFill>
              </a:rPr>
              <a:t>n",number</a:t>
            </a:r>
            <a:r>
              <a:rPr lang="en-US" altLang="zh-CN" sz="2300" b="1" dirty="0">
                <a:solidFill>
                  <a:srgbClr val="0000FF"/>
                </a:solidFill>
              </a:rPr>
              <a:t>);</a:t>
            </a:r>
          </a:p>
          <a:p>
            <a:pPr eaLnBrk="1" hangingPunct="1">
              <a:buFontTx/>
              <a:buNone/>
            </a:pPr>
            <a:r>
              <a:rPr lang="en-US" altLang="zh-CN" sz="2300" b="1" dirty="0">
                <a:solidFill>
                  <a:srgbClr val="0000FF"/>
                </a:solidFill>
              </a:rPr>
              <a:t>}</a:t>
            </a:r>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90FC7ADD-C884-29FA-71DB-0B04E4E78B93}"/>
              </a:ext>
            </a:extLst>
          </p:cNvPr>
          <p:cNvSpPr>
            <a:spLocks noGrp="1" noChangeArrowheads="1"/>
          </p:cNvSpPr>
          <p:nvPr>
            <p:ph type="body" idx="4294967295"/>
          </p:nvPr>
        </p:nvSpPr>
        <p:spPr>
          <a:xfrm>
            <a:off x="766614" y="1125538"/>
            <a:ext cx="10873207" cy="5616624"/>
          </a:xfrm>
          <a:ln w="15875">
            <a:solidFill>
              <a:schemeClr val="accent6"/>
            </a:solidFill>
          </a:ln>
        </p:spPr>
        <p:txBody>
          <a:bodyPr>
            <a:normAutofit/>
          </a:bodyPr>
          <a:lstStyle/>
          <a:p>
            <a:pPr eaLnBrk="1" hangingPunct="1">
              <a:buFontTx/>
              <a:buNone/>
            </a:pPr>
            <a:r>
              <a:rPr lang="en-US" altLang="zh-CN" sz="2200" b="1" dirty="0">
                <a:solidFill>
                  <a:srgbClr val="0000FF"/>
                </a:solidFill>
                <a:latin typeface="+mn-ea"/>
              </a:rPr>
              <a:t>int search()                        </a:t>
            </a:r>
          </a:p>
          <a:p>
            <a:pPr eaLnBrk="1" hangingPunct="1">
              <a:buFontTx/>
              <a:buNone/>
            </a:pPr>
            <a:r>
              <a:rPr lang="en-US" altLang="zh-CN" sz="2200" b="1" dirty="0">
                <a:solidFill>
                  <a:srgbClr val="0000FF"/>
                </a:solidFill>
                <a:latin typeface="+mn-ea"/>
              </a:rPr>
              <a:t>//</a:t>
            </a:r>
            <a:r>
              <a:rPr lang="zh-CN" altLang="en-US" sz="2200" b="1" dirty="0">
                <a:solidFill>
                  <a:srgbClr val="0000FF"/>
                </a:solidFill>
                <a:latin typeface="+mn-ea"/>
              </a:rPr>
              <a:t>广搜返回目标结点的最小步数</a:t>
            </a:r>
          </a:p>
          <a:p>
            <a:pPr eaLnBrk="1" hangingPunct="1">
              <a:buFontTx/>
              <a:buNone/>
            </a:pPr>
            <a:r>
              <a:rPr lang="en-US" altLang="zh-CN" sz="2200" b="1" dirty="0">
                <a:solidFill>
                  <a:srgbClr val="0000FF"/>
                </a:solidFill>
                <a:latin typeface="+mn-ea"/>
              </a:rPr>
              <a:t>{</a:t>
            </a:r>
          </a:p>
          <a:p>
            <a:pPr eaLnBrk="1" hangingPunct="1">
              <a:buFontTx/>
              <a:buNone/>
            </a:pPr>
            <a:r>
              <a:rPr lang="en-US" altLang="zh-CN" sz="2200" b="1" dirty="0">
                <a:solidFill>
                  <a:srgbClr val="0000FF"/>
                </a:solidFill>
                <a:latin typeface="+mn-ea"/>
              </a:rPr>
              <a:t>	struct </a:t>
            </a:r>
            <a:r>
              <a:rPr lang="en-US" altLang="zh-CN" sz="2200" b="1" dirty="0" err="1">
                <a:solidFill>
                  <a:srgbClr val="0000FF"/>
                </a:solidFill>
                <a:latin typeface="+mn-ea"/>
              </a:rPr>
              <a:t>colornode</a:t>
            </a:r>
            <a:r>
              <a:rPr lang="en-US" altLang="zh-CN" sz="2200" b="1" dirty="0">
                <a:solidFill>
                  <a:srgbClr val="0000FF"/>
                </a:solidFill>
                <a:latin typeface="+mn-ea"/>
              </a:rPr>
              <a:t> </a:t>
            </a:r>
            <a:r>
              <a:rPr lang="en-US" altLang="zh-CN" sz="2200" b="1" dirty="0" err="1">
                <a:solidFill>
                  <a:srgbClr val="0000FF"/>
                </a:solidFill>
                <a:latin typeface="+mn-ea"/>
              </a:rPr>
              <a:t>u,v</a:t>
            </a:r>
            <a:r>
              <a:rPr lang="en-US" altLang="zh-CN" sz="2200" b="1" dirty="0">
                <a:solidFill>
                  <a:srgbClr val="0000FF"/>
                </a:solidFill>
                <a:latin typeface="+mn-ea"/>
              </a:rPr>
              <a:t>;</a:t>
            </a:r>
          </a:p>
          <a:p>
            <a:pPr eaLnBrk="1" hangingPunct="1">
              <a:buFontTx/>
              <a:buNone/>
            </a:pPr>
            <a:r>
              <a:rPr lang="en-US" altLang="zh-CN" sz="2200" b="1" dirty="0">
                <a:solidFill>
                  <a:srgbClr val="0000FF"/>
                </a:solidFill>
                <a:latin typeface="+mn-ea"/>
              </a:rPr>
              <a:t>	while(head!=tail)</a:t>
            </a:r>
          </a:p>
          <a:p>
            <a:pPr eaLnBrk="1" hangingPunct="1">
              <a:buFontTx/>
              <a:buNone/>
            </a:pPr>
            <a:r>
              <a:rPr lang="en-US" altLang="zh-CN" sz="2200" b="1" dirty="0">
                <a:solidFill>
                  <a:srgbClr val="0000FF"/>
                </a:solidFill>
                <a:latin typeface="+mn-ea"/>
              </a:rPr>
              <a:t>	{</a:t>
            </a:r>
          </a:p>
          <a:p>
            <a:pPr eaLnBrk="1" hangingPunct="1">
              <a:buFontTx/>
              <a:buNone/>
            </a:pPr>
            <a:r>
              <a:rPr lang="en-US" altLang="zh-CN" sz="2200" b="1" dirty="0">
                <a:solidFill>
                  <a:srgbClr val="0000FF"/>
                </a:solidFill>
                <a:latin typeface="+mn-ea"/>
              </a:rPr>
              <a:t>		u=</a:t>
            </a:r>
            <a:r>
              <a:rPr lang="en-US" altLang="zh-CN" sz="2200" b="1" dirty="0" err="1">
                <a:solidFill>
                  <a:srgbClr val="0000FF"/>
                </a:solidFill>
                <a:latin typeface="+mn-ea"/>
              </a:rPr>
              <a:t>takeoutofopen</a:t>
            </a:r>
            <a:r>
              <a:rPr lang="en-US" altLang="zh-CN" sz="2200" b="1" dirty="0">
                <a:solidFill>
                  <a:srgbClr val="0000FF"/>
                </a:solidFill>
                <a:latin typeface="+mn-ea"/>
              </a:rPr>
              <a:t>();</a:t>
            </a:r>
          </a:p>
          <a:p>
            <a:pPr eaLnBrk="1" hangingPunct="1">
              <a:buFontTx/>
              <a:buNone/>
            </a:pPr>
            <a:r>
              <a:rPr lang="en-US" altLang="zh-CN" sz="2200" b="1" dirty="0">
                <a:solidFill>
                  <a:srgbClr val="0000FF"/>
                </a:solidFill>
                <a:latin typeface="+mn-ea"/>
              </a:rPr>
              <a:t>		v=</a:t>
            </a:r>
            <a:r>
              <a:rPr lang="en-US" altLang="zh-CN" sz="2200" b="1" dirty="0" err="1">
                <a:solidFill>
                  <a:srgbClr val="0000FF"/>
                </a:solidFill>
                <a:latin typeface="+mn-ea"/>
              </a:rPr>
              <a:t>moveahead</a:t>
            </a:r>
            <a:r>
              <a:rPr lang="en-US" altLang="zh-CN" sz="2200" b="1" dirty="0">
                <a:solidFill>
                  <a:srgbClr val="0000FF"/>
                </a:solidFill>
                <a:latin typeface="+mn-ea"/>
              </a:rPr>
              <a:t>(u);          </a:t>
            </a:r>
          </a:p>
          <a:p>
            <a:pPr eaLnBrk="1" hangingPunct="1">
              <a:buFontTx/>
              <a:buNone/>
            </a:pPr>
            <a:r>
              <a:rPr lang="en-US" altLang="zh-CN" sz="2200" b="1" dirty="0">
                <a:solidFill>
                  <a:srgbClr val="0000FF"/>
                </a:solidFill>
                <a:latin typeface="+mn-ea"/>
              </a:rPr>
              <a:t>//u</a:t>
            </a:r>
            <a:r>
              <a:rPr lang="zh-CN" altLang="en-US" sz="2200" b="1" dirty="0">
                <a:solidFill>
                  <a:srgbClr val="0000FF"/>
                </a:solidFill>
                <a:latin typeface="+mn-ea"/>
              </a:rPr>
              <a:t>向前走一格得到新结点</a:t>
            </a:r>
            <a:r>
              <a:rPr lang="en-US" altLang="zh-CN" sz="2200" b="1" dirty="0">
                <a:solidFill>
                  <a:srgbClr val="0000FF"/>
                </a:solidFill>
                <a:latin typeface="+mn-ea"/>
              </a:rPr>
              <a:t>v</a:t>
            </a:r>
          </a:p>
        </p:txBody>
      </p:sp>
      <p:sp>
        <p:nvSpPr>
          <p:cNvPr id="2" name="Rectangle 3">
            <a:extLst>
              <a:ext uri="{FF2B5EF4-FFF2-40B4-BE49-F238E27FC236}">
                <a16:creationId xmlns:a16="http://schemas.microsoft.com/office/drawing/2014/main" id="{BEA104BF-2183-8748-1CEA-54AB91499D71}"/>
              </a:ext>
            </a:extLst>
          </p:cNvPr>
          <p:cNvSpPr txBox="1">
            <a:spLocks noChangeArrowheads="1"/>
          </p:cNvSpPr>
          <p:nvPr/>
        </p:nvSpPr>
        <p:spPr>
          <a:xfrm>
            <a:off x="5087094" y="1053530"/>
            <a:ext cx="6840760" cy="5759450"/>
          </a:xfrm>
          <a:prstGeom prst="rect">
            <a:avLst/>
          </a:prstGeom>
        </p:spPr>
        <p:txBody>
          <a:bodyPr>
            <a:noAutofit/>
          </a:bodyPr>
          <a:lstStyle>
            <a:lvl1pPr marL="228577" indent="-228577" algn="l" defTabSz="914309"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31" indent="-228577" algn="l" defTabSz="914309"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886" indent="-228577" algn="l" defTabSz="914309"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40"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194"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FontTx/>
              <a:buNone/>
              <a:defRPr/>
            </a:pPr>
            <a:r>
              <a:rPr lang="en-US" altLang="zh-CN" sz="2200" b="1" dirty="0">
                <a:latin typeface="+mn-ea"/>
                <a:cs typeface="Times New Roman" panose="02020603050405020304" pitchFamily="18" charset="0"/>
              </a:rPr>
              <a:t> </a:t>
            </a:r>
            <a:r>
              <a:rPr lang="en-US" altLang="zh-CN" sz="2200" b="1" dirty="0">
                <a:solidFill>
                  <a:srgbClr val="0000FF"/>
                </a:solidFill>
                <a:latin typeface="+mn-ea"/>
                <a:cs typeface="Times New Roman" panose="02020603050405020304" pitchFamily="18" charset="0"/>
              </a:rPr>
              <a:t>  </a:t>
            </a:r>
            <a:r>
              <a:rPr lang="en-US" altLang="zh-CN" sz="2200" b="1" dirty="0">
                <a:solidFill>
                  <a:srgbClr val="0000FF"/>
                </a:solidFill>
                <a:latin typeface="+mn-ea"/>
                <a:cs typeface="Calibri" panose="020F0502020204030204" pitchFamily="34" charset="0"/>
              </a:rPr>
              <a:t>if(</a:t>
            </a:r>
            <a:r>
              <a:rPr lang="en-US" altLang="zh-CN" sz="2200" b="1" dirty="0" err="1">
                <a:solidFill>
                  <a:srgbClr val="0000FF"/>
                </a:solidFill>
                <a:latin typeface="+mn-ea"/>
                <a:cs typeface="Calibri" panose="020F0502020204030204" pitchFamily="34" charset="0"/>
              </a:rPr>
              <a:t>islegal</a:t>
            </a:r>
            <a:r>
              <a:rPr lang="en-US" altLang="zh-CN" sz="2200" b="1" dirty="0">
                <a:solidFill>
                  <a:srgbClr val="0000FF"/>
                </a:solidFill>
                <a:latin typeface="+mn-ea"/>
                <a:cs typeface="Calibri" panose="020F0502020204030204" pitchFamily="34" charset="0"/>
              </a:rPr>
              <a:t>(v))          </a:t>
            </a:r>
          </a:p>
          <a:p>
            <a:pPr fontAlgn="auto">
              <a:spcAft>
                <a:spcPts val="0"/>
              </a:spcAft>
              <a:buFontTx/>
              <a:buNone/>
              <a:defRPr/>
            </a:pPr>
            <a:r>
              <a:rPr lang="en-US" altLang="zh-CN" sz="2200" b="1" dirty="0">
                <a:solidFill>
                  <a:srgbClr val="0000FF"/>
                </a:solidFill>
                <a:latin typeface="+mn-ea"/>
                <a:cs typeface="Calibri" panose="020F0502020204030204" pitchFamily="34" charset="0"/>
              </a:rPr>
              <a:t>//</a:t>
            </a:r>
            <a:r>
              <a:rPr lang="zh-CN" altLang="en-US" sz="2200" b="1" dirty="0">
                <a:solidFill>
                  <a:srgbClr val="0000FF"/>
                </a:solidFill>
                <a:latin typeface="+mn-ea"/>
                <a:cs typeface="Calibri" panose="020F0502020204030204" pitchFamily="34" charset="0"/>
              </a:rPr>
              <a:t>如果该结点是合法的结点</a:t>
            </a:r>
            <a:r>
              <a:rPr lang="en-US" altLang="zh-CN" sz="2200" b="1" dirty="0">
                <a:solidFill>
                  <a:srgbClr val="0000FF"/>
                </a:solidFill>
                <a:latin typeface="+mn-ea"/>
                <a:cs typeface="Calibri" panose="020F0502020204030204" pitchFamily="34" charset="0"/>
              </a:rPr>
              <a:t>(</a:t>
            </a:r>
            <a:r>
              <a:rPr lang="zh-CN" altLang="en-US" sz="2200" b="1" dirty="0">
                <a:solidFill>
                  <a:srgbClr val="0000FF"/>
                </a:solidFill>
                <a:latin typeface="+mn-ea"/>
                <a:cs typeface="Calibri" panose="020F0502020204030204" pitchFamily="34" charset="0"/>
              </a:rPr>
              <a:t>未越界且是空格</a:t>
            </a:r>
            <a:r>
              <a:rPr lang="en-US" altLang="zh-CN" sz="2200" b="1" dirty="0">
                <a:solidFill>
                  <a:srgbClr val="0000FF"/>
                </a:solidFill>
                <a:latin typeface="+mn-ea"/>
                <a:cs typeface="Calibri" panose="020F0502020204030204" pitchFamily="34" charset="0"/>
              </a:rPr>
              <a:t>)</a:t>
            </a:r>
          </a:p>
          <a:p>
            <a:pPr fontAlgn="auto">
              <a:spcAft>
                <a:spcPts val="0"/>
              </a:spcAft>
              <a:buFontTx/>
              <a:buNone/>
              <a:defRPr/>
            </a:pPr>
            <a:r>
              <a:rPr lang="en-US" altLang="zh-CN" sz="2200" b="1" dirty="0">
                <a:solidFill>
                  <a:srgbClr val="0000FF"/>
                </a:solidFill>
                <a:latin typeface="+mn-ea"/>
                <a:cs typeface="Calibri" panose="020F0502020204030204" pitchFamily="34" charset="0"/>
              </a:rPr>
              <a:t>		{ if(</a:t>
            </a:r>
            <a:r>
              <a:rPr lang="en-US" altLang="zh-CN" sz="2200" b="1" dirty="0" err="1">
                <a:solidFill>
                  <a:srgbClr val="0000FF"/>
                </a:solidFill>
                <a:latin typeface="+mn-ea"/>
                <a:cs typeface="Calibri" panose="020F0502020204030204" pitchFamily="34" charset="0"/>
              </a:rPr>
              <a:t>isaim</a:t>
            </a:r>
            <a:r>
              <a:rPr lang="en-US" altLang="zh-CN" sz="2200" b="1" dirty="0">
                <a:solidFill>
                  <a:srgbClr val="0000FF"/>
                </a:solidFill>
                <a:latin typeface="+mn-ea"/>
                <a:cs typeface="Calibri" panose="020F0502020204030204" pitchFamily="34" charset="0"/>
              </a:rPr>
              <a:t>(v))               //</a:t>
            </a:r>
            <a:r>
              <a:rPr lang="zh-CN" altLang="en-US" sz="2200" b="1" dirty="0">
                <a:solidFill>
                  <a:srgbClr val="0000FF"/>
                </a:solidFill>
                <a:latin typeface="+mn-ea"/>
                <a:cs typeface="Calibri" panose="020F0502020204030204" pitchFamily="34" charset="0"/>
              </a:rPr>
              <a:t>判是否是目标结点</a:t>
            </a:r>
          </a:p>
          <a:p>
            <a:pPr fontAlgn="auto">
              <a:spcAft>
                <a:spcPts val="0"/>
              </a:spcAft>
              <a:buFontTx/>
              <a:buNone/>
              <a:defRPr/>
            </a:pPr>
            <a:r>
              <a:rPr lang="zh-CN" altLang="en-US" sz="2200" b="1" dirty="0">
                <a:solidFill>
                  <a:srgbClr val="0000FF"/>
                </a:solidFill>
                <a:latin typeface="+mn-ea"/>
                <a:cs typeface="Calibri" panose="020F0502020204030204" pitchFamily="34" charset="0"/>
              </a:rPr>
              <a:t>		   </a:t>
            </a:r>
            <a:r>
              <a:rPr lang="en-US" altLang="zh-CN" sz="2200" b="1" dirty="0">
                <a:solidFill>
                  <a:srgbClr val="0000FF"/>
                </a:solidFill>
                <a:latin typeface="+mn-ea"/>
                <a:cs typeface="Calibri" panose="020F0502020204030204" pitchFamily="34" charset="0"/>
              </a:rPr>
              <a:t>return(</a:t>
            </a:r>
            <a:r>
              <a:rPr lang="en-US" altLang="zh-CN" sz="2200" b="1" dirty="0" err="1">
                <a:solidFill>
                  <a:srgbClr val="0000FF"/>
                </a:solidFill>
                <a:latin typeface="+mn-ea"/>
                <a:cs typeface="Calibri" panose="020F0502020204030204" pitchFamily="34" charset="0"/>
              </a:rPr>
              <a:t>v.num</a:t>
            </a:r>
            <a:r>
              <a:rPr lang="en-US" altLang="zh-CN" sz="2200" b="1" dirty="0">
                <a:solidFill>
                  <a:srgbClr val="0000FF"/>
                </a:solidFill>
                <a:latin typeface="+mn-ea"/>
                <a:cs typeface="Calibri" panose="020F0502020204030204" pitchFamily="34" charset="0"/>
              </a:rPr>
              <a:t>);</a:t>
            </a:r>
          </a:p>
          <a:p>
            <a:pPr fontAlgn="auto">
              <a:spcAft>
                <a:spcPts val="0"/>
              </a:spcAft>
              <a:buFontTx/>
              <a:buNone/>
              <a:defRPr/>
            </a:pPr>
            <a:r>
              <a:rPr lang="en-US" altLang="zh-CN" sz="2200" b="1" dirty="0">
                <a:solidFill>
                  <a:srgbClr val="0000FF"/>
                </a:solidFill>
                <a:latin typeface="+mn-ea"/>
                <a:cs typeface="Calibri" panose="020F0502020204030204" pitchFamily="34" charset="0"/>
              </a:rPr>
              <a:t>		   if(!used(v))   //</a:t>
            </a:r>
            <a:r>
              <a:rPr lang="zh-CN" altLang="en-US" sz="2200" b="1" dirty="0">
                <a:solidFill>
                  <a:srgbClr val="0000FF"/>
                </a:solidFill>
                <a:latin typeface="+mn-ea"/>
                <a:cs typeface="Calibri" panose="020F0502020204030204" pitchFamily="34" charset="0"/>
              </a:rPr>
              <a:t>如果是未到达过的结点</a:t>
            </a:r>
          </a:p>
          <a:p>
            <a:pPr fontAlgn="auto">
              <a:spcAft>
                <a:spcPts val="0"/>
              </a:spcAft>
              <a:buFontTx/>
              <a:buNone/>
              <a:defRPr/>
            </a:pPr>
            <a:r>
              <a:rPr lang="zh-CN" altLang="en-US" sz="2200" b="1" dirty="0">
                <a:solidFill>
                  <a:srgbClr val="0000FF"/>
                </a:solidFill>
                <a:latin typeface="+mn-ea"/>
                <a:cs typeface="Calibri" panose="020F0502020204030204" pitchFamily="34" charset="0"/>
              </a:rPr>
              <a:t>		   </a:t>
            </a:r>
            <a:r>
              <a:rPr lang="en-US" altLang="zh-CN" sz="2200" b="1" dirty="0" err="1">
                <a:solidFill>
                  <a:srgbClr val="0000FF"/>
                </a:solidFill>
                <a:latin typeface="+mn-ea"/>
                <a:cs typeface="Calibri" panose="020F0502020204030204" pitchFamily="34" charset="0"/>
              </a:rPr>
              <a:t>addtoopen</a:t>
            </a:r>
            <a:r>
              <a:rPr lang="en-US" altLang="zh-CN" sz="2200" b="1" dirty="0">
                <a:solidFill>
                  <a:srgbClr val="0000FF"/>
                </a:solidFill>
                <a:latin typeface="+mn-ea"/>
                <a:cs typeface="Calibri" panose="020F0502020204030204" pitchFamily="34" charset="0"/>
              </a:rPr>
              <a:t>(v); }       //</a:t>
            </a:r>
            <a:r>
              <a:rPr lang="zh-CN" altLang="en-US" sz="2200" b="1" dirty="0">
                <a:solidFill>
                  <a:srgbClr val="0000FF"/>
                </a:solidFill>
                <a:latin typeface="+mn-ea"/>
                <a:cs typeface="Calibri" panose="020F0502020204030204" pitchFamily="34" charset="0"/>
              </a:rPr>
              <a:t>加入到</a:t>
            </a:r>
            <a:r>
              <a:rPr lang="en-US" altLang="zh-CN" sz="2200" b="1" dirty="0">
                <a:solidFill>
                  <a:srgbClr val="0000FF"/>
                </a:solidFill>
                <a:latin typeface="+mn-ea"/>
                <a:cs typeface="Calibri" panose="020F0502020204030204" pitchFamily="34" charset="0"/>
              </a:rPr>
              <a:t>open</a:t>
            </a:r>
            <a:r>
              <a:rPr lang="zh-CN" altLang="en-US" sz="2200" b="1" dirty="0">
                <a:solidFill>
                  <a:srgbClr val="0000FF"/>
                </a:solidFill>
                <a:latin typeface="+mn-ea"/>
                <a:cs typeface="Calibri" panose="020F0502020204030204" pitchFamily="34" charset="0"/>
              </a:rPr>
              <a:t>表		</a:t>
            </a:r>
            <a:endParaRPr lang="en-US" altLang="zh-CN" sz="2200" b="1" dirty="0">
              <a:solidFill>
                <a:srgbClr val="0000FF"/>
              </a:solidFill>
              <a:latin typeface="+mn-ea"/>
              <a:cs typeface="Calibri" panose="020F0502020204030204" pitchFamily="34" charset="0"/>
            </a:endParaRPr>
          </a:p>
          <a:p>
            <a:pPr fontAlgn="auto">
              <a:spcAft>
                <a:spcPts val="0"/>
              </a:spcAft>
              <a:buFontTx/>
              <a:buNone/>
              <a:defRPr/>
            </a:pPr>
            <a:r>
              <a:rPr lang="en-US" altLang="zh-CN" sz="2200" b="1" dirty="0">
                <a:solidFill>
                  <a:srgbClr val="0000FF"/>
                </a:solidFill>
                <a:latin typeface="+mn-ea"/>
                <a:cs typeface="Calibri" panose="020F0502020204030204" pitchFamily="34" charset="0"/>
              </a:rPr>
              <a:t>	v=</a:t>
            </a:r>
            <a:r>
              <a:rPr lang="en-US" altLang="zh-CN" sz="2200" b="1" dirty="0" err="1">
                <a:solidFill>
                  <a:srgbClr val="0000FF"/>
                </a:solidFill>
                <a:latin typeface="+mn-ea"/>
                <a:cs typeface="Calibri" panose="020F0502020204030204" pitchFamily="34" charset="0"/>
              </a:rPr>
              <a:t>turntoleft</a:t>
            </a:r>
            <a:r>
              <a:rPr lang="en-US" altLang="zh-CN" sz="2200" b="1" dirty="0">
                <a:solidFill>
                  <a:srgbClr val="0000FF"/>
                </a:solidFill>
                <a:latin typeface="+mn-ea"/>
                <a:cs typeface="Calibri" panose="020F0502020204030204" pitchFamily="34" charset="0"/>
              </a:rPr>
              <a:t>(u);           //u</a:t>
            </a:r>
            <a:r>
              <a:rPr lang="zh-CN" altLang="en-US" sz="2200" b="1" dirty="0">
                <a:solidFill>
                  <a:srgbClr val="0000FF"/>
                </a:solidFill>
                <a:latin typeface="+mn-ea"/>
                <a:cs typeface="Calibri" panose="020F0502020204030204" pitchFamily="34" charset="0"/>
              </a:rPr>
              <a:t>向左转得到新结点</a:t>
            </a:r>
            <a:r>
              <a:rPr lang="en-US" altLang="zh-CN" sz="2200" b="1" dirty="0">
                <a:solidFill>
                  <a:srgbClr val="0000FF"/>
                </a:solidFill>
                <a:latin typeface="+mn-ea"/>
                <a:cs typeface="Calibri" panose="020F0502020204030204" pitchFamily="34" charset="0"/>
              </a:rPr>
              <a:t>v</a:t>
            </a:r>
          </a:p>
          <a:p>
            <a:pPr fontAlgn="auto">
              <a:spcAft>
                <a:spcPts val="0"/>
              </a:spcAft>
              <a:buFontTx/>
              <a:buNone/>
              <a:defRPr/>
            </a:pPr>
            <a:r>
              <a:rPr lang="en-US" altLang="zh-CN" sz="2200" b="1" dirty="0">
                <a:solidFill>
                  <a:srgbClr val="0000FF"/>
                </a:solidFill>
                <a:latin typeface="+mn-ea"/>
                <a:cs typeface="Calibri" panose="020F0502020204030204" pitchFamily="34" charset="0"/>
              </a:rPr>
              <a:t>		if(!used(v))</a:t>
            </a:r>
          </a:p>
          <a:p>
            <a:pPr fontAlgn="auto">
              <a:spcAft>
                <a:spcPts val="0"/>
              </a:spcAft>
              <a:buFontTx/>
              <a:buNone/>
              <a:defRPr/>
            </a:pPr>
            <a:r>
              <a:rPr lang="en-US" altLang="zh-CN" sz="2200" b="1" dirty="0">
                <a:solidFill>
                  <a:srgbClr val="0000FF"/>
                </a:solidFill>
                <a:latin typeface="+mn-ea"/>
                <a:cs typeface="Calibri" panose="020F0502020204030204" pitchFamily="34" charset="0"/>
              </a:rPr>
              <a:t>		</a:t>
            </a:r>
            <a:r>
              <a:rPr lang="en-US" altLang="zh-CN" sz="2200" b="1" dirty="0" err="1">
                <a:solidFill>
                  <a:srgbClr val="0000FF"/>
                </a:solidFill>
                <a:latin typeface="+mn-ea"/>
                <a:cs typeface="Calibri" panose="020F0502020204030204" pitchFamily="34" charset="0"/>
              </a:rPr>
              <a:t>addtoopen</a:t>
            </a:r>
            <a:r>
              <a:rPr lang="en-US" altLang="zh-CN" sz="2200" b="1" dirty="0">
                <a:solidFill>
                  <a:srgbClr val="0000FF"/>
                </a:solidFill>
                <a:latin typeface="+mn-ea"/>
                <a:cs typeface="Calibri" panose="020F0502020204030204" pitchFamily="34" charset="0"/>
              </a:rPr>
              <a:t>(v);</a:t>
            </a:r>
          </a:p>
          <a:p>
            <a:pPr fontAlgn="auto">
              <a:spcAft>
                <a:spcPts val="0"/>
              </a:spcAft>
              <a:buFontTx/>
              <a:buNone/>
              <a:defRPr/>
            </a:pPr>
            <a:r>
              <a:rPr lang="en-US" altLang="zh-CN" sz="2200" b="1" dirty="0">
                <a:solidFill>
                  <a:srgbClr val="0000FF"/>
                </a:solidFill>
                <a:latin typeface="+mn-ea"/>
                <a:cs typeface="Calibri" panose="020F0502020204030204" pitchFamily="34" charset="0"/>
              </a:rPr>
              <a:t>	v=</a:t>
            </a:r>
            <a:r>
              <a:rPr lang="en-US" altLang="zh-CN" sz="2200" b="1" dirty="0" err="1">
                <a:solidFill>
                  <a:srgbClr val="0000FF"/>
                </a:solidFill>
                <a:latin typeface="+mn-ea"/>
                <a:cs typeface="Calibri" panose="020F0502020204030204" pitchFamily="34" charset="0"/>
              </a:rPr>
              <a:t>turntoright</a:t>
            </a:r>
            <a:r>
              <a:rPr lang="en-US" altLang="zh-CN" sz="2200" b="1" dirty="0">
                <a:solidFill>
                  <a:srgbClr val="0000FF"/>
                </a:solidFill>
                <a:latin typeface="+mn-ea"/>
                <a:cs typeface="Calibri" panose="020F0502020204030204" pitchFamily="34" charset="0"/>
              </a:rPr>
              <a:t>(u);         //u</a:t>
            </a:r>
            <a:r>
              <a:rPr lang="zh-CN" altLang="en-US" sz="2200" b="1" dirty="0">
                <a:solidFill>
                  <a:srgbClr val="0000FF"/>
                </a:solidFill>
                <a:latin typeface="+mn-ea"/>
                <a:cs typeface="Calibri" panose="020F0502020204030204" pitchFamily="34" charset="0"/>
              </a:rPr>
              <a:t>向右转得到新结点</a:t>
            </a:r>
            <a:r>
              <a:rPr lang="en-US" altLang="zh-CN" sz="2200" b="1" dirty="0">
                <a:solidFill>
                  <a:srgbClr val="0000FF"/>
                </a:solidFill>
                <a:latin typeface="+mn-ea"/>
                <a:cs typeface="Calibri" panose="020F0502020204030204" pitchFamily="34" charset="0"/>
              </a:rPr>
              <a:t>v</a:t>
            </a:r>
          </a:p>
          <a:p>
            <a:pPr fontAlgn="auto">
              <a:spcAft>
                <a:spcPts val="0"/>
              </a:spcAft>
              <a:buFontTx/>
              <a:buNone/>
              <a:defRPr/>
            </a:pPr>
            <a:r>
              <a:rPr lang="en-US" altLang="zh-CN" sz="2200" b="1" dirty="0">
                <a:solidFill>
                  <a:srgbClr val="0000FF"/>
                </a:solidFill>
                <a:latin typeface="+mn-ea"/>
                <a:cs typeface="Calibri" panose="020F0502020204030204" pitchFamily="34" charset="0"/>
              </a:rPr>
              <a:t>		if(!used(v))</a:t>
            </a:r>
          </a:p>
          <a:p>
            <a:pPr fontAlgn="auto">
              <a:spcAft>
                <a:spcPts val="0"/>
              </a:spcAft>
              <a:buFontTx/>
              <a:buNone/>
              <a:defRPr/>
            </a:pPr>
            <a:r>
              <a:rPr lang="en-US" altLang="zh-CN" sz="2200" b="1" dirty="0">
                <a:solidFill>
                  <a:srgbClr val="0000FF"/>
                </a:solidFill>
                <a:latin typeface="+mn-ea"/>
                <a:cs typeface="Calibri" panose="020F0502020204030204" pitchFamily="34" charset="0"/>
              </a:rPr>
              <a:t>		</a:t>
            </a:r>
            <a:r>
              <a:rPr lang="en-US" altLang="zh-CN" sz="2200" b="1" dirty="0" err="1">
                <a:solidFill>
                  <a:srgbClr val="0000FF"/>
                </a:solidFill>
                <a:latin typeface="+mn-ea"/>
                <a:cs typeface="Calibri" panose="020F0502020204030204" pitchFamily="34" charset="0"/>
              </a:rPr>
              <a:t>addtoopen</a:t>
            </a:r>
            <a:r>
              <a:rPr lang="en-US" altLang="zh-CN" sz="2200" b="1" dirty="0">
                <a:solidFill>
                  <a:srgbClr val="0000FF"/>
                </a:solidFill>
                <a:latin typeface="+mn-ea"/>
                <a:cs typeface="Calibri" panose="020F0502020204030204" pitchFamily="34" charset="0"/>
              </a:rPr>
              <a:t>(v);	}//end while</a:t>
            </a:r>
          </a:p>
          <a:p>
            <a:pPr fontAlgn="auto">
              <a:spcAft>
                <a:spcPts val="0"/>
              </a:spcAft>
              <a:buFontTx/>
              <a:buNone/>
              <a:defRPr/>
            </a:pPr>
            <a:r>
              <a:rPr lang="en-US" altLang="zh-CN" sz="2200" b="1" dirty="0">
                <a:solidFill>
                  <a:srgbClr val="0000FF"/>
                </a:solidFill>
                <a:latin typeface="+mn-ea"/>
                <a:cs typeface="Calibri" panose="020F0502020204030204" pitchFamily="34" charset="0"/>
              </a:rPr>
              <a:t>}//end search</a:t>
            </a:r>
          </a:p>
        </p:txBody>
      </p:sp>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4034" name="Rectangle 3">
            <a:extLst>
              <a:ext uri="{FF2B5EF4-FFF2-40B4-BE49-F238E27FC236}">
                <a16:creationId xmlns:a16="http://schemas.microsoft.com/office/drawing/2014/main" id="{139C019E-B78F-2E7F-3B41-30808BEBAB92}"/>
              </a:ext>
            </a:extLst>
          </p:cNvPr>
          <p:cNvSpPr>
            <a:spLocks noGrp="1" noChangeArrowheads="1"/>
          </p:cNvSpPr>
          <p:nvPr>
            <p:ph type="body" idx="4294967295"/>
          </p:nvPr>
        </p:nvSpPr>
        <p:spPr>
          <a:xfrm>
            <a:off x="262558" y="1125538"/>
            <a:ext cx="5303118" cy="4112733"/>
          </a:xfrm>
          <a:ln w="15875">
            <a:solidFill>
              <a:schemeClr val="accent6"/>
            </a:solidFill>
          </a:ln>
        </p:spPr>
        <p:txBody>
          <a:bodyPr>
            <a:normAutofit/>
          </a:bodyPr>
          <a:lstStyle/>
          <a:p>
            <a:pPr eaLnBrk="1" hangingPunct="1">
              <a:buFontTx/>
              <a:buNone/>
            </a:pPr>
            <a:r>
              <a:rPr lang="en-US" altLang="zh-CN" sz="2200" b="1" dirty="0">
                <a:solidFill>
                  <a:srgbClr val="0000FF"/>
                </a:solidFill>
              </a:rPr>
              <a:t>int used(struct </a:t>
            </a:r>
            <a:r>
              <a:rPr lang="en-US" altLang="zh-CN" sz="2200" b="1" dirty="0" err="1">
                <a:solidFill>
                  <a:srgbClr val="0000FF"/>
                </a:solidFill>
              </a:rPr>
              <a:t>colornode</a:t>
            </a:r>
            <a:r>
              <a:rPr lang="en-US" altLang="zh-CN" sz="2200" b="1" dirty="0">
                <a:solidFill>
                  <a:srgbClr val="0000FF"/>
                </a:solidFill>
              </a:rPr>
              <a:t> v)        </a:t>
            </a:r>
          </a:p>
          <a:p>
            <a:pPr eaLnBrk="1" hangingPunct="1">
              <a:buFontTx/>
              <a:buNone/>
            </a:pPr>
            <a:r>
              <a:rPr lang="en-US" altLang="zh-CN" sz="2200" b="1" dirty="0">
                <a:solidFill>
                  <a:srgbClr val="0000FF"/>
                </a:solidFill>
              </a:rPr>
              <a:t>//</a:t>
            </a:r>
            <a:r>
              <a:rPr lang="zh-CN" altLang="en-US" sz="2200" b="1" dirty="0">
                <a:solidFill>
                  <a:srgbClr val="0000FF"/>
                </a:solidFill>
              </a:rPr>
              <a:t>判断该结点是否是到达过的结点</a:t>
            </a:r>
          </a:p>
          <a:p>
            <a:pPr eaLnBrk="1" hangingPunct="1">
              <a:buFontTx/>
              <a:buNone/>
            </a:pPr>
            <a:r>
              <a:rPr lang="en-US" altLang="zh-CN" sz="2200" b="1" dirty="0">
                <a:solidFill>
                  <a:srgbClr val="0000FF"/>
                </a:solidFill>
              </a:rPr>
              <a:t>{</a:t>
            </a:r>
          </a:p>
          <a:p>
            <a:pPr eaLnBrk="1" hangingPunct="1">
              <a:buFontTx/>
              <a:buNone/>
            </a:pPr>
            <a:r>
              <a:rPr lang="en-US" altLang="zh-CN" sz="2200" b="1" dirty="0">
                <a:solidFill>
                  <a:srgbClr val="0000FF"/>
                </a:solidFill>
              </a:rPr>
              <a:t>	if(b[</a:t>
            </a:r>
            <a:r>
              <a:rPr lang="en-US" altLang="zh-CN" sz="2200" b="1" dirty="0" err="1">
                <a:solidFill>
                  <a:srgbClr val="0000FF"/>
                </a:solidFill>
              </a:rPr>
              <a:t>v.row</a:t>
            </a:r>
            <a:r>
              <a:rPr lang="en-US" altLang="zh-CN" sz="2200" b="1" dirty="0">
                <a:solidFill>
                  <a:srgbClr val="0000FF"/>
                </a:solidFill>
              </a:rPr>
              <a:t>][</a:t>
            </a:r>
            <a:r>
              <a:rPr lang="en-US" altLang="zh-CN" sz="2200" b="1" dirty="0" err="1">
                <a:solidFill>
                  <a:srgbClr val="0000FF"/>
                </a:solidFill>
              </a:rPr>
              <a:t>v.col</a:t>
            </a:r>
            <a:r>
              <a:rPr lang="en-US" altLang="zh-CN" sz="2200" b="1" dirty="0">
                <a:solidFill>
                  <a:srgbClr val="0000FF"/>
                </a:solidFill>
              </a:rPr>
              <a:t>][</a:t>
            </a:r>
            <a:r>
              <a:rPr lang="en-US" altLang="zh-CN" sz="2200" b="1" dirty="0" err="1">
                <a:solidFill>
                  <a:srgbClr val="0000FF"/>
                </a:solidFill>
              </a:rPr>
              <a:t>v.color</a:t>
            </a:r>
            <a:r>
              <a:rPr lang="en-US" altLang="zh-CN" sz="2200" b="1" dirty="0">
                <a:solidFill>
                  <a:srgbClr val="0000FF"/>
                </a:solidFill>
              </a:rPr>
              <a:t>][</a:t>
            </a:r>
            <a:r>
              <a:rPr lang="en-US" altLang="zh-CN" sz="2200" b="1" dirty="0" err="1">
                <a:solidFill>
                  <a:srgbClr val="0000FF"/>
                </a:solidFill>
              </a:rPr>
              <a:t>v.direction</a:t>
            </a:r>
            <a:r>
              <a:rPr lang="en-US" altLang="zh-CN" sz="2200" b="1" dirty="0">
                <a:solidFill>
                  <a:srgbClr val="0000FF"/>
                </a:solidFill>
              </a:rPr>
              <a:t>]==0)</a:t>
            </a:r>
          </a:p>
          <a:p>
            <a:pPr eaLnBrk="1" hangingPunct="1">
              <a:buFontTx/>
              <a:buNone/>
            </a:pPr>
            <a:r>
              <a:rPr lang="en-US" altLang="zh-CN" sz="2200" b="1" dirty="0">
                <a:solidFill>
                  <a:srgbClr val="0000FF"/>
                </a:solidFill>
              </a:rPr>
              <a:t>		return(0);</a:t>
            </a:r>
          </a:p>
          <a:p>
            <a:pPr eaLnBrk="1" hangingPunct="1">
              <a:buFontTx/>
              <a:buNone/>
            </a:pPr>
            <a:r>
              <a:rPr lang="en-US" altLang="zh-CN" sz="2200" b="1" dirty="0">
                <a:solidFill>
                  <a:srgbClr val="0000FF"/>
                </a:solidFill>
              </a:rPr>
              <a:t>	else</a:t>
            </a:r>
          </a:p>
          <a:p>
            <a:pPr eaLnBrk="1" hangingPunct="1">
              <a:buFontTx/>
              <a:buNone/>
            </a:pPr>
            <a:r>
              <a:rPr lang="en-US" altLang="zh-CN" sz="2200" b="1" dirty="0">
                <a:solidFill>
                  <a:srgbClr val="0000FF"/>
                </a:solidFill>
              </a:rPr>
              <a:t>		return(1);</a:t>
            </a:r>
          </a:p>
          <a:p>
            <a:pPr eaLnBrk="1" hangingPunct="1">
              <a:buFontTx/>
              <a:buNone/>
            </a:pPr>
            <a:r>
              <a:rPr lang="en-US" altLang="zh-CN" sz="2200" b="1" dirty="0">
                <a:solidFill>
                  <a:srgbClr val="0000FF"/>
                </a:solidFill>
              </a:rPr>
              <a:t>}</a:t>
            </a:r>
          </a:p>
        </p:txBody>
      </p:sp>
      <p:sp>
        <p:nvSpPr>
          <p:cNvPr id="2" name="Rectangle 3">
            <a:extLst>
              <a:ext uri="{FF2B5EF4-FFF2-40B4-BE49-F238E27FC236}">
                <a16:creationId xmlns:a16="http://schemas.microsoft.com/office/drawing/2014/main" id="{8277EB3F-AD31-9ADB-55A3-12A57A4E4C1B}"/>
              </a:ext>
            </a:extLst>
          </p:cNvPr>
          <p:cNvSpPr txBox="1">
            <a:spLocks noChangeArrowheads="1"/>
          </p:cNvSpPr>
          <p:nvPr/>
        </p:nvSpPr>
        <p:spPr>
          <a:xfrm>
            <a:off x="5709691" y="1123471"/>
            <a:ext cx="6383238" cy="4114800"/>
          </a:xfrm>
          <a:prstGeom prst="rect">
            <a:avLst/>
          </a:prstGeom>
          <a:ln w="15875">
            <a:solidFill>
              <a:schemeClr val="accent6"/>
            </a:solidFill>
          </a:ln>
        </p:spPr>
        <p:txBody>
          <a:bodyPr vert="horz">
            <a:normAutofit/>
          </a:bodyPr>
          <a:lstStyle>
            <a:lvl1pPr marL="342866" indent="-342866"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876" indent="-285721"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2886" indent="-228577"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040" indent="-228577"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194"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349"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503" indent="-228577"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8657" indent="-228577"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811" indent="-228577"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pPr defTabSz="914400" fontAlgn="auto">
              <a:spcAft>
                <a:spcPts val="0"/>
              </a:spcAft>
              <a:buFontTx/>
              <a:buNone/>
            </a:pPr>
            <a:r>
              <a:rPr lang="en-US" altLang="zh-CN" sz="2200" b="1" dirty="0">
                <a:solidFill>
                  <a:srgbClr val="0000FF"/>
                </a:solidFill>
              </a:rPr>
              <a:t>void </a:t>
            </a:r>
            <a:r>
              <a:rPr lang="en-US" altLang="zh-CN" sz="2200" b="1" dirty="0" err="1">
                <a:solidFill>
                  <a:srgbClr val="0000FF"/>
                </a:solidFill>
              </a:rPr>
              <a:t>addtoopen</a:t>
            </a:r>
            <a:r>
              <a:rPr lang="en-US" altLang="zh-CN" sz="2200" b="1" dirty="0">
                <a:solidFill>
                  <a:srgbClr val="0000FF"/>
                </a:solidFill>
              </a:rPr>
              <a:t>(struct </a:t>
            </a:r>
            <a:r>
              <a:rPr lang="en-US" altLang="zh-CN" sz="2200" b="1" dirty="0" err="1">
                <a:solidFill>
                  <a:srgbClr val="0000FF"/>
                </a:solidFill>
              </a:rPr>
              <a:t>colornode</a:t>
            </a:r>
            <a:r>
              <a:rPr lang="en-US" altLang="zh-CN" sz="2200" b="1" dirty="0">
                <a:solidFill>
                  <a:srgbClr val="0000FF"/>
                </a:solidFill>
              </a:rPr>
              <a:t> v)  </a:t>
            </a:r>
          </a:p>
          <a:p>
            <a:pPr defTabSz="914400" fontAlgn="auto">
              <a:spcAft>
                <a:spcPts val="0"/>
              </a:spcAft>
              <a:buFontTx/>
              <a:buNone/>
            </a:pPr>
            <a:r>
              <a:rPr lang="en-US" altLang="zh-CN" sz="2200" b="1" dirty="0">
                <a:solidFill>
                  <a:srgbClr val="0000FF"/>
                </a:solidFill>
              </a:rPr>
              <a:t>//</a:t>
            </a:r>
            <a:r>
              <a:rPr lang="zh-CN" altLang="en-US" sz="2200" b="1" dirty="0">
                <a:solidFill>
                  <a:srgbClr val="0000FF"/>
                </a:solidFill>
              </a:rPr>
              <a:t>加入到</a:t>
            </a:r>
            <a:r>
              <a:rPr lang="en-US" altLang="zh-CN" sz="2200" b="1" dirty="0">
                <a:solidFill>
                  <a:srgbClr val="0000FF"/>
                </a:solidFill>
              </a:rPr>
              <a:t>open</a:t>
            </a:r>
            <a:r>
              <a:rPr lang="zh-CN" altLang="en-US" sz="2200" b="1" dirty="0">
                <a:solidFill>
                  <a:srgbClr val="0000FF"/>
                </a:solidFill>
              </a:rPr>
              <a:t>表</a:t>
            </a:r>
          </a:p>
          <a:p>
            <a:pPr defTabSz="914400" fontAlgn="auto">
              <a:spcAft>
                <a:spcPts val="0"/>
              </a:spcAft>
              <a:buFontTx/>
              <a:buNone/>
            </a:pPr>
            <a:r>
              <a:rPr lang="en-US" altLang="zh-CN" sz="2200" b="1" dirty="0">
                <a:solidFill>
                  <a:srgbClr val="0000FF"/>
                </a:solidFill>
              </a:rPr>
              <a:t>{//</a:t>
            </a:r>
            <a:r>
              <a:rPr lang="zh-CN" altLang="en-US" sz="2200" b="1" dirty="0">
                <a:solidFill>
                  <a:srgbClr val="0000FF"/>
                </a:solidFill>
              </a:rPr>
              <a:t>应添加判断</a:t>
            </a:r>
          </a:p>
          <a:p>
            <a:pPr defTabSz="914400" fontAlgn="auto">
              <a:spcAft>
                <a:spcPts val="0"/>
              </a:spcAft>
              <a:buFontTx/>
              <a:buNone/>
            </a:pPr>
            <a:r>
              <a:rPr lang="zh-CN" altLang="en-US" sz="2200" b="1" dirty="0">
                <a:solidFill>
                  <a:srgbClr val="0000FF"/>
                </a:solidFill>
              </a:rPr>
              <a:t>	</a:t>
            </a:r>
            <a:r>
              <a:rPr lang="en-US" altLang="zh-CN" sz="2200" b="1" dirty="0">
                <a:solidFill>
                  <a:srgbClr val="0000FF"/>
                </a:solidFill>
              </a:rPr>
              <a:t>open[tail++]=v;</a:t>
            </a:r>
          </a:p>
          <a:p>
            <a:pPr defTabSz="914400" fontAlgn="auto">
              <a:spcAft>
                <a:spcPts val="0"/>
              </a:spcAft>
              <a:buFontTx/>
              <a:buNone/>
            </a:pPr>
            <a:r>
              <a:rPr lang="en-US" altLang="zh-CN" sz="2200" b="1" dirty="0">
                <a:solidFill>
                  <a:srgbClr val="0000FF"/>
                </a:solidFill>
              </a:rPr>
              <a:t>	tail=</a:t>
            </a:r>
            <a:r>
              <a:rPr lang="en-US" altLang="zh-CN" sz="2200" b="1" dirty="0" err="1">
                <a:solidFill>
                  <a:srgbClr val="0000FF"/>
                </a:solidFill>
              </a:rPr>
              <a:t>tail%openlen</a:t>
            </a:r>
            <a:r>
              <a:rPr lang="en-US" altLang="zh-CN" sz="2200" b="1" dirty="0">
                <a:solidFill>
                  <a:srgbClr val="0000FF"/>
                </a:solidFill>
              </a:rPr>
              <a:t>;</a:t>
            </a:r>
          </a:p>
          <a:p>
            <a:pPr defTabSz="914400" fontAlgn="auto">
              <a:spcAft>
                <a:spcPts val="0"/>
              </a:spcAft>
              <a:buFontTx/>
              <a:buNone/>
            </a:pPr>
            <a:r>
              <a:rPr lang="en-US" altLang="zh-CN" sz="2200" b="1" dirty="0">
                <a:solidFill>
                  <a:srgbClr val="0000FF"/>
                </a:solidFill>
              </a:rPr>
              <a:t>	b[</a:t>
            </a:r>
            <a:r>
              <a:rPr lang="en-US" altLang="zh-CN" sz="2200" b="1" dirty="0" err="1">
                <a:solidFill>
                  <a:srgbClr val="0000FF"/>
                </a:solidFill>
              </a:rPr>
              <a:t>v.row</a:t>
            </a:r>
            <a:r>
              <a:rPr lang="en-US" altLang="zh-CN" sz="2200" b="1" dirty="0">
                <a:solidFill>
                  <a:srgbClr val="0000FF"/>
                </a:solidFill>
              </a:rPr>
              <a:t>][</a:t>
            </a:r>
            <a:r>
              <a:rPr lang="en-US" altLang="zh-CN" sz="2200" b="1" dirty="0" err="1">
                <a:solidFill>
                  <a:srgbClr val="0000FF"/>
                </a:solidFill>
              </a:rPr>
              <a:t>v.col</a:t>
            </a:r>
            <a:r>
              <a:rPr lang="en-US" altLang="zh-CN" sz="2200" b="1" dirty="0">
                <a:solidFill>
                  <a:srgbClr val="0000FF"/>
                </a:solidFill>
              </a:rPr>
              <a:t>][</a:t>
            </a:r>
            <a:r>
              <a:rPr lang="en-US" altLang="zh-CN" sz="2200" b="1" dirty="0" err="1">
                <a:solidFill>
                  <a:srgbClr val="0000FF"/>
                </a:solidFill>
              </a:rPr>
              <a:t>v.color</a:t>
            </a:r>
            <a:r>
              <a:rPr lang="en-US" altLang="zh-CN" sz="2200" b="1" dirty="0">
                <a:solidFill>
                  <a:srgbClr val="0000FF"/>
                </a:solidFill>
              </a:rPr>
              <a:t>][</a:t>
            </a:r>
            <a:r>
              <a:rPr lang="en-US" altLang="zh-CN" sz="2200" b="1" dirty="0" err="1">
                <a:solidFill>
                  <a:srgbClr val="0000FF"/>
                </a:solidFill>
              </a:rPr>
              <a:t>v.direction</a:t>
            </a:r>
            <a:r>
              <a:rPr lang="en-US" altLang="zh-CN" sz="2200" b="1" dirty="0">
                <a:solidFill>
                  <a:srgbClr val="0000FF"/>
                </a:solidFill>
              </a:rPr>
              <a:t>]=1;</a:t>
            </a:r>
          </a:p>
          <a:p>
            <a:pPr defTabSz="914400" fontAlgn="auto">
              <a:spcAft>
                <a:spcPts val="0"/>
              </a:spcAft>
              <a:buFontTx/>
              <a:buNone/>
            </a:pPr>
            <a:r>
              <a:rPr lang="en-US" altLang="zh-CN" sz="2200" b="1" dirty="0">
                <a:solidFill>
                  <a:srgbClr val="0000FF"/>
                </a:solidFill>
              </a:rPr>
              <a:t>}</a:t>
            </a:r>
          </a:p>
        </p:txBody>
      </p:sp>
    </p:spTree>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3ADEE3C9-D65E-D903-08FF-FE4F0BD0881B}"/>
              </a:ext>
            </a:extLst>
          </p:cNvPr>
          <p:cNvSpPr>
            <a:spLocks noGrp="1" noChangeArrowheads="1"/>
          </p:cNvSpPr>
          <p:nvPr>
            <p:ph type="body" idx="4294967295"/>
          </p:nvPr>
        </p:nvSpPr>
        <p:spPr>
          <a:xfrm>
            <a:off x="602809" y="1197547"/>
            <a:ext cx="4608512" cy="4536504"/>
          </a:xfrm>
          <a:ln w="15875">
            <a:solidFill>
              <a:schemeClr val="accent6"/>
            </a:solidFill>
          </a:ln>
        </p:spPr>
        <p:txBody>
          <a:bodyPr>
            <a:normAutofit/>
          </a:bodyPr>
          <a:lstStyle/>
          <a:p>
            <a:pPr eaLnBrk="1" hangingPunct="1">
              <a:buFontTx/>
              <a:buNone/>
            </a:pPr>
            <a:r>
              <a:rPr lang="en-US" altLang="zh-CN" sz="2200" b="1" dirty="0">
                <a:solidFill>
                  <a:srgbClr val="0000FF"/>
                </a:solidFill>
              </a:rPr>
              <a:t>struct </a:t>
            </a:r>
            <a:r>
              <a:rPr lang="en-US" altLang="zh-CN" sz="2200" b="1" dirty="0" err="1">
                <a:solidFill>
                  <a:srgbClr val="0000FF"/>
                </a:solidFill>
              </a:rPr>
              <a:t>colornode</a:t>
            </a:r>
            <a:r>
              <a:rPr lang="en-US" altLang="zh-CN" sz="2200" b="1" dirty="0">
                <a:solidFill>
                  <a:srgbClr val="0000FF"/>
                </a:solidFill>
              </a:rPr>
              <a:t> </a:t>
            </a:r>
            <a:r>
              <a:rPr lang="en-US" altLang="zh-CN" sz="2200" b="1" dirty="0" err="1">
                <a:solidFill>
                  <a:srgbClr val="0000FF"/>
                </a:solidFill>
              </a:rPr>
              <a:t>takeoutofopen</a:t>
            </a:r>
            <a:r>
              <a:rPr lang="en-US" altLang="zh-CN" sz="2200" b="1" dirty="0">
                <a:solidFill>
                  <a:srgbClr val="0000FF"/>
                </a:solidFill>
              </a:rPr>
              <a:t>()   </a:t>
            </a:r>
          </a:p>
          <a:p>
            <a:pPr eaLnBrk="1" hangingPunct="1">
              <a:buFontTx/>
              <a:buNone/>
            </a:pPr>
            <a:r>
              <a:rPr lang="en-US" altLang="zh-CN" sz="2200" b="1" dirty="0">
                <a:solidFill>
                  <a:srgbClr val="0000FF"/>
                </a:solidFill>
              </a:rPr>
              <a:t> //</a:t>
            </a:r>
            <a:r>
              <a:rPr lang="zh-CN" altLang="en-US" sz="2200" b="1" dirty="0">
                <a:solidFill>
                  <a:srgbClr val="0000FF"/>
                </a:solidFill>
              </a:rPr>
              <a:t>从</a:t>
            </a:r>
            <a:r>
              <a:rPr lang="en-US" altLang="zh-CN" sz="2200" b="1" dirty="0">
                <a:solidFill>
                  <a:srgbClr val="0000FF"/>
                </a:solidFill>
              </a:rPr>
              <a:t>open</a:t>
            </a:r>
            <a:r>
              <a:rPr lang="zh-CN" altLang="en-US" sz="2200" b="1" dirty="0">
                <a:solidFill>
                  <a:srgbClr val="0000FF"/>
                </a:solidFill>
              </a:rPr>
              <a:t>表中取出一个结点并把该结点从</a:t>
            </a:r>
            <a:r>
              <a:rPr lang="en-US" altLang="zh-CN" sz="2200" b="1" dirty="0">
                <a:solidFill>
                  <a:srgbClr val="0000FF"/>
                </a:solidFill>
              </a:rPr>
              <a:t>open</a:t>
            </a:r>
            <a:r>
              <a:rPr lang="zh-CN" altLang="en-US" sz="2200" b="1" dirty="0">
                <a:solidFill>
                  <a:srgbClr val="0000FF"/>
                </a:solidFill>
              </a:rPr>
              <a:t>表中删除</a:t>
            </a:r>
          </a:p>
          <a:p>
            <a:pPr eaLnBrk="1" hangingPunct="1">
              <a:buFontTx/>
              <a:buNone/>
            </a:pPr>
            <a:r>
              <a:rPr lang="en-US" altLang="zh-CN" sz="2200" b="1" dirty="0">
                <a:solidFill>
                  <a:srgbClr val="0000FF"/>
                </a:solidFill>
              </a:rPr>
              <a:t>{</a:t>
            </a:r>
          </a:p>
          <a:p>
            <a:pPr eaLnBrk="1" hangingPunct="1">
              <a:buFontTx/>
              <a:buNone/>
            </a:pPr>
            <a:r>
              <a:rPr lang="en-US" altLang="zh-CN" sz="2200" b="1" dirty="0">
                <a:solidFill>
                  <a:srgbClr val="0000FF"/>
                </a:solidFill>
              </a:rPr>
              <a:t>	struct </a:t>
            </a:r>
            <a:r>
              <a:rPr lang="en-US" altLang="zh-CN" sz="2200" b="1" dirty="0" err="1">
                <a:solidFill>
                  <a:srgbClr val="0000FF"/>
                </a:solidFill>
              </a:rPr>
              <a:t>colornode</a:t>
            </a:r>
            <a:r>
              <a:rPr lang="en-US" altLang="zh-CN" sz="2200" b="1" dirty="0">
                <a:solidFill>
                  <a:srgbClr val="0000FF"/>
                </a:solidFill>
              </a:rPr>
              <a:t> v;//</a:t>
            </a:r>
            <a:r>
              <a:rPr lang="zh-CN" altLang="en-US" sz="2200" b="1" dirty="0">
                <a:solidFill>
                  <a:srgbClr val="0000FF"/>
                </a:solidFill>
              </a:rPr>
              <a:t>后面添加判断</a:t>
            </a:r>
          </a:p>
          <a:p>
            <a:pPr eaLnBrk="1" hangingPunct="1">
              <a:buFontTx/>
              <a:buNone/>
            </a:pPr>
            <a:r>
              <a:rPr lang="zh-CN" altLang="en-US" sz="2200" b="1" dirty="0">
                <a:solidFill>
                  <a:srgbClr val="0000FF"/>
                </a:solidFill>
              </a:rPr>
              <a:t>	</a:t>
            </a:r>
            <a:r>
              <a:rPr lang="en-US" altLang="zh-CN" sz="2200" b="1" dirty="0">
                <a:solidFill>
                  <a:srgbClr val="0000FF"/>
                </a:solidFill>
              </a:rPr>
              <a:t>v=open[head++];</a:t>
            </a:r>
          </a:p>
          <a:p>
            <a:pPr eaLnBrk="1" hangingPunct="1">
              <a:buFontTx/>
              <a:buNone/>
            </a:pPr>
            <a:r>
              <a:rPr lang="en-US" altLang="zh-CN" sz="2200" b="1" dirty="0">
                <a:solidFill>
                  <a:srgbClr val="0000FF"/>
                </a:solidFill>
              </a:rPr>
              <a:t>	head=</a:t>
            </a:r>
            <a:r>
              <a:rPr lang="en-US" altLang="zh-CN" sz="2200" b="1" dirty="0" err="1">
                <a:solidFill>
                  <a:srgbClr val="0000FF"/>
                </a:solidFill>
              </a:rPr>
              <a:t>head%openlen</a:t>
            </a:r>
            <a:r>
              <a:rPr lang="en-US" altLang="zh-CN" sz="2200" b="1" dirty="0">
                <a:solidFill>
                  <a:srgbClr val="0000FF"/>
                </a:solidFill>
              </a:rPr>
              <a:t>;</a:t>
            </a:r>
          </a:p>
          <a:p>
            <a:pPr eaLnBrk="1" hangingPunct="1">
              <a:buFontTx/>
              <a:buNone/>
            </a:pPr>
            <a:r>
              <a:rPr lang="en-US" altLang="zh-CN" sz="2200" b="1" dirty="0">
                <a:solidFill>
                  <a:srgbClr val="0000FF"/>
                </a:solidFill>
              </a:rPr>
              <a:t>	return(v);</a:t>
            </a:r>
          </a:p>
          <a:p>
            <a:pPr eaLnBrk="1" hangingPunct="1">
              <a:buFontTx/>
              <a:buNone/>
            </a:pPr>
            <a:r>
              <a:rPr lang="en-US" altLang="zh-CN" sz="2200" b="1" dirty="0">
                <a:solidFill>
                  <a:srgbClr val="0000FF"/>
                </a:solidFill>
              </a:rPr>
              <a:t>}</a:t>
            </a:r>
          </a:p>
        </p:txBody>
      </p:sp>
      <p:sp>
        <p:nvSpPr>
          <p:cNvPr id="2" name="Rectangle 3">
            <a:extLst>
              <a:ext uri="{FF2B5EF4-FFF2-40B4-BE49-F238E27FC236}">
                <a16:creationId xmlns:a16="http://schemas.microsoft.com/office/drawing/2014/main" id="{3E1EF5BE-8115-0253-F62E-AB34B8704446}"/>
              </a:ext>
            </a:extLst>
          </p:cNvPr>
          <p:cNvSpPr txBox="1">
            <a:spLocks noChangeArrowheads="1"/>
          </p:cNvSpPr>
          <p:nvPr/>
        </p:nvSpPr>
        <p:spPr>
          <a:xfrm>
            <a:off x="5663158" y="1194810"/>
            <a:ext cx="5519142" cy="4539240"/>
          </a:xfrm>
          <a:prstGeom prst="rect">
            <a:avLst/>
          </a:prstGeom>
          <a:ln w="15875">
            <a:solidFill>
              <a:schemeClr val="accent6"/>
            </a:solidFill>
          </a:ln>
        </p:spPr>
        <p:txBody>
          <a:bodyPr vert="horz" rtlCol="0">
            <a:normAutofit/>
          </a:bodyPr>
          <a:lstStyle>
            <a:lvl1pPr marL="342866" indent="-342866"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876" indent="-285721"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2886" indent="-228577"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040" indent="-228577"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194"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349"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503" indent="-228577"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8657" indent="-228577"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811" indent="-228577"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pPr marL="228577" indent="-228577" defTabSz="914309" fontAlgn="auto">
              <a:lnSpc>
                <a:spcPct val="80000"/>
              </a:lnSpc>
              <a:spcAft>
                <a:spcPts val="0"/>
              </a:spcAft>
              <a:buFontTx/>
              <a:buNone/>
              <a:defRPr/>
            </a:pPr>
            <a:r>
              <a:rPr lang="en-US" altLang="zh-CN" sz="2200" b="1" dirty="0">
                <a:solidFill>
                  <a:srgbClr val="0000FF"/>
                </a:solidFill>
              </a:rPr>
              <a:t>void </a:t>
            </a:r>
            <a:r>
              <a:rPr lang="en-US" altLang="zh-CN" sz="2200" b="1" dirty="0" err="1">
                <a:solidFill>
                  <a:srgbClr val="0000FF"/>
                </a:solidFill>
              </a:rPr>
              <a:t>init</a:t>
            </a:r>
            <a:r>
              <a:rPr lang="en-US" altLang="zh-CN" sz="2200" b="1" dirty="0">
                <a:solidFill>
                  <a:srgbClr val="0000FF"/>
                </a:solidFill>
              </a:rPr>
              <a:t>()       //</a:t>
            </a:r>
            <a:r>
              <a:rPr lang="zh-CN" altLang="en-US" sz="2200" b="1" dirty="0">
                <a:solidFill>
                  <a:srgbClr val="0000FF"/>
                </a:solidFill>
              </a:rPr>
              <a:t>初始化</a:t>
            </a:r>
          </a:p>
          <a:p>
            <a:pPr marL="228577" indent="-228577" defTabSz="914309" fontAlgn="auto">
              <a:lnSpc>
                <a:spcPct val="80000"/>
              </a:lnSpc>
              <a:spcAft>
                <a:spcPts val="0"/>
              </a:spcAft>
              <a:buFontTx/>
              <a:buNone/>
              <a:defRPr/>
            </a:pPr>
            <a:r>
              <a:rPr lang="en-US" altLang="zh-CN" sz="2200" b="1" dirty="0">
                <a:solidFill>
                  <a:srgbClr val="0000FF"/>
                </a:solidFill>
              </a:rPr>
              <a:t>{</a:t>
            </a:r>
          </a:p>
          <a:p>
            <a:pPr marL="228577" indent="-228577" defTabSz="914309" fontAlgn="auto">
              <a:lnSpc>
                <a:spcPct val="80000"/>
              </a:lnSpc>
              <a:spcAft>
                <a:spcPts val="0"/>
              </a:spcAft>
              <a:buFontTx/>
              <a:buNone/>
              <a:defRPr/>
            </a:pPr>
            <a:r>
              <a:rPr lang="en-US" altLang="zh-CN" sz="2200" b="1" dirty="0">
                <a:solidFill>
                  <a:srgbClr val="0000FF"/>
                </a:solidFill>
              </a:rPr>
              <a:t>	int </a:t>
            </a:r>
            <a:r>
              <a:rPr lang="en-US" altLang="zh-CN" sz="2200" b="1" dirty="0" err="1">
                <a:solidFill>
                  <a:srgbClr val="0000FF"/>
                </a:solidFill>
              </a:rPr>
              <a:t>i,j,k,l</a:t>
            </a:r>
            <a:r>
              <a:rPr lang="en-US" altLang="zh-CN" sz="2200" b="1" dirty="0">
                <a:solidFill>
                  <a:srgbClr val="0000FF"/>
                </a:solidFill>
              </a:rPr>
              <a:t>;</a:t>
            </a:r>
          </a:p>
          <a:p>
            <a:pPr marL="228577" indent="-228577" defTabSz="914309" fontAlgn="auto">
              <a:lnSpc>
                <a:spcPct val="80000"/>
              </a:lnSpc>
              <a:spcAft>
                <a:spcPts val="0"/>
              </a:spcAft>
              <a:buFontTx/>
              <a:buNone/>
              <a:defRPr/>
            </a:pPr>
            <a:r>
              <a:rPr lang="en-US" altLang="zh-CN" sz="2200" b="1" dirty="0">
                <a:solidFill>
                  <a:srgbClr val="0000FF"/>
                </a:solidFill>
              </a:rPr>
              <a:t>	for(</a:t>
            </a:r>
            <a:r>
              <a:rPr lang="en-US" altLang="zh-CN" sz="2200" b="1" dirty="0" err="1">
                <a:solidFill>
                  <a:srgbClr val="0000FF"/>
                </a:solidFill>
              </a:rPr>
              <a:t>i</a:t>
            </a:r>
            <a:r>
              <a:rPr lang="en-US" altLang="zh-CN" sz="2200" b="1" dirty="0">
                <a:solidFill>
                  <a:srgbClr val="0000FF"/>
                </a:solidFill>
              </a:rPr>
              <a:t>=0;i&lt;</a:t>
            </a:r>
            <a:r>
              <a:rPr lang="en-US" altLang="zh-CN" sz="2200" b="1" dirty="0" err="1">
                <a:solidFill>
                  <a:srgbClr val="0000FF"/>
                </a:solidFill>
              </a:rPr>
              <a:t>n;i</a:t>
            </a:r>
            <a:r>
              <a:rPr lang="en-US" altLang="zh-CN" sz="2200" b="1" dirty="0">
                <a:solidFill>
                  <a:srgbClr val="0000FF"/>
                </a:solidFill>
              </a:rPr>
              <a:t>++)    //</a:t>
            </a:r>
            <a:r>
              <a:rPr lang="zh-CN" altLang="en-US" sz="2200" b="1" dirty="0">
                <a:solidFill>
                  <a:srgbClr val="0000FF"/>
                </a:solidFill>
              </a:rPr>
              <a:t>所有状态初始化</a:t>
            </a:r>
          </a:p>
          <a:p>
            <a:pPr marL="228577" indent="-228577" defTabSz="914309" fontAlgn="auto">
              <a:lnSpc>
                <a:spcPct val="80000"/>
              </a:lnSpc>
              <a:spcAft>
                <a:spcPts val="0"/>
              </a:spcAft>
              <a:buFontTx/>
              <a:buNone/>
              <a:defRPr/>
            </a:pPr>
            <a:r>
              <a:rPr lang="zh-CN" altLang="en-US" sz="2200" b="1" dirty="0">
                <a:solidFill>
                  <a:srgbClr val="0000FF"/>
                </a:solidFill>
              </a:rPr>
              <a:t>		</a:t>
            </a:r>
            <a:r>
              <a:rPr lang="en-US" altLang="zh-CN" sz="2200" b="1" dirty="0">
                <a:solidFill>
                  <a:srgbClr val="0000FF"/>
                </a:solidFill>
              </a:rPr>
              <a:t>for(j=0;j&lt;</a:t>
            </a:r>
            <a:r>
              <a:rPr lang="en-US" altLang="zh-CN" sz="2200" b="1" dirty="0" err="1">
                <a:solidFill>
                  <a:srgbClr val="0000FF"/>
                </a:solidFill>
              </a:rPr>
              <a:t>n;j</a:t>
            </a:r>
            <a:r>
              <a:rPr lang="en-US" altLang="zh-CN" sz="2200" b="1" dirty="0">
                <a:solidFill>
                  <a:srgbClr val="0000FF"/>
                </a:solidFill>
              </a:rPr>
              <a:t>++)</a:t>
            </a:r>
          </a:p>
          <a:p>
            <a:pPr marL="228577" indent="-228577" defTabSz="914309" fontAlgn="auto">
              <a:lnSpc>
                <a:spcPct val="80000"/>
              </a:lnSpc>
              <a:spcAft>
                <a:spcPts val="0"/>
              </a:spcAft>
              <a:buFontTx/>
              <a:buNone/>
              <a:defRPr/>
            </a:pPr>
            <a:r>
              <a:rPr lang="en-US" altLang="zh-CN" sz="2200" b="1" dirty="0">
                <a:solidFill>
                  <a:srgbClr val="0000FF"/>
                </a:solidFill>
              </a:rPr>
              <a:t>			for(k=0;k&lt;5;k++)</a:t>
            </a:r>
          </a:p>
          <a:p>
            <a:pPr marL="228577" indent="-228577" defTabSz="914309" fontAlgn="auto">
              <a:lnSpc>
                <a:spcPct val="80000"/>
              </a:lnSpc>
              <a:spcAft>
                <a:spcPts val="0"/>
              </a:spcAft>
              <a:buFontTx/>
              <a:buNone/>
              <a:defRPr/>
            </a:pPr>
            <a:r>
              <a:rPr lang="en-US" altLang="zh-CN" sz="2200" b="1" dirty="0">
                <a:solidFill>
                  <a:srgbClr val="0000FF"/>
                </a:solidFill>
              </a:rPr>
              <a:t>				for(l=0;l&lt;4;l++)</a:t>
            </a:r>
          </a:p>
          <a:p>
            <a:pPr marL="228577" indent="-228577" defTabSz="914309" fontAlgn="auto">
              <a:lnSpc>
                <a:spcPct val="80000"/>
              </a:lnSpc>
              <a:spcAft>
                <a:spcPts val="0"/>
              </a:spcAft>
              <a:buFontTx/>
              <a:buNone/>
              <a:defRPr/>
            </a:pPr>
            <a:r>
              <a:rPr lang="en-US" altLang="zh-CN" sz="2200" b="1" dirty="0">
                <a:solidFill>
                  <a:srgbClr val="0000FF"/>
                </a:solidFill>
              </a:rPr>
              <a:t>					b[</a:t>
            </a:r>
            <a:r>
              <a:rPr lang="en-US" altLang="zh-CN" sz="2200" b="1" dirty="0" err="1">
                <a:solidFill>
                  <a:srgbClr val="0000FF"/>
                </a:solidFill>
              </a:rPr>
              <a:t>i</a:t>
            </a:r>
            <a:r>
              <a:rPr lang="en-US" altLang="zh-CN" sz="2200" b="1" dirty="0">
                <a:solidFill>
                  <a:srgbClr val="0000FF"/>
                </a:solidFill>
              </a:rPr>
              <a:t>][j][k][l]=0;</a:t>
            </a:r>
          </a:p>
          <a:p>
            <a:pPr marL="228577" indent="-228577" defTabSz="914309" fontAlgn="auto">
              <a:lnSpc>
                <a:spcPct val="80000"/>
              </a:lnSpc>
              <a:spcAft>
                <a:spcPts val="0"/>
              </a:spcAft>
              <a:buFontTx/>
              <a:buNone/>
              <a:defRPr/>
            </a:pPr>
            <a:r>
              <a:rPr lang="en-US" altLang="zh-CN" sz="2200" b="1" dirty="0">
                <a:solidFill>
                  <a:srgbClr val="0000FF"/>
                </a:solidFill>
              </a:rPr>
              <a:t>	head=0;</a:t>
            </a:r>
          </a:p>
          <a:p>
            <a:pPr marL="228577" indent="-228577" defTabSz="914309" fontAlgn="auto">
              <a:lnSpc>
                <a:spcPct val="80000"/>
              </a:lnSpc>
              <a:spcAft>
                <a:spcPts val="0"/>
              </a:spcAft>
              <a:buFontTx/>
              <a:buNone/>
              <a:defRPr/>
            </a:pPr>
            <a:r>
              <a:rPr lang="en-US" altLang="zh-CN" sz="2200" b="1" dirty="0">
                <a:solidFill>
                  <a:srgbClr val="0000FF"/>
                </a:solidFill>
              </a:rPr>
              <a:t>	tail=1;</a:t>
            </a:r>
          </a:p>
          <a:p>
            <a:pPr marL="228577" indent="-228577" defTabSz="914309" fontAlgn="auto">
              <a:lnSpc>
                <a:spcPct val="80000"/>
              </a:lnSpc>
              <a:spcAft>
                <a:spcPts val="0"/>
              </a:spcAft>
              <a:buFontTx/>
              <a:buNone/>
              <a:defRPr/>
            </a:pPr>
            <a:r>
              <a:rPr lang="en-US" altLang="zh-CN" sz="2200" b="1" dirty="0">
                <a:solidFill>
                  <a:srgbClr val="0000FF"/>
                </a:solidFill>
              </a:rPr>
              <a:t>	</a:t>
            </a:r>
            <a:r>
              <a:rPr lang="en-US" altLang="zh-CN" sz="2200" b="1" dirty="0" err="1">
                <a:solidFill>
                  <a:srgbClr val="0000FF"/>
                </a:solidFill>
              </a:rPr>
              <a:t>addtoopen</a:t>
            </a:r>
            <a:r>
              <a:rPr lang="en-US" altLang="zh-CN" sz="2200" b="1" dirty="0">
                <a:solidFill>
                  <a:srgbClr val="0000FF"/>
                </a:solidFill>
              </a:rPr>
              <a:t>(s);   //</a:t>
            </a:r>
            <a:r>
              <a:rPr lang="zh-CN" altLang="en-US" sz="2200" b="1" dirty="0">
                <a:solidFill>
                  <a:srgbClr val="0000FF"/>
                </a:solidFill>
              </a:rPr>
              <a:t>把起始点加入到</a:t>
            </a:r>
            <a:r>
              <a:rPr lang="en-US" altLang="zh-CN" sz="2200" b="1" dirty="0">
                <a:solidFill>
                  <a:srgbClr val="0000FF"/>
                </a:solidFill>
              </a:rPr>
              <a:t>open</a:t>
            </a:r>
            <a:r>
              <a:rPr lang="zh-CN" altLang="en-US" sz="2200" b="1" dirty="0">
                <a:solidFill>
                  <a:srgbClr val="0000FF"/>
                </a:solidFill>
              </a:rPr>
              <a:t>表</a:t>
            </a:r>
          </a:p>
          <a:p>
            <a:pPr marL="228577" indent="-228577" defTabSz="914309" fontAlgn="auto">
              <a:lnSpc>
                <a:spcPct val="80000"/>
              </a:lnSpc>
              <a:spcAft>
                <a:spcPts val="0"/>
              </a:spcAft>
              <a:buFontTx/>
              <a:buNone/>
              <a:defRPr/>
            </a:pPr>
            <a:r>
              <a:rPr lang="en-US" altLang="zh-CN" sz="2200" b="1" dirty="0">
                <a:solidFill>
                  <a:srgbClr val="0000FF"/>
                </a:solidFill>
              </a:rPr>
              <a:t>}</a:t>
            </a:r>
          </a:p>
        </p:txBody>
      </p:sp>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7346" name="Rectangle 3">
            <a:extLst>
              <a:ext uri="{FF2B5EF4-FFF2-40B4-BE49-F238E27FC236}">
                <a16:creationId xmlns:a16="http://schemas.microsoft.com/office/drawing/2014/main" id="{6E7F2FFA-74D1-3AA6-7C06-453341132124}"/>
              </a:ext>
            </a:extLst>
          </p:cNvPr>
          <p:cNvSpPr>
            <a:spLocks noGrp="1" noChangeArrowheads="1"/>
          </p:cNvSpPr>
          <p:nvPr>
            <p:ph type="body" idx="4294967295"/>
          </p:nvPr>
        </p:nvSpPr>
        <p:spPr>
          <a:xfrm>
            <a:off x="910630" y="1269554"/>
            <a:ext cx="9983638" cy="5402263"/>
          </a:xfrm>
        </p:spPr>
        <p:txBody>
          <a:bodyPr rtlCol="0">
            <a:normAutofit/>
          </a:bodyPr>
          <a:lstStyle/>
          <a:p>
            <a:pPr marL="228577" indent="-228577" defTabSz="914309" eaLnBrk="1" fontAlgn="auto" hangingPunct="1">
              <a:lnSpc>
                <a:spcPct val="80000"/>
              </a:lnSpc>
              <a:spcAft>
                <a:spcPts val="0"/>
              </a:spcAft>
              <a:buFontTx/>
              <a:buNone/>
              <a:defRPr/>
            </a:pPr>
            <a:r>
              <a:rPr lang="en-US" altLang="zh-CN" sz="2200" b="1" dirty="0">
                <a:solidFill>
                  <a:srgbClr val="0000FF"/>
                </a:solidFill>
              </a:rPr>
              <a:t>void </a:t>
            </a:r>
            <a:r>
              <a:rPr lang="en-US" altLang="zh-CN" sz="2200" b="1" dirty="0" err="1">
                <a:solidFill>
                  <a:srgbClr val="0000FF"/>
                </a:solidFill>
              </a:rPr>
              <a:t>readdata</a:t>
            </a:r>
            <a:r>
              <a:rPr lang="en-US" altLang="zh-CN" sz="2200" b="1" dirty="0">
                <a:solidFill>
                  <a:srgbClr val="0000FF"/>
                </a:solidFill>
              </a:rPr>
              <a:t>()                     //</a:t>
            </a:r>
            <a:r>
              <a:rPr lang="zh-CN" altLang="en-US" sz="2200" b="1" dirty="0">
                <a:solidFill>
                  <a:srgbClr val="0000FF"/>
                </a:solidFill>
              </a:rPr>
              <a:t>读入数据</a:t>
            </a:r>
          </a:p>
          <a:p>
            <a:pPr marL="228577" indent="-228577" defTabSz="914309" eaLnBrk="1" fontAlgn="auto" hangingPunct="1">
              <a:lnSpc>
                <a:spcPct val="80000"/>
              </a:lnSpc>
              <a:spcAft>
                <a:spcPts val="0"/>
              </a:spcAft>
              <a:buFontTx/>
              <a:buNone/>
              <a:defRPr/>
            </a:pPr>
            <a:r>
              <a:rPr lang="en-US" altLang="zh-CN" sz="2200" b="1" dirty="0">
                <a:solidFill>
                  <a:srgbClr val="0000FF"/>
                </a:solidFill>
              </a:rPr>
              <a:t>{</a:t>
            </a:r>
          </a:p>
          <a:p>
            <a:pPr marL="228577" indent="-228577" defTabSz="914309" eaLnBrk="1" fontAlgn="auto" hangingPunct="1">
              <a:lnSpc>
                <a:spcPct val="80000"/>
              </a:lnSpc>
              <a:spcAft>
                <a:spcPts val="0"/>
              </a:spcAft>
              <a:buFontTx/>
              <a:buNone/>
              <a:defRPr/>
            </a:pPr>
            <a:r>
              <a:rPr lang="en-US" altLang="zh-CN" sz="2200" b="1" dirty="0">
                <a:solidFill>
                  <a:srgbClr val="0000FF"/>
                </a:solidFill>
              </a:rPr>
              <a:t>	char str[50];	int </a:t>
            </a:r>
            <a:r>
              <a:rPr lang="en-US" altLang="zh-CN" sz="2200" b="1" dirty="0" err="1">
                <a:solidFill>
                  <a:srgbClr val="0000FF"/>
                </a:solidFill>
              </a:rPr>
              <a:t>i,j</a:t>
            </a:r>
            <a:r>
              <a:rPr lang="en-US" altLang="zh-CN" sz="2200" b="1" dirty="0">
                <a:solidFill>
                  <a:srgbClr val="0000FF"/>
                </a:solidFill>
              </a:rPr>
              <a:t>;</a:t>
            </a:r>
          </a:p>
          <a:p>
            <a:pPr marL="228577" indent="-228577" defTabSz="914309" eaLnBrk="1" fontAlgn="auto" hangingPunct="1">
              <a:lnSpc>
                <a:spcPct val="80000"/>
              </a:lnSpc>
              <a:spcAft>
                <a:spcPts val="0"/>
              </a:spcAft>
              <a:buFontTx/>
              <a:buNone/>
              <a:defRPr/>
            </a:pPr>
            <a:r>
              <a:rPr lang="en-US" altLang="zh-CN" sz="2200" b="1" dirty="0">
                <a:solidFill>
                  <a:srgbClr val="0000FF"/>
                </a:solidFill>
              </a:rPr>
              <a:t>	for(</a:t>
            </a:r>
            <a:r>
              <a:rPr lang="en-US" altLang="zh-CN" sz="2200" b="1" dirty="0" err="1">
                <a:solidFill>
                  <a:srgbClr val="0000FF"/>
                </a:solidFill>
              </a:rPr>
              <a:t>i</a:t>
            </a:r>
            <a:r>
              <a:rPr lang="en-US" altLang="zh-CN" sz="2200" b="1" dirty="0">
                <a:solidFill>
                  <a:srgbClr val="0000FF"/>
                </a:solidFill>
              </a:rPr>
              <a:t>=0;i&lt;</a:t>
            </a:r>
            <a:r>
              <a:rPr lang="en-US" altLang="zh-CN" sz="2200" b="1" dirty="0" err="1">
                <a:solidFill>
                  <a:srgbClr val="0000FF"/>
                </a:solidFill>
              </a:rPr>
              <a:t>n;i</a:t>
            </a:r>
            <a:r>
              <a:rPr lang="en-US" altLang="zh-CN" sz="2200" b="1" dirty="0">
                <a:solidFill>
                  <a:srgbClr val="0000FF"/>
                </a:solidFill>
              </a:rPr>
              <a:t>++)</a:t>
            </a:r>
          </a:p>
          <a:p>
            <a:pPr marL="228577" indent="-228577" defTabSz="914309" eaLnBrk="1" fontAlgn="auto" hangingPunct="1">
              <a:lnSpc>
                <a:spcPct val="80000"/>
              </a:lnSpc>
              <a:spcAft>
                <a:spcPts val="0"/>
              </a:spcAft>
              <a:buFontTx/>
              <a:buNone/>
              <a:defRPr/>
            </a:pPr>
            <a:r>
              <a:rPr lang="en-US" altLang="zh-CN" sz="2200" b="1" dirty="0">
                <a:solidFill>
                  <a:srgbClr val="0000FF"/>
                </a:solidFill>
              </a:rPr>
              <a:t>	{</a:t>
            </a:r>
          </a:p>
          <a:p>
            <a:pPr marL="228577" indent="-228577" defTabSz="914309" eaLnBrk="1" fontAlgn="auto" hangingPunct="1">
              <a:lnSpc>
                <a:spcPct val="80000"/>
              </a:lnSpc>
              <a:spcAft>
                <a:spcPts val="0"/>
              </a:spcAft>
              <a:buFontTx/>
              <a:buNone/>
              <a:defRPr/>
            </a:pPr>
            <a:r>
              <a:rPr lang="en-US" altLang="zh-CN" sz="2200" b="1" dirty="0">
                <a:solidFill>
                  <a:srgbClr val="0000FF"/>
                </a:solidFill>
              </a:rPr>
              <a:t>		gets(str);</a:t>
            </a:r>
          </a:p>
          <a:p>
            <a:pPr marL="228577" indent="-228577" defTabSz="914309" eaLnBrk="1" fontAlgn="auto" hangingPunct="1">
              <a:lnSpc>
                <a:spcPct val="80000"/>
              </a:lnSpc>
              <a:spcAft>
                <a:spcPts val="0"/>
              </a:spcAft>
              <a:buFontTx/>
              <a:buNone/>
              <a:defRPr/>
            </a:pPr>
            <a:r>
              <a:rPr lang="en-US" altLang="zh-CN" sz="2200" b="1" dirty="0">
                <a:solidFill>
                  <a:srgbClr val="0000FF"/>
                </a:solidFill>
              </a:rPr>
              <a:t>		for(j=0;j&lt;</a:t>
            </a:r>
            <a:r>
              <a:rPr lang="en-US" altLang="zh-CN" sz="2200" b="1" dirty="0" err="1">
                <a:solidFill>
                  <a:srgbClr val="0000FF"/>
                </a:solidFill>
              </a:rPr>
              <a:t>n;j</a:t>
            </a:r>
            <a:r>
              <a:rPr lang="en-US" altLang="zh-CN" sz="2200" b="1" dirty="0">
                <a:solidFill>
                  <a:srgbClr val="0000FF"/>
                </a:solidFill>
              </a:rPr>
              <a:t>++)</a:t>
            </a:r>
          </a:p>
          <a:p>
            <a:pPr marL="228577" indent="-228577" defTabSz="914309" eaLnBrk="1" fontAlgn="auto" hangingPunct="1">
              <a:lnSpc>
                <a:spcPct val="80000"/>
              </a:lnSpc>
              <a:spcAft>
                <a:spcPts val="0"/>
              </a:spcAft>
              <a:buFontTx/>
              <a:buNone/>
              <a:defRPr/>
            </a:pPr>
            <a:r>
              <a:rPr lang="en-US" altLang="zh-CN" sz="2200" b="1" dirty="0">
                <a:solidFill>
                  <a:srgbClr val="0000FF"/>
                </a:solidFill>
              </a:rPr>
              <a:t>			if(str[j]=='.')          //</a:t>
            </a:r>
            <a:r>
              <a:rPr lang="zh-CN" altLang="en-US" sz="2200" b="1" dirty="0">
                <a:solidFill>
                  <a:srgbClr val="0000FF"/>
                </a:solidFill>
              </a:rPr>
              <a:t>读入数据</a:t>
            </a:r>
            <a:r>
              <a:rPr lang="en-US" altLang="zh-CN" sz="2200" b="1" dirty="0">
                <a:solidFill>
                  <a:srgbClr val="0000FF"/>
                </a:solidFill>
              </a:rPr>
              <a:t>'.'</a:t>
            </a:r>
            <a:r>
              <a:rPr lang="zh-CN" altLang="en-US" sz="2200" b="1" dirty="0">
                <a:solidFill>
                  <a:srgbClr val="0000FF"/>
                </a:solidFill>
              </a:rPr>
              <a:t>表示空格</a:t>
            </a:r>
          </a:p>
          <a:p>
            <a:pPr marL="228577" indent="-228577" defTabSz="914309" eaLnBrk="1" fontAlgn="auto" hangingPunct="1">
              <a:lnSpc>
                <a:spcPct val="80000"/>
              </a:lnSpc>
              <a:spcAft>
                <a:spcPts val="0"/>
              </a:spcAft>
              <a:buFontTx/>
              <a:buNone/>
              <a:defRPr/>
            </a:pPr>
            <a:r>
              <a:rPr lang="zh-CN" altLang="en-US" sz="2200" b="1" dirty="0">
                <a:solidFill>
                  <a:srgbClr val="0000FF"/>
                </a:solidFill>
              </a:rPr>
              <a:t>				</a:t>
            </a:r>
            <a:r>
              <a:rPr lang="en-US" altLang="zh-CN" sz="2200" b="1" dirty="0">
                <a:solidFill>
                  <a:srgbClr val="0000FF"/>
                </a:solidFill>
              </a:rPr>
              <a:t>a[</a:t>
            </a:r>
            <a:r>
              <a:rPr lang="en-US" altLang="zh-CN" sz="2200" b="1" dirty="0" err="1">
                <a:solidFill>
                  <a:srgbClr val="0000FF"/>
                </a:solidFill>
              </a:rPr>
              <a:t>i</a:t>
            </a:r>
            <a:r>
              <a:rPr lang="en-US" altLang="zh-CN" sz="2200" b="1" dirty="0">
                <a:solidFill>
                  <a:srgbClr val="0000FF"/>
                </a:solidFill>
              </a:rPr>
              <a:t>][j]=0;           //</a:t>
            </a:r>
            <a:r>
              <a:rPr lang="zh-CN" altLang="en-US" sz="2200" b="1" dirty="0">
                <a:solidFill>
                  <a:srgbClr val="0000FF"/>
                </a:solidFill>
              </a:rPr>
              <a:t>存储时  </a:t>
            </a:r>
            <a:r>
              <a:rPr lang="en-US" altLang="zh-CN" sz="2200" b="1" dirty="0">
                <a:solidFill>
                  <a:srgbClr val="0000FF"/>
                </a:solidFill>
              </a:rPr>
              <a:t>0</a:t>
            </a:r>
            <a:r>
              <a:rPr lang="zh-CN" altLang="en-US" sz="2200" b="1" dirty="0">
                <a:solidFill>
                  <a:srgbClr val="0000FF"/>
                </a:solidFill>
              </a:rPr>
              <a:t>：表示空格</a:t>
            </a:r>
          </a:p>
          <a:p>
            <a:pPr marL="228577" indent="-228577" defTabSz="914309" eaLnBrk="1" fontAlgn="auto" hangingPunct="1">
              <a:lnSpc>
                <a:spcPct val="80000"/>
              </a:lnSpc>
              <a:spcAft>
                <a:spcPts val="0"/>
              </a:spcAft>
              <a:buFontTx/>
              <a:buNone/>
              <a:defRPr/>
            </a:pPr>
            <a:r>
              <a:rPr lang="zh-CN" altLang="en-US" sz="2200" b="1" dirty="0">
                <a:solidFill>
                  <a:srgbClr val="0000FF"/>
                </a:solidFill>
              </a:rPr>
              <a:t>			</a:t>
            </a:r>
            <a:r>
              <a:rPr lang="en-US" altLang="zh-CN" sz="2200" b="1" dirty="0">
                <a:solidFill>
                  <a:srgbClr val="0000FF"/>
                </a:solidFill>
              </a:rPr>
              <a:t>else</a:t>
            </a:r>
          </a:p>
          <a:p>
            <a:pPr marL="228577" indent="-228577" defTabSz="914309" eaLnBrk="1" fontAlgn="auto" hangingPunct="1">
              <a:lnSpc>
                <a:spcPct val="80000"/>
              </a:lnSpc>
              <a:spcAft>
                <a:spcPts val="0"/>
              </a:spcAft>
              <a:buFontTx/>
              <a:buNone/>
              <a:defRPr/>
            </a:pPr>
            <a:r>
              <a:rPr lang="en-US" altLang="zh-CN" sz="2200" b="1" dirty="0">
                <a:solidFill>
                  <a:srgbClr val="0000FF"/>
                </a:solidFill>
              </a:rPr>
              <a:t>				a[</a:t>
            </a:r>
            <a:r>
              <a:rPr lang="en-US" altLang="zh-CN" sz="2200" b="1" dirty="0" err="1">
                <a:solidFill>
                  <a:srgbClr val="0000FF"/>
                </a:solidFill>
              </a:rPr>
              <a:t>i</a:t>
            </a:r>
            <a:r>
              <a:rPr lang="en-US" altLang="zh-CN" sz="2200" b="1" dirty="0">
                <a:solidFill>
                  <a:srgbClr val="0000FF"/>
                </a:solidFill>
              </a:rPr>
              <a:t>][j]=1;           //        1</a:t>
            </a:r>
            <a:r>
              <a:rPr lang="zh-CN" altLang="en-US" sz="2200" b="1" dirty="0">
                <a:solidFill>
                  <a:srgbClr val="0000FF"/>
                </a:solidFill>
              </a:rPr>
              <a:t>：表示墙</a:t>
            </a:r>
          </a:p>
          <a:p>
            <a:pPr marL="228577" indent="-228577" defTabSz="914309" eaLnBrk="1" fontAlgn="auto" hangingPunct="1">
              <a:lnSpc>
                <a:spcPct val="80000"/>
              </a:lnSpc>
              <a:spcAft>
                <a:spcPts val="0"/>
              </a:spcAft>
              <a:buFontTx/>
              <a:buNone/>
              <a:defRPr/>
            </a:pPr>
            <a:r>
              <a:rPr lang="zh-CN" altLang="en-US" sz="2200" b="1" dirty="0">
                <a:solidFill>
                  <a:srgbClr val="0000FF"/>
                </a:solidFill>
              </a:rPr>
              <a:t>	</a:t>
            </a:r>
            <a:r>
              <a:rPr lang="en-US" altLang="zh-CN" sz="2200" b="1" dirty="0">
                <a:solidFill>
                  <a:srgbClr val="0000FF"/>
                </a:solidFill>
              </a:rPr>
              <a:t>}</a:t>
            </a:r>
          </a:p>
          <a:p>
            <a:pPr marL="228577" indent="-228577" defTabSz="914309" eaLnBrk="1" fontAlgn="auto" hangingPunct="1">
              <a:lnSpc>
                <a:spcPct val="80000"/>
              </a:lnSpc>
              <a:spcAft>
                <a:spcPts val="0"/>
              </a:spcAft>
              <a:buFontTx/>
              <a:buNone/>
              <a:defRPr/>
            </a:pPr>
            <a:r>
              <a:rPr lang="en-US" altLang="zh-CN" sz="2200" b="1" dirty="0">
                <a:solidFill>
                  <a:srgbClr val="0000FF"/>
                </a:solidFill>
              </a:rPr>
              <a:t>	</a:t>
            </a:r>
            <a:r>
              <a:rPr lang="en-US" altLang="zh-CN" sz="2200" b="1" dirty="0" err="1">
                <a:solidFill>
                  <a:srgbClr val="0000FF"/>
                </a:solidFill>
              </a:rPr>
              <a:t>scanf</a:t>
            </a:r>
            <a:r>
              <a:rPr lang="en-US" altLang="zh-CN" sz="2200" b="1" dirty="0">
                <a:solidFill>
                  <a:srgbClr val="0000FF"/>
                </a:solidFill>
              </a:rPr>
              <a:t>("%</a:t>
            </a:r>
            <a:r>
              <a:rPr lang="en-US" altLang="zh-CN" sz="2200" b="1" dirty="0" err="1">
                <a:solidFill>
                  <a:srgbClr val="0000FF"/>
                </a:solidFill>
              </a:rPr>
              <a:t>d%d%d%d</a:t>
            </a:r>
            <a:r>
              <a:rPr lang="en-US" altLang="zh-CN" sz="2200" b="1" dirty="0">
                <a:solidFill>
                  <a:srgbClr val="0000FF"/>
                </a:solidFill>
              </a:rPr>
              <a:t>",&amp;s.row,&amp;s.col,&amp;s.color,&amp;</a:t>
            </a:r>
            <a:r>
              <a:rPr lang="en-US" altLang="zh-CN" sz="2200" b="1" dirty="0" err="1">
                <a:solidFill>
                  <a:srgbClr val="0000FF"/>
                </a:solidFill>
              </a:rPr>
              <a:t>s.direction</a:t>
            </a:r>
            <a:r>
              <a:rPr lang="en-US" altLang="zh-CN" sz="2200" b="1" dirty="0">
                <a:solidFill>
                  <a:srgbClr val="0000FF"/>
                </a:solidFill>
              </a:rPr>
              <a:t>);  //</a:t>
            </a:r>
            <a:r>
              <a:rPr lang="zh-CN" altLang="en-US" sz="2200" b="1" dirty="0">
                <a:solidFill>
                  <a:srgbClr val="0000FF"/>
                </a:solidFill>
              </a:rPr>
              <a:t>读入起始结点信息</a:t>
            </a:r>
          </a:p>
          <a:p>
            <a:pPr marL="228577" indent="-228577" defTabSz="914309" eaLnBrk="1" fontAlgn="auto" hangingPunct="1">
              <a:lnSpc>
                <a:spcPct val="80000"/>
              </a:lnSpc>
              <a:spcAft>
                <a:spcPts val="0"/>
              </a:spcAft>
              <a:buFontTx/>
              <a:buNone/>
              <a:defRPr/>
            </a:pPr>
            <a:r>
              <a:rPr lang="zh-CN" altLang="en-US" sz="2200" b="1" dirty="0">
                <a:solidFill>
                  <a:srgbClr val="0000FF"/>
                </a:solidFill>
              </a:rPr>
              <a:t>	</a:t>
            </a:r>
            <a:r>
              <a:rPr lang="en-US" altLang="zh-CN" sz="2200" b="1" dirty="0" err="1">
                <a:solidFill>
                  <a:srgbClr val="0000FF"/>
                </a:solidFill>
              </a:rPr>
              <a:t>scanf</a:t>
            </a:r>
            <a:r>
              <a:rPr lang="en-US" altLang="zh-CN" sz="2200" b="1" dirty="0">
                <a:solidFill>
                  <a:srgbClr val="0000FF"/>
                </a:solidFill>
              </a:rPr>
              <a:t>("%</a:t>
            </a:r>
            <a:r>
              <a:rPr lang="en-US" altLang="zh-CN" sz="2200" b="1" dirty="0" err="1">
                <a:solidFill>
                  <a:srgbClr val="0000FF"/>
                </a:solidFill>
              </a:rPr>
              <a:t>d%d%d</a:t>
            </a:r>
            <a:r>
              <a:rPr lang="en-US" altLang="zh-CN" sz="2200" b="1" dirty="0">
                <a:solidFill>
                  <a:srgbClr val="0000FF"/>
                </a:solidFill>
              </a:rPr>
              <a:t>",&amp;t.row,&amp;t.col,&amp;</a:t>
            </a:r>
            <a:r>
              <a:rPr lang="en-US" altLang="zh-CN" sz="2200" b="1" dirty="0" err="1">
                <a:solidFill>
                  <a:srgbClr val="0000FF"/>
                </a:solidFill>
              </a:rPr>
              <a:t>t.color</a:t>
            </a:r>
            <a:r>
              <a:rPr lang="en-US" altLang="zh-CN" sz="2200" b="1" dirty="0">
                <a:solidFill>
                  <a:srgbClr val="0000FF"/>
                </a:solidFill>
              </a:rPr>
              <a:t>);                 //</a:t>
            </a:r>
            <a:r>
              <a:rPr lang="zh-CN" altLang="en-US" sz="2200" b="1" dirty="0">
                <a:solidFill>
                  <a:srgbClr val="0000FF"/>
                </a:solidFill>
              </a:rPr>
              <a:t>读入目标结点信息</a:t>
            </a:r>
          </a:p>
          <a:p>
            <a:pPr marL="228577" indent="-228577" defTabSz="914309" eaLnBrk="1" fontAlgn="auto" hangingPunct="1">
              <a:lnSpc>
                <a:spcPct val="80000"/>
              </a:lnSpc>
              <a:spcAft>
                <a:spcPts val="0"/>
              </a:spcAft>
              <a:buFontTx/>
              <a:buNone/>
              <a:defRPr/>
            </a:pPr>
            <a:r>
              <a:rPr lang="en-US" altLang="zh-CN" sz="2200" b="1" dirty="0">
                <a:solidFill>
                  <a:srgbClr val="0000FF"/>
                </a:solidFill>
              </a:rPr>
              <a:t>}</a:t>
            </a:r>
          </a:p>
        </p:txBody>
      </p:sp>
    </p:spTree>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9154" name="Rectangle 3">
            <a:extLst>
              <a:ext uri="{FF2B5EF4-FFF2-40B4-BE49-F238E27FC236}">
                <a16:creationId xmlns:a16="http://schemas.microsoft.com/office/drawing/2014/main" id="{EDBA68F1-172C-B9B5-2DBE-BA98D8CCB3C5}"/>
              </a:ext>
            </a:extLst>
          </p:cNvPr>
          <p:cNvSpPr>
            <a:spLocks noGrp="1" noChangeArrowheads="1"/>
          </p:cNvSpPr>
          <p:nvPr>
            <p:ph type="body" idx="4294967295"/>
          </p:nvPr>
        </p:nvSpPr>
        <p:spPr>
          <a:xfrm>
            <a:off x="334566" y="1125538"/>
            <a:ext cx="5951190" cy="5114925"/>
          </a:xfrm>
          <a:ln w="15875">
            <a:solidFill>
              <a:schemeClr val="accent6"/>
            </a:solidFill>
          </a:ln>
        </p:spPr>
        <p:txBody>
          <a:bodyPr>
            <a:normAutofit/>
          </a:bodyPr>
          <a:lstStyle/>
          <a:p>
            <a:pPr eaLnBrk="1" hangingPunct="1">
              <a:buFontTx/>
              <a:buNone/>
            </a:pPr>
            <a:r>
              <a:rPr lang="en-US" altLang="zh-CN" sz="2200" b="1" dirty="0">
                <a:solidFill>
                  <a:srgbClr val="0000FF"/>
                </a:solidFill>
              </a:rPr>
              <a:t>int </a:t>
            </a:r>
            <a:r>
              <a:rPr lang="en-US" altLang="zh-CN" sz="2200" b="1" dirty="0" err="1">
                <a:solidFill>
                  <a:srgbClr val="0000FF"/>
                </a:solidFill>
              </a:rPr>
              <a:t>isaim</a:t>
            </a:r>
            <a:r>
              <a:rPr lang="en-US" altLang="zh-CN" sz="2200" b="1" dirty="0">
                <a:solidFill>
                  <a:srgbClr val="0000FF"/>
                </a:solidFill>
              </a:rPr>
              <a:t>(struct </a:t>
            </a:r>
            <a:r>
              <a:rPr lang="en-US" altLang="zh-CN" sz="2200" b="1" dirty="0" err="1">
                <a:solidFill>
                  <a:srgbClr val="0000FF"/>
                </a:solidFill>
              </a:rPr>
              <a:t>colornode</a:t>
            </a:r>
            <a:r>
              <a:rPr lang="en-US" altLang="zh-CN" sz="2200" b="1" dirty="0">
                <a:solidFill>
                  <a:srgbClr val="0000FF"/>
                </a:solidFill>
              </a:rPr>
              <a:t> v)       </a:t>
            </a:r>
          </a:p>
          <a:p>
            <a:pPr eaLnBrk="1" hangingPunct="1">
              <a:buFontTx/>
              <a:buNone/>
            </a:pPr>
            <a:r>
              <a:rPr lang="en-US" altLang="zh-CN" sz="2200" b="1" dirty="0">
                <a:solidFill>
                  <a:srgbClr val="0000FF"/>
                </a:solidFill>
              </a:rPr>
              <a:t>//</a:t>
            </a:r>
            <a:r>
              <a:rPr lang="zh-CN" altLang="en-US" sz="2200" b="1" dirty="0">
                <a:solidFill>
                  <a:srgbClr val="0000FF"/>
                </a:solidFill>
              </a:rPr>
              <a:t>判断该结点是否是目标结点</a:t>
            </a:r>
          </a:p>
          <a:p>
            <a:pPr eaLnBrk="1" hangingPunct="1">
              <a:buFontTx/>
              <a:buNone/>
            </a:pPr>
            <a:r>
              <a:rPr lang="en-US" altLang="zh-CN" sz="2200" b="1" dirty="0">
                <a:solidFill>
                  <a:srgbClr val="0000FF"/>
                </a:solidFill>
              </a:rPr>
              <a:t>{</a:t>
            </a:r>
          </a:p>
          <a:p>
            <a:pPr eaLnBrk="1" hangingPunct="1">
              <a:buFontTx/>
              <a:buNone/>
            </a:pPr>
            <a:r>
              <a:rPr lang="en-US" altLang="zh-CN" sz="2200" b="1" dirty="0">
                <a:solidFill>
                  <a:srgbClr val="0000FF"/>
                </a:solidFill>
              </a:rPr>
              <a:t>if(</a:t>
            </a:r>
            <a:r>
              <a:rPr lang="en-US" altLang="zh-CN" sz="2200" b="1" dirty="0" err="1">
                <a:solidFill>
                  <a:srgbClr val="0000FF"/>
                </a:solidFill>
              </a:rPr>
              <a:t>v.row</a:t>
            </a:r>
            <a:r>
              <a:rPr lang="en-US" altLang="zh-CN" sz="2200" b="1" dirty="0">
                <a:solidFill>
                  <a:srgbClr val="0000FF"/>
                </a:solidFill>
              </a:rPr>
              <a:t>==</a:t>
            </a:r>
            <a:r>
              <a:rPr lang="en-US" altLang="zh-CN" sz="2200" b="1" dirty="0" err="1">
                <a:solidFill>
                  <a:srgbClr val="0000FF"/>
                </a:solidFill>
              </a:rPr>
              <a:t>t.row</a:t>
            </a:r>
            <a:r>
              <a:rPr lang="en-US" altLang="zh-CN" sz="2200" b="1" dirty="0">
                <a:solidFill>
                  <a:srgbClr val="0000FF"/>
                </a:solidFill>
              </a:rPr>
              <a:t>&amp;&amp;</a:t>
            </a:r>
            <a:r>
              <a:rPr lang="en-US" altLang="zh-CN" sz="2200" b="1" dirty="0" err="1">
                <a:solidFill>
                  <a:srgbClr val="0000FF"/>
                </a:solidFill>
              </a:rPr>
              <a:t>v.col</a:t>
            </a:r>
            <a:r>
              <a:rPr lang="en-US" altLang="zh-CN" sz="2200" b="1" dirty="0">
                <a:solidFill>
                  <a:srgbClr val="0000FF"/>
                </a:solidFill>
              </a:rPr>
              <a:t>==</a:t>
            </a:r>
            <a:r>
              <a:rPr lang="en-US" altLang="zh-CN" sz="2200" b="1" dirty="0" err="1">
                <a:solidFill>
                  <a:srgbClr val="0000FF"/>
                </a:solidFill>
              </a:rPr>
              <a:t>t.col</a:t>
            </a:r>
            <a:r>
              <a:rPr lang="en-US" altLang="zh-CN" sz="2200" b="1" dirty="0">
                <a:solidFill>
                  <a:srgbClr val="0000FF"/>
                </a:solidFill>
              </a:rPr>
              <a:t>&amp;&amp;</a:t>
            </a:r>
            <a:r>
              <a:rPr lang="en-US" altLang="zh-CN" sz="2200" b="1" dirty="0" err="1">
                <a:solidFill>
                  <a:srgbClr val="0000FF"/>
                </a:solidFill>
              </a:rPr>
              <a:t>v.color</a:t>
            </a:r>
            <a:r>
              <a:rPr lang="en-US" altLang="zh-CN" sz="2200" b="1" dirty="0">
                <a:solidFill>
                  <a:srgbClr val="0000FF"/>
                </a:solidFill>
              </a:rPr>
              <a:t>==</a:t>
            </a:r>
            <a:r>
              <a:rPr lang="en-US" altLang="zh-CN" sz="2200" b="1" dirty="0" err="1">
                <a:solidFill>
                  <a:srgbClr val="0000FF"/>
                </a:solidFill>
              </a:rPr>
              <a:t>t.color</a:t>
            </a:r>
            <a:r>
              <a:rPr lang="en-US" altLang="zh-CN" sz="2200" b="1" dirty="0">
                <a:solidFill>
                  <a:srgbClr val="0000FF"/>
                </a:solidFill>
              </a:rPr>
              <a:t>)</a:t>
            </a:r>
          </a:p>
          <a:p>
            <a:pPr eaLnBrk="1" hangingPunct="1">
              <a:buFontTx/>
              <a:buNone/>
            </a:pPr>
            <a:r>
              <a:rPr lang="en-US" altLang="zh-CN" sz="2200" b="1" dirty="0">
                <a:solidFill>
                  <a:srgbClr val="0000FF"/>
                </a:solidFill>
              </a:rPr>
              <a:t>		return 1;</a:t>
            </a:r>
          </a:p>
          <a:p>
            <a:pPr eaLnBrk="1" hangingPunct="1">
              <a:buFontTx/>
              <a:buNone/>
            </a:pPr>
            <a:r>
              <a:rPr lang="en-US" altLang="zh-CN" sz="2200" b="1" dirty="0">
                <a:solidFill>
                  <a:srgbClr val="0000FF"/>
                </a:solidFill>
              </a:rPr>
              <a:t>else</a:t>
            </a:r>
          </a:p>
          <a:p>
            <a:pPr eaLnBrk="1" hangingPunct="1">
              <a:buFontTx/>
              <a:buNone/>
            </a:pPr>
            <a:r>
              <a:rPr lang="en-US" altLang="zh-CN" sz="2200" b="1" dirty="0">
                <a:solidFill>
                  <a:srgbClr val="0000FF"/>
                </a:solidFill>
              </a:rPr>
              <a:t>		return 0;</a:t>
            </a:r>
          </a:p>
          <a:p>
            <a:pPr eaLnBrk="1" hangingPunct="1">
              <a:buFontTx/>
              <a:buNone/>
            </a:pPr>
            <a:r>
              <a:rPr lang="en-US" altLang="zh-CN" sz="2200" b="1" dirty="0">
                <a:solidFill>
                  <a:srgbClr val="0000FF"/>
                </a:solidFill>
              </a:rPr>
              <a:t>}</a:t>
            </a:r>
          </a:p>
        </p:txBody>
      </p:sp>
      <p:sp>
        <p:nvSpPr>
          <p:cNvPr id="2" name="Rectangle 3">
            <a:extLst>
              <a:ext uri="{FF2B5EF4-FFF2-40B4-BE49-F238E27FC236}">
                <a16:creationId xmlns:a16="http://schemas.microsoft.com/office/drawing/2014/main" id="{2A361C38-2476-CB61-9420-F286680322F8}"/>
              </a:ext>
            </a:extLst>
          </p:cNvPr>
          <p:cNvSpPr txBox="1">
            <a:spLocks noChangeArrowheads="1"/>
          </p:cNvSpPr>
          <p:nvPr/>
        </p:nvSpPr>
        <p:spPr>
          <a:xfrm>
            <a:off x="6414698" y="1125538"/>
            <a:ext cx="5657172" cy="5114925"/>
          </a:xfrm>
          <a:prstGeom prst="rect">
            <a:avLst/>
          </a:prstGeom>
          <a:ln w="15875">
            <a:solidFill>
              <a:schemeClr val="accent6"/>
            </a:solidFill>
          </a:ln>
        </p:spPr>
        <p:txBody>
          <a:bodyPr vert="horz">
            <a:normAutofit/>
          </a:bodyPr>
          <a:lstStyle>
            <a:lvl1pPr marL="342866" indent="-342866"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876" indent="-285721"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2886" indent="-228577"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040" indent="-228577"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194"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349"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503" indent="-228577"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8657" indent="-228577"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811" indent="-228577"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pPr defTabSz="914400" fontAlgn="auto">
              <a:spcAft>
                <a:spcPts val="0"/>
              </a:spcAft>
              <a:buFontTx/>
              <a:buNone/>
            </a:pPr>
            <a:r>
              <a:rPr lang="en-US" altLang="zh-CN" sz="2200" b="1" dirty="0">
                <a:solidFill>
                  <a:srgbClr val="0000FF"/>
                </a:solidFill>
              </a:rPr>
              <a:t>int </a:t>
            </a:r>
            <a:r>
              <a:rPr lang="en-US" altLang="zh-CN" sz="2200" b="1" dirty="0" err="1">
                <a:solidFill>
                  <a:srgbClr val="0000FF"/>
                </a:solidFill>
              </a:rPr>
              <a:t>islegal</a:t>
            </a:r>
            <a:r>
              <a:rPr lang="en-US" altLang="zh-CN" sz="2200" b="1" dirty="0">
                <a:solidFill>
                  <a:srgbClr val="0000FF"/>
                </a:solidFill>
              </a:rPr>
              <a:t>(struct </a:t>
            </a:r>
            <a:r>
              <a:rPr lang="en-US" altLang="zh-CN" sz="2200" b="1" dirty="0" err="1">
                <a:solidFill>
                  <a:srgbClr val="0000FF"/>
                </a:solidFill>
              </a:rPr>
              <a:t>colornode</a:t>
            </a:r>
            <a:r>
              <a:rPr lang="en-US" altLang="zh-CN" sz="2200" b="1" dirty="0">
                <a:solidFill>
                  <a:srgbClr val="0000FF"/>
                </a:solidFill>
              </a:rPr>
              <a:t> v)    </a:t>
            </a:r>
          </a:p>
          <a:p>
            <a:pPr defTabSz="914400" fontAlgn="auto">
              <a:spcAft>
                <a:spcPts val="0"/>
              </a:spcAft>
              <a:buFontTx/>
              <a:buNone/>
            </a:pPr>
            <a:r>
              <a:rPr lang="en-US" altLang="zh-CN" sz="2200" b="1" dirty="0">
                <a:solidFill>
                  <a:srgbClr val="0000FF"/>
                </a:solidFill>
              </a:rPr>
              <a:t> //</a:t>
            </a:r>
            <a:r>
              <a:rPr lang="zh-CN" altLang="en-US" sz="2200" b="1" dirty="0">
                <a:solidFill>
                  <a:srgbClr val="0000FF"/>
                </a:solidFill>
              </a:rPr>
              <a:t>如果该结点是合法的结点</a:t>
            </a:r>
            <a:r>
              <a:rPr lang="en-US" altLang="zh-CN" sz="2200" b="1" dirty="0">
                <a:solidFill>
                  <a:srgbClr val="0000FF"/>
                </a:solidFill>
              </a:rPr>
              <a:t>(</a:t>
            </a:r>
            <a:r>
              <a:rPr lang="zh-CN" altLang="en-US" sz="2200" b="1" dirty="0">
                <a:solidFill>
                  <a:srgbClr val="0000FF"/>
                </a:solidFill>
              </a:rPr>
              <a:t>未越界且是空格</a:t>
            </a:r>
            <a:r>
              <a:rPr lang="en-US" altLang="zh-CN" sz="2200" b="1" dirty="0">
                <a:solidFill>
                  <a:srgbClr val="0000FF"/>
                </a:solidFill>
              </a:rPr>
              <a:t>)</a:t>
            </a:r>
          </a:p>
          <a:p>
            <a:pPr defTabSz="914400" fontAlgn="auto">
              <a:spcAft>
                <a:spcPts val="0"/>
              </a:spcAft>
              <a:buFontTx/>
              <a:buNone/>
            </a:pPr>
            <a:r>
              <a:rPr lang="en-US" altLang="zh-CN" sz="2200" b="1" dirty="0">
                <a:solidFill>
                  <a:srgbClr val="0000FF"/>
                </a:solidFill>
              </a:rPr>
              <a:t>{</a:t>
            </a:r>
          </a:p>
          <a:p>
            <a:pPr defTabSz="914400" fontAlgn="auto">
              <a:spcAft>
                <a:spcPts val="0"/>
              </a:spcAft>
              <a:buFontTx/>
              <a:buNone/>
            </a:pPr>
            <a:r>
              <a:rPr lang="en-US" altLang="zh-CN" sz="2200" b="1" dirty="0">
                <a:solidFill>
                  <a:srgbClr val="0000FF"/>
                </a:solidFill>
              </a:rPr>
              <a:t>	if(</a:t>
            </a:r>
            <a:r>
              <a:rPr lang="en-US" altLang="zh-CN" sz="2200" b="1" dirty="0" err="1">
                <a:solidFill>
                  <a:srgbClr val="0000FF"/>
                </a:solidFill>
              </a:rPr>
              <a:t>v.row</a:t>
            </a:r>
            <a:r>
              <a:rPr lang="en-US" altLang="zh-CN" sz="2200" b="1" dirty="0">
                <a:solidFill>
                  <a:srgbClr val="0000FF"/>
                </a:solidFill>
              </a:rPr>
              <a:t>&lt;0||</a:t>
            </a:r>
            <a:r>
              <a:rPr lang="en-US" altLang="zh-CN" sz="2200" b="1" dirty="0" err="1">
                <a:solidFill>
                  <a:srgbClr val="0000FF"/>
                </a:solidFill>
              </a:rPr>
              <a:t>v.row</a:t>
            </a:r>
            <a:r>
              <a:rPr lang="en-US" altLang="zh-CN" sz="2200" b="1" dirty="0">
                <a:solidFill>
                  <a:srgbClr val="0000FF"/>
                </a:solidFill>
              </a:rPr>
              <a:t>&gt;=n||</a:t>
            </a:r>
            <a:r>
              <a:rPr lang="en-US" altLang="zh-CN" sz="2200" b="1" dirty="0" err="1">
                <a:solidFill>
                  <a:srgbClr val="0000FF"/>
                </a:solidFill>
              </a:rPr>
              <a:t>v.col</a:t>
            </a:r>
            <a:r>
              <a:rPr lang="en-US" altLang="zh-CN" sz="2200" b="1" dirty="0">
                <a:solidFill>
                  <a:srgbClr val="0000FF"/>
                </a:solidFill>
              </a:rPr>
              <a:t>&lt;0||</a:t>
            </a:r>
            <a:r>
              <a:rPr lang="en-US" altLang="zh-CN" sz="2200" b="1" dirty="0" err="1">
                <a:solidFill>
                  <a:srgbClr val="0000FF"/>
                </a:solidFill>
              </a:rPr>
              <a:t>v.col</a:t>
            </a:r>
            <a:r>
              <a:rPr lang="en-US" altLang="zh-CN" sz="2200" b="1" dirty="0">
                <a:solidFill>
                  <a:srgbClr val="0000FF"/>
                </a:solidFill>
              </a:rPr>
              <a:t>&gt;=n)  </a:t>
            </a:r>
          </a:p>
          <a:p>
            <a:pPr defTabSz="914400" fontAlgn="auto">
              <a:spcAft>
                <a:spcPts val="0"/>
              </a:spcAft>
              <a:buFontTx/>
              <a:buNone/>
            </a:pPr>
            <a:r>
              <a:rPr lang="en-US" altLang="zh-CN" sz="2200" b="1" dirty="0">
                <a:solidFill>
                  <a:srgbClr val="0000FF"/>
                </a:solidFill>
              </a:rPr>
              <a:t>     //</a:t>
            </a:r>
            <a:r>
              <a:rPr lang="zh-CN" altLang="en-US" sz="2200" b="1" dirty="0">
                <a:solidFill>
                  <a:srgbClr val="0000FF"/>
                </a:solidFill>
              </a:rPr>
              <a:t>若越界</a:t>
            </a:r>
          </a:p>
          <a:p>
            <a:pPr defTabSz="914400" fontAlgn="auto">
              <a:spcAft>
                <a:spcPts val="0"/>
              </a:spcAft>
              <a:buFontTx/>
              <a:buNone/>
            </a:pPr>
            <a:r>
              <a:rPr lang="zh-CN" altLang="en-US" sz="2200" b="1" dirty="0">
                <a:solidFill>
                  <a:srgbClr val="0000FF"/>
                </a:solidFill>
              </a:rPr>
              <a:t>		</a:t>
            </a:r>
            <a:r>
              <a:rPr lang="en-US" altLang="zh-CN" sz="2200" b="1" dirty="0">
                <a:solidFill>
                  <a:srgbClr val="0000FF"/>
                </a:solidFill>
              </a:rPr>
              <a:t>return 0;</a:t>
            </a:r>
          </a:p>
          <a:p>
            <a:pPr defTabSz="914400" fontAlgn="auto">
              <a:spcAft>
                <a:spcPts val="0"/>
              </a:spcAft>
              <a:buFontTx/>
              <a:buNone/>
            </a:pPr>
            <a:r>
              <a:rPr lang="en-US" altLang="zh-CN" sz="2200" b="1" dirty="0">
                <a:solidFill>
                  <a:srgbClr val="0000FF"/>
                </a:solidFill>
              </a:rPr>
              <a:t>	if(a[</a:t>
            </a:r>
            <a:r>
              <a:rPr lang="en-US" altLang="zh-CN" sz="2200" b="1" dirty="0" err="1">
                <a:solidFill>
                  <a:srgbClr val="0000FF"/>
                </a:solidFill>
              </a:rPr>
              <a:t>v.row</a:t>
            </a:r>
            <a:r>
              <a:rPr lang="en-US" altLang="zh-CN" sz="2200" b="1" dirty="0">
                <a:solidFill>
                  <a:srgbClr val="0000FF"/>
                </a:solidFill>
              </a:rPr>
              <a:t>][</a:t>
            </a:r>
            <a:r>
              <a:rPr lang="en-US" altLang="zh-CN" sz="2200" b="1" dirty="0" err="1">
                <a:solidFill>
                  <a:srgbClr val="0000FF"/>
                </a:solidFill>
              </a:rPr>
              <a:t>v.col</a:t>
            </a:r>
            <a:r>
              <a:rPr lang="en-US" altLang="zh-CN" sz="2200" b="1" dirty="0">
                <a:solidFill>
                  <a:srgbClr val="0000FF"/>
                </a:solidFill>
              </a:rPr>
              <a:t>]==0)                </a:t>
            </a:r>
          </a:p>
          <a:p>
            <a:pPr defTabSz="914400" fontAlgn="auto">
              <a:spcAft>
                <a:spcPts val="0"/>
              </a:spcAft>
              <a:buFontTx/>
              <a:buNone/>
            </a:pPr>
            <a:r>
              <a:rPr lang="en-US" altLang="zh-CN" sz="2200" b="1" dirty="0">
                <a:solidFill>
                  <a:srgbClr val="0000FF"/>
                </a:solidFill>
              </a:rPr>
              <a:t>     //0</a:t>
            </a:r>
            <a:r>
              <a:rPr lang="zh-CN" altLang="en-US" sz="2200" b="1" dirty="0">
                <a:solidFill>
                  <a:srgbClr val="0000FF"/>
                </a:solidFill>
              </a:rPr>
              <a:t>：表示空格</a:t>
            </a:r>
          </a:p>
          <a:p>
            <a:pPr defTabSz="914400" fontAlgn="auto">
              <a:spcAft>
                <a:spcPts val="0"/>
              </a:spcAft>
              <a:buFontTx/>
              <a:buNone/>
            </a:pPr>
            <a:r>
              <a:rPr lang="zh-CN" altLang="en-US" sz="2200" b="1" dirty="0">
                <a:solidFill>
                  <a:srgbClr val="0000FF"/>
                </a:solidFill>
              </a:rPr>
              <a:t>		</a:t>
            </a:r>
            <a:r>
              <a:rPr lang="en-US" altLang="zh-CN" sz="2200" b="1" dirty="0">
                <a:solidFill>
                  <a:srgbClr val="0000FF"/>
                </a:solidFill>
              </a:rPr>
              <a:t>return 1;</a:t>
            </a:r>
          </a:p>
          <a:p>
            <a:pPr defTabSz="914400" fontAlgn="auto">
              <a:spcAft>
                <a:spcPts val="0"/>
              </a:spcAft>
              <a:buFontTx/>
              <a:buNone/>
            </a:pPr>
            <a:r>
              <a:rPr lang="en-US" altLang="zh-CN" sz="2200" b="1" dirty="0">
                <a:solidFill>
                  <a:srgbClr val="0000FF"/>
                </a:solidFill>
              </a:rPr>
              <a:t>	return 0;</a:t>
            </a:r>
          </a:p>
          <a:p>
            <a:pPr defTabSz="914400" fontAlgn="auto">
              <a:spcAft>
                <a:spcPts val="0"/>
              </a:spcAft>
              <a:buFontTx/>
              <a:buNone/>
            </a:pPr>
            <a:r>
              <a:rPr lang="en-US" altLang="zh-CN" sz="2200" b="1" dirty="0">
                <a:solidFill>
                  <a:srgbClr val="0000FF"/>
                </a:solidFill>
              </a:rPr>
              <a:t>}</a:t>
            </a:r>
          </a:p>
        </p:txBody>
      </p:sp>
    </p:spTree>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1202" name="Rectangle 3">
            <a:extLst>
              <a:ext uri="{FF2B5EF4-FFF2-40B4-BE49-F238E27FC236}">
                <a16:creationId xmlns:a16="http://schemas.microsoft.com/office/drawing/2014/main" id="{1D23318D-00E7-123E-C69E-A208697F43EA}"/>
              </a:ext>
            </a:extLst>
          </p:cNvPr>
          <p:cNvSpPr>
            <a:spLocks noGrp="1" noChangeArrowheads="1"/>
          </p:cNvSpPr>
          <p:nvPr>
            <p:ph type="body" idx="4294967295"/>
          </p:nvPr>
        </p:nvSpPr>
        <p:spPr>
          <a:xfrm>
            <a:off x="910630" y="1197546"/>
            <a:ext cx="8064896" cy="5114925"/>
          </a:xfrm>
        </p:spPr>
        <p:txBody>
          <a:bodyPr>
            <a:normAutofit/>
          </a:bodyPr>
          <a:lstStyle/>
          <a:p>
            <a:pPr eaLnBrk="1" hangingPunct="1">
              <a:buFontTx/>
              <a:buNone/>
            </a:pPr>
            <a:r>
              <a:rPr lang="en-US" altLang="zh-CN" sz="2200" b="1" dirty="0">
                <a:solidFill>
                  <a:srgbClr val="0000FF"/>
                </a:solidFill>
              </a:rPr>
              <a:t>struct </a:t>
            </a:r>
            <a:r>
              <a:rPr lang="en-US" altLang="zh-CN" sz="2200" b="1" dirty="0" err="1">
                <a:solidFill>
                  <a:srgbClr val="0000FF"/>
                </a:solidFill>
              </a:rPr>
              <a:t>colornode</a:t>
            </a:r>
            <a:r>
              <a:rPr lang="en-US" altLang="zh-CN" sz="2200" b="1" dirty="0">
                <a:solidFill>
                  <a:srgbClr val="0000FF"/>
                </a:solidFill>
              </a:rPr>
              <a:t> </a:t>
            </a:r>
            <a:r>
              <a:rPr lang="en-US" altLang="zh-CN" sz="2200" b="1" dirty="0" err="1">
                <a:solidFill>
                  <a:srgbClr val="0000FF"/>
                </a:solidFill>
              </a:rPr>
              <a:t>moveahead</a:t>
            </a:r>
            <a:r>
              <a:rPr lang="en-US" altLang="zh-CN" sz="2200" b="1" dirty="0">
                <a:solidFill>
                  <a:srgbClr val="0000FF"/>
                </a:solidFill>
              </a:rPr>
              <a:t>(struct </a:t>
            </a:r>
            <a:r>
              <a:rPr lang="en-US" altLang="zh-CN" sz="2200" b="1" dirty="0" err="1">
                <a:solidFill>
                  <a:srgbClr val="0000FF"/>
                </a:solidFill>
              </a:rPr>
              <a:t>colornode</a:t>
            </a:r>
            <a:r>
              <a:rPr lang="en-US" altLang="zh-CN" sz="2200" b="1" dirty="0">
                <a:solidFill>
                  <a:srgbClr val="0000FF"/>
                </a:solidFill>
              </a:rPr>
              <a:t> u)  </a:t>
            </a:r>
          </a:p>
          <a:p>
            <a:pPr eaLnBrk="1" hangingPunct="1">
              <a:buFontTx/>
              <a:buNone/>
            </a:pPr>
            <a:r>
              <a:rPr lang="en-US" altLang="zh-CN" sz="2200" b="1" dirty="0">
                <a:solidFill>
                  <a:srgbClr val="0000FF"/>
                </a:solidFill>
              </a:rPr>
              <a:t>//</a:t>
            </a:r>
            <a:r>
              <a:rPr lang="zh-CN" altLang="en-US" sz="2200" b="1" dirty="0">
                <a:solidFill>
                  <a:srgbClr val="0000FF"/>
                </a:solidFill>
              </a:rPr>
              <a:t>返回</a:t>
            </a:r>
            <a:r>
              <a:rPr lang="en-US" altLang="zh-CN" sz="2200" b="1" dirty="0">
                <a:solidFill>
                  <a:srgbClr val="0000FF"/>
                </a:solidFill>
              </a:rPr>
              <a:t>u</a:t>
            </a:r>
            <a:r>
              <a:rPr lang="zh-CN" altLang="en-US" sz="2200" b="1" dirty="0">
                <a:solidFill>
                  <a:srgbClr val="0000FF"/>
                </a:solidFill>
              </a:rPr>
              <a:t>向前走一格得到的结点</a:t>
            </a:r>
          </a:p>
          <a:p>
            <a:pPr eaLnBrk="1" hangingPunct="1">
              <a:buFontTx/>
              <a:buNone/>
            </a:pPr>
            <a:r>
              <a:rPr lang="en-US" altLang="zh-CN" sz="2200" b="1" dirty="0">
                <a:solidFill>
                  <a:srgbClr val="0000FF"/>
                </a:solidFill>
              </a:rPr>
              <a:t>{</a:t>
            </a:r>
          </a:p>
          <a:p>
            <a:pPr eaLnBrk="1" hangingPunct="1">
              <a:buFontTx/>
              <a:buNone/>
            </a:pPr>
            <a:r>
              <a:rPr lang="en-US" altLang="zh-CN" sz="2200" b="1" dirty="0">
                <a:solidFill>
                  <a:srgbClr val="0000FF"/>
                </a:solidFill>
              </a:rPr>
              <a:t>	struct </a:t>
            </a:r>
            <a:r>
              <a:rPr lang="en-US" altLang="zh-CN" sz="2200" b="1" dirty="0" err="1">
                <a:solidFill>
                  <a:srgbClr val="0000FF"/>
                </a:solidFill>
              </a:rPr>
              <a:t>colornode</a:t>
            </a:r>
            <a:r>
              <a:rPr lang="en-US" altLang="zh-CN" sz="2200" b="1" dirty="0">
                <a:solidFill>
                  <a:srgbClr val="0000FF"/>
                </a:solidFill>
              </a:rPr>
              <a:t> v;</a:t>
            </a:r>
          </a:p>
          <a:p>
            <a:pPr eaLnBrk="1" hangingPunct="1">
              <a:buFontTx/>
              <a:buNone/>
            </a:pPr>
            <a:r>
              <a:rPr lang="en-US" altLang="zh-CN" sz="2200" b="1" dirty="0">
                <a:solidFill>
                  <a:srgbClr val="0000FF"/>
                </a:solidFill>
              </a:rPr>
              <a:t>	</a:t>
            </a:r>
            <a:r>
              <a:rPr lang="en-US" altLang="zh-CN" sz="2200" b="1" dirty="0" err="1">
                <a:solidFill>
                  <a:srgbClr val="0000FF"/>
                </a:solidFill>
              </a:rPr>
              <a:t>v.row</a:t>
            </a:r>
            <a:r>
              <a:rPr lang="en-US" altLang="zh-CN" sz="2200" b="1" dirty="0">
                <a:solidFill>
                  <a:srgbClr val="0000FF"/>
                </a:solidFill>
              </a:rPr>
              <a:t>=</a:t>
            </a:r>
            <a:r>
              <a:rPr lang="en-US" altLang="zh-CN" sz="2200" b="1" dirty="0" err="1">
                <a:solidFill>
                  <a:srgbClr val="0000FF"/>
                </a:solidFill>
              </a:rPr>
              <a:t>u.row+direct</a:t>
            </a:r>
            <a:r>
              <a:rPr lang="en-US" altLang="zh-CN" sz="2200" b="1" dirty="0">
                <a:solidFill>
                  <a:srgbClr val="0000FF"/>
                </a:solidFill>
              </a:rPr>
              <a:t>[</a:t>
            </a:r>
            <a:r>
              <a:rPr lang="en-US" altLang="zh-CN" sz="2200" b="1" dirty="0" err="1">
                <a:solidFill>
                  <a:srgbClr val="0000FF"/>
                </a:solidFill>
              </a:rPr>
              <a:t>u.direction</a:t>
            </a:r>
            <a:r>
              <a:rPr lang="en-US" altLang="zh-CN" sz="2200" b="1" dirty="0">
                <a:solidFill>
                  <a:srgbClr val="0000FF"/>
                </a:solidFill>
              </a:rPr>
              <a:t>][0];</a:t>
            </a:r>
          </a:p>
          <a:p>
            <a:pPr eaLnBrk="1" hangingPunct="1">
              <a:buFontTx/>
              <a:buNone/>
            </a:pPr>
            <a:r>
              <a:rPr lang="en-US" altLang="zh-CN" sz="2200" b="1" dirty="0">
                <a:solidFill>
                  <a:srgbClr val="0000FF"/>
                </a:solidFill>
              </a:rPr>
              <a:t>	</a:t>
            </a:r>
            <a:r>
              <a:rPr lang="en-US" altLang="zh-CN" sz="2200" b="1" dirty="0" err="1">
                <a:solidFill>
                  <a:srgbClr val="0000FF"/>
                </a:solidFill>
              </a:rPr>
              <a:t>v.col</a:t>
            </a:r>
            <a:r>
              <a:rPr lang="en-US" altLang="zh-CN" sz="2200" b="1" dirty="0">
                <a:solidFill>
                  <a:srgbClr val="0000FF"/>
                </a:solidFill>
              </a:rPr>
              <a:t>=</a:t>
            </a:r>
            <a:r>
              <a:rPr lang="en-US" altLang="zh-CN" sz="2200" b="1" dirty="0" err="1">
                <a:solidFill>
                  <a:srgbClr val="0000FF"/>
                </a:solidFill>
              </a:rPr>
              <a:t>u.col+direct</a:t>
            </a:r>
            <a:r>
              <a:rPr lang="en-US" altLang="zh-CN" sz="2200" b="1" dirty="0">
                <a:solidFill>
                  <a:srgbClr val="0000FF"/>
                </a:solidFill>
              </a:rPr>
              <a:t>[</a:t>
            </a:r>
            <a:r>
              <a:rPr lang="en-US" altLang="zh-CN" sz="2200" b="1" dirty="0" err="1">
                <a:solidFill>
                  <a:srgbClr val="0000FF"/>
                </a:solidFill>
              </a:rPr>
              <a:t>u.direction</a:t>
            </a:r>
            <a:r>
              <a:rPr lang="en-US" altLang="zh-CN" sz="2200" b="1" dirty="0">
                <a:solidFill>
                  <a:srgbClr val="0000FF"/>
                </a:solidFill>
              </a:rPr>
              <a:t>][1];</a:t>
            </a:r>
          </a:p>
          <a:p>
            <a:pPr eaLnBrk="1" hangingPunct="1">
              <a:buFontTx/>
              <a:buNone/>
            </a:pPr>
            <a:r>
              <a:rPr lang="en-US" altLang="zh-CN" sz="2200" b="1" dirty="0">
                <a:solidFill>
                  <a:srgbClr val="0000FF"/>
                </a:solidFill>
              </a:rPr>
              <a:t>	</a:t>
            </a:r>
            <a:r>
              <a:rPr lang="en-US" altLang="zh-CN" sz="2200" b="1" dirty="0" err="1">
                <a:solidFill>
                  <a:srgbClr val="0000FF"/>
                </a:solidFill>
              </a:rPr>
              <a:t>v.color</a:t>
            </a:r>
            <a:r>
              <a:rPr lang="en-US" altLang="zh-CN" sz="2200" b="1" dirty="0">
                <a:solidFill>
                  <a:srgbClr val="0000FF"/>
                </a:solidFill>
              </a:rPr>
              <a:t>=(u.color+1)%5;</a:t>
            </a:r>
          </a:p>
          <a:p>
            <a:pPr eaLnBrk="1" hangingPunct="1">
              <a:buFontTx/>
              <a:buNone/>
            </a:pPr>
            <a:r>
              <a:rPr lang="en-US" altLang="zh-CN" sz="2200" b="1" dirty="0">
                <a:solidFill>
                  <a:srgbClr val="0000FF"/>
                </a:solidFill>
              </a:rPr>
              <a:t>	</a:t>
            </a:r>
            <a:r>
              <a:rPr lang="en-US" altLang="zh-CN" sz="2200" b="1" dirty="0" err="1">
                <a:solidFill>
                  <a:srgbClr val="0000FF"/>
                </a:solidFill>
              </a:rPr>
              <a:t>v.direction</a:t>
            </a:r>
            <a:r>
              <a:rPr lang="en-US" altLang="zh-CN" sz="2200" b="1" dirty="0">
                <a:solidFill>
                  <a:srgbClr val="0000FF"/>
                </a:solidFill>
              </a:rPr>
              <a:t>=</a:t>
            </a:r>
            <a:r>
              <a:rPr lang="en-US" altLang="zh-CN" sz="2200" b="1" dirty="0" err="1">
                <a:solidFill>
                  <a:srgbClr val="0000FF"/>
                </a:solidFill>
              </a:rPr>
              <a:t>u.direction</a:t>
            </a:r>
            <a:r>
              <a:rPr lang="en-US" altLang="zh-CN" sz="2200" b="1" dirty="0">
                <a:solidFill>
                  <a:srgbClr val="0000FF"/>
                </a:solidFill>
              </a:rPr>
              <a:t>;</a:t>
            </a:r>
          </a:p>
          <a:p>
            <a:pPr eaLnBrk="1" hangingPunct="1">
              <a:buFontTx/>
              <a:buNone/>
            </a:pPr>
            <a:r>
              <a:rPr lang="en-US" altLang="zh-CN" sz="2200" b="1" dirty="0">
                <a:solidFill>
                  <a:srgbClr val="0000FF"/>
                </a:solidFill>
              </a:rPr>
              <a:t>	</a:t>
            </a:r>
            <a:r>
              <a:rPr lang="en-US" altLang="zh-CN" sz="2200" b="1" dirty="0" err="1">
                <a:solidFill>
                  <a:srgbClr val="0000FF"/>
                </a:solidFill>
              </a:rPr>
              <a:t>v.num</a:t>
            </a:r>
            <a:r>
              <a:rPr lang="en-US" altLang="zh-CN" sz="2200" b="1" dirty="0">
                <a:solidFill>
                  <a:srgbClr val="0000FF"/>
                </a:solidFill>
              </a:rPr>
              <a:t>=u.num+1;</a:t>
            </a:r>
          </a:p>
          <a:p>
            <a:pPr eaLnBrk="1" hangingPunct="1">
              <a:buFontTx/>
              <a:buNone/>
            </a:pPr>
            <a:r>
              <a:rPr lang="en-US" altLang="zh-CN" sz="2200" b="1" dirty="0">
                <a:solidFill>
                  <a:srgbClr val="0000FF"/>
                </a:solidFill>
              </a:rPr>
              <a:t>	return(v);</a:t>
            </a:r>
          </a:p>
          <a:p>
            <a:pPr eaLnBrk="1" hangingPunct="1">
              <a:buFontTx/>
              <a:buNone/>
            </a:pPr>
            <a:r>
              <a:rPr lang="en-US" altLang="zh-CN" sz="2200" b="1" dirty="0">
                <a:solidFill>
                  <a:srgbClr val="0000FF"/>
                </a:solidFill>
              </a:rPr>
              <a:t>}</a:t>
            </a:r>
          </a:p>
        </p:txBody>
      </p:sp>
    </p:spTree>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2226" name="Rectangle 3">
            <a:extLst>
              <a:ext uri="{FF2B5EF4-FFF2-40B4-BE49-F238E27FC236}">
                <a16:creationId xmlns:a16="http://schemas.microsoft.com/office/drawing/2014/main" id="{A92B6EC2-DA14-6855-4738-69AFD0505984}"/>
              </a:ext>
            </a:extLst>
          </p:cNvPr>
          <p:cNvSpPr>
            <a:spLocks noGrp="1" noChangeArrowheads="1"/>
          </p:cNvSpPr>
          <p:nvPr>
            <p:ph type="body" idx="4294967295"/>
          </p:nvPr>
        </p:nvSpPr>
        <p:spPr>
          <a:xfrm>
            <a:off x="622598" y="1125539"/>
            <a:ext cx="5544616" cy="4752528"/>
          </a:xfrm>
          <a:ln w="15875">
            <a:solidFill>
              <a:schemeClr val="accent6"/>
            </a:solidFill>
          </a:ln>
        </p:spPr>
        <p:txBody>
          <a:bodyPr>
            <a:normAutofit/>
          </a:bodyPr>
          <a:lstStyle/>
          <a:p>
            <a:pPr eaLnBrk="1" hangingPunct="1">
              <a:buFontTx/>
              <a:buNone/>
            </a:pPr>
            <a:r>
              <a:rPr lang="en-US" altLang="zh-CN" sz="2200" b="1" dirty="0">
                <a:solidFill>
                  <a:srgbClr val="0000FF"/>
                </a:solidFill>
              </a:rPr>
              <a:t>struct </a:t>
            </a:r>
            <a:r>
              <a:rPr lang="en-US" altLang="zh-CN" sz="2200" b="1" dirty="0" err="1">
                <a:solidFill>
                  <a:srgbClr val="0000FF"/>
                </a:solidFill>
              </a:rPr>
              <a:t>colornode</a:t>
            </a:r>
            <a:r>
              <a:rPr lang="en-US" altLang="zh-CN" sz="2200" b="1" dirty="0">
                <a:solidFill>
                  <a:srgbClr val="0000FF"/>
                </a:solidFill>
              </a:rPr>
              <a:t> </a:t>
            </a:r>
            <a:r>
              <a:rPr lang="en-US" altLang="zh-CN" sz="2200" b="1" dirty="0" err="1">
                <a:solidFill>
                  <a:srgbClr val="0000FF"/>
                </a:solidFill>
              </a:rPr>
              <a:t>turntoleft</a:t>
            </a:r>
            <a:r>
              <a:rPr lang="en-US" altLang="zh-CN" sz="2200" b="1" dirty="0">
                <a:solidFill>
                  <a:srgbClr val="0000FF"/>
                </a:solidFill>
              </a:rPr>
              <a:t>(struct </a:t>
            </a:r>
            <a:r>
              <a:rPr lang="en-US" altLang="zh-CN" sz="2200" b="1" dirty="0" err="1">
                <a:solidFill>
                  <a:srgbClr val="0000FF"/>
                </a:solidFill>
              </a:rPr>
              <a:t>colornode</a:t>
            </a:r>
            <a:r>
              <a:rPr lang="en-US" altLang="zh-CN" sz="2200" b="1" dirty="0">
                <a:solidFill>
                  <a:srgbClr val="0000FF"/>
                </a:solidFill>
              </a:rPr>
              <a:t> u) </a:t>
            </a:r>
          </a:p>
          <a:p>
            <a:pPr eaLnBrk="1" hangingPunct="1">
              <a:buFontTx/>
              <a:buNone/>
            </a:pPr>
            <a:r>
              <a:rPr lang="en-US" altLang="zh-CN" sz="2200" b="1" dirty="0">
                <a:solidFill>
                  <a:srgbClr val="0000FF"/>
                </a:solidFill>
              </a:rPr>
              <a:t>  //u</a:t>
            </a:r>
            <a:r>
              <a:rPr lang="zh-CN" altLang="en-US" sz="2200" b="1" dirty="0">
                <a:solidFill>
                  <a:srgbClr val="0000FF"/>
                </a:solidFill>
              </a:rPr>
              <a:t>向左转得到新结点</a:t>
            </a:r>
            <a:r>
              <a:rPr lang="en-US" altLang="zh-CN" sz="2200" b="1" dirty="0">
                <a:solidFill>
                  <a:srgbClr val="0000FF"/>
                </a:solidFill>
              </a:rPr>
              <a:t>v</a:t>
            </a:r>
          </a:p>
          <a:p>
            <a:pPr eaLnBrk="1" hangingPunct="1">
              <a:buFontTx/>
              <a:buNone/>
            </a:pPr>
            <a:r>
              <a:rPr lang="en-US" altLang="zh-CN" sz="2200" b="1" dirty="0">
                <a:solidFill>
                  <a:srgbClr val="0000FF"/>
                </a:solidFill>
              </a:rPr>
              <a:t>{</a:t>
            </a:r>
          </a:p>
          <a:p>
            <a:pPr eaLnBrk="1" hangingPunct="1">
              <a:buFontTx/>
              <a:buNone/>
            </a:pPr>
            <a:r>
              <a:rPr lang="en-US" altLang="zh-CN" sz="2200" b="1" dirty="0">
                <a:solidFill>
                  <a:srgbClr val="0000FF"/>
                </a:solidFill>
              </a:rPr>
              <a:t>	struct </a:t>
            </a:r>
            <a:r>
              <a:rPr lang="en-US" altLang="zh-CN" sz="2200" b="1" dirty="0" err="1">
                <a:solidFill>
                  <a:srgbClr val="0000FF"/>
                </a:solidFill>
              </a:rPr>
              <a:t>colornode</a:t>
            </a:r>
            <a:r>
              <a:rPr lang="en-US" altLang="zh-CN" sz="2200" b="1" dirty="0">
                <a:solidFill>
                  <a:srgbClr val="0000FF"/>
                </a:solidFill>
              </a:rPr>
              <a:t> v;</a:t>
            </a:r>
          </a:p>
          <a:p>
            <a:pPr eaLnBrk="1" hangingPunct="1">
              <a:buFontTx/>
              <a:buNone/>
            </a:pPr>
            <a:r>
              <a:rPr lang="en-US" altLang="zh-CN" sz="2200" b="1" dirty="0">
                <a:solidFill>
                  <a:srgbClr val="0000FF"/>
                </a:solidFill>
              </a:rPr>
              <a:t>	v=u;</a:t>
            </a:r>
          </a:p>
          <a:p>
            <a:pPr eaLnBrk="1" hangingPunct="1">
              <a:buFontTx/>
              <a:buNone/>
            </a:pPr>
            <a:r>
              <a:rPr lang="en-US" altLang="zh-CN" sz="2200" b="1" dirty="0">
                <a:solidFill>
                  <a:srgbClr val="0000FF"/>
                </a:solidFill>
              </a:rPr>
              <a:t>	</a:t>
            </a:r>
            <a:r>
              <a:rPr lang="en-US" altLang="zh-CN" sz="2200" b="1" dirty="0" err="1">
                <a:solidFill>
                  <a:srgbClr val="0000FF"/>
                </a:solidFill>
              </a:rPr>
              <a:t>v.direction</a:t>
            </a:r>
            <a:r>
              <a:rPr lang="en-US" altLang="zh-CN" sz="2200" b="1" dirty="0">
                <a:solidFill>
                  <a:srgbClr val="0000FF"/>
                </a:solidFill>
              </a:rPr>
              <a:t>=(v.direction+1)%4;</a:t>
            </a:r>
          </a:p>
          <a:p>
            <a:pPr eaLnBrk="1" hangingPunct="1">
              <a:buFontTx/>
              <a:buNone/>
            </a:pPr>
            <a:r>
              <a:rPr lang="en-US" altLang="zh-CN" sz="2200" b="1" dirty="0">
                <a:solidFill>
                  <a:srgbClr val="0000FF"/>
                </a:solidFill>
              </a:rPr>
              <a:t>	</a:t>
            </a:r>
            <a:r>
              <a:rPr lang="en-US" altLang="zh-CN" sz="2200" b="1" dirty="0" err="1">
                <a:solidFill>
                  <a:srgbClr val="0000FF"/>
                </a:solidFill>
              </a:rPr>
              <a:t>v.num</a:t>
            </a:r>
            <a:r>
              <a:rPr lang="en-US" altLang="zh-CN" sz="2200" b="1" dirty="0">
                <a:solidFill>
                  <a:srgbClr val="0000FF"/>
                </a:solidFill>
              </a:rPr>
              <a:t>=v.num+1;</a:t>
            </a:r>
          </a:p>
          <a:p>
            <a:pPr eaLnBrk="1" hangingPunct="1">
              <a:buFontTx/>
              <a:buNone/>
            </a:pPr>
            <a:r>
              <a:rPr lang="en-US" altLang="zh-CN" sz="2200" b="1" dirty="0">
                <a:solidFill>
                  <a:srgbClr val="0000FF"/>
                </a:solidFill>
              </a:rPr>
              <a:t>	return(v);</a:t>
            </a:r>
          </a:p>
          <a:p>
            <a:pPr eaLnBrk="1" hangingPunct="1">
              <a:buFontTx/>
              <a:buNone/>
            </a:pPr>
            <a:r>
              <a:rPr lang="en-US" altLang="zh-CN" sz="2200" b="1" dirty="0">
                <a:solidFill>
                  <a:srgbClr val="0000FF"/>
                </a:solidFill>
              </a:rPr>
              <a:t>}</a:t>
            </a:r>
          </a:p>
        </p:txBody>
      </p:sp>
      <p:sp>
        <p:nvSpPr>
          <p:cNvPr id="2" name="Rectangle 3">
            <a:extLst>
              <a:ext uri="{FF2B5EF4-FFF2-40B4-BE49-F238E27FC236}">
                <a16:creationId xmlns:a16="http://schemas.microsoft.com/office/drawing/2014/main" id="{54394BD3-BED5-4C98-D00E-051A40A26DB5}"/>
              </a:ext>
            </a:extLst>
          </p:cNvPr>
          <p:cNvSpPr txBox="1">
            <a:spLocks noChangeArrowheads="1"/>
          </p:cNvSpPr>
          <p:nvPr/>
        </p:nvSpPr>
        <p:spPr>
          <a:xfrm>
            <a:off x="6311230" y="1134159"/>
            <a:ext cx="5688632" cy="4752528"/>
          </a:xfrm>
          <a:prstGeom prst="rect">
            <a:avLst/>
          </a:prstGeom>
          <a:ln w="15875">
            <a:solidFill>
              <a:schemeClr val="accent6"/>
            </a:solidFill>
          </a:ln>
        </p:spPr>
        <p:txBody>
          <a:bodyPr vert="horz">
            <a:normAutofit/>
          </a:bodyPr>
          <a:lstStyle>
            <a:lvl1pPr marL="342866" indent="-342866"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876" indent="-285721"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2886" indent="-228577"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040" indent="-228577"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194"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349"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503" indent="-228577"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8657" indent="-228577"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811" indent="-228577"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pPr defTabSz="914400" fontAlgn="auto">
              <a:spcAft>
                <a:spcPts val="0"/>
              </a:spcAft>
              <a:buFontTx/>
              <a:buNone/>
            </a:pPr>
            <a:r>
              <a:rPr lang="en-US" altLang="zh-CN" sz="2200" b="1" dirty="0">
                <a:solidFill>
                  <a:srgbClr val="0000FF"/>
                </a:solidFill>
              </a:rPr>
              <a:t>struct </a:t>
            </a:r>
            <a:r>
              <a:rPr lang="en-US" altLang="zh-CN" sz="2200" b="1" dirty="0" err="1">
                <a:solidFill>
                  <a:srgbClr val="0000FF"/>
                </a:solidFill>
              </a:rPr>
              <a:t>colornode</a:t>
            </a:r>
            <a:r>
              <a:rPr lang="en-US" altLang="zh-CN" sz="2200" b="1" dirty="0">
                <a:solidFill>
                  <a:srgbClr val="0000FF"/>
                </a:solidFill>
              </a:rPr>
              <a:t> </a:t>
            </a:r>
            <a:r>
              <a:rPr lang="en-US" altLang="zh-CN" sz="2200" b="1" dirty="0" err="1">
                <a:solidFill>
                  <a:srgbClr val="0000FF"/>
                </a:solidFill>
              </a:rPr>
              <a:t>turntoright</a:t>
            </a:r>
            <a:r>
              <a:rPr lang="en-US" altLang="zh-CN" sz="2200" b="1" dirty="0">
                <a:solidFill>
                  <a:srgbClr val="0000FF"/>
                </a:solidFill>
              </a:rPr>
              <a:t>(struct </a:t>
            </a:r>
            <a:r>
              <a:rPr lang="en-US" altLang="zh-CN" sz="2200" b="1" dirty="0" err="1">
                <a:solidFill>
                  <a:srgbClr val="0000FF"/>
                </a:solidFill>
              </a:rPr>
              <a:t>colornode</a:t>
            </a:r>
            <a:r>
              <a:rPr lang="en-US" altLang="zh-CN" sz="2200" b="1" dirty="0">
                <a:solidFill>
                  <a:srgbClr val="0000FF"/>
                </a:solidFill>
              </a:rPr>
              <a:t> u)     </a:t>
            </a:r>
          </a:p>
          <a:p>
            <a:pPr defTabSz="914400" fontAlgn="auto">
              <a:spcAft>
                <a:spcPts val="0"/>
              </a:spcAft>
              <a:buFontTx/>
              <a:buNone/>
            </a:pPr>
            <a:r>
              <a:rPr lang="en-US" altLang="zh-CN" sz="2200" b="1" dirty="0">
                <a:solidFill>
                  <a:srgbClr val="0000FF"/>
                </a:solidFill>
              </a:rPr>
              <a:t>//u</a:t>
            </a:r>
            <a:r>
              <a:rPr lang="zh-CN" altLang="en-US" sz="2200" b="1" dirty="0">
                <a:solidFill>
                  <a:srgbClr val="0000FF"/>
                </a:solidFill>
              </a:rPr>
              <a:t>向右转得到新结点</a:t>
            </a:r>
            <a:r>
              <a:rPr lang="en-US" altLang="zh-CN" sz="2200" b="1" dirty="0">
                <a:solidFill>
                  <a:srgbClr val="0000FF"/>
                </a:solidFill>
              </a:rPr>
              <a:t>v</a:t>
            </a:r>
          </a:p>
          <a:p>
            <a:pPr defTabSz="914400" fontAlgn="auto">
              <a:spcAft>
                <a:spcPts val="0"/>
              </a:spcAft>
              <a:buFontTx/>
              <a:buNone/>
            </a:pPr>
            <a:r>
              <a:rPr lang="en-US" altLang="zh-CN" sz="2200" b="1" dirty="0">
                <a:solidFill>
                  <a:srgbClr val="0000FF"/>
                </a:solidFill>
              </a:rPr>
              <a:t>{</a:t>
            </a:r>
          </a:p>
          <a:p>
            <a:pPr defTabSz="914400" fontAlgn="auto">
              <a:spcAft>
                <a:spcPts val="0"/>
              </a:spcAft>
              <a:buFontTx/>
              <a:buNone/>
            </a:pPr>
            <a:r>
              <a:rPr lang="en-US" altLang="zh-CN" sz="2200" b="1" dirty="0">
                <a:solidFill>
                  <a:srgbClr val="0000FF"/>
                </a:solidFill>
              </a:rPr>
              <a:t>	struct </a:t>
            </a:r>
            <a:r>
              <a:rPr lang="en-US" altLang="zh-CN" sz="2200" b="1" dirty="0" err="1">
                <a:solidFill>
                  <a:srgbClr val="0000FF"/>
                </a:solidFill>
              </a:rPr>
              <a:t>colornode</a:t>
            </a:r>
            <a:r>
              <a:rPr lang="en-US" altLang="zh-CN" sz="2200" b="1" dirty="0">
                <a:solidFill>
                  <a:srgbClr val="0000FF"/>
                </a:solidFill>
              </a:rPr>
              <a:t> v;</a:t>
            </a:r>
          </a:p>
          <a:p>
            <a:pPr defTabSz="914400" fontAlgn="auto">
              <a:spcAft>
                <a:spcPts val="0"/>
              </a:spcAft>
              <a:buFontTx/>
              <a:buNone/>
            </a:pPr>
            <a:r>
              <a:rPr lang="en-US" altLang="zh-CN" sz="2200" b="1" dirty="0">
                <a:solidFill>
                  <a:srgbClr val="0000FF"/>
                </a:solidFill>
              </a:rPr>
              <a:t>	v=u;</a:t>
            </a:r>
          </a:p>
          <a:p>
            <a:pPr defTabSz="914400" fontAlgn="auto">
              <a:spcAft>
                <a:spcPts val="0"/>
              </a:spcAft>
              <a:buFontTx/>
              <a:buNone/>
            </a:pPr>
            <a:r>
              <a:rPr lang="en-US" altLang="zh-CN" sz="2200" b="1" dirty="0">
                <a:solidFill>
                  <a:srgbClr val="0000FF"/>
                </a:solidFill>
              </a:rPr>
              <a:t>	</a:t>
            </a:r>
            <a:r>
              <a:rPr lang="en-US" altLang="zh-CN" sz="2200" b="1" dirty="0" err="1">
                <a:solidFill>
                  <a:srgbClr val="0000FF"/>
                </a:solidFill>
              </a:rPr>
              <a:t>v.direction</a:t>
            </a:r>
            <a:r>
              <a:rPr lang="en-US" altLang="zh-CN" sz="2200" b="1" dirty="0">
                <a:solidFill>
                  <a:srgbClr val="0000FF"/>
                </a:solidFill>
              </a:rPr>
              <a:t>=(v.direction+3)%4;</a:t>
            </a:r>
          </a:p>
          <a:p>
            <a:pPr defTabSz="914400" fontAlgn="auto">
              <a:spcAft>
                <a:spcPts val="0"/>
              </a:spcAft>
              <a:buFontTx/>
              <a:buNone/>
            </a:pPr>
            <a:r>
              <a:rPr lang="en-US" altLang="zh-CN" sz="2200" b="1" dirty="0">
                <a:solidFill>
                  <a:srgbClr val="0000FF"/>
                </a:solidFill>
              </a:rPr>
              <a:t>	</a:t>
            </a:r>
            <a:r>
              <a:rPr lang="en-US" altLang="zh-CN" sz="2200" b="1" dirty="0" err="1">
                <a:solidFill>
                  <a:srgbClr val="0000FF"/>
                </a:solidFill>
              </a:rPr>
              <a:t>v.num</a:t>
            </a:r>
            <a:r>
              <a:rPr lang="en-US" altLang="zh-CN" sz="2200" b="1" dirty="0">
                <a:solidFill>
                  <a:srgbClr val="0000FF"/>
                </a:solidFill>
              </a:rPr>
              <a:t>=v.num+1;</a:t>
            </a:r>
          </a:p>
          <a:p>
            <a:pPr defTabSz="914400" fontAlgn="auto">
              <a:spcAft>
                <a:spcPts val="0"/>
              </a:spcAft>
              <a:buFontTx/>
              <a:buNone/>
            </a:pPr>
            <a:r>
              <a:rPr lang="en-US" altLang="zh-CN" sz="2200" b="1" dirty="0">
                <a:solidFill>
                  <a:srgbClr val="0000FF"/>
                </a:solidFill>
              </a:rPr>
              <a:t>	return(v);</a:t>
            </a:r>
          </a:p>
          <a:p>
            <a:pPr defTabSz="914400" fontAlgn="auto">
              <a:spcAft>
                <a:spcPts val="0"/>
              </a:spcAft>
              <a:buFontTx/>
              <a:buNone/>
            </a:pPr>
            <a:r>
              <a:rPr lang="en-US" altLang="zh-CN" sz="2200" b="1" dirty="0">
                <a:solidFill>
                  <a:srgbClr val="0000FF"/>
                </a:solidFill>
              </a:rPr>
              <a:t>}</a:t>
            </a:r>
          </a:p>
        </p:txBody>
      </p:sp>
    </p:spTree>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3250" name="Rectangle 3">
            <a:extLst>
              <a:ext uri="{FF2B5EF4-FFF2-40B4-BE49-F238E27FC236}">
                <a16:creationId xmlns:a16="http://schemas.microsoft.com/office/drawing/2014/main" id="{56789442-DC23-AB92-CD72-1E11865B25BA}"/>
              </a:ext>
            </a:extLst>
          </p:cNvPr>
          <p:cNvSpPr>
            <a:spLocks noGrp="1" noChangeArrowheads="1"/>
          </p:cNvSpPr>
          <p:nvPr>
            <p:ph type="body" idx="4294967295"/>
          </p:nvPr>
        </p:nvSpPr>
        <p:spPr>
          <a:xfrm>
            <a:off x="838622" y="1125538"/>
            <a:ext cx="5807174" cy="5043488"/>
          </a:xfrm>
        </p:spPr>
        <p:txBody>
          <a:bodyPr>
            <a:normAutofit/>
          </a:bodyPr>
          <a:lstStyle/>
          <a:p>
            <a:pPr eaLnBrk="1" hangingPunct="1">
              <a:buFontTx/>
              <a:buNone/>
            </a:pPr>
            <a:r>
              <a:rPr lang="en-US" altLang="zh-CN" sz="2200" b="1" dirty="0">
                <a:solidFill>
                  <a:srgbClr val="0000FF"/>
                </a:solidFill>
              </a:rPr>
              <a:t>struct </a:t>
            </a:r>
            <a:r>
              <a:rPr lang="en-US" altLang="zh-CN" sz="2200" b="1" dirty="0" err="1">
                <a:solidFill>
                  <a:srgbClr val="0000FF"/>
                </a:solidFill>
              </a:rPr>
              <a:t>colornode</a:t>
            </a:r>
            <a:r>
              <a:rPr lang="en-US" altLang="zh-CN" sz="2200" b="1" dirty="0">
                <a:solidFill>
                  <a:srgbClr val="0000FF"/>
                </a:solidFill>
              </a:rPr>
              <a:t> </a:t>
            </a:r>
            <a:r>
              <a:rPr lang="en-US" altLang="zh-CN" sz="2200" b="1" dirty="0" err="1">
                <a:solidFill>
                  <a:srgbClr val="0000FF"/>
                </a:solidFill>
              </a:rPr>
              <a:t>turntoright</a:t>
            </a:r>
            <a:r>
              <a:rPr lang="en-US" altLang="zh-CN" sz="2200" b="1" dirty="0">
                <a:solidFill>
                  <a:srgbClr val="0000FF"/>
                </a:solidFill>
              </a:rPr>
              <a:t>(struct </a:t>
            </a:r>
            <a:r>
              <a:rPr lang="en-US" altLang="zh-CN" sz="2200" b="1" dirty="0" err="1">
                <a:solidFill>
                  <a:srgbClr val="0000FF"/>
                </a:solidFill>
              </a:rPr>
              <a:t>colornode</a:t>
            </a:r>
            <a:r>
              <a:rPr lang="en-US" altLang="zh-CN" sz="2200" b="1" dirty="0">
                <a:solidFill>
                  <a:srgbClr val="0000FF"/>
                </a:solidFill>
              </a:rPr>
              <a:t> u)     </a:t>
            </a:r>
          </a:p>
          <a:p>
            <a:pPr eaLnBrk="1" hangingPunct="1">
              <a:buFontTx/>
              <a:buNone/>
            </a:pPr>
            <a:r>
              <a:rPr lang="en-US" altLang="zh-CN" sz="2200" b="1" dirty="0">
                <a:solidFill>
                  <a:srgbClr val="0000FF"/>
                </a:solidFill>
              </a:rPr>
              <a:t>//u</a:t>
            </a:r>
            <a:r>
              <a:rPr lang="zh-CN" altLang="en-US" sz="2200" b="1" dirty="0">
                <a:solidFill>
                  <a:srgbClr val="0000FF"/>
                </a:solidFill>
              </a:rPr>
              <a:t>向右转得到新结点</a:t>
            </a:r>
            <a:r>
              <a:rPr lang="en-US" altLang="zh-CN" sz="2200" b="1" dirty="0">
                <a:solidFill>
                  <a:srgbClr val="0000FF"/>
                </a:solidFill>
              </a:rPr>
              <a:t>v</a:t>
            </a:r>
          </a:p>
          <a:p>
            <a:pPr eaLnBrk="1" hangingPunct="1">
              <a:buFontTx/>
              <a:buNone/>
            </a:pPr>
            <a:r>
              <a:rPr lang="en-US" altLang="zh-CN" sz="2200" b="1" dirty="0">
                <a:solidFill>
                  <a:srgbClr val="0000FF"/>
                </a:solidFill>
              </a:rPr>
              <a:t>{</a:t>
            </a:r>
          </a:p>
          <a:p>
            <a:pPr eaLnBrk="1" hangingPunct="1">
              <a:buFontTx/>
              <a:buNone/>
            </a:pPr>
            <a:r>
              <a:rPr lang="en-US" altLang="zh-CN" sz="2200" b="1" dirty="0">
                <a:solidFill>
                  <a:srgbClr val="0000FF"/>
                </a:solidFill>
              </a:rPr>
              <a:t>	struct </a:t>
            </a:r>
            <a:r>
              <a:rPr lang="en-US" altLang="zh-CN" sz="2200" b="1" dirty="0" err="1">
                <a:solidFill>
                  <a:srgbClr val="0000FF"/>
                </a:solidFill>
              </a:rPr>
              <a:t>colornode</a:t>
            </a:r>
            <a:r>
              <a:rPr lang="en-US" altLang="zh-CN" sz="2200" b="1" dirty="0">
                <a:solidFill>
                  <a:srgbClr val="0000FF"/>
                </a:solidFill>
              </a:rPr>
              <a:t> v;</a:t>
            </a:r>
          </a:p>
          <a:p>
            <a:pPr eaLnBrk="1" hangingPunct="1">
              <a:buFontTx/>
              <a:buNone/>
            </a:pPr>
            <a:r>
              <a:rPr lang="en-US" altLang="zh-CN" sz="2200" b="1" dirty="0">
                <a:solidFill>
                  <a:srgbClr val="0000FF"/>
                </a:solidFill>
              </a:rPr>
              <a:t>	v=u;</a:t>
            </a:r>
          </a:p>
          <a:p>
            <a:pPr eaLnBrk="1" hangingPunct="1">
              <a:buFontTx/>
              <a:buNone/>
            </a:pPr>
            <a:r>
              <a:rPr lang="en-US" altLang="zh-CN" sz="2200" b="1" dirty="0">
                <a:solidFill>
                  <a:srgbClr val="0000FF"/>
                </a:solidFill>
              </a:rPr>
              <a:t>	</a:t>
            </a:r>
            <a:r>
              <a:rPr lang="en-US" altLang="zh-CN" sz="2200" b="1" dirty="0" err="1">
                <a:solidFill>
                  <a:srgbClr val="0000FF"/>
                </a:solidFill>
              </a:rPr>
              <a:t>v.direction</a:t>
            </a:r>
            <a:r>
              <a:rPr lang="en-US" altLang="zh-CN" sz="2200" b="1" dirty="0">
                <a:solidFill>
                  <a:srgbClr val="0000FF"/>
                </a:solidFill>
              </a:rPr>
              <a:t>=(v.direction+3)%4;</a:t>
            </a:r>
          </a:p>
          <a:p>
            <a:pPr eaLnBrk="1" hangingPunct="1">
              <a:buFontTx/>
              <a:buNone/>
            </a:pPr>
            <a:r>
              <a:rPr lang="en-US" altLang="zh-CN" sz="2200" b="1" dirty="0">
                <a:solidFill>
                  <a:srgbClr val="0000FF"/>
                </a:solidFill>
              </a:rPr>
              <a:t>	</a:t>
            </a:r>
            <a:r>
              <a:rPr lang="en-US" altLang="zh-CN" sz="2200" b="1" dirty="0" err="1">
                <a:solidFill>
                  <a:srgbClr val="0000FF"/>
                </a:solidFill>
              </a:rPr>
              <a:t>v.num</a:t>
            </a:r>
            <a:r>
              <a:rPr lang="en-US" altLang="zh-CN" sz="2200" b="1" dirty="0">
                <a:solidFill>
                  <a:srgbClr val="0000FF"/>
                </a:solidFill>
              </a:rPr>
              <a:t>=v.num+1;</a:t>
            </a:r>
          </a:p>
          <a:p>
            <a:pPr eaLnBrk="1" hangingPunct="1">
              <a:buFontTx/>
              <a:buNone/>
            </a:pPr>
            <a:r>
              <a:rPr lang="en-US" altLang="zh-CN" sz="2200" b="1" dirty="0">
                <a:solidFill>
                  <a:srgbClr val="0000FF"/>
                </a:solidFill>
              </a:rPr>
              <a:t>	return(v);</a:t>
            </a:r>
          </a:p>
          <a:p>
            <a:pPr eaLnBrk="1" hangingPunct="1">
              <a:buFontTx/>
              <a:buNone/>
            </a:pPr>
            <a:r>
              <a:rPr lang="en-US" altLang="zh-CN" sz="2200" b="1" dirty="0">
                <a:solidFill>
                  <a:srgbClr val="0000FF"/>
                </a:solidFill>
              </a:rPr>
              <a:t>}</a:t>
            </a:r>
          </a:p>
        </p:txBody>
      </p:sp>
    </p:spTree>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54274" name="Rectangle 3">
            <a:extLst>
              <a:ext uri="{FF2B5EF4-FFF2-40B4-BE49-F238E27FC236}">
                <a16:creationId xmlns:a16="http://schemas.microsoft.com/office/drawing/2014/main" id="{01006A55-A418-DDE9-A7B3-D3D61CFA029F}"/>
              </a:ext>
            </a:extLst>
          </p:cNvPr>
          <p:cNvSpPr>
            <a:spLocks noGrp="1" noChangeArrowheads="1"/>
          </p:cNvSpPr>
          <p:nvPr>
            <p:ph type="body" idx="4294967295"/>
          </p:nvPr>
        </p:nvSpPr>
        <p:spPr>
          <a:xfrm>
            <a:off x="478582" y="1197546"/>
            <a:ext cx="8712968" cy="5259388"/>
          </a:xfrm>
        </p:spPr>
        <p:txBody>
          <a:bodyPr/>
          <a:lstStyle/>
          <a:p>
            <a:pPr eaLnBrk="1" hangingPunct="1"/>
            <a:r>
              <a:rPr lang="zh-CN" altLang="en-US" sz="2300" b="1" dirty="0">
                <a:solidFill>
                  <a:srgbClr val="0000FF"/>
                </a:solidFill>
                <a:latin typeface="华文楷体" panose="02010600040101010101" pitchFamily="2" charset="-122"/>
                <a:ea typeface="华文楷体" panose="02010600040101010101" pitchFamily="2" charset="-122"/>
              </a:rPr>
              <a:t>分油问题</a:t>
            </a:r>
          </a:p>
          <a:p>
            <a:pPr eaLnBrk="1" hangingPunct="1">
              <a:lnSpc>
                <a:spcPct val="100000"/>
              </a:lnSpc>
              <a:buFontTx/>
              <a:buNone/>
            </a:pPr>
            <a:r>
              <a:rPr lang="zh-CN" altLang="en-US" sz="2300" b="1" dirty="0">
                <a:solidFill>
                  <a:srgbClr val="0000FF"/>
                </a:solidFill>
                <a:latin typeface="华文楷体" panose="02010600040101010101" pitchFamily="2" charset="-122"/>
                <a:ea typeface="华文楷体" panose="02010600040101010101" pitchFamily="2" charset="-122"/>
              </a:rPr>
              <a:t>一个</a:t>
            </a:r>
            <a:r>
              <a:rPr lang="en-US" altLang="zh-CN" sz="2300" b="1" dirty="0">
                <a:solidFill>
                  <a:srgbClr val="0000FF"/>
                </a:solidFill>
                <a:latin typeface="华文楷体" panose="02010600040101010101" pitchFamily="2" charset="-122"/>
                <a:ea typeface="华文楷体" panose="02010600040101010101" pitchFamily="2" charset="-122"/>
              </a:rPr>
              <a:t>1</a:t>
            </a:r>
            <a:r>
              <a:rPr lang="zh-CN" altLang="en-US" sz="2300" b="1" dirty="0">
                <a:solidFill>
                  <a:srgbClr val="0000FF"/>
                </a:solidFill>
                <a:latin typeface="华文楷体" panose="02010600040101010101" pitchFamily="2" charset="-122"/>
                <a:ea typeface="华文楷体" panose="02010600040101010101" pitchFamily="2" charset="-122"/>
              </a:rPr>
              <a:t>斤的油瓶内装满了油。有两个空瓶，容量分别是</a:t>
            </a:r>
            <a:r>
              <a:rPr lang="en-US" altLang="zh-CN" sz="2300" b="1" dirty="0">
                <a:solidFill>
                  <a:srgbClr val="0000FF"/>
                </a:solidFill>
                <a:latin typeface="华文楷体" panose="02010600040101010101" pitchFamily="2" charset="-122"/>
                <a:ea typeface="华文楷体" panose="02010600040101010101" pitchFamily="2" charset="-122"/>
              </a:rPr>
              <a:t>7</a:t>
            </a:r>
            <a:r>
              <a:rPr lang="zh-CN" altLang="en-US" sz="2300" b="1" dirty="0">
                <a:solidFill>
                  <a:srgbClr val="0000FF"/>
                </a:solidFill>
                <a:latin typeface="华文楷体" panose="02010600040101010101" pitchFamily="2" charset="-122"/>
                <a:ea typeface="华文楷体" panose="02010600040101010101" pitchFamily="2" charset="-122"/>
              </a:rPr>
              <a:t>两和</a:t>
            </a:r>
            <a:r>
              <a:rPr lang="en-US" altLang="zh-CN" sz="2300" b="1" dirty="0">
                <a:solidFill>
                  <a:srgbClr val="0000FF"/>
                </a:solidFill>
                <a:latin typeface="华文楷体" panose="02010600040101010101" pitchFamily="2" charset="-122"/>
                <a:ea typeface="华文楷体" panose="02010600040101010101" pitchFamily="2" charset="-122"/>
              </a:rPr>
              <a:t>3</a:t>
            </a:r>
            <a:r>
              <a:rPr lang="zh-CN" altLang="en-US" sz="2300" b="1" dirty="0">
                <a:solidFill>
                  <a:srgbClr val="0000FF"/>
                </a:solidFill>
                <a:latin typeface="华文楷体" panose="02010600040101010101" pitchFamily="2" charset="-122"/>
                <a:ea typeface="华文楷体" panose="02010600040101010101" pitchFamily="2" charset="-122"/>
              </a:rPr>
              <a:t>两。</a:t>
            </a:r>
            <a:endParaRPr lang="en-US" altLang="zh-CN" sz="2300" b="1" dirty="0">
              <a:solidFill>
                <a:srgbClr val="0000FF"/>
              </a:solidFill>
              <a:latin typeface="华文楷体" panose="02010600040101010101" pitchFamily="2" charset="-122"/>
              <a:ea typeface="华文楷体" panose="02010600040101010101" pitchFamily="2" charset="-122"/>
            </a:endParaRPr>
          </a:p>
          <a:p>
            <a:pPr eaLnBrk="1" hangingPunct="1">
              <a:lnSpc>
                <a:spcPct val="100000"/>
              </a:lnSpc>
              <a:buFontTx/>
              <a:buNone/>
            </a:pPr>
            <a:r>
              <a:rPr lang="zh-CN" altLang="en-US" sz="2300" b="1" dirty="0">
                <a:solidFill>
                  <a:srgbClr val="0000FF"/>
                </a:solidFill>
                <a:latin typeface="华文楷体" panose="02010600040101010101" pitchFamily="2" charset="-122"/>
                <a:ea typeface="华文楷体" panose="02010600040101010101" pitchFamily="2" charset="-122"/>
              </a:rPr>
              <a:t>要求在三个瓶子间进行倒油，使一斤油平分为两个五两。</a:t>
            </a:r>
          </a:p>
        </p:txBody>
      </p:sp>
      <p:sp>
        <p:nvSpPr>
          <p:cNvPr id="2" name="基础扎实 / Strong Preparation">
            <a:extLst>
              <a:ext uri="{FF2B5EF4-FFF2-40B4-BE49-F238E27FC236}">
                <a16:creationId xmlns:a16="http://schemas.microsoft.com/office/drawing/2014/main" id="{C1702473-D60B-A30F-4F6B-2D633B7C89CB}"/>
              </a:ext>
            </a:extLst>
          </p:cNvPr>
          <p:cNvSpPr txBox="1"/>
          <p:nvPr/>
        </p:nvSpPr>
        <p:spPr>
          <a:xfrm>
            <a:off x="2638822" y="344803"/>
            <a:ext cx="5870237" cy="561660"/>
          </a:xfrm>
          <a:prstGeom prst="rect">
            <a:avLst/>
          </a:prstGeom>
          <a:noFill/>
          <a:ln>
            <a:noFill/>
          </a:ln>
        </p:spPr>
        <p:txBody>
          <a:bodyPr wrap="square" lIns="68549" tIns="34274" rIns="68549" bIns="34274" rtlCol="0">
            <a:spAutoFit/>
          </a:bodyPr>
          <a:lstStyle/>
          <a:p>
            <a:pPr marL="0" marR="0" lvl="0" indent="0" algn="ctr" defTabSz="950595" rtl="0" eaLnBrk="1" fontAlgn="auto" latinLnBrk="0" hangingPunct="1">
              <a:lnSpc>
                <a:spcPct val="100000"/>
              </a:lnSpc>
              <a:spcBef>
                <a:spcPts val="0"/>
              </a:spcBef>
              <a:spcAft>
                <a:spcPts val="0"/>
              </a:spcAft>
              <a:buClr>
                <a:prstClr val="white"/>
              </a:buClr>
              <a:buSzTx/>
              <a:buFontTx/>
              <a:buNone/>
              <a:tabLst/>
              <a:defRPr/>
            </a:pPr>
            <a:r>
              <a:rPr lang="en-US" altLang="zh-CN" sz="3200"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4</a:t>
            </a:r>
            <a:r>
              <a:rPr kumimoji="0" lang="zh-CN" altLang="en-US"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a:t>
            </a:r>
            <a:r>
              <a:rPr kumimoji="0" lang="en-US" altLang="zh-CN"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5</a:t>
            </a:r>
            <a:r>
              <a:rPr kumimoji="0" lang="zh-CN" altLang="en-US"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 </a:t>
            </a:r>
            <a:r>
              <a:rPr lang="zh-CN" altLang="en-US" sz="3200"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分油</a:t>
            </a:r>
            <a:r>
              <a:rPr kumimoji="0" lang="zh-CN" altLang="en-US"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问题</a:t>
            </a:r>
          </a:p>
        </p:txBody>
      </p:sp>
    </p:spTree>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55298" name="Rectangle 3">
            <a:extLst>
              <a:ext uri="{FF2B5EF4-FFF2-40B4-BE49-F238E27FC236}">
                <a16:creationId xmlns:a16="http://schemas.microsoft.com/office/drawing/2014/main" id="{97914D92-C1A4-823F-10ED-9121FCCB7085}"/>
              </a:ext>
            </a:extLst>
          </p:cNvPr>
          <p:cNvSpPr>
            <a:spLocks noGrp="1" noChangeArrowheads="1"/>
          </p:cNvSpPr>
          <p:nvPr>
            <p:ph type="body" idx="4294967295"/>
          </p:nvPr>
        </p:nvSpPr>
        <p:spPr>
          <a:xfrm>
            <a:off x="910630" y="1053530"/>
            <a:ext cx="9217024" cy="5330825"/>
          </a:xfrm>
        </p:spPr>
        <p:txBody>
          <a:bodyPr/>
          <a:lstStyle/>
          <a:p>
            <a:pPr eaLnBrk="1" hangingPunct="1">
              <a:lnSpc>
                <a:spcPct val="80000"/>
              </a:lnSpc>
            </a:pPr>
            <a:r>
              <a:rPr lang="zh-CN" altLang="en-US" sz="2300" b="1" dirty="0">
                <a:solidFill>
                  <a:srgbClr val="0000FF"/>
                </a:solidFill>
                <a:latin typeface="+mn-ea"/>
              </a:rPr>
              <a:t>算法描述</a:t>
            </a:r>
          </a:p>
          <a:p>
            <a:pPr eaLnBrk="1" hangingPunct="1">
              <a:lnSpc>
                <a:spcPct val="100000"/>
              </a:lnSpc>
              <a:buFontTx/>
              <a:buNone/>
            </a:pPr>
            <a:r>
              <a:rPr lang="en-US" altLang="zh-CN" sz="2300" b="1" dirty="0">
                <a:solidFill>
                  <a:srgbClr val="0000FF"/>
                </a:solidFill>
                <a:latin typeface="+mn-ea"/>
              </a:rPr>
              <a:t>1   </a:t>
            </a:r>
            <a:r>
              <a:rPr lang="zh-CN" altLang="en-US" sz="2300" b="1" dirty="0">
                <a:solidFill>
                  <a:srgbClr val="0000FF"/>
                </a:solidFill>
                <a:latin typeface="+mn-ea"/>
              </a:rPr>
              <a:t>建立一个队列，用来放入所有产生的新结点。其中记录每个状态三个瓶子里油量和每个结点，初试结点父节点置为</a:t>
            </a:r>
            <a:r>
              <a:rPr lang="en-US" altLang="zh-CN" sz="2300" b="1" dirty="0">
                <a:solidFill>
                  <a:srgbClr val="0000FF"/>
                </a:solidFill>
                <a:latin typeface="+mn-ea"/>
              </a:rPr>
              <a:t>-1 </a:t>
            </a:r>
            <a:r>
              <a:rPr lang="zh-CN" altLang="en-US" sz="2300" b="1" dirty="0">
                <a:solidFill>
                  <a:srgbClr val="0000FF"/>
                </a:solidFill>
                <a:latin typeface="+mn-ea"/>
              </a:rPr>
              <a:t>；</a:t>
            </a:r>
          </a:p>
          <a:p>
            <a:pPr eaLnBrk="1" hangingPunct="1">
              <a:lnSpc>
                <a:spcPct val="100000"/>
              </a:lnSpc>
              <a:buFontTx/>
              <a:buNone/>
            </a:pPr>
            <a:r>
              <a:rPr lang="en-US" altLang="zh-CN" sz="2300" b="1" dirty="0">
                <a:solidFill>
                  <a:srgbClr val="0000FF"/>
                </a:solidFill>
                <a:latin typeface="+mn-ea"/>
              </a:rPr>
              <a:t>2  </a:t>
            </a:r>
            <a:r>
              <a:rPr lang="zh-CN" altLang="en-US" sz="2300" b="1" dirty="0">
                <a:solidFill>
                  <a:srgbClr val="0000FF"/>
                </a:solidFill>
                <a:latin typeface="+mn-ea"/>
              </a:rPr>
              <a:t>建立一个链表，用来放入已产生的结点，用来与新状态比较，只需要比较前两个瓶子里的油量即可。</a:t>
            </a:r>
          </a:p>
          <a:p>
            <a:pPr eaLnBrk="1" hangingPunct="1">
              <a:lnSpc>
                <a:spcPct val="100000"/>
              </a:lnSpc>
              <a:buFontTx/>
              <a:buNone/>
            </a:pPr>
            <a:r>
              <a:rPr lang="en-US" altLang="zh-CN" sz="2300" b="1" dirty="0">
                <a:solidFill>
                  <a:srgbClr val="0000FF"/>
                </a:solidFill>
                <a:latin typeface="+mn-ea"/>
              </a:rPr>
              <a:t>3  </a:t>
            </a:r>
            <a:r>
              <a:rPr lang="zh-CN" altLang="en-US" sz="2300" b="1" dirty="0">
                <a:solidFill>
                  <a:srgbClr val="0000FF"/>
                </a:solidFill>
                <a:latin typeface="+mn-ea"/>
              </a:rPr>
              <a:t>开始操作，看目前形成结点状态是不是最后要求的结果，是则停止搜索。</a:t>
            </a:r>
          </a:p>
          <a:p>
            <a:pPr eaLnBrk="1" hangingPunct="1">
              <a:lnSpc>
                <a:spcPct val="100000"/>
              </a:lnSpc>
              <a:buFontTx/>
              <a:buNone/>
            </a:pPr>
            <a:r>
              <a:rPr lang="en-US" altLang="zh-CN" sz="2300" b="1" dirty="0">
                <a:solidFill>
                  <a:srgbClr val="0000FF"/>
                </a:solidFill>
                <a:latin typeface="+mn-ea"/>
              </a:rPr>
              <a:t>4  </a:t>
            </a:r>
            <a:r>
              <a:rPr lang="zh-CN" altLang="en-US" sz="2300" b="1" dirty="0">
                <a:solidFill>
                  <a:srgbClr val="0000FF"/>
                </a:solidFill>
                <a:latin typeface="+mn-ea"/>
              </a:rPr>
              <a:t>如果不是最后结果，则按智能算子的规则求出新状态，并判断是不是新状态，如果是新状态，则在搜索队列和查找链表中分别加入该状态形成的结点。</a:t>
            </a:r>
          </a:p>
          <a:p>
            <a:pPr eaLnBrk="1" hangingPunct="1">
              <a:lnSpc>
                <a:spcPct val="100000"/>
              </a:lnSpc>
              <a:buFontTx/>
              <a:buNone/>
            </a:pPr>
            <a:r>
              <a:rPr lang="en-US" altLang="zh-CN" sz="2300" b="1" dirty="0">
                <a:solidFill>
                  <a:srgbClr val="0000FF"/>
                </a:solidFill>
                <a:latin typeface="+mn-ea"/>
              </a:rPr>
              <a:t>5  </a:t>
            </a:r>
            <a:r>
              <a:rPr lang="zh-CN" altLang="en-US" sz="2300" b="1" dirty="0">
                <a:solidFill>
                  <a:srgbClr val="0000FF"/>
                </a:solidFill>
                <a:latin typeface="+mn-ea"/>
              </a:rPr>
              <a:t>队列头结点出队，返回步骤</a:t>
            </a:r>
            <a:r>
              <a:rPr lang="en-US" altLang="zh-CN" sz="2300" b="1" dirty="0">
                <a:solidFill>
                  <a:srgbClr val="0000FF"/>
                </a:solidFill>
                <a:latin typeface="+mn-ea"/>
              </a:rPr>
              <a:t>3</a:t>
            </a:r>
            <a:r>
              <a:rPr lang="zh-CN" altLang="en-US" sz="2300" b="1" dirty="0">
                <a:solidFill>
                  <a:srgbClr val="0000FF"/>
                </a:solidFill>
                <a:latin typeface="+mn-ea"/>
              </a:rPr>
              <a:t>。</a:t>
            </a:r>
          </a:p>
        </p:txBody>
      </p:sp>
    </p:spTree>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56322" name="Rectangle 3">
            <a:extLst>
              <a:ext uri="{FF2B5EF4-FFF2-40B4-BE49-F238E27FC236}">
                <a16:creationId xmlns:a16="http://schemas.microsoft.com/office/drawing/2014/main" id="{CFF11E24-E70F-9E27-E1A1-5EA359AB0E15}"/>
              </a:ext>
            </a:extLst>
          </p:cNvPr>
          <p:cNvSpPr>
            <a:spLocks noGrp="1" noChangeArrowheads="1"/>
          </p:cNvSpPr>
          <p:nvPr>
            <p:ph type="body" idx="4294967295"/>
          </p:nvPr>
        </p:nvSpPr>
        <p:spPr>
          <a:xfrm>
            <a:off x="838622" y="1125538"/>
            <a:ext cx="8642350" cy="5259388"/>
          </a:xfrm>
        </p:spPr>
        <p:txBody>
          <a:bodyPr/>
          <a:lstStyle/>
          <a:p>
            <a:pPr marL="0" indent="0" eaLnBrk="1" hangingPunct="1">
              <a:lnSpc>
                <a:spcPct val="80000"/>
              </a:lnSpc>
            </a:pPr>
            <a:r>
              <a:rPr lang="zh-CN" altLang="en-US" sz="2300" b="1" dirty="0">
                <a:solidFill>
                  <a:srgbClr val="0000FF"/>
                </a:solidFill>
                <a:latin typeface="华文楷体" panose="02010600040101010101" pitchFamily="2" charset="-122"/>
                <a:ea typeface="华文楷体" panose="02010600040101010101" pitchFamily="2" charset="-122"/>
              </a:rPr>
              <a:t>问题分析：</a:t>
            </a:r>
          </a:p>
          <a:p>
            <a:pPr marL="0" indent="0" eaLnBrk="1" hangingPunct="1">
              <a:lnSpc>
                <a:spcPct val="100000"/>
              </a:lnSpc>
              <a:buFont typeface="Arial" panose="020B0604020202020204" pitchFamily="34" charset="0"/>
              <a:buNone/>
            </a:pPr>
            <a:r>
              <a:rPr lang="zh-CN" altLang="en-US" sz="2300" b="1" dirty="0">
                <a:solidFill>
                  <a:srgbClr val="0000FF"/>
                </a:solidFill>
                <a:latin typeface="华文楷体" panose="02010600040101010101" pitchFamily="2" charset="-122"/>
                <a:ea typeface="华文楷体" panose="02010600040101010101" pitchFamily="2" charset="-122"/>
              </a:rPr>
              <a:t>选择合适的数据结构表示问题状态 ，用队列和链表的结点来放置瓶内油量有关数据。</a:t>
            </a:r>
            <a:br>
              <a:rPr lang="zh-CN" altLang="en-US" sz="2300" b="1" dirty="0">
                <a:solidFill>
                  <a:srgbClr val="0000FF"/>
                </a:solidFill>
                <a:latin typeface="华文楷体" panose="02010600040101010101" pitchFamily="2" charset="-122"/>
                <a:ea typeface="华文楷体" panose="02010600040101010101" pitchFamily="2" charset="-122"/>
              </a:rPr>
            </a:br>
            <a:r>
              <a:rPr lang="zh-CN" altLang="en-US" sz="2300" b="1" dirty="0">
                <a:solidFill>
                  <a:srgbClr val="0000FF"/>
                </a:solidFill>
                <a:latin typeface="华文楷体" panose="02010600040101010101" pitchFamily="2" charset="-122"/>
                <a:ea typeface="华文楷体" panose="02010600040101010101" pitchFamily="2" charset="-122"/>
              </a:rPr>
              <a:t>如</a:t>
            </a:r>
            <a:endParaRPr lang="en-US" altLang="zh-CN" sz="2300" b="1" dirty="0">
              <a:solidFill>
                <a:srgbClr val="0000FF"/>
              </a:solidFill>
              <a:latin typeface="华文楷体" panose="02010600040101010101" pitchFamily="2" charset="-122"/>
              <a:ea typeface="华文楷体" panose="02010600040101010101" pitchFamily="2" charset="-122"/>
            </a:endParaRPr>
          </a:p>
          <a:p>
            <a:pPr marL="0" indent="0" eaLnBrk="1" hangingPunct="1">
              <a:lnSpc>
                <a:spcPct val="80000"/>
              </a:lnSpc>
              <a:buFont typeface="Arial" panose="020B0604020202020204" pitchFamily="34" charset="0"/>
              <a:buNone/>
            </a:pPr>
            <a:r>
              <a:rPr lang="fr-FR" altLang="zh-CN" sz="2300" b="1" dirty="0">
                <a:solidFill>
                  <a:srgbClr val="0000FF"/>
                </a:solidFill>
                <a:latin typeface="华文楷体" panose="02010600040101010101" pitchFamily="2" charset="-122"/>
                <a:ea typeface="华文楷体" panose="02010600040101010101" pitchFamily="2" charset="-122"/>
              </a:rPr>
              <a:t>struct node{</a:t>
            </a:r>
          </a:p>
          <a:p>
            <a:pPr marL="0" indent="0" eaLnBrk="1" hangingPunct="1">
              <a:lnSpc>
                <a:spcPct val="80000"/>
              </a:lnSpc>
              <a:buFont typeface="Arial" panose="020B0604020202020204" pitchFamily="34" charset="0"/>
              <a:buNone/>
            </a:pPr>
            <a:r>
              <a:rPr lang="fr-FR" altLang="zh-CN" sz="2300" b="1" dirty="0">
                <a:solidFill>
                  <a:srgbClr val="0000FF"/>
                </a:solidFill>
                <a:latin typeface="华文楷体" panose="02010600040101010101" pitchFamily="2" charset="-122"/>
                <a:ea typeface="华文楷体" panose="02010600040101010101" pitchFamily="2" charset="-122"/>
              </a:rPr>
              <a:t> int container1;</a:t>
            </a:r>
          </a:p>
          <a:p>
            <a:pPr marL="0" indent="0" eaLnBrk="1" hangingPunct="1">
              <a:lnSpc>
                <a:spcPct val="80000"/>
              </a:lnSpc>
              <a:buFont typeface="Arial" panose="020B0604020202020204" pitchFamily="34" charset="0"/>
              <a:buNone/>
            </a:pPr>
            <a:r>
              <a:rPr lang="fr-FR" altLang="zh-CN" sz="2300" b="1" dirty="0">
                <a:solidFill>
                  <a:srgbClr val="0000FF"/>
                </a:solidFill>
                <a:latin typeface="华文楷体" panose="02010600040101010101" pitchFamily="2" charset="-122"/>
                <a:ea typeface="华文楷体" panose="02010600040101010101" pitchFamily="2" charset="-122"/>
              </a:rPr>
              <a:t> int container2;</a:t>
            </a:r>
          </a:p>
          <a:p>
            <a:pPr marL="0" indent="0" eaLnBrk="1" hangingPunct="1">
              <a:lnSpc>
                <a:spcPct val="80000"/>
              </a:lnSpc>
              <a:buFont typeface="Arial" panose="020B0604020202020204" pitchFamily="34" charset="0"/>
              <a:buNone/>
            </a:pPr>
            <a:r>
              <a:rPr lang="fr-FR" altLang="zh-CN" sz="2300" b="1" dirty="0">
                <a:solidFill>
                  <a:srgbClr val="0000FF"/>
                </a:solidFill>
                <a:latin typeface="华文楷体" panose="02010600040101010101" pitchFamily="2" charset="-122"/>
                <a:ea typeface="华文楷体" panose="02010600040101010101" pitchFamily="2" charset="-122"/>
              </a:rPr>
              <a:t> int container3;</a:t>
            </a:r>
          </a:p>
          <a:p>
            <a:pPr marL="0" indent="0" eaLnBrk="1" hangingPunct="1">
              <a:lnSpc>
                <a:spcPct val="80000"/>
              </a:lnSpc>
              <a:buFont typeface="Arial" panose="020B0604020202020204" pitchFamily="34" charset="0"/>
              <a:buNone/>
            </a:pPr>
            <a:r>
              <a:rPr lang="fr-FR" altLang="zh-CN" sz="2300" b="1" dirty="0">
                <a:solidFill>
                  <a:srgbClr val="0000FF"/>
                </a:solidFill>
                <a:latin typeface="华文楷体" panose="02010600040101010101" pitchFamily="2" charset="-122"/>
                <a:ea typeface="华文楷体" panose="02010600040101010101" pitchFamily="2" charset="-122"/>
              </a:rPr>
              <a:t> int father;</a:t>
            </a:r>
          </a:p>
          <a:p>
            <a:pPr marL="0" indent="0" eaLnBrk="1" hangingPunct="1">
              <a:lnSpc>
                <a:spcPct val="80000"/>
              </a:lnSpc>
              <a:buFont typeface="Arial" panose="020B0604020202020204" pitchFamily="34" charset="0"/>
              <a:buNone/>
            </a:pPr>
            <a:r>
              <a:rPr lang="fr-FR" altLang="zh-CN" sz="2300" b="1" dirty="0">
                <a:solidFill>
                  <a:srgbClr val="0000FF"/>
                </a:solidFill>
                <a:latin typeface="华文楷体" panose="02010600040101010101" pitchFamily="2" charset="-122"/>
                <a:ea typeface="华文楷体" panose="02010600040101010101" pitchFamily="2" charset="-122"/>
              </a:rPr>
              <a:t>};</a:t>
            </a:r>
            <a:endParaRPr lang="en-US" altLang="zh-CN" sz="2300" b="1" dirty="0">
              <a:solidFill>
                <a:srgbClr val="0000FF"/>
              </a:solidFill>
              <a:latin typeface="华文楷体" panose="02010600040101010101" pitchFamily="2" charset="-122"/>
              <a:ea typeface="华文楷体" panose="02010600040101010101" pitchFamily="2" charset="-122"/>
            </a:endParaRPr>
          </a:p>
          <a:p>
            <a:pPr marL="0" indent="0" eaLnBrk="1" hangingPunct="1">
              <a:lnSpc>
                <a:spcPct val="100000"/>
              </a:lnSpc>
              <a:buFont typeface="Arial" panose="020B0604020202020204" pitchFamily="34" charset="0"/>
              <a:buNone/>
            </a:pPr>
            <a:r>
              <a:rPr lang="zh-CN" altLang="en-US" sz="2300" b="1" dirty="0">
                <a:solidFill>
                  <a:srgbClr val="0000FF"/>
                </a:solidFill>
                <a:latin typeface="华文楷体" panose="02010600040101010101" pitchFamily="2" charset="-122"/>
                <a:ea typeface="华文楷体" panose="02010600040101010101" pitchFamily="2" charset="-122"/>
              </a:rPr>
              <a:t>分析问题时可以把</a:t>
            </a:r>
            <a:r>
              <a:rPr lang="fr-FR" altLang="zh-CN" sz="2300" b="1" dirty="0">
                <a:solidFill>
                  <a:srgbClr val="0000FF"/>
                </a:solidFill>
                <a:latin typeface="华文楷体" panose="02010600040101010101" pitchFamily="2" charset="-122"/>
                <a:ea typeface="华文楷体" panose="02010600040101010101" pitchFamily="2" charset="-122"/>
              </a:rPr>
              <a:t>3</a:t>
            </a:r>
            <a:r>
              <a:rPr lang="zh-CN" altLang="en-US" sz="2300" b="1" dirty="0">
                <a:solidFill>
                  <a:srgbClr val="0000FF"/>
                </a:solidFill>
                <a:latin typeface="华文楷体" panose="02010600040101010101" pitchFamily="2" charset="-122"/>
                <a:ea typeface="华文楷体" panose="02010600040101010101" pitchFamily="2" charset="-122"/>
              </a:rPr>
              <a:t>个油瓶里的油量作为一个向量考虑</a:t>
            </a:r>
            <a:r>
              <a:rPr lang="zh-CN" altLang="fr-FR" sz="2300" b="1" dirty="0">
                <a:solidFill>
                  <a:srgbClr val="0000FF"/>
                </a:solidFill>
                <a:latin typeface="华文楷体" panose="02010600040101010101" pitchFamily="2" charset="-122"/>
                <a:ea typeface="华文楷体" panose="02010600040101010101" pitchFamily="2" charset="-122"/>
              </a:rPr>
              <a:t>：</a:t>
            </a:r>
            <a:br>
              <a:rPr lang="zh-CN" altLang="fr-FR" sz="2300" b="1" dirty="0">
                <a:solidFill>
                  <a:srgbClr val="0000FF"/>
                </a:solidFill>
                <a:latin typeface="华文楷体" panose="02010600040101010101" pitchFamily="2" charset="-122"/>
                <a:ea typeface="华文楷体" panose="02010600040101010101" pitchFamily="2" charset="-122"/>
              </a:rPr>
            </a:br>
            <a:r>
              <a:rPr lang="zh-CN" altLang="en-US" sz="2300" b="1" dirty="0">
                <a:solidFill>
                  <a:srgbClr val="0000FF"/>
                </a:solidFill>
                <a:latin typeface="华文楷体" panose="02010600040101010101" pitchFamily="2" charset="-122"/>
                <a:ea typeface="华文楷体" panose="02010600040101010101" pitchFamily="2" charset="-122"/>
              </a:rPr>
              <a:t>问题的起始状态</a:t>
            </a:r>
            <a:r>
              <a:rPr lang="zh-CN" altLang="fr-FR" sz="2300" b="1" dirty="0">
                <a:solidFill>
                  <a:srgbClr val="0000FF"/>
                </a:solidFill>
                <a:latin typeface="华文楷体" panose="02010600040101010101" pitchFamily="2" charset="-122"/>
                <a:ea typeface="华文楷体" panose="02010600040101010101" pitchFamily="2" charset="-122"/>
              </a:rPr>
              <a:t>：</a:t>
            </a:r>
            <a:r>
              <a:rPr lang="fr-FR" altLang="zh-CN" sz="2300" b="1" dirty="0">
                <a:solidFill>
                  <a:srgbClr val="0000FF"/>
                </a:solidFill>
                <a:latin typeface="华文楷体" panose="02010600040101010101" pitchFamily="2" charset="-122"/>
                <a:ea typeface="华文楷体" panose="02010600040101010101" pitchFamily="2" charset="-122"/>
              </a:rPr>
              <a:t>(10</a:t>
            </a:r>
            <a:r>
              <a:rPr lang="zh-CN" altLang="fr-FR" sz="2300" b="1" dirty="0">
                <a:solidFill>
                  <a:srgbClr val="0000FF"/>
                </a:solidFill>
                <a:latin typeface="华文楷体" panose="02010600040101010101" pitchFamily="2" charset="-122"/>
                <a:ea typeface="华文楷体" panose="02010600040101010101" pitchFamily="2" charset="-122"/>
              </a:rPr>
              <a:t>，</a:t>
            </a:r>
            <a:r>
              <a:rPr lang="fr-FR" altLang="zh-CN" sz="2300" b="1" dirty="0">
                <a:solidFill>
                  <a:srgbClr val="0000FF"/>
                </a:solidFill>
                <a:latin typeface="华文楷体" panose="02010600040101010101" pitchFamily="2" charset="-122"/>
                <a:ea typeface="华文楷体" panose="02010600040101010101" pitchFamily="2" charset="-122"/>
              </a:rPr>
              <a:t>0</a:t>
            </a:r>
            <a:r>
              <a:rPr lang="zh-CN" altLang="fr-FR" sz="2300" b="1" dirty="0">
                <a:solidFill>
                  <a:srgbClr val="0000FF"/>
                </a:solidFill>
                <a:latin typeface="华文楷体" panose="02010600040101010101" pitchFamily="2" charset="-122"/>
                <a:ea typeface="华文楷体" panose="02010600040101010101" pitchFamily="2" charset="-122"/>
              </a:rPr>
              <a:t>，</a:t>
            </a:r>
            <a:r>
              <a:rPr lang="fr-FR" altLang="zh-CN" sz="2300" b="1" dirty="0">
                <a:solidFill>
                  <a:srgbClr val="0000FF"/>
                </a:solidFill>
                <a:latin typeface="华文楷体" panose="02010600040101010101" pitchFamily="2" charset="-122"/>
                <a:ea typeface="华文楷体" panose="02010600040101010101" pitchFamily="2" charset="-122"/>
              </a:rPr>
              <a:t>0)</a:t>
            </a:r>
            <a:r>
              <a:rPr lang="zh-CN" altLang="en-US" sz="2300" b="1" dirty="0">
                <a:solidFill>
                  <a:srgbClr val="0000FF"/>
                </a:solidFill>
                <a:latin typeface="华文楷体" panose="02010600040101010101" pitchFamily="2" charset="-122"/>
                <a:ea typeface="华文楷体" panose="02010600040101010101" pitchFamily="2" charset="-122"/>
              </a:rPr>
              <a:t>。</a:t>
            </a:r>
            <a:r>
              <a:rPr lang="zh-CN" altLang="fr-FR" sz="2300" b="1" dirty="0">
                <a:solidFill>
                  <a:srgbClr val="0000FF"/>
                </a:solidFill>
                <a:latin typeface="华文楷体" panose="02010600040101010101" pitchFamily="2" charset="-122"/>
                <a:ea typeface="华文楷体" panose="02010600040101010101" pitchFamily="2" charset="-122"/>
              </a:rPr>
              <a:t> </a:t>
            </a:r>
            <a:r>
              <a:rPr lang="zh-CN" altLang="en-US" sz="2300" b="1" dirty="0">
                <a:solidFill>
                  <a:srgbClr val="0000FF"/>
                </a:solidFill>
                <a:latin typeface="华文楷体" panose="02010600040101010101" pitchFamily="2" charset="-122"/>
                <a:ea typeface="华文楷体" panose="02010600040101010101" pitchFamily="2" charset="-122"/>
              </a:rPr>
              <a:t>问题的目标状态： </a:t>
            </a:r>
            <a:r>
              <a:rPr lang="en-US" altLang="zh-CN" sz="2300" b="1" dirty="0">
                <a:solidFill>
                  <a:srgbClr val="0000FF"/>
                </a:solidFill>
                <a:latin typeface="华文楷体" panose="02010600040101010101" pitchFamily="2" charset="-122"/>
                <a:ea typeface="华文楷体" panose="02010600040101010101" pitchFamily="2" charset="-122"/>
              </a:rPr>
              <a:t>(5</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5</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0)</a:t>
            </a:r>
            <a:r>
              <a:rPr lang="zh-CN" altLang="en-US" sz="2300" b="1" dirty="0">
                <a:solidFill>
                  <a:srgbClr val="0000FF"/>
                </a:solidFill>
                <a:latin typeface="华文楷体" panose="02010600040101010101" pitchFamily="2" charset="-122"/>
                <a:ea typeface="华文楷体" panose="02010600040101010101" pitchFamily="2" charset="-122"/>
              </a:rPr>
              <a:t>。 </a:t>
            </a:r>
          </a:p>
        </p:txBody>
      </p:sp>
    </p:spTree>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57346" name="Rectangle 3">
            <a:extLst>
              <a:ext uri="{FF2B5EF4-FFF2-40B4-BE49-F238E27FC236}">
                <a16:creationId xmlns:a16="http://schemas.microsoft.com/office/drawing/2014/main" id="{6676041F-C296-D683-4819-FA972F6E744E}"/>
              </a:ext>
            </a:extLst>
          </p:cNvPr>
          <p:cNvSpPr>
            <a:spLocks noGrp="1" noChangeArrowheads="1"/>
          </p:cNvSpPr>
          <p:nvPr>
            <p:ph type="body" idx="4294967295"/>
          </p:nvPr>
        </p:nvSpPr>
        <p:spPr>
          <a:xfrm>
            <a:off x="838622" y="1269554"/>
            <a:ext cx="8424936" cy="3887788"/>
          </a:xfrm>
        </p:spPr>
        <p:txBody>
          <a:bodyPr/>
          <a:lstStyle/>
          <a:p>
            <a:pPr marL="0" indent="0" eaLnBrk="1" hangingPunct="1">
              <a:lnSpc>
                <a:spcPct val="100000"/>
              </a:lnSpc>
              <a:buFont typeface="Arial" panose="020B0604020202020204" pitchFamily="34" charset="0"/>
              <a:buNone/>
            </a:pPr>
            <a:r>
              <a:rPr lang="zh-CN" altLang="en-US" sz="2300" b="1" dirty="0">
                <a:solidFill>
                  <a:srgbClr val="0000FF"/>
                </a:solidFill>
                <a:latin typeface="华文楷体" panose="02010600040101010101" pitchFamily="2" charset="-122"/>
                <a:ea typeface="华文楷体" panose="02010600040101010101" pitchFamily="2" charset="-122"/>
              </a:rPr>
              <a:t>确定智能算子：用以表示变化状态的规则。由于总共油量为</a:t>
            </a:r>
            <a:r>
              <a:rPr lang="en-US" altLang="zh-CN" sz="2300" b="1" dirty="0">
                <a:solidFill>
                  <a:srgbClr val="0000FF"/>
                </a:solidFill>
                <a:latin typeface="华文楷体" panose="02010600040101010101" pitchFamily="2" charset="-122"/>
                <a:ea typeface="华文楷体" panose="02010600040101010101" pitchFamily="2" charset="-122"/>
              </a:rPr>
              <a:t>10</a:t>
            </a:r>
            <a:r>
              <a:rPr lang="zh-CN" altLang="en-US" sz="2300" b="1" dirty="0">
                <a:solidFill>
                  <a:srgbClr val="0000FF"/>
                </a:solidFill>
                <a:latin typeface="华文楷体" panose="02010600040101010101" pitchFamily="2" charset="-122"/>
                <a:ea typeface="华文楷体" panose="02010600040101010101" pitchFamily="2" charset="-122"/>
              </a:rPr>
              <a:t>两，而</a:t>
            </a:r>
            <a:r>
              <a:rPr lang="en-US" altLang="zh-CN" sz="2300" b="1" dirty="0">
                <a:solidFill>
                  <a:srgbClr val="0000FF"/>
                </a:solidFill>
                <a:latin typeface="华文楷体" panose="02010600040101010101" pitchFamily="2" charset="-122"/>
                <a:ea typeface="华文楷体" panose="02010600040101010101" pitchFamily="2" charset="-122"/>
              </a:rPr>
              <a:t>10</a:t>
            </a:r>
            <a:r>
              <a:rPr lang="zh-CN" altLang="en-US" sz="2300" b="1" dirty="0">
                <a:solidFill>
                  <a:srgbClr val="0000FF"/>
                </a:solidFill>
                <a:latin typeface="华文楷体" panose="02010600040101010101" pitchFamily="2" charset="-122"/>
                <a:ea typeface="华文楷体" panose="02010600040101010101" pitchFamily="2" charset="-122"/>
              </a:rPr>
              <a:t>两的瓶可以装满所有的油，因此在描述变化状态的时候只需给出</a:t>
            </a:r>
            <a:r>
              <a:rPr lang="en-US" altLang="zh-CN" sz="2300" b="1" dirty="0">
                <a:solidFill>
                  <a:srgbClr val="0000FF"/>
                </a:solidFill>
                <a:latin typeface="华文楷体" panose="02010600040101010101" pitchFamily="2" charset="-122"/>
                <a:ea typeface="华文楷体" panose="02010600040101010101" pitchFamily="2" charset="-122"/>
              </a:rPr>
              <a:t>10</a:t>
            </a:r>
            <a:r>
              <a:rPr lang="zh-CN" altLang="en-US" sz="2300" b="1" dirty="0">
                <a:solidFill>
                  <a:srgbClr val="0000FF"/>
                </a:solidFill>
                <a:latin typeface="华文楷体" panose="02010600040101010101" pitchFamily="2" charset="-122"/>
                <a:ea typeface="华文楷体" panose="02010600040101010101" pitchFamily="2" charset="-122"/>
              </a:rPr>
              <a:t>两瓶和</a:t>
            </a:r>
            <a:r>
              <a:rPr lang="en-US" altLang="zh-CN" sz="2300" b="1" dirty="0">
                <a:solidFill>
                  <a:srgbClr val="0000FF"/>
                </a:solidFill>
                <a:latin typeface="华文楷体" panose="02010600040101010101" pitchFamily="2" charset="-122"/>
                <a:ea typeface="华文楷体" panose="02010600040101010101" pitchFamily="2" charset="-122"/>
              </a:rPr>
              <a:t>7</a:t>
            </a:r>
            <a:r>
              <a:rPr lang="zh-CN" altLang="en-US" sz="2300" b="1" dirty="0">
                <a:solidFill>
                  <a:srgbClr val="0000FF"/>
                </a:solidFill>
                <a:latin typeface="华文楷体" panose="02010600040101010101" pitchFamily="2" charset="-122"/>
                <a:ea typeface="华文楷体" panose="02010600040101010101" pitchFamily="2" charset="-122"/>
              </a:rPr>
              <a:t>两瓶的油量即可，</a:t>
            </a:r>
            <a:r>
              <a:rPr lang="en-US" altLang="zh-CN" sz="2300" b="1" dirty="0">
                <a:solidFill>
                  <a:srgbClr val="0000FF"/>
                </a:solidFill>
                <a:latin typeface="华文楷体" panose="02010600040101010101" pitchFamily="2" charset="-122"/>
                <a:ea typeface="华文楷体" panose="02010600040101010101" pitchFamily="2" charset="-122"/>
              </a:rPr>
              <a:t>3</a:t>
            </a:r>
            <a:r>
              <a:rPr lang="zh-CN" altLang="en-US" sz="2300" b="1" dirty="0">
                <a:solidFill>
                  <a:srgbClr val="0000FF"/>
                </a:solidFill>
                <a:latin typeface="华文楷体" panose="02010600040101010101" pitchFamily="2" charset="-122"/>
                <a:ea typeface="华文楷体" panose="02010600040101010101" pitchFamily="2" charset="-122"/>
              </a:rPr>
              <a:t>两瓶的油量即为</a:t>
            </a:r>
            <a:r>
              <a:rPr lang="en-US" altLang="zh-CN" sz="2300" b="1" dirty="0">
                <a:solidFill>
                  <a:srgbClr val="0000FF"/>
                </a:solidFill>
                <a:latin typeface="华文楷体" panose="02010600040101010101" pitchFamily="2" charset="-122"/>
                <a:ea typeface="华文楷体" panose="02010600040101010101" pitchFamily="2" charset="-122"/>
              </a:rPr>
              <a:t>10</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10</a:t>
            </a:r>
            <a:r>
              <a:rPr lang="zh-CN" altLang="en-US" sz="2300" b="1" dirty="0">
                <a:solidFill>
                  <a:srgbClr val="0000FF"/>
                </a:solidFill>
                <a:latin typeface="华文楷体" panose="02010600040101010101" pitchFamily="2" charset="-122"/>
                <a:ea typeface="华文楷体" panose="02010600040101010101" pitchFamily="2" charset="-122"/>
              </a:rPr>
              <a:t>两瓶油量）</a:t>
            </a: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7</a:t>
            </a:r>
            <a:r>
              <a:rPr lang="zh-CN" altLang="en-US" sz="2300" b="1" dirty="0">
                <a:solidFill>
                  <a:srgbClr val="0000FF"/>
                </a:solidFill>
                <a:latin typeface="华文楷体" panose="02010600040101010101" pitchFamily="2" charset="-122"/>
                <a:ea typeface="华文楷体" panose="02010600040101010101" pitchFamily="2" charset="-122"/>
              </a:rPr>
              <a:t>两瓶油量）。在比较结点是否存在时只需比较两个大瓶，因此链表中采用只存储两个大瓶油量的方式。在广度搜索的队列和最后寻找目标结点所在路径时存储全部三个瓶子的油量。</a:t>
            </a:r>
          </a:p>
          <a:p>
            <a:pPr marL="0" indent="0" eaLnBrk="1" hangingPunct="1">
              <a:buFont typeface="Arial" panose="020B0604020202020204" pitchFamily="34" charset="0"/>
              <a:buNone/>
            </a:pPr>
            <a:endParaRPr lang="zh-CN" altLang="en-US" dirty="0"/>
          </a:p>
        </p:txBody>
      </p:sp>
    </p:spTree>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graphicFrame>
        <p:nvGraphicFramePr>
          <p:cNvPr id="123061" name="Group 181">
            <a:extLst>
              <a:ext uri="{FF2B5EF4-FFF2-40B4-BE49-F238E27FC236}">
                <a16:creationId xmlns:a16="http://schemas.microsoft.com/office/drawing/2014/main" id="{99EE3488-BA41-39A9-4276-884D8668B24B}"/>
              </a:ext>
            </a:extLst>
          </p:cNvPr>
          <p:cNvGraphicFramePr>
            <a:graphicFrameLocks noGrp="1"/>
          </p:cNvGraphicFramePr>
          <p:nvPr>
            <p:ph sz="half" idx="4294967295"/>
            <p:extLst>
              <p:ext uri="{D42A27DB-BD31-4B8C-83A1-F6EECF244321}">
                <p14:modId xmlns:p14="http://schemas.microsoft.com/office/powerpoint/2010/main" val="53953522"/>
              </p:ext>
            </p:extLst>
          </p:nvPr>
        </p:nvGraphicFramePr>
        <p:xfrm>
          <a:off x="1486694" y="394494"/>
          <a:ext cx="8496300" cy="6070600"/>
        </p:xfrm>
        <a:graphic>
          <a:graphicData uri="http://schemas.openxmlformats.org/drawingml/2006/table">
            <a:tbl>
              <a:tblPr/>
              <a:tblGrid>
                <a:gridCol w="1004888">
                  <a:extLst>
                    <a:ext uri="{9D8B030D-6E8A-4147-A177-3AD203B41FA5}">
                      <a16:colId xmlns:a16="http://schemas.microsoft.com/office/drawing/2014/main" val="20000"/>
                    </a:ext>
                  </a:extLst>
                </a:gridCol>
                <a:gridCol w="4659312">
                  <a:extLst>
                    <a:ext uri="{9D8B030D-6E8A-4147-A177-3AD203B41FA5}">
                      <a16:colId xmlns:a16="http://schemas.microsoft.com/office/drawing/2014/main" val="20001"/>
                    </a:ext>
                  </a:extLst>
                </a:gridCol>
                <a:gridCol w="2832100">
                  <a:extLst>
                    <a:ext uri="{9D8B030D-6E8A-4147-A177-3AD203B41FA5}">
                      <a16:colId xmlns:a16="http://schemas.microsoft.com/office/drawing/2014/main" val="20002"/>
                    </a:ext>
                  </a:extLst>
                </a:gridCol>
              </a:tblGrid>
              <a:tr h="4572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rPr>
                        <a:t>情况数</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rPr>
                        <a:t>条件和操作</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rPr>
                        <a:t>油量的改变</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0"/>
                  </a:ext>
                </a:extLst>
              </a:tr>
              <a:tr h="701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1</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两瓶中有油，全倒入</a:t>
                      </a: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10</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(B1,B2,B3)→(B1+B2,0,B3)</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1"/>
                  </a:ext>
                </a:extLst>
              </a:tr>
              <a:tr h="701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2</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两瓶中有油，全倒入</a:t>
                      </a: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10</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(B1,B2,B3)→(B1+B3, B2,0)</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2"/>
                  </a:ext>
                </a:extLst>
              </a:tr>
              <a:tr h="701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10</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两瓶向</a:t>
                      </a: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两瓶倒，其中</a:t>
                      </a: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两瓶和</a:t>
                      </a: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10</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两瓶中油加起来大于等于</a:t>
                      </a: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两（小于</a:t>
                      </a: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(B1,B2,B3)→(B1+B2-7, 7,B3)</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3"/>
                  </a:ext>
                </a:extLst>
              </a:tr>
              <a:tr h="701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4</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两瓶向</a:t>
                      </a: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两瓶倒，其中</a:t>
                      </a: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两瓶和</a:t>
                      </a: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两瓶中油加起来大于等于</a:t>
                      </a: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(B1,B2,B3)→(B1, 7,B2+B3-7)</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4"/>
                  </a:ext>
                </a:extLst>
              </a:tr>
              <a:tr h="701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5</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两瓶向</a:t>
                      </a: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两瓶倒，其中</a:t>
                      </a: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两瓶和</a:t>
                      </a: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两瓶中油加起来不大于</a:t>
                      </a: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r>
                        <a:rPr kumimoji="0"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(B1,B2,B3)→(B1, B2+B3,0)</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5"/>
                  </a:ext>
                </a:extLst>
              </a:tr>
              <a:tr h="701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6</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10</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两瓶向</a:t>
                      </a: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两瓶倒，其中</a:t>
                      </a: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10</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两瓶和</a:t>
                      </a: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两瓶中油加起来大于等于</a:t>
                      </a: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两（小于</a:t>
                      </a: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(B1,B2,B3)→(B1+B3-3, B2,3)</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6"/>
                  </a:ext>
                </a:extLst>
              </a:tr>
              <a:tr h="701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两瓶向</a:t>
                      </a: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两瓶倒，</a:t>
                      </a: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两瓶和</a:t>
                      </a: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两瓶中油加起来大于等于</a:t>
                      </a: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(B1,B2,B3)→(B1, B2+B3-3,3)</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7"/>
                  </a:ext>
                </a:extLst>
              </a:tr>
              <a:tr h="701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8</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两瓶向</a:t>
                      </a: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两瓶倒，</a:t>
                      </a: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7</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两瓶和</a:t>
                      </a: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两瓶中油加起来不大于</a:t>
                      </a:r>
                      <a:r>
                        <a:rPr kumimoji="0"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3</a:t>
                      </a:r>
                      <a:r>
                        <a:rPr kumimoji="0"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两</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pitchFamily="18" charset="0"/>
                        </a:rPr>
                        <a:t>(B1,B2,B3)→(B1,,0, B2+B3)</a:t>
                      </a:r>
                    </a:p>
                  </a:txBody>
                  <a:tcPr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8"/>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67E128F-D4B7-41A4-2797-793DA072B8B2}"/>
              </a:ext>
            </a:extLst>
          </p:cNvPr>
          <p:cNvSpPr>
            <a:spLocks noGrp="1" noChangeArrowheads="1"/>
          </p:cNvSpPr>
          <p:nvPr>
            <p:ph type="body" idx="4294967295"/>
          </p:nvPr>
        </p:nvSpPr>
        <p:spPr>
          <a:xfrm>
            <a:off x="981572" y="1091615"/>
            <a:ext cx="8352928" cy="3327400"/>
          </a:xfrm>
        </p:spPr>
        <p:txBody>
          <a:bodyPr/>
          <a:lstStyle/>
          <a:p>
            <a:pPr marL="0" indent="0" algn="just" eaLnBrk="1" hangingPunct="1">
              <a:lnSpc>
                <a:spcPct val="100000"/>
              </a:lnSpc>
              <a:buFont typeface="Arial" panose="020B0604020202020204" pitchFamily="34" charset="0"/>
              <a:buNone/>
            </a:pPr>
            <a:r>
              <a:rPr lang="zh-CN" altLang="en-US" sz="2300" b="1" dirty="0">
                <a:solidFill>
                  <a:srgbClr val="0000FF"/>
                </a:solidFill>
                <a:latin typeface="华文楷体" panose="02010600040101010101" pitchFamily="2" charset="-122"/>
                <a:ea typeface="华文楷体" panose="02010600040101010101" pitchFamily="2" charset="-122"/>
              </a:rPr>
              <a:t>用广度优先搜索策略解八数码难题。</a:t>
            </a:r>
          </a:p>
          <a:p>
            <a:pPr marL="0" indent="0" algn="just" eaLnBrk="1" hangingPunct="1">
              <a:lnSpc>
                <a:spcPct val="100000"/>
              </a:lnSpc>
              <a:buFont typeface="Arial" panose="020B0604020202020204" pitchFamily="34" charset="0"/>
              <a:buNone/>
            </a:pPr>
            <a:r>
              <a:rPr lang="zh-CN" altLang="en-US" sz="2300" b="1" dirty="0">
                <a:solidFill>
                  <a:srgbClr val="0000FF"/>
                </a:solidFill>
                <a:latin typeface="华文楷体" panose="02010600040101010101" pitchFamily="2" charset="-122"/>
                <a:ea typeface="华文楷体" panose="02010600040101010101" pitchFamily="2" charset="-122"/>
              </a:rPr>
              <a:t>由于把一个与空格相邻的数码移入空格，等价于把空格向数码方向移动一位。所以，该题中给出的数码走步规则也可以简化为：对空格可施行左移、右移、上移和下移等四种操作。</a:t>
            </a:r>
          </a:p>
          <a:p>
            <a:pPr marL="0" indent="0" algn="just" eaLnBrk="1" hangingPunct="1">
              <a:lnSpc>
                <a:spcPct val="100000"/>
              </a:lnSpc>
              <a:buFont typeface="Arial" panose="020B0604020202020204" pitchFamily="34" charset="0"/>
              <a:buNone/>
            </a:pPr>
            <a:r>
              <a:rPr lang="zh-CN" altLang="en-US" sz="2300" b="1" dirty="0">
                <a:solidFill>
                  <a:srgbClr val="0000FF"/>
                </a:solidFill>
                <a:latin typeface="华文楷体" panose="02010600040101010101" pitchFamily="2" charset="-122"/>
                <a:ea typeface="华文楷体" panose="02010600040101010101" pitchFamily="2" charset="-122"/>
              </a:rPr>
              <a:t>设初始节点</a:t>
            </a:r>
            <a:r>
              <a:rPr lang="en-US" altLang="zh-CN" sz="2300" b="1" dirty="0">
                <a:solidFill>
                  <a:srgbClr val="0000FF"/>
                </a:solidFill>
                <a:latin typeface="华文楷体" panose="02010600040101010101" pitchFamily="2" charset="-122"/>
                <a:ea typeface="华文楷体" panose="02010600040101010101" pitchFamily="2" charset="-122"/>
              </a:rPr>
              <a:t>S</a:t>
            </a:r>
            <a:r>
              <a:rPr lang="en-US" altLang="zh-CN" sz="2300" b="1" baseline="-25000" dirty="0">
                <a:solidFill>
                  <a:srgbClr val="0000FF"/>
                </a:solidFill>
                <a:latin typeface="华文楷体" panose="02010600040101010101" pitchFamily="2" charset="-122"/>
                <a:ea typeface="华文楷体" panose="02010600040101010101" pitchFamily="2" charset="-122"/>
              </a:rPr>
              <a:t>0</a:t>
            </a:r>
            <a:r>
              <a:rPr lang="zh-CN" altLang="en-US" sz="2300" b="1" dirty="0">
                <a:solidFill>
                  <a:srgbClr val="0000FF"/>
                </a:solidFill>
                <a:latin typeface="华文楷体" panose="02010600040101010101" pitchFamily="2" charset="-122"/>
                <a:ea typeface="华文楷体" panose="02010600040101010101" pitchFamily="2" charset="-122"/>
              </a:rPr>
              <a:t>和目标节点</a:t>
            </a:r>
            <a:r>
              <a:rPr lang="en-US" altLang="zh-CN" sz="2300" b="1" dirty="0">
                <a:solidFill>
                  <a:srgbClr val="0000FF"/>
                </a:solidFill>
                <a:latin typeface="华文楷体" panose="02010600040101010101" pitchFamily="2" charset="-122"/>
                <a:ea typeface="华文楷体" panose="02010600040101010101" pitchFamily="2" charset="-122"/>
              </a:rPr>
              <a:t>S</a:t>
            </a:r>
            <a:r>
              <a:rPr lang="en-US" altLang="zh-CN" sz="2300" b="1" baseline="-25000" dirty="0">
                <a:solidFill>
                  <a:srgbClr val="0000FF"/>
                </a:solidFill>
                <a:latin typeface="华文楷体" panose="02010600040101010101" pitchFamily="2" charset="-122"/>
                <a:ea typeface="华文楷体" panose="02010600040101010101" pitchFamily="2" charset="-122"/>
              </a:rPr>
              <a:t>g</a:t>
            </a:r>
            <a:r>
              <a:rPr lang="zh-CN" altLang="en-US" sz="2300" b="1" dirty="0">
                <a:solidFill>
                  <a:srgbClr val="0000FF"/>
                </a:solidFill>
                <a:latin typeface="华文楷体" panose="02010600040101010101" pitchFamily="2" charset="-122"/>
                <a:ea typeface="华文楷体" panose="02010600040101010101" pitchFamily="2" charset="-122"/>
              </a:rPr>
              <a:t>分别如图的初始棋局和目标棋局所示，我们用广度优先搜索策略，则可得到如图所示的搜索树。</a:t>
            </a:r>
          </a:p>
          <a:p>
            <a:pPr marL="0" indent="0" eaLnBrk="1" hangingPunct="1"/>
            <a:endParaRPr lang="en-US" altLang="zh-CN" dirty="0"/>
          </a:p>
        </p:txBody>
      </p:sp>
      <p:graphicFrame>
        <p:nvGraphicFramePr>
          <p:cNvPr id="49155" name="Group 3">
            <a:extLst>
              <a:ext uri="{FF2B5EF4-FFF2-40B4-BE49-F238E27FC236}">
                <a16:creationId xmlns:a16="http://schemas.microsoft.com/office/drawing/2014/main" id="{F9D2FA4D-551D-D368-5673-8AC055DB1349}"/>
              </a:ext>
            </a:extLst>
          </p:cNvPr>
          <p:cNvGraphicFramePr>
            <a:graphicFrameLocks noGrp="1"/>
          </p:cNvGraphicFramePr>
          <p:nvPr/>
        </p:nvGraphicFramePr>
        <p:xfrm>
          <a:off x="2855913" y="4294188"/>
          <a:ext cx="1593850" cy="1554246"/>
        </p:xfrm>
        <a:graphic>
          <a:graphicData uri="http://schemas.openxmlformats.org/drawingml/2006/table">
            <a:tbl>
              <a:tblPr/>
              <a:tblGrid>
                <a:gridCol w="531812">
                  <a:extLst>
                    <a:ext uri="{9D8B030D-6E8A-4147-A177-3AD203B41FA5}">
                      <a16:colId xmlns:a16="http://schemas.microsoft.com/office/drawing/2014/main" val="20000"/>
                    </a:ext>
                  </a:extLst>
                </a:gridCol>
                <a:gridCol w="530225">
                  <a:extLst>
                    <a:ext uri="{9D8B030D-6E8A-4147-A177-3AD203B41FA5}">
                      <a16:colId xmlns:a16="http://schemas.microsoft.com/office/drawing/2014/main" val="20001"/>
                    </a:ext>
                  </a:extLst>
                </a:gridCol>
                <a:gridCol w="531813">
                  <a:extLst>
                    <a:ext uri="{9D8B030D-6E8A-4147-A177-3AD203B41FA5}">
                      <a16:colId xmlns:a16="http://schemas.microsoft.com/office/drawing/2014/main" val="20002"/>
                    </a:ext>
                  </a:extLst>
                </a:gridCol>
              </a:tblGrid>
              <a:tr h="5180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2</a:t>
                      </a:r>
                    </a:p>
                  </a:txBody>
                  <a:tcPr marT="45681" marB="456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8</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3</a:t>
                      </a:r>
                    </a:p>
                  </a:txBody>
                  <a:tcPr marT="45681" marB="456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0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1</a:t>
                      </a:r>
                    </a:p>
                  </a:txBody>
                  <a:tcPr marT="45681" marB="456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itchFamily="18" charset="0"/>
                        <a:ea typeface="宋体" pitchFamily="2" charset="-122"/>
                      </a:endParaRP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4</a:t>
                      </a:r>
                    </a:p>
                  </a:txBody>
                  <a:tcPr marT="45681" marB="456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0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7</a:t>
                      </a:r>
                    </a:p>
                  </a:txBody>
                  <a:tcPr marT="45681" marB="456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6</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5</a:t>
                      </a:r>
                    </a:p>
                  </a:txBody>
                  <a:tcPr marT="45681" marB="456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49173" name="Group 21">
            <a:extLst>
              <a:ext uri="{FF2B5EF4-FFF2-40B4-BE49-F238E27FC236}">
                <a16:creationId xmlns:a16="http://schemas.microsoft.com/office/drawing/2014/main" id="{06F3FFC8-8113-4DB9-88E1-FDC8A07AB902}"/>
              </a:ext>
            </a:extLst>
          </p:cNvPr>
          <p:cNvGraphicFramePr>
            <a:graphicFrameLocks noGrp="1"/>
          </p:cNvGraphicFramePr>
          <p:nvPr/>
        </p:nvGraphicFramePr>
        <p:xfrm>
          <a:off x="6745288" y="4222750"/>
          <a:ext cx="1593850" cy="1554246"/>
        </p:xfrm>
        <a:graphic>
          <a:graphicData uri="http://schemas.openxmlformats.org/drawingml/2006/table">
            <a:tbl>
              <a:tblPr/>
              <a:tblGrid>
                <a:gridCol w="531812">
                  <a:extLst>
                    <a:ext uri="{9D8B030D-6E8A-4147-A177-3AD203B41FA5}">
                      <a16:colId xmlns:a16="http://schemas.microsoft.com/office/drawing/2014/main" val="20000"/>
                    </a:ext>
                  </a:extLst>
                </a:gridCol>
                <a:gridCol w="530225">
                  <a:extLst>
                    <a:ext uri="{9D8B030D-6E8A-4147-A177-3AD203B41FA5}">
                      <a16:colId xmlns:a16="http://schemas.microsoft.com/office/drawing/2014/main" val="20001"/>
                    </a:ext>
                  </a:extLst>
                </a:gridCol>
                <a:gridCol w="531813">
                  <a:extLst>
                    <a:ext uri="{9D8B030D-6E8A-4147-A177-3AD203B41FA5}">
                      <a16:colId xmlns:a16="http://schemas.microsoft.com/office/drawing/2014/main" val="20002"/>
                    </a:ext>
                  </a:extLst>
                </a:gridCol>
              </a:tblGrid>
              <a:tr h="5180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1</a:t>
                      </a:r>
                    </a:p>
                  </a:txBody>
                  <a:tcPr marT="45681" marB="456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2</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3</a:t>
                      </a:r>
                    </a:p>
                  </a:txBody>
                  <a:tcPr marT="45681" marB="456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0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8</a:t>
                      </a:r>
                    </a:p>
                  </a:txBody>
                  <a:tcPr marT="45681" marB="456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itchFamily="18" charset="0"/>
                        <a:ea typeface="宋体" pitchFamily="2" charset="-122"/>
                      </a:endParaRP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4</a:t>
                      </a:r>
                    </a:p>
                  </a:txBody>
                  <a:tcPr marT="45681" marB="456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0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7</a:t>
                      </a:r>
                    </a:p>
                  </a:txBody>
                  <a:tcPr marT="45681" marB="456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6</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5</a:t>
                      </a:r>
                    </a:p>
                  </a:txBody>
                  <a:tcPr marT="45681" marB="456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9431" name="AutoShape 39">
            <a:extLst>
              <a:ext uri="{FF2B5EF4-FFF2-40B4-BE49-F238E27FC236}">
                <a16:creationId xmlns:a16="http://schemas.microsoft.com/office/drawing/2014/main" id="{7C993A44-5BFB-1618-A717-6F4FE2F3BF2D}"/>
              </a:ext>
            </a:extLst>
          </p:cNvPr>
          <p:cNvSpPr>
            <a:spLocks noChangeArrowheads="1"/>
          </p:cNvSpPr>
          <p:nvPr/>
        </p:nvSpPr>
        <p:spPr bwMode="auto">
          <a:xfrm>
            <a:off x="5014913" y="4870450"/>
            <a:ext cx="1298575" cy="360363"/>
          </a:xfrm>
          <a:prstGeom prst="rightArrow">
            <a:avLst>
              <a:gd name="adj1" fmla="val 50000"/>
              <a:gd name="adj2" fmla="val 90088"/>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zh-CN" altLang="en-US" sz="2400">
              <a:latin typeface="Arial" panose="020B0604020202020204" pitchFamily="34" charset="0"/>
              <a:ea typeface="楷体_GB2312" pitchFamily="49" charset="-122"/>
            </a:endParaRPr>
          </a:p>
        </p:txBody>
      </p:sp>
      <p:sp>
        <p:nvSpPr>
          <p:cNvPr id="2" name="基础扎实 / Strong Preparation">
            <a:extLst>
              <a:ext uri="{FF2B5EF4-FFF2-40B4-BE49-F238E27FC236}">
                <a16:creationId xmlns:a16="http://schemas.microsoft.com/office/drawing/2014/main" id="{AFD6AD4C-62CB-ADA6-C088-8051391086A3}"/>
              </a:ext>
            </a:extLst>
          </p:cNvPr>
          <p:cNvSpPr txBox="1"/>
          <p:nvPr/>
        </p:nvSpPr>
        <p:spPr>
          <a:xfrm>
            <a:off x="2638822" y="344803"/>
            <a:ext cx="5870237" cy="561660"/>
          </a:xfrm>
          <a:prstGeom prst="rect">
            <a:avLst/>
          </a:prstGeom>
          <a:noFill/>
          <a:ln>
            <a:noFill/>
          </a:ln>
        </p:spPr>
        <p:txBody>
          <a:bodyPr wrap="square" lIns="68549" tIns="34274" rIns="68549" bIns="34274" rtlCol="0">
            <a:spAutoFit/>
          </a:bodyPr>
          <a:lstStyle/>
          <a:p>
            <a:pPr marL="0" marR="0" lvl="0" indent="0" algn="ctr" defTabSz="950595" rtl="0" eaLnBrk="1" fontAlgn="auto" latinLnBrk="0" hangingPunct="1">
              <a:lnSpc>
                <a:spcPct val="100000"/>
              </a:lnSpc>
              <a:spcBef>
                <a:spcPts val="0"/>
              </a:spcBef>
              <a:spcAft>
                <a:spcPts val="0"/>
              </a:spcAft>
              <a:buClr>
                <a:prstClr val="white"/>
              </a:buClr>
              <a:buSzTx/>
              <a:buFontTx/>
              <a:buNone/>
              <a:tabLst/>
              <a:defRPr/>
            </a:pPr>
            <a:r>
              <a:rPr lang="en-US" altLang="zh-CN" sz="3200"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4</a:t>
            </a:r>
            <a:r>
              <a:rPr kumimoji="0" lang="zh-CN" altLang="en-US"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a:t>
            </a:r>
            <a:r>
              <a:rPr kumimoji="0" lang="en-US" altLang="zh-CN"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6</a:t>
            </a:r>
            <a:r>
              <a:rPr kumimoji="0" lang="zh-CN" altLang="en-US"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 八数码问题</a:t>
            </a:r>
          </a:p>
        </p:txBody>
      </p:sp>
    </p:spTree>
  </p:cSld>
  <p:clrMapOvr>
    <a:overrideClrMapping bg1="lt1" tx1="dk1" bg2="lt2" tx2="dk2" accent1="accent1" accent2="accent2" accent3="accent3" accent4="accent4" accent5="accent5" accent6="accent6" hlink="hlink" folHlink="folHlink"/>
  </p:clrMapOvr>
  <p:transition/>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pic>
        <p:nvPicPr>
          <p:cNvPr id="60418" name="Picture 2" descr="2">
            <a:extLst>
              <a:ext uri="{FF2B5EF4-FFF2-40B4-BE49-F238E27FC236}">
                <a16:creationId xmlns:a16="http://schemas.microsoft.com/office/drawing/2014/main" id="{EA765C56-2DF6-A9AA-D187-60C38CCF5849}"/>
              </a:ext>
            </a:extLst>
          </p:cNvPr>
          <p:cNvPicPr>
            <a:picLocks noChangeAspect="1" noChangeArrowheads="1" noCrop="1"/>
          </p:cNvPicPr>
          <p:nvPr>
            <p:ph idx="4294967295"/>
          </p:nvPr>
        </p:nvPicPr>
        <p:blipFill>
          <a:blip r:embed="rId5">
            <a:extLst>
              <a:ext uri="{28A0092B-C50C-407E-A947-70E740481C1C}">
                <a14:useLocalDpi xmlns:a14="http://schemas.microsoft.com/office/drawing/2010/main" val="0"/>
              </a:ext>
            </a:extLst>
          </a:blip>
          <a:srcRect/>
          <a:stretch>
            <a:fillRect/>
          </a:stretch>
        </p:blipFill>
        <p:spPr>
          <a:xfrm>
            <a:off x="1414686" y="1053530"/>
            <a:ext cx="8351838" cy="5532437"/>
          </a:xfrm>
          <a:noFill/>
        </p:spPr>
      </p:pic>
    </p:spTree>
  </p:cSld>
  <p:clrMapOvr>
    <a:overrideClrMapping bg1="lt1" tx1="dk1" bg2="lt2" tx2="dk2" accent1="accent1" accent2="accent2" accent3="accent3" accent4="accent4" accent5="accent5" accent6="accent6" hlink="hlink" folHlink="folHlink"/>
  </p:clrMapOvr>
  <p:transition/>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pic>
        <p:nvPicPr>
          <p:cNvPr id="61442" name="Picture 2" descr="312-3">
            <a:extLst>
              <a:ext uri="{FF2B5EF4-FFF2-40B4-BE49-F238E27FC236}">
                <a16:creationId xmlns:a16="http://schemas.microsoft.com/office/drawing/2014/main" id="{291EFA28-E47B-453E-5093-53BE5CE68757}"/>
              </a:ext>
            </a:extLst>
          </p:cNvPr>
          <p:cNvPicPr>
            <a:picLocks noChangeAspect="1" noChangeArrowheads="1"/>
          </p:cNvPicPr>
          <p:nvPr>
            <p:ph idx="4294967295"/>
          </p:nvPr>
        </p:nvPicPr>
        <p:blipFill>
          <a:blip r:embed="rId5">
            <a:extLst>
              <a:ext uri="{28A0092B-C50C-407E-A947-70E740481C1C}">
                <a14:useLocalDpi xmlns:a14="http://schemas.microsoft.com/office/drawing/2010/main" val="0"/>
              </a:ext>
            </a:extLst>
          </a:blip>
          <a:srcRect/>
          <a:stretch>
            <a:fillRect/>
          </a:stretch>
        </p:blipFill>
        <p:spPr>
          <a:xfrm>
            <a:off x="1414686" y="1053530"/>
            <a:ext cx="8569325" cy="5695950"/>
          </a:xfrm>
          <a:noFill/>
        </p:spPr>
      </p:pic>
    </p:spTree>
  </p:cSld>
  <p:clrMapOvr>
    <a:overrideClrMapping bg1="lt1" tx1="dk1" bg2="lt2" tx2="dk2" accent1="accent1" accent2="accent2" accent3="accent3" accent4="accent4" accent5="accent5" accent6="accent6" hlink="hlink" folHlink="folHlink"/>
  </p:clrMapOvr>
  <p:transition/>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62466" name="TextBox 4">
            <a:extLst>
              <a:ext uri="{FF2B5EF4-FFF2-40B4-BE49-F238E27FC236}">
                <a16:creationId xmlns:a16="http://schemas.microsoft.com/office/drawing/2014/main" id="{AA97A680-3064-16F1-AB61-7E2348B20374}"/>
              </a:ext>
            </a:extLst>
          </p:cNvPr>
          <p:cNvSpPr txBox="1">
            <a:spLocks noChangeArrowheads="1"/>
          </p:cNvSpPr>
          <p:nvPr/>
        </p:nvSpPr>
        <p:spPr bwMode="auto">
          <a:xfrm>
            <a:off x="576263" y="1270000"/>
            <a:ext cx="11207750"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50000"/>
              </a:lnSpc>
            </a:pPr>
            <a:r>
              <a:rPr lang="zh-CN" altLang="zh-CN" sz="2300" b="1" dirty="0">
                <a:solidFill>
                  <a:srgbClr val="FF0000"/>
                </a:solidFill>
                <a:latin typeface="华文楷体" panose="02010600040101010101" pitchFamily="2" charset="-122"/>
                <a:ea typeface="华文楷体" panose="02010600040101010101" pitchFamily="2" charset="-122"/>
              </a:rPr>
              <a:t>【问题描述】</a:t>
            </a:r>
            <a:r>
              <a:rPr lang="zh-CN" altLang="zh-CN" sz="2300" b="1" dirty="0">
                <a:solidFill>
                  <a:srgbClr val="0000FF"/>
                </a:solidFill>
                <a:latin typeface="华文楷体" panose="02010600040101010101" pitchFamily="2" charset="-122"/>
                <a:ea typeface="华文楷体" panose="02010600040101010101" pitchFamily="2" charset="-122"/>
              </a:rPr>
              <a:t>给定一个带权有向图</a:t>
            </a:r>
            <a:r>
              <a:rPr lang="en-US" altLang="zh-CN" sz="2300" b="1" dirty="0">
                <a:solidFill>
                  <a:srgbClr val="0000FF"/>
                </a:solidFill>
                <a:latin typeface="华文楷体" panose="02010600040101010101" pitchFamily="2" charset="-122"/>
                <a:ea typeface="华文楷体" panose="02010600040101010101" pitchFamily="2" charset="-122"/>
              </a:rPr>
              <a:t>G=</a:t>
            </a:r>
            <a:r>
              <a:rPr lang="zh-CN"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V</a:t>
            </a:r>
            <a:r>
              <a:rPr lang="zh-CN"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E</a:t>
            </a:r>
            <a:r>
              <a:rPr lang="zh-CN" altLang="zh-CN" sz="2300" b="1" dirty="0">
                <a:solidFill>
                  <a:srgbClr val="0000FF"/>
                </a:solidFill>
                <a:latin typeface="华文楷体" panose="02010600040101010101" pitchFamily="2" charset="-122"/>
                <a:ea typeface="华文楷体" panose="02010600040101010101" pitchFamily="2" charset="-122"/>
              </a:rPr>
              <a:t>），其中每条边的权是一个正整数。</a:t>
            </a:r>
            <a:endParaRPr lang="en-US" altLang="zh-CN" sz="2300" b="1" dirty="0">
              <a:solidFill>
                <a:srgbClr val="0000FF"/>
              </a:solidFill>
              <a:latin typeface="华文楷体" panose="02010600040101010101" pitchFamily="2" charset="-122"/>
              <a:ea typeface="华文楷体" panose="02010600040101010101" pitchFamily="2" charset="-122"/>
            </a:endParaRPr>
          </a:p>
          <a:p>
            <a:pPr eaLnBrk="1" hangingPunct="1">
              <a:lnSpc>
                <a:spcPct val="150000"/>
              </a:lnSpc>
            </a:pPr>
            <a:r>
              <a:rPr lang="en-US" altLang="zh-CN" sz="2300" b="1" dirty="0">
                <a:solidFill>
                  <a:srgbClr val="0000FF"/>
                </a:solidFill>
                <a:latin typeface="华文楷体" panose="02010600040101010101" pitchFamily="2" charset="-122"/>
                <a:ea typeface="华文楷体" panose="02010600040101010101" pitchFamily="2" charset="-122"/>
              </a:rPr>
              <a:t>    </a:t>
            </a:r>
            <a:r>
              <a:rPr lang="zh-CN" altLang="zh-CN" sz="2300" b="1" dirty="0">
                <a:solidFill>
                  <a:srgbClr val="0000FF"/>
                </a:solidFill>
                <a:latin typeface="华文楷体" panose="02010600040101010101" pitchFamily="2" charset="-122"/>
                <a:ea typeface="华文楷体" panose="02010600040101010101" pitchFamily="2" charset="-122"/>
              </a:rPr>
              <a:t>另外，还给定</a:t>
            </a:r>
            <a:r>
              <a:rPr lang="en-US" altLang="zh-CN" sz="2300" b="1" dirty="0">
                <a:solidFill>
                  <a:srgbClr val="0000FF"/>
                </a:solidFill>
                <a:latin typeface="华文楷体" panose="02010600040101010101" pitchFamily="2" charset="-122"/>
                <a:ea typeface="华文楷体" panose="02010600040101010101" pitchFamily="2" charset="-122"/>
              </a:rPr>
              <a:t>V</a:t>
            </a:r>
            <a:r>
              <a:rPr lang="zh-CN" altLang="zh-CN" sz="2300" b="1" dirty="0">
                <a:solidFill>
                  <a:srgbClr val="0000FF"/>
                </a:solidFill>
                <a:latin typeface="华文楷体" panose="02010600040101010101" pitchFamily="2" charset="-122"/>
                <a:ea typeface="华文楷体" panose="02010600040101010101" pitchFamily="2" charset="-122"/>
              </a:rPr>
              <a:t>中的一个顶点</a:t>
            </a:r>
            <a:r>
              <a:rPr lang="en-US" altLang="zh-CN" sz="2300" b="1" dirty="0">
                <a:solidFill>
                  <a:srgbClr val="0000FF"/>
                </a:solidFill>
                <a:latin typeface="华文楷体" panose="02010600040101010101" pitchFamily="2" charset="-122"/>
                <a:ea typeface="华文楷体" panose="02010600040101010101" pitchFamily="2" charset="-122"/>
              </a:rPr>
              <a:t>v</a:t>
            </a:r>
            <a:r>
              <a:rPr lang="zh-CN" altLang="zh-CN" sz="2300" b="1" dirty="0">
                <a:solidFill>
                  <a:srgbClr val="0000FF"/>
                </a:solidFill>
                <a:latin typeface="华文楷体" panose="02010600040101010101" pitchFamily="2" charset="-122"/>
                <a:ea typeface="华文楷体" panose="02010600040101010101" pitchFamily="2" charset="-122"/>
              </a:rPr>
              <a:t>，称为源点。计算从源点到其他所有顶点的最短路径长度。这里的长度是指路上各边权之和。</a:t>
            </a:r>
          </a:p>
        </p:txBody>
      </p:sp>
      <p:sp>
        <p:nvSpPr>
          <p:cNvPr id="2" name="基础扎实 / Strong Preparation">
            <a:extLst>
              <a:ext uri="{FF2B5EF4-FFF2-40B4-BE49-F238E27FC236}">
                <a16:creationId xmlns:a16="http://schemas.microsoft.com/office/drawing/2014/main" id="{D516A4E0-F6B3-9D6F-80AF-0A38AA434112}"/>
              </a:ext>
            </a:extLst>
          </p:cNvPr>
          <p:cNvSpPr txBox="1"/>
          <p:nvPr/>
        </p:nvSpPr>
        <p:spPr>
          <a:xfrm>
            <a:off x="2638822" y="344803"/>
            <a:ext cx="5870237" cy="561660"/>
          </a:xfrm>
          <a:prstGeom prst="rect">
            <a:avLst/>
          </a:prstGeom>
          <a:noFill/>
          <a:ln>
            <a:noFill/>
          </a:ln>
        </p:spPr>
        <p:txBody>
          <a:bodyPr wrap="square" lIns="68549" tIns="34274" rIns="68549" bIns="34274" rtlCol="0">
            <a:spAutoFit/>
          </a:bodyPr>
          <a:lstStyle/>
          <a:p>
            <a:pPr marL="0" marR="0" lvl="0" indent="0" algn="ctr" defTabSz="950595" rtl="0" eaLnBrk="1" fontAlgn="auto" latinLnBrk="0" hangingPunct="1">
              <a:lnSpc>
                <a:spcPct val="100000"/>
              </a:lnSpc>
              <a:spcBef>
                <a:spcPts val="0"/>
              </a:spcBef>
              <a:spcAft>
                <a:spcPts val="0"/>
              </a:spcAft>
              <a:buClr>
                <a:prstClr val="white"/>
              </a:buClr>
              <a:buSzTx/>
              <a:buFontTx/>
              <a:buNone/>
              <a:tabLst/>
              <a:defRPr/>
            </a:pPr>
            <a:r>
              <a:rPr lang="en-US" altLang="zh-CN" sz="3200"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4</a:t>
            </a:r>
            <a:r>
              <a:rPr kumimoji="0" lang="zh-CN" altLang="en-US"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a:t>
            </a:r>
            <a:r>
              <a:rPr lang="en-US" altLang="zh-CN" sz="3200"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7</a:t>
            </a:r>
            <a:r>
              <a:rPr kumimoji="0" lang="zh-CN" altLang="en-US" sz="3200" b="1" i="0" u="none" strike="noStrike" kern="1200" cap="none" spc="50" normalizeH="0" baseline="0" noProof="0" dirty="0">
                <a:ln w="11430"/>
                <a:solidFill>
                  <a:srgbClr val="006600"/>
                </a:solidFill>
                <a:effectLst/>
                <a:uLnTx/>
                <a:uFillTx/>
                <a:latin typeface="华文楷体" panose="02010600040101010101" pitchFamily="2" charset="-122"/>
                <a:ea typeface="华文楷体" panose="02010600040101010101" pitchFamily="2" charset="-122"/>
                <a:cs typeface="+mn-cs"/>
                <a:sym typeface="Arial" panose="020B0604020202020204" pitchFamily="34" charset="0"/>
              </a:rPr>
              <a:t> 单源最短路径问题</a:t>
            </a:r>
          </a:p>
        </p:txBody>
      </p:sp>
    </p:spTree>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81BCEC-697D-02A3-1BE7-FC683CCF5824}"/>
              </a:ext>
            </a:extLst>
          </p:cNvPr>
          <p:cNvSpPr txBox="1"/>
          <p:nvPr/>
        </p:nvSpPr>
        <p:spPr>
          <a:xfrm>
            <a:off x="1198662" y="1269554"/>
            <a:ext cx="5286375" cy="430887"/>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eaLnBrk="1" fontAlgn="auto" hangingPunct="1">
              <a:spcBef>
                <a:spcPts val="0"/>
              </a:spcBef>
              <a:spcAft>
                <a:spcPts val="0"/>
              </a:spcAft>
              <a:defRPr/>
            </a:pPr>
            <a:r>
              <a:rPr lang="zh-CN" altLang="zh-CN" sz="2200" b="1" dirty="0">
                <a:solidFill>
                  <a:srgbClr val="FF0000"/>
                </a:solidFill>
                <a:latin typeface="华文楷体" panose="02010600040101010101" pitchFamily="2" charset="-122"/>
                <a:ea typeface="华文楷体" panose="02010600040101010101" pitchFamily="2" charset="-122"/>
                <a:cs typeface="Consolas" pitchFamily="49" charset="0"/>
              </a:rPr>
              <a:t>采用队列式分枝限界法求解</a:t>
            </a:r>
          </a:p>
        </p:txBody>
      </p:sp>
      <p:sp>
        <p:nvSpPr>
          <p:cNvPr id="3" name="椭圆 2">
            <a:extLst>
              <a:ext uri="{FF2B5EF4-FFF2-40B4-BE49-F238E27FC236}">
                <a16:creationId xmlns:a16="http://schemas.microsoft.com/office/drawing/2014/main" id="{00F0B8C2-384F-1C0B-3E0C-220DA77F4323}"/>
              </a:ext>
            </a:extLst>
          </p:cNvPr>
          <p:cNvSpPr/>
          <p:nvPr/>
        </p:nvSpPr>
        <p:spPr>
          <a:xfrm>
            <a:off x="1198662" y="3363466"/>
            <a:ext cx="428625" cy="42862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0</a:t>
            </a:r>
            <a:endParaRPr lang="zh-CN" altLang="en-US" sz="2000" b="1">
              <a:solidFill>
                <a:srgbClr val="0000FF"/>
              </a:solidFill>
              <a:latin typeface="Consolas" pitchFamily="49" charset="0"/>
              <a:cs typeface="Consolas" pitchFamily="49" charset="0"/>
            </a:endParaRPr>
          </a:p>
        </p:txBody>
      </p:sp>
      <p:sp>
        <p:nvSpPr>
          <p:cNvPr id="4" name="椭圆 3">
            <a:extLst>
              <a:ext uri="{FF2B5EF4-FFF2-40B4-BE49-F238E27FC236}">
                <a16:creationId xmlns:a16="http://schemas.microsoft.com/office/drawing/2014/main" id="{A8BD15B8-7CD5-84BA-A942-5C21E60C3F1D}"/>
              </a:ext>
            </a:extLst>
          </p:cNvPr>
          <p:cNvSpPr/>
          <p:nvPr/>
        </p:nvSpPr>
        <p:spPr>
          <a:xfrm>
            <a:off x="2198787" y="2363341"/>
            <a:ext cx="428625" cy="428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2</a:t>
            </a:r>
            <a:endParaRPr lang="zh-CN" altLang="en-US" sz="2000" b="1">
              <a:solidFill>
                <a:srgbClr val="0000FF"/>
              </a:solidFill>
              <a:latin typeface="Consolas" pitchFamily="49" charset="0"/>
              <a:cs typeface="Consolas" pitchFamily="49" charset="0"/>
            </a:endParaRPr>
          </a:p>
        </p:txBody>
      </p:sp>
      <p:sp>
        <p:nvSpPr>
          <p:cNvPr id="5" name="椭圆 4">
            <a:extLst>
              <a:ext uri="{FF2B5EF4-FFF2-40B4-BE49-F238E27FC236}">
                <a16:creationId xmlns:a16="http://schemas.microsoft.com/office/drawing/2014/main" id="{CB197BA6-66C3-34F4-BAF6-D60B7CE9BE6D}"/>
              </a:ext>
            </a:extLst>
          </p:cNvPr>
          <p:cNvSpPr/>
          <p:nvPr/>
        </p:nvSpPr>
        <p:spPr>
          <a:xfrm>
            <a:off x="2198787" y="3363466"/>
            <a:ext cx="428625" cy="428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4</a:t>
            </a:r>
            <a:endParaRPr lang="zh-CN" altLang="en-US" sz="2000" b="1">
              <a:solidFill>
                <a:srgbClr val="0000FF"/>
              </a:solidFill>
              <a:latin typeface="Consolas" pitchFamily="49" charset="0"/>
              <a:cs typeface="Consolas" pitchFamily="49" charset="0"/>
            </a:endParaRPr>
          </a:p>
        </p:txBody>
      </p:sp>
      <p:sp>
        <p:nvSpPr>
          <p:cNvPr id="6" name="椭圆 5">
            <a:extLst>
              <a:ext uri="{FF2B5EF4-FFF2-40B4-BE49-F238E27FC236}">
                <a16:creationId xmlns:a16="http://schemas.microsoft.com/office/drawing/2014/main" id="{7A1992D3-910B-ED0F-7B86-FB9E90A535C3}"/>
              </a:ext>
            </a:extLst>
          </p:cNvPr>
          <p:cNvSpPr/>
          <p:nvPr/>
        </p:nvSpPr>
        <p:spPr>
          <a:xfrm>
            <a:off x="3341787" y="3363466"/>
            <a:ext cx="428625" cy="428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3</a:t>
            </a:r>
            <a:endParaRPr lang="zh-CN" altLang="en-US" sz="2000" b="1">
              <a:solidFill>
                <a:srgbClr val="0000FF"/>
              </a:solidFill>
              <a:latin typeface="Consolas" pitchFamily="49" charset="0"/>
              <a:cs typeface="Consolas" pitchFamily="49" charset="0"/>
            </a:endParaRPr>
          </a:p>
        </p:txBody>
      </p:sp>
      <p:sp>
        <p:nvSpPr>
          <p:cNvPr id="7" name="椭圆 6">
            <a:extLst>
              <a:ext uri="{FF2B5EF4-FFF2-40B4-BE49-F238E27FC236}">
                <a16:creationId xmlns:a16="http://schemas.microsoft.com/office/drawing/2014/main" id="{5B0B644D-FBB9-34DB-321D-292B2A655908}"/>
              </a:ext>
            </a:extLst>
          </p:cNvPr>
          <p:cNvSpPr/>
          <p:nvPr/>
        </p:nvSpPr>
        <p:spPr>
          <a:xfrm>
            <a:off x="2198787" y="4435029"/>
            <a:ext cx="428625" cy="428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5</a:t>
            </a:r>
            <a:endParaRPr lang="zh-CN" altLang="en-US" sz="2000" b="1">
              <a:solidFill>
                <a:srgbClr val="0000FF"/>
              </a:solidFill>
              <a:latin typeface="Consolas" pitchFamily="49" charset="0"/>
              <a:cs typeface="Consolas" pitchFamily="49" charset="0"/>
            </a:endParaRPr>
          </a:p>
        </p:txBody>
      </p:sp>
      <p:sp>
        <p:nvSpPr>
          <p:cNvPr id="8" name="椭圆 7">
            <a:extLst>
              <a:ext uri="{FF2B5EF4-FFF2-40B4-BE49-F238E27FC236}">
                <a16:creationId xmlns:a16="http://schemas.microsoft.com/office/drawing/2014/main" id="{6ED45B3B-8ADB-4A93-B8BF-3A022F8843E5}"/>
              </a:ext>
            </a:extLst>
          </p:cNvPr>
          <p:cNvSpPr/>
          <p:nvPr/>
        </p:nvSpPr>
        <p:spPr>
          <a:xfrm>
            <a:off x="3341787" y="2363341"/>
            <a:ext cx="428625" cy="428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1</a:t>
            </a:r>
            <a:endParaRPr lang="zh-CN" altLang="en-US" sz="2000" b="1">
              <a:solidFill>
                <a:srgbClr val="0000FF"/>
              </a:solidFill>
              <a:latin typeface="Consolas" pitchFamily="49" charset="0"/>
              <a:cs typeface="Consolas" pitchFamily="49" charset="0"/>
            </a:endParaRPr>
          </a:p>
        </p:txBody>
      </p:sp>
      <p:cxnSp>
        <p:nvCxnSpPr>
          <p:cNvPr id="10" name="直接箭头连接符 9">
            <a:extLst>
              <a:ext uri="{FF2B5EF4-FFF2-40B4-BE49-F238E27FC236}">
                <a16:creationId xmlns:a16="http://schemas.microsoft.com/office/drawing/2014/main" id="{E5AC2237-0A54-101E-0233-39A5863986A4}"/>
              </a:ext>
            </a:extLst>
          </p:cNvPr>
          <p:cNvCxnSpPr>
            <a:stCxn id="3" idx="7"/>
            <a:endCxn id="4" idx="3"/>
          </p:cNvCxnSpPr>
          <p:nvPr/>
        </p:nvCxnSpPr>
        <p:spPr>
          <a:xfrm rot="5400000" flipH="1" flipV="1">
            <a:off x="1562200" y="2728466"/>
            <a:ext cx="698500" cy="6985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3498" name="TextBox 10">
            <a:extLst>
              <a:ext uri="{FF2B5EF4-FFF2-40B4-BE49-F238E27FC236}">
                <a16:creationId xmlns:a16="http://schemas.microsoft.com/office/drawing/2014/main" id="{CC763F18-C110-4FDF-EC7B-023E6F671C6D}"/>
              </a:ext>
            </a:extLst>
          </p:cNvPr>
          <p:cNvSpPr txBox="1">
            <a:spLocks noChangeArrowheads="1"/>
          </p:cNvSpPr>
          <p:nvPr/>
        </p:nvSpPr>
        <p:spPr bwMode="auto">
          <a:xfrm>
            <a:off x="1484412" y="2720529"/>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00FF"/>
                </a:solidFill>
                <a:latin typeface="Consolas" panose="020B0609020204030204" pitchFamily="49" charset="0"/>
                <a:ea typeface="楷体_GB2312" pitchFamily="49" charset="-122"/>
              </a:rPr>
              <a:t>10</a:t>
            </a:r>
            <a:endParaRPr lang="zh-CN" altLang="en-US" b="1">
              <a:solidFill>
                <a:srgbClr val="0000FF"/>
              </a:solidFill>
              <a:latin typeface="Consolas" panose="020B0609020204030204" pitchFamily="49" charset="0"/>
              <a:ea typeface="楷体_GB2312" pitchFamily="49" charset="-122"/>
            </a:endParaRPr>
          </a:p>
        </p:txBody>
      </p:sp>
      <p:cxnSp>
        <p:nvCxnSpPr>
          <p:cNvPr id="13" name="直接箭头连接符 12">
            <a:extLst>
              <a:ext uri="{FF2B5EF4-FFF2-40B4-BE49-F238E27FC236}">
                <a16:creationId xmlns:a16="http://schemas.microsoft.com/office/drawing/2014/main" id="{5F2AAEBD-20AC-540B-AFE9-41AD5E0079FD}"/>
              </a:ext>
            </a:extLst>
          </p:cNvPr>
          <p:cNvCxnSpPr>
            <a:stCxn id="3" idx="5"/>
            <a:endCxn id="7" idx="1"/>
          </p:cNvCxnSpPr>
          <p:nvPr/>
        </p:nvCxnSpPr>
        <p:spPr>
          <a:xfrm rot="16200000" flipH="1">
            <a:off x="1528068" y="3764310"/>
            <a:ext cx="769938" cy="6985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5" name="直接箭头连接符 14">
            <a:extLst>
              <a:ext uri="{FF2B5EF4-FFF2-40B4-BE49-F238E27FC236}">
                <a16:creationId xmlns:a16="http://schemas.microsoft.com/office/drawing/2014/main" id="{9C884D47-60CE-3A2D-C66F-D7B5277C0960}"/>
              </a:ext>
            </a:extLst>
          </p:cNvPr>
          <p:cNvCxnSpPr>
            <a:stCxn id="3" idx="6"/>
            <a:endCxn id="5" idx="2"/>
          </p:cNvCxnSpPr>
          <p:nvPr/>
        </p:nvCxnSpPr>
        <p:spPr>
          <a:xfrm>
            <a:off x="1625700" y="3577779"/>
            <a:ext cx="571500" cy="15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7" name="直接箭头连接符 16">
            <a:extLst>
              <a:ext uri="{FF2B5EF4-FFF2-40B4-BE49-F238E27FC236}">
                <a16:creationId xmlns:a16="http://schemas.microsoft.com/office/drawing/2014/main" id="{18F24AFF-3A7B-622A-3723-AF44CEF0DBC0}"/>
              </a:ext>
            </a:extLst>
          </p:cNvPr>
          <p:cNvCxnSpPr>
            <a:stCxn id="4" idx="5"/>
            <a:endCxn id="6" idx="1"/>
          </p:cNvCxnSpPr>
          <p:nvPr/>
        </p:nvCxnSpPr>
        <p:spPr>
          <a:xfrm rot="16200000" flipH="1">
            <a:off x="2633763" y="2657028"/>
            <a:ext cx="698500" cy="84137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直接箭头连接符 18">
            <a:extLst>
              <a:ext uri="{FF2B5EF4-FFF2-40B4-BE49-F238E27FC236}">
                <a16:creationId xmlns:a16="http://schemas.microsoft.com/office/drawing/2014/main" id="{8710C151-6110-BCB2-36E1-690203B784A2}"/>
              </a:ext>
            </a:extLst>
          </p:cNvPr>
          <p:cNvCxnSpPr>
            <a:stCxn id="5" idx="6"/>
            <a:endCxn id="6" idx="2"/>
          </p:cNvCxnSpPr>
          <p:nvPr/>
        </p:nvCxnSpPr>
        <p:spPr>
          <a:xfrm>
            <a:off x="2627412" y="3577779"/>
            <a:ext cx="714375" cy="15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1" name="直接箭头连接符 20">
            <a:extLst>
              <a:ext uri="{FF2B5EF4-FFF2-40B4-BE49-F238E27FC236}">
                <a16:creationId xmlns:a16="http://schemas.microsoft.com/office/drawing/2014/main" id="{8D22138A-3634-FEE6-330F-347A9327A1E2}"/>
              </a:ext>
            </a:extLst>
          </p:cNvPr>
          <p:cNvCxnSpPr>
            <a:stCxn id="6" idx="3"/>
            <a:endCxn id="7" idx="7"/>
          </p:cNvCxnSpPr>
          <p:nvPr/>
        </p:nvCxnSpPr>
        <p:spPr>
          <a:xfrm rot="5400000">
            <a:off x="2599631" y="3692872"/>
            <a:ext cx="769938" cy="84137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3" name="直接箭头连接符 22">
            <a:extLst>
              <a:ext uri="{FF2B5EF4-FFF2-40B4-BE49-F238E27FC236}">
                <a16:creationId xmlns:a16="http://schemas.microsoft.com/office/drawing/2014/main" id="{03F3BE0E-8B88-34DA-D79B-E1D07926D5F2}"/>
              </a:ext>
            </a:extLst>
          </p:cNvPr>
          <p:cNvCxnSpPr>
            <a:stCxn id="8" idx="2"/>
            <a:endCxn id="4" idx="6"/>
          </p:cNvCxnSpPr>
          <p:nvPr/>
        </p:nvCxnSpPr>
        <p:spPr>
          <a:xfrm rot="10800000">
            <a:off x="2627412" y="2577654"/>
            <a:ext cx="714375" cy="15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5" name="直接箭头连接符 24">
            <a:extLst>
              <a:ext uri="{FF2B5EF4-FFF2-40B4-BE49-F238E27FC236}">
                <a16:creationId xmlns:a16="http://schemas.microsoft.com/office/drawing/2014/main" id="{904EF298-2956-36A7-A38E-B7E6BCCAF232}"/>
              </a:ext>
            </a:extLst>
          </p:cNvPr>
          <p:cNvCxnSpPr>
            <a:stCxn id="5" idx="4"/>
            <a:endCxn id="7" idx="0"/>
          </p:cNvCxnSpPr>
          <p:nvPr/>
        </p:nvCxnSpPr>
        <p:spPr>
          <a:xfrm rot="5400000">
            <a:off x="2090044" y="4113560"/>
            <a:ext cx="642937" cy="317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3506" name="TextBox 25">
            <a:extLst>
              <a:ext uri="{FF2B5EF4-FFF2-40B4-BE49-F238E27FC236}">
                <a16:creationId xmlns:a16="http://schemas.microsoft.com/office/drawing/2014/main" id="{9A0B3570-C0AD-D4BF-6A8D-875683A06192}"/>
              </a:ext>
            </a:extLst>
          </p:cNvPr>
          <p:cNvSpPr txBox="1">
            <a:spLocks noChangeArrowheads="1"/>
          </p:cNvSpPr>
          <p:nvPr/>
        </p:nvSpPr>
        <p:spPr bwMode="auto">
          <a:xfrm>
            <a:off x="1698725" y="3207891"/>
            <a:ext cx="498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00FF"/>
                </a:solidFill>
                <a:latin typeface="Consolas" panose="020B0609020204030204" pitchFamily="49" charset="0"/>
                <a:ea typeface="楷体_GB2312" pitchFamily="49" charset="-122"/>
              </a:rPr>
              <a:t>30</a:t>
            </a:r>
            <a:endParaRPr lang="zh-CN" altLang="en-US" b="1">
              <a:solidFill>
                <a:srgbClr val="0000FF"/>
              </a:solidFill>
              <a:latin typeface="Consolas" panose="020B0609020204030204" pitchFamily="49" charset="0"/>
              <a:ea typeface="楷体_GB2312" pitchFamily="49" charset="-122"/>
            </a:endParaRPr>
          </a:p>
        </p:txBody>
      </p:sp>
      <p:sp>
        <p:nvSpPr>
          <p:cNvPr id="63507" name="TextBox 26">
            <a:extLst>
              <a:ext uri="{FF2B5EF4-FFF2-40B4-BE49-F238E27FC236}">
                <a16:creationId xmlns:a16="http://schemas.microsoft.com/office/drawing/2014/main" id="{4BEFB8C8-44DC-C56B-8217-D24325EC39F7}"/>
              </a:ext>
            </a:extLst>
          </p:cNvPr>
          <p:cNvSpPr txBox="1">
            <a:spLocks noChangeArrowheads="1"/>
          </p:cNvSpPr>
          <p:nvPr/>
        </p:nvSpPr>
        <p:spPr bwMode="auto">
          <a:xfrm>
            <a:off x="1484412" y="3993704"/>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00FF"/>
                </a:solidFill>
                <a:latin typeface="Consolas" panose="020B0609020204030204" pitchFamily="49" charset="0"/>
                <a:ea typeface="楷体_GB2312" pitchFamily="49" charset="-122"/>
              </a:rPr>
              <a:t>100</a:t>
            </a:r>
            <a:endParaRPr lang="zh-CN" altLang="en-US" b="1">
              <a:solidFill>
                <a:srgbClr val="0000FF"/>
              </a:solidFill>
              <a:latin typeface="Consolas" panose="020B0609020204030204" pitchFamily="49" charset="0"/>
              <a:ea typeface="楷体_GB2312" pitchFamily="49" charset="-122"/>
            </a:endParaRPr>
          </a:p>
        </p:txBody>
      </p:sp>
      <p:sp>
        <p:nvSpPr>
          <p:cNvPr id="63508" name="TextBox 27">
            <a:extLst>
              <a:ext uri="{FF2B5EF4-FFF2-40B4-BE49-F238E27FC236}">
                <a16:creationId xmlns:a16="http://schemas.microsoft.com/office/drawing/2014/main" id="{AAA08FCB-4C3C-E0C7-A12C-7E2EDB3D4CF4}"/>
              </a:ext>
            </a:extLst>
          </p:cNvPr>
          <p:cNvSpPr txBox="1">
            <a:spLocks noChangeArrowheads="1"/>
          </p:cNvSpPr>
          <p:nvPr/>
        </p:nvSpPr>
        <p:spPr bwMode="auto">
          <a:xfrm>
            <a:off x="2367062" y="3827016"/>
            <a:ext cx="5000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00FF"/>
                </a:solidFill>
                <a:latin typeface="Consolas" panose="020B0609020204030204" pitchFamily="49" charset="0"/>
                <a:ea typeface="楷体_GB2312" pitchFamily="49" charset="-122"/>
              </a:rPr>
              <a:t>60</a:t>
            </a:r>
            <a:endParaRPr lang="zh-CN" altLang="en-US" b="1">
              <a:solidFill>
                <a:srgbClr val="0000FF"/>
              </a:solidFill>
              <a:latin typeface="Consolas" panose="020B0609020204030204" pitchFamily="49" charset="0"/>
              <a:ea typeface="楷体_GB2312" pitchFamily="49" charset="-122"/>
            </a:endParaRPr>
          </a:p>
        </p:txBody>
      </p:sp>
      <p:sp>
        <p:nvSpPr>
          <p:cNvPr id="63509" name="TextBox 28">
            <a:extLst>
              <a:ext uri="{FF2B5EF4-FFF2-40B4-BE49-F238E27FC236}">
                <a16:creationId xmlns:a16="http://schemas.microsoft.com/office/drawing/2014/main" id="{4F2EBD2C-BF89-D95F-6C5A-D211C18D38C8}"/>
              </a:ext>
            </a:extLst>
          </p:cNvPr>
          <p:cNvSpPr txBox="1">
            <a:spLocks noChangeArrowheads="1"/>
          </p:cNvSpPr>
          <p:nvPr/>
        </p:nvSpPr>
        <p:spPr bwMode="auto">
          <a:xfrm>
            <a:off x="2614712" y="2934841"/>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00FF"/>
                </a:solidFill>
                <a:latin typeface="Consolas" panose="020B0609020204030204" pitchFamily="49" charset="0"/>
                <a:ea typeface="楷体_GB2312" pitchFamily="49" charset="-122"/>
              </a:rPr>
              <a:t>50</a:t>
            </a:r>
            <a:endParaRPr lang="zh-CN" altLang="en-US" b="1">
              <a:solidFill>
                <a:srgbClr val="0000FF"/>
              </a:solidFill>
              <a:latin typeface="Consolas" panose="020B0609020204030204" pitchFamily="49" charset="0"/>
              <a:ea typeface="楷体_GB2312" pitchFamily="49" charset="-122"/>
            </a:endParaRPr>
          </a:p>
        </p:txBody>
      </p:sp>
      <p:sp>
        <p:nvSpPr>
          <p:cNvPr id="63510" name="TextBox 29">
            <a:extLst>
              <a:ext uri="{FF2B5EF4-FFF2-40B4-BE49-F238E27FC236}">
                <a16:creationId xmlns:a16="http://schemas.microsoft.com/office/drawing/2014/main" id="{4AD10058-84B6-1A1F-20B4-61E1CD494312}"/>
              </a:ext>
            </a:extLst>
          </p:cNvPr>
          <p:cNvSpPr txBox="1">
            <a:spLocks noChangeArrowheads="1"/>
          </p:cNvSpPr>
          <p:nvPr/>
        </p:nvSpPr>
        <p:spPr bwMode="auto">
          <a:xfrm>
            <a:off x="2795687" y="2182366"/>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00FF"/>
                </a:solidFill>
                <a:latin typeface="Consolas" panose="020B0609020204030204" pitchFamily="49" charset="0"/>
                <a:ea typeface="楷体_GB2312" pitchFamily="49" charset="-122"/>
              </a:rPr>
              <a:t>4</a:t>
            </a:r>
            <a:endParaRPr lang="zh-CN" altLang="en-US" b="1">
              <a:solidFill>
                <a:srgbClr val="0000FF"/>
              </a:solidFill>
              <a:latin typeface="Consolas" panose="020B0609020204030204" pitchFamily="49" charset="0"/>
              <a:ea typeface="楷体_GB2312" pitchFamily="49" charset="-122"/>
            </a:endParaRPr>
          </a:p>
        </p:txBody>
      </p:sp>
      <p:sp>
        <p:nvSpPr>
          <p:cNvPr id="63511" name="TextBox 30">
            <a:extLst>
              <a:ext uri="{FF2B5EF4-FFF2-40B4-BE49-F238E27FC236}">
                <a16:creationId xmlns:a16="http://schemas.microsoft.com/office/drawing/2014/main" id="{D7AB4319-55B5-9D45-5DE7-BEAAAC7F4F42}"/>
              </a:ext>
            </a:extLst>
          </p:cNvPr>
          <p:cNvSpPr txBox="1">
            <a:spLocks noChangeArrowheads="1"/>
          </p:cNvSpPr>
          <p:nvPr/>
        </p:nvSpPr>
        <p:spPr bwMode="auto">
          <a:xfrm>
            <a:off x="2984600" y="4065141"/>
            <a:ext cx="498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00FF"/>
                </a:solidFill>
                <a:latin typeface="Consolas" panose="020B0609020204030204" pitchFamily="49" charset="0"/>
                <a:ea typeface="楷体_GB2312" pitchFamily="49" charset="-122"/>
              </a:rPr>
              <a:t>10</a:t>
            </a:r>
            <a:endParaRPr lang="zh-CN" altLang="en-US" b="1">
              <a:solidFill>
                <a:srgbClr val="0000FF"/>
              </a:solidFill>
              <a:latin typeface="Consolas" panose="020B0609020204030204" pitchFamily="49" charset="0"/>
              <a:ea typeface="楷体_GB2312" pitchFamily="49" charset="-122"/>
            </a:endParaRPr>
          </a:p>
        </p:txBody>
      </p:sp>
      <p:sp>
        <p:nvSpPr>
          <p:cNvPr id="63512" name="TextBox 31">
            <a:extLst>
              <a:ext uri="{FF2B5EF4-FFF2-40B4-BE49-F238E27FC236}">
                <a16:creationId xmlns:a16="http://schemas.microsoft.com/office/drawing/2014/main" id="{CED2A9BC-D9DB-A55A-41D2-6731E44F9FEC}"/>
              </a:ext>
            </a:extLst>
          </p:cNvPr>
          <p:cNvSpPr txBox="1">
            <a:spLocks noChangeArrowheads="1"/>
          </p:cNvSpPr>
          <p:nvPr/>
        </p:nvSpPr>
        <p:spPr bwMode="auto">
          <a:xfrm>
            <a:off x="2754412" y="3519041"/>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00FF"/>
                </a:solidFill>
                <a:latin typeface="Consolas" panose="020B0609020204030204" pitchFamily="49" charset="0"/>
                <a:ea typeface="楷体_GB2312" pitchFamily="49" charset="-122"/>
              </a:rPr>
              <a:t>20</a:t>
            </a:r>
            <a:endParaRPr lang="zh-CN" altLang="en-US" b="1">
              <a:solidFill>
                <a:srgbClr val="0000FF"/>
              </a:solidFill>
              <a:latin typeface="Consolas" panose="020B0609020204030204" pitchFamily="49" charset="0"/>
              <a:ea typeface="楷体_GB2312" pitchFamily="49" charset="-122"/>
            </a:endParaRPr>
          </a:p>
        </p:txBody>
      </p:sp>
      <p:sp>
        <p:nvSpPr>
          <p:cNvPr id="63513" name="Rectangle 2">
            <a:extLst>
              <a:ext uri="{FF2B5EF4-FFF2-40B4-BE49-F238E27FC236}">
                <a16:creationId xmlns:a16="http://schemas.microsoft.com/office/drawing/2014/main" id="{DA90F522-E2F1-1967-31BD-AC87211F9FD2}"/>
              </a:ext>
            </a:extLst>
          </p:cNvPr>
          <p:cNvSpPr>
            <a:spLocks noChangeArrowheads="1"/>
          </p:cNvSpPr>
          <p:nvPr/>
        </p:nvSpPr>
        <p:spPr bwMode="auto">
          <a:xfrm>
            <a:off x="1522413" y="44450"/>
            <a:ext cx="41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28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zh-CN" altLang="zh-CN">
              <a:solidFill>
                <a:srgbClr val="000000"/>
              </a:solidFill>
              <a:latin typeface="Arial" panose="020B0604020202020204" pitchFamily="34" charset="0"/>
              <a:ea typeface="宋体" panose="02010600030101010101" pitchFamily="2" charset="-122"/>
            </a:endParaRPr>
          </a:p>
        </p:txBody>
      </p:sp>
      <p:grpSp>
        <p:nvGrpSpPr>
          <p:cNvPr id="75" name="组合 74">
            <a:extLst>
              <a:ext uri="{FF2B5EF4-FFF2-40B4-BE49-F238E27FC236}">
                <a16:creationId xmlns:a16="http://schemas.microsoft.com/office/drawing/2014/main" id="{70461333-721B-6A3F-53E1-D5E1C345CB88}"/>
              </a:ext>
            </a:extLst>
          </p:cNvPr>
          <p:cNvGrpSpPr>
            <a:grpSpLocks/>
          </p:cNvGrpSpPr>
          <p:nvPr/>
        </p:nvGrpSpPr>
        <p:grpSpPr bwMode="auto">
          <a:xfrm>
            <a:off x="5056287" y="2363341"/>
            <a:ext cx="3643313" cy="2500313"/>
            <a:chOff x="4714876" y="3286124"/>
            <a:chExt cx="3643338" cy="2500330"/>
          </a:xfrm>
        </p:grpSpPr>
        <p:sp>
          <p:nvSpPr>
            <p:cNvPr id="63523" name="TextBox 35">
              <a:extLst>
                <a:ext uri="{FF2B5EF4-FFF2-40B4-BE49-F238E27FC236}">
                  <a16:creationId xmlns:a16="http://schemas.microsoft.com/office/drawing/2014/main" id="{30B47AFA-E86A-3487-BB9D-B6F394EB60F8}"/>
                </a:ext>
              </a:extLst>
            </p:cNvPr>
            <p:cNvSpPr txBox="1">
              <a:spLocks noChangeArrowheads="1"/>
            </p:cNvSpPr>
            <p:nvPr/>
          </p:nvSpPr>
          <p:spPr bwMode="auto">
            <a:xfrm>
              <a:off x="4929190" y="3357562"/>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000" b="1">
                  <a:solidFill>
                    <a:srgbClr val="0000FF"/>
                  </a:solidFill>
                  <a:latin typeface="微软雅黑" panose="020B0503020204020204" pitchFamily="34" charset="-122"/>
                  <a:ea typeface="微软雅黑" panose="020B0503020204020204" pitchFamily="34" charset="-122"/>
                </a:rPr>
                <a:t>0</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24" name="TextBox 36">
              <a:extLst>
                <a:ext uri="{FF2B5EF4-FFF2-40B4-BE49-F238E27FC236}">
                  <a16:creationId xmlns:a16="http://schemas.microsoft.com/office/drawing/2014/main" id="{B75301CC-B71E-1547-5C26-E44A4F3EBCAB}"/>
                </a:ext>
              </a:extLst>
            </p:cNvPr>
            <p:cNvSpPr txBox="1">
              <a:spLocks noChangeArrowheads="1"/>
            </p:cNvSpPr>
            <p:nvPr/>
          </p:nvSpPr>
          <p:spPr bwMode="auto">
            <a:xfrm>
              <a:off x="4929190" y="3743270"/>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25" name="TextBox 37">
              <a:extLst>
                <a:ext uri="{FF2B5EF4-FFF2-40B4-BE49-F238E27FC236}">
                  <a16:creationId xmlns:a16="http://schemas.microsoft.com/office/drawing/2014/main" id="{4A8223B7-D755-DF71-C48B-F211934411E7}"/>
                </a:ext>
              </a:extLst>
            </p:cNvPr>
            <p:cNvSpPr txBox="1">
              <a:spLocks noChangeArrowheads="1"/>
            </p:cNvSpPr>
            <p:nvPr/>
          </p:nvSpPr>
          <p:spPr bwMode="auto">
            <a:xfrm>
              <a:off x="4929190" y="4143380"/>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26" name="TextBox 38">
              <a:extLst>
                <a:ext uri="{FF2B5EF4-FFF2-40B4-BE49-F238E27FC236}">
                  <a16:creationId xmlns:a16="http://schemas.microsoft.com/office/drawing/2014/main" id="{DA6D99B9-D0F0-2725-2315-E192BFFDA52D}"/>
                </a:ext>
              </a:extLst>
            </p:cNvPr>
            <p:cNvSpPr txBox="1">
              <a:spLocks noChangeArrowheads="1"/>
            </p:cNvSpPr>
            <p:nvPr/>
          </p:nvSpPr>
          <p:spPr bwMode="auto">
            <a:xfrm>
              <a:off x="4929190" y="4529088"/>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27" name="TextBox 39">
              <a:extLst>
                <a:ext uri="{FF2B5EF4-FFF2-40B4-BE49-F238E27FC236}">
                  <a16:creationId xmlns:a16="http://schemas.microsoft.com/office/drawing/2014/main" id="{94A2119D-BB76-D57C-39F6-96A5B77CADD2}"/>
                </a:ext>
              </a:extLst>
            </p:cNvPr>
            <p:cNvSpPr txBox="1">
              <a:spLocks noChangeArrowheads="1"/>
            </p:cNvSpPr>
            <p:nvPr/>
          </p:nvSpPr>
          <p:spPr bwMode="auto">
            <a:xfrm>
              <a:off x="4929190" y="4929198"/>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28" name="TextBox 40">
              <a:extLst>
                <a:ext uri="{FF2B5EF4-FFF2-40B4-BE49-F238E27FC236}">
                  <a16:creationId xmlns:a16="http://schemas.microsoft.com/office/drawing/2014/main" id="{8C348413-73AF-9E6C-8576-E2699B89412D}"/>
                </a:ext>
              </a:extLst>
            </p:cNvPr>
            <p:cNvSpPr txBox="1">
              <a:spLocks noChangeArrowheads="1"/>
            </p:cNvSpPr>
            <p:nvPr/>
          </p:nvSpPr>
          <p:spPr bwMode="auto">
            <a:xfrm>
              <a:off x="4929190" y="5314906"/>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29" name="TextBox 41">
              <a:extLst>
                <a:ext uri="{FF2B5EF4-FFF2-40B4-BE49-F238E27FC236}">
                  <a16:creationId xmlns:a16="http://schemas.microsoft.com/office/drawing/2014/main" id="{7CA22A6F-7260-AB53-0C91-2F548B8F8F6C}"/>
                </a:ext>
              </a:extLst>
            </p:cNvPr>
            <p:cNvSpPr txBox="1">
              <a:spLocks noChangeArrowheads="1"/>
            </p:cNvSpPr>
            <p:nvPr/>
          </p:nvSpPr>
          <p:spPr bwMode="auto">
            <a:xfrm>
              <a:off x="5500694" y="3357562"/>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30" name="TextBox 42">
              <a:extLst>
                <a:ext uri="{FF2B5EF4-FFF2-40B4-BE49-F238E27FC236}">
                  <a16:creationId xmlns:a16="http://schemas.microsoft.com/office/drawing/2014/main" id="{6CF7EDC5-82CC-C776-43A1-E8CCA8AF25F9}"/>
                </a:ext>
              </a:extLst>
            </p:cNvPr>
            <p:cNvSpPr txBox="1">
              <a:spLocks noChangeArrowheads="1"/>
            </p:cNvSpPr>
            <p:nvPr/>
          </p:nvSpPr>
          <p:spPr bwMode="auto">
            <a:xfrm>
              <a:off x="5500694" y="3743270"/>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000" b="1">
                  <a:solidFill>
                    <a:srgbClr val="0000FF"/>
                  </a:solidFill>
                  <a:latin typeface="微软雅黑" panose="020B0503020204020204" pitchFamily="34" charset="-122"/>
                  <a:ea typeface="微软雅黑" panose="020B0503020204020204" pitchFamily="34" charset="-122"/>
                </a:rPr>
                <a:t>0</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31" name="TextBox 43">
              <a:extLst>
                <a:ext uri="{FF2B5EF4-FFF2-40B4-BE49-F238E27FC236}">
                  <a16:creationId xmlns:a16="http://schemas.microsoft.com/office/drawing/2014/main" id="{1D0F7A90-48ED-F9FD-BF2A-021FAE649AC2}"/>
                </a:ext>
              </a:extLst>
            </p:cNvPr>
            <p:cNvSpPr txBox="1">
              <a:spLocks noChangeArrowheads="1"/>
            </p:cNvSpPr>
            <p:nvPr/>
          </p:nvSpPr>
          <p:spPr bwMode="auto">
            <a:xfrm>
              <a:off x="5500694" y="4143380"/>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32" name="TextBox 44">
              <a:extLst>
                <a:ext uri="{FF2B5EF4-FFF2-40B4-BE49-F238E27FC236}">
                  <a16:creationId xmlns:a16="http://schemas.microsoft.com/office/drawing/2014/main" id="{193FF459-1C4C-2E08-2C5D-72C0EF62AAC8}"/>
                </a:ext>
              </a:extLst>
            </p:cNvPr>
            <p:cNvSpPr txBox="1">
              <a:spLocks noChangeArrowheads="1"/>
            </p:cNvSpPr>
            <p:nvPr/>
          </p:nvSpPr>
          <p:spPr bwMode="auto">
            <a:xfrm>
              <a:off x="5500694" y="4529088"/>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33" name="TextBox 45">
              <a:extLst>
                <a:ext uri="{FF2B5EF4-FFF2-40B4-BE49-F238E27FC236}">
                  <a16:creationId xmlns:a16="http://schemas.microsoft.com/office/drawing/2014/main" id="{BE58300C-9C14-92BA-3CF5-37FC7534BAC4}"/>
                </a:ext>
              </a:extLst>
            </p:cNvPr>
            <p:cNvSpPr txBox="1">
              <a:spLocks noChangeArrowheads="1"/>
            </p:cNvSpPr>
            <p:nvPr/>
          </p:nvSpPr>
          <p:spPr bwMode="auto">
            <a:xfrm>
              <a:off x="5500694" y="4929198"/>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34" name="TextBox 46">
              <a:extLst>
                <a:ext uri="{FF2B5EF4-FFF2-40B4-BE49-F238E27FC236}">
                  <a16:creationId xmlns:a16="http://schemas.microsoft.com/office/drawing/2014/main" id="{5CEB0A50-E0ED-8361-65EE-5676E57CB65D}"/>
                </a:ext>
              </a:extLst>
            </p:cNvPr>
            <p:cNvSpPr txBox="1">
              <a:spLocks noChangeArrowheads="1"/>
            </p:cNvSpPr>
            <p:nvPr/>
          </p:nvSpPr>
          <p:spPr bwMode="auto">
            <a:xfrm>
              <a:off x="5500694" y="5314906"/>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35" name="TextBox 47">
              <a:extLst>
                <a:ext uri="{FF2B5EF4-FFF2-40B4-BE49-F238E27FC236}">
                  <a16:creationId xmlns:a16="http://schemas.microsoft.com/office/drawing/2014/main" id="{BFF2921C-3256-B746-6448-72F633CC36E4}"/>
                </a:ext>
              </a:extLst>
            </p:cNvPr>
            <p:cNvSpPr txBox="1">
              <a:spLocks noChangeArrowheads="1"/>
            </p:cNvSpPr>
            <p:nvPr/>
          </p:nvSpPr>
          <p:spPr bwMode="auto">
            <a:xfrm>
              <a:off x="6000760" y="3357562"/>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000" b="1">
                  <a:solidFill>
                    <a:srgbClr val="0000FF"/>
                  </a:solidFill>
                  <a:latin typeface="微软雅黑" panose="020B0503020204020204" pitchFamily="34" charset="-122"/>
                  <a:ea typeface="微软雅黑" panose="020B0503020204020204" pitchFamily="34" charset="-122"/>
                </a:rPr>
                <a:t>10</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36" name="TextBox 48">
              <a:extLst>
                <a:ext uri="{FF2B5EF4-FFF2-40B4-BE49-F238E27FC236}">
                  <a16:creationId xmlns:a16="http://schemas.microsoft.com/office/drawing/2014/main" id="{54401C1C-7A00-0C90-60A2-DE0905273CC0}"/>
                </a:ext>
              </a:extLst>
            </p:cNvPr>
            <p:cNvSpPr txBox="1">
              <a:spLocks noChangeArrowheads="1"/>
            </p:cNvSpPr>
            <p:nvPr/>
          </p:nvSpPr>
          <p:spPr bwMode="auto">
            <a:xfrm>
              <a:off x="6000760" y="3743270"/>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000" b="1">
                  <a:solidFill>
                    <a:srgbClr val="0000FF"/>
                  </a:solidFill>
                  <a:latin typeface="微软雅黑" panose="020B0503020204020204" pitchFamily="34" charset="-122"/>
                  <a:ea typeface="微软雅黑" panose="020B0503020204020204" pitchFamily="34" charset="-122"/>
                </a:rPr>
                <a:t>4</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37" name="TextBox 49">
              <a:extLst>
                <a:ext uri="{FF2B5EF4-FFF2-40B4-BE49-F238E27FC236}">
                  <a16:creationId xmlns:a16="http://schemas.microsoft.com/office/drawing/2014/main" id="{3EAE8AD2-4A92-1DE4-02AE-0A959332A48A}"/>
                </a:ext>
              </a:extLst>
            </p:cNvPr>
            <p:cNvSpPr txBox="1">
              <a:spLocks noChangeArrowheads="1"/>
            </p:cNvSpPr>
            <p:nvPr/>
          </p:nvSpPr>
          <p:spPr bwMode="auto">
            <a:xfrm>
              <a:off x="6000760" y="4143380"/>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000" b="1">
                  <a:solidFill>
                    <a:srgbClr val="0000FF"/>
                  </a:solidFill>
                  <a:latin typeface="微软雅黑" panose="020B0503020204020204" pitchFamily="34" charset="-122"/>
                  <a:ea typeface="微软雅黑" panose="020B0503020204020204" pitchFamily="34" charset="-122"/>
                </a:rPr>
                <a:t>0</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38" name="TextBox 50">
              <a:extLst>
                <a:ext uri="{FF2B5EF4-FFF2-40B4-BE49-F238E27FC236}">
                  <a16:creationId xmlns:a16="http://schemas.microsoft.com/office/drawing/2014/main" id="{7130EEF2-764D-2FE6-96FF-7FD668A2F051}"/>
                </a:ext>
              </a:extLst>
            </p:cNvPr>
            <p:cNvSpPr txBox="1">
              <a:spLocks noChangeArrowheads="1"/>
            </p:cNvSpPr>
            <p:nvPr/>
          </p:nvSpPr>
          <p:spPr bwMode="auto">
            <a:xfrm>
              <a:off x="6000760" y="4529088"/>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39" name="TextBox 51">
              <a:extLst>
                <a:ext uri="{FF2B5EF4-FFF2-40B4-BE49-F238E27FC236}">
                  <a16:creationId xmlns:a16="http://schemas.microsoft.com/office/drawing/2014/main" id="{69608CEB-D19C-11D6-FA31-1605A774EBE9}"/>
                </a:ext>
              </a:extLst>
            </p:cNvPr>
            <p:cNvSpPr txBox="1">
              <a:spLocks noChangeArrowheads="1"/>
            </p:cNvSpPr>
            <p:nvPr/>
          </p:nvSpPr>
          <p:spPr bwMode="auto">
            <a:xfrm>
              <a:off x="6000760" y="4929198"/>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40" name="TextBox 52">
              <a:extLst>
                <a:ext uri="{FF2B5EF4-FFF2-40B4-BE49-F238E27FC236}">
                  <a16:creationId xmlns:a16="http://schemas.microsoft.com/office/drawing/2014/main" id="{F868534F-75D7-2AA4-7338-3DED7C98509D}"/>
                </a:ext>
              </a:extLst>
            </p:cNvPr>
            <p:cNvSpPr txBox="1">
              <a:spLocks noChangeArrowheads="1"/>
            </p:cNvSpPr>
            <p:nvPr/>
          </p:nvSpPr>
          <p:spPr bwMode="auto">
            <a:xfrm>
              <a:off x="6000760" y="5314906"/>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41" name="TextBox 53">
              <a:extLst>
                <a:ext uri="{FF2B5EF4-FFF2-40B4-BE49-F238E27FC236}">
                  <a16:creationId xmlns:a16="http://schemas.microsoft.com/office/drawing/2014/main" id="{38A42477-37E1-248B-0A2D-2AEBFBD9AEAC}"/>
                </a:ext>
              </a:extLst>
            </p:cNvPr>
            <p:cNvSpPr txBox="1">
              <a:spLocks noChangeArrowheads="1"/>
            </p:cNvSpPr>
            <p:nvPr/>
          </p:nvSpPr>
          <p:spPr bwMode="auto">
            <a:xfrm>
              <a:off x="6572264" y="3357562"/>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42" name="TextBox 54">
              <a:extLst>
                <a:ext uri="{FF2B5EF4-FFF2-40B4-BE49-F238E27FC236}">
                  <a16:creationId xmlns:a16="http://schemas.microsoft.com/office/drawing/2014/main" id="{5CC2C007-1AAD-C184-A549-000DE906BCA5}"/>
                </a:ext>
              </a:extLst>
            </p:cNvPr>
            <p:cNvSpPr txBox="1">
              <a:spLocks noChangeArrowheads="1"/>
            </p:cNvSpPr>
            <p:nvPr/>
          </p:nvSpPr>
          <p:spPr bwMode="auto">
            <a:xfrm>
              <a:off x="6572264" y="3743270"/>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43" name="TextBox 55">
              <a:extLst>
                <a:ext uri="{FF2B5EF4-FFF2-40B4-BE49-F238E27FC236}">
                  <a16:creationId xmlns:a16="http://schemas.microsoft.com/office/drawing/2014/main" id="{EE7474EC-7373-B14A-DECC-B1756285F5EC}"/>
                </a:ext>
              </a:extLst>
            </p:cNvPr>
            <p:cNvSpPr txBox="1">
              <a:spLocks noChangeArrowheads="1"/>
            </p:cNvSpPr>
            <p:nvPr/>
          </p:nvSpPr>
          <p:spPr bwMode="auto">
            <a:xfrm>
              <a:off x="6572264" y="4143380"/>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000" b="1">
                  <a:solidFill>
                    <a:srgbClr val="0000FF"/>
                  </a:solidFill>
                  <a:latin typeface="微软雅黑" panose="020B0503020204020204" pitchFamily="34" charset="-122"/>
                  <a:ea typeface="微软雅黑" panose="020B0503020204020204" pitchFamily="34" charset="-122"/>
                </a:rPr>
                <a:t>50</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44" name="TextBox 56">
              <a:extLst>
                <a:ext uri="{FF2B5EF4-FFF2-40B4-BE49-F238E27FC236}">
                  <a16:creationId xmlns:a16="http://schemas.microsoft.com/office/drawing/2014/main" id="{10C838ED-04CB-D366-F76A-462BF602C2E5}"/>
                </a:ext>
              </a:extLst>
            </p:cNvPr>
            <p:cNvSpPr txBox="1">
              <a:spLocks noChangeArrowheads="1"/>
            </p:cNvSpPr>
            <p:nvPr/>
          </p:nvSpPr>
          <p:spPr bwMode="auto">
            <a:xfrm>
              <a:off x="6572264" y="4529088"/>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000" b="1">
                  <a:solidFill>
                    <a:srgbClr val="0000FF"/>
                  </a:solidFill>
                  <a:latin typeface="微软雅黑" panose="020B0503020204020204" pitchFamily="34" charset="-122"/>
                  <a:ea typeface="微软雅黑" panose="020B0503020204020204" pitchFamily="34" charset="-122"/>
                </a:rPr>
                <a:t>0</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45" name="TextBox 57">
              <a:extLst>
                <a:ext uri="{FF2B5EF4-FFF2-40B4-BE49-F238E27FC236}">
                  <a16:creationId xmlns:a16="http://schemas.microsoft.com/office/drawing/2014/main" id="{EF111F44-2A39-A318-6AB2-9B80A49FACCF}"/>
                </a:ext>
              </a:extLst>
            </p:cNvPr>
            <p:cNvSpPr txBox="1">
              <a:spLocks noChangeArrowheads="1"/>
            </p:cNvSpPr>
            <p:nvPr/>
          </p:nvSpPr>
          <p:spPr bwMode="auto">
            <a:xfrm>
              <a:off x="6572264" y="4929198"/>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000" b="1">
                  <a:solidFill>
                    <a:srgbClr val="0000FF"/>
                  </a:solidFill>
                  <a:latin typeface="微软雅黑" panose="020B0503020204020204" pitchFamily="34" charset="-122"/>
                  <a:ea typeface="微软雅黑" panose="020B0503020204020204" pitchFamily="34" charset="-122"/>
                </a:rPr>
                <a:t>20</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46" name="TextBox 58">
              <a:extLst>
                <a:ext uri="{FF2B5EF4-FFF2-40B4-BE49-F238E27FC236}">
                  <a16:creationId xmlns:a16="http://schemas.microsoft.com/office/drawing/2014/main" id="{4B6014F5-5BF0-46D1-BD9D-BDDBDC8DC92F}"/>
                </a:ext>
              </a:extLst>
            </p:cNvPr>
            <p:cNvSpPr txBox="1">
              <a:spLocks noChangeArrowheads="1"/>
            </p:cNvSpPr>
            <p:nvPr/>
          </p:nvSpPr>
          <p:spPr bwMode="auto">
            <a:xfrm>
              <a:off x="6572264" y="5314906"/>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47" name="TextBox 59">
              <a:extLst>
                <a:ext uri="{FF2B5EF4-FFF2-40B4-BE49-F238E27FC236}">
                  <a16:creationId xmlns:a16="http://schemas.microsoft.com/office/drawing/2014/main" id="{ADD9126C-48D1-0824-24F8-1EC479C6FEEF}"/>
                </a:ext>
              </a:extLst>
            </p:cNvPr>
            <p:cNvSpPr txBox="1">
              <a:spLocks noChangeArrowheads="1"/>
            </p:cNvSpPr>
            <p:nvPr/>
          </p:nvSpPr>
          <p:spPr bwMode="auto">
            <a:xfrm>
              <a:off x="7072330" y="3357562"/>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000" b="1">
                  <a:solidFill>
                    <a:srgbClr val="0000FF"/>
                  </a:solidFill>
                  <a:latin typeface="微软雅黑" panose="020B0503020204020204" pitchFamily="34" charset="-122"/>
                  <a:ea typeface="微软雅黑" panose="020B0503020204020204" pitchFamily="34" charset="-122"/>
                </a:rPr>
                <a:t>30</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48" name="TextBox 60">
              <a:extLst>
                <a:ext uri="{FF2B5EF4-FFF2-40B4-BE49-F238E27FC236}">
                  <a16:creationId xmlns:a16="http://schemas.microsoft.com/office/drawing/2014/main" id="{A12FE0D2-BD53-FF09-C086-A48C056E43A3}"/>
                </a:ext>
              </a:extLst>
            </p:cNvPr>
            <p:cNvSpPr txBox="1">
              <a:spLocks noChangeArrowheads="1"/>
            </p:cNvSpPr>
            <p:nvPr/>
          </p:nvSpPr>
          <p:spPr bwMode="auto">
            <a:xfrm>
              <a:off x="7072330" y="3743270"/>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49" name="TextBox 61">
              <a:extLst>
                <a:ext uri="{FF2B5EF4-FFF2-40B4-BE49-F238E27FC236}">
                  <a16:creationId xmlns:a16="http://schemas.microsoft.com/office/drawing/2014/main" id="{1ABD3DCD-2F61-C428-E9DA-DACF9BBC27DC}"/>
                </a:ext>
              </a:extLst>
            </p:cNvPr>
            <p:cNvSpPr txBox="1">
              <a:spLocks noChangeArrowheads="1"/>
            </p:cNvSpPr>
            <p:nvPr/>
          </p:nvSpPr>
          <p:spPr bwMode="auto">
            <a:xfrm>
              <a:off x="7072330" y="4143380"/>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50" name="TextBox 62">
              <a:extLst>
                <a:ext uri="{FF2B5EF4-FFF2-40B4-BE49-F238E27FC236}">
                  <a16:creationId xmlns:a16="http://schemas.microsoft.com/office/drawing/2014/main" id="{873B9AD9-A24A-B322-1FF6-E2EB1F3E472A}"/>
                </a:ext>
              </a:extLst>
            </p:cNvPr>
            <p:cNvSpPr txBox="1">
              <a:spLocks noChangeArrowheads="1"/>
            </p:cNvSpPr>
            <p:nvPr/>
          </p:nvSpPr>
          <p:spPr bwMode="auto">
            <a:xfrm>
              <a:off x="7072330" y="4529088"/>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51" name="TextBox 63">
              <a:extLst>
                <a:ext uri="{FF2B5EF4-FFF2-40B4-BE49-F238E27FC236}">
                  <a16:creationId xmlns:a16="http://schemas.microsoft.com/office/drawing/2014/main" id="{714BE47F-6FA2-1A8F-94C0-97C9495A693D}"/>
                </a:ext>
              </a:extLst>
            </p:cNvPr>
            <p:cNvSpPr txBox="1">
              <a:spLocks noChangeArrowheads="1"/>
            </p:cNvSpPr>
            <p:nvPr/>
          </p:nvSpPr>
          <p:spPr bwMode="auto">
            <a:xfrm>
              <a:off x="7072330" y="4929198"/>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000" b="1">
                  <a:solidFill>
                    <a:srgbClr val="0000FF"/>
                  </a:solidFill>
                  <a:latin typeface="微软雅黑" panose="020B0503020204020204" pitchFamily="34" charset="-122"/>
                  <a:ea typeface="微软雅黑" panose="020B0503020204020204" pitchFamily="34" charset="-122"/>
                </a:rPr>
                <a:t>0</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52" name="TextBox 64">
              <a:extLst>
                <a:ext uri="{FF2B5EF4-FFF2-40B4-BE49-F238E27FC236}">
                  <a16:creationId xmlns:a16="http://schemas.microsoft.com/office/drawing/2014/main" id="{F1FDAB61-70CE-B6F3-69A0-088210B13C50}"/>
                </a:ext>
              </a:extLst>
            </p:cNvPr>
            <p:cNvSpPr txBox="1">
              <a:spLocks noChangeArrowheads="1"/>
            </p:cNvSpPr>
            <p:nvPr/>
          </p:nvSpPr>
          <p:spPr bwMode="auto">
            <a:xfrm>
              <a:off x="7072330" y="5314906"/>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53" name="TextBox 65">
              <a:extLst>
                <a:ext uri="{FF2B5EF4-FFF2-40B4-BE49-F238E27FC236}">
                  <a16:creationId xmlns:a16="http://schemas.microsoft.com/office/drawing/2014/main" id="{081CEED0-61F4-78F2-EFD4-6CC887591ABA}"/>
                </a:ext>
              </a:extLst>
            </p:cNvPr>
            <p:cNvSpPr txBox="1">
              <a:spLocks noChangeArrowheads="1"/>
            </p:cNvSpPr>
            <p:nvPr/>
          </p:nvSpPr>
          <p:spPr bwMode="auto">
            <a:xfrm>
              <a:off x="7643834" y="3357562"/>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000" b="1">
                  <a:solidFill>
                    <a:srgbClr val="0000FF"/>
                  </a:solidFill>
                  <a:latin typeface="微软雅黑" panose="020B0503020204020204" pitchFamily="34" charset="-122"/>
                  <a:ea typeface="微软雅黑" panose="020B0503020204020204" pitchFamily="34" charset="-122"/>
                </a:rPr>
                <a:t>100</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54" name="TextBox 66">
              <a:extLst>
                <a:ext uri="{FF2B5EF4-FFF2-40B4-BE49-F238E27FC236}">
                  <a16:creationId xmlns:a16="http://schemas.microsoft.com/office/drawing/2014/main" id="{9811A02D-4552-3873-409E-CA6A27568AD8}"/>
                </a:ext>
              </a:extLst>
            </p:cNvPr>
            <p:cNvSpPr txBox="1">
              <a:spLocks noChangeArrowheads="1"/>
            </p:cNvSpPr>
            <p:nvPr/>
          </p:nvSpPr>
          <p:spPr bwMode="auto">
            <a:xfrm>
              <a:off x="7643834" y="3743270"/>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55" name="TextBox 67">
              <a:extLst>
                <a:ext uri="{FF2B5EF4-FFF2-40B4-BE49-F238E27FC236}">
                  <a16:creationId xmlns:a16="http://schemas.microsoft.com/office/drawing/2014/main" id="{906C6620-D4A6-D62D-2112-FD663E57E371}"/>
                </a:ext>
              </a:extLst>
            </p:cNvPr>
            <p:cNvSpPr txBox="1">
              <a:spLocks noChangeArrowheads="1"/>
            </p:cNvSpPr>
            <p:nvPr/>
          </p:nvSpPr>
          <p:spPr bwMode="auto">
            <a:xfrm>
              <a:off x="7643834" y="4143380"/>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0000FF"/>
                  </a:solidFill>
                  <a:latin typeface="微软雅黑" panose="020B0503020204020204" pitchFamily="34" charset="-122"/>
                  <a:ea typeface="微软雅黑" panose="020B0503020204020204" pitchFamily="34" charset="-122"/>
                </a:rPr>
                <a:t>∞</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56" name="TextBox 68">
              <a:extLst>
                <a:ext uri="{FF2B5EF4-FFF2-40B4-BE49-F238E27FC236}">
                  <a16:creationId xmlns:a16="http://schemas.microsoft.com/office/drawing/2014/main" id="{648D8ABD-7E78-D7E0-DF76-7B4ABBCA8035}"/>
                </a:ext>
              </a:extLst>
            </p:cNvPr>
            <p:cNvSpPr txBox="1">
              <a:spLocks noChangeArrowheads="1"/>
            </p:cNvSpPr>
            <p:nvPr/>
          </p:nvSpPr>
          <p:spPr bwMode="auto">
            <a:xfrm>
              <a:off x="7643834" y="4529088"/>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000" b="1">
                  <a:solidFill>
                    <a:srgbClr val="0000FF"/>
                  </a:solidFill>
                  <a:latin typeface="微软雅黑" panose="020B0503020204020204" pitchFamily="34" charset="-122"/>
                  <a:ea typeface="微软雅黑" panose="020B0503020204020204" pitchFamily="34" charset="-122"/>
                </a:rPr>
                <a:t>10</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57" name="TextBox 69">
              <a:extLst>
                <a:ext uri="{FF2B5EF4-FFF2-40B4-BE49-F238E27FC236}">
                  <a16:creationId xmlns:a16="http://schemas.microsoft.com/office/drawing/2014/main" id="{EAC2F494-DACF-F3B9-9729-A4C299331106}"/>
                </a:ext>
              </a:extLst>
            </p:cNvPr>
            <p:cNvSpPr txBox="1">
              <a:spLocks noChangeArrowheads="1"/>
            </p:cNvSpPr>
            <p:nvPr/>
          </p:nvSpPr>
          <p:spPr bwMode="auto">
            <a:xfrm>
              <a:off x="7643834" y="4929198"/>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000" b="1">
                  <a:solidFill>
                    <a:srgbClr val="0000FF"/>
                  </a:solidFill>
                  <a:latin typeface="微软雅黑" panose="020B0503020204020204" pitchFamily="34" charset="-122"/>
                  <a:ea typeface="微软雅黑" panose="020B0503020204020204" pitchFamily="34" charset="-122"/>
                </a:rPr>
                <a:t>60</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63558" name="TextBox 70">
              <a:extLst>
                <a:ext uri="{FF2B5EF4-FFF2-40B4-BE49-F238E27FC236}">
                  <a16:creationId xmlns:a16="http://schemas.microsoft.com/office/drawing/2014/main" id="{FCC16A49-FA4C-5B2C-2B20-69ABDBA1AD00}"/>
                </a:ext>
              </a:extLst>
            </p:cNvPr>
            <p:cNvSpPr txBox="1">
              <a:spLocks noChangeArrowheads="1"/>
            </p:cNvSpPr>
            <p:nvPr/>
          </p:nvSpPr>
          <p:spPr bwMode="auto">
            <a:xfrm>
              <a:off x="7643834" y="5314906"/>
              <a:ext cx="500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2000" b="1">
                  <a:solidFill>
                    <a:srgbClr val="0000FF"/>
                  </a:solidFill>
                  <a:latin typeface="微软雅黑" panose="020B0503020204020204" pitchFamily="34" charset="-122"/>
                  <a:ea typeface="微软雅黑" panose="020B0503020204020204" pitchFamily="34" charset="-122"/>
                </a:rPr>
                <a:t>0</a:t>
              </a:r>
              <a:endParaRPr lang="zh-CN" altLang="en-US" sz="2000" b="1">
                <a:solidFill>
                  <a:srgbClr val="0000FF"/>
                </a:solidFill>
                <a:latin typeface="微软雅黑" panose="020B0503020204020204" pitchFamily="34" charset="-122"/>
                <a:ea typeface="微软雅黑" panose="020B0503020204020204" pitchFamily="34" charset="-122"/>
              </a:endParaRPr>
            </a:p>
          </p:txBody>
        </p:sp>
        <p:sp>
          <p:nvSpPr>
            <p:cNvPr id="73" name="左中括号 72">
              <a:extLst>
                <a:ext uri="{FF2B5EF4-FFF2-40B4-BE49-F238E27FC236}">
                  <a16:creationId xmlns:a16="http://schemas.microsoft.com/office/drawing/2014/main" id="{D49095BC-FFA9-C02D-D081-25DE68F65895}"/>
                </a:ext>
              </a:extLst>
            </p:cNvPr>
            <p:cNvSpPr/>
            <p:nvPr/>
          </p:nvSpPr>
          <p:spPr>
            <a:xfrm>
              <a:off x="4714876" y="3357562"/>
              <a:ext cx="142876" cy="2428892"/>
            </a:xfrm>
            <a:prstGeom prst="leftBracket">
              <a:avLst/>
            </a:prstGeom>
            <a:ln>
              <a:tailEnd type="none"/>
            </a:ln>
          </p:spPr>
          <p:style>
            <a:lnRef idx="2">
              <a:schemeClr val="dk1"/>
            </a:lnRef>
            <a:fillRef idx="0">
              <a:schemeClr val="dk1"/>
            </a:fillRef>
            <a:effectRef idx="1">
              <a:schemeClr val="dk1"/>
            </a:effectRef>
            <a:fontRef idx="minor">
              <a:schemeClr val="tx1"/>
            </a:fontRef>
          </p:style>
          <p:txBody>
            <a:bodyPr anchor="ctr"/>
            <a:lstStyle/>
            <a:p>
              <a:pPr algn="ctr" eaLnBrk="1" fontAlgn="auto" hangingPunct="1">
                <a:spcBef>
                  <a:spcPts val="0"/>
                </a:spcBef>
                <a:spcAft>
                  <a:spcPts val="0"/>
                </a:spcAft>
                <a:defRPr/>
              </a:pPr>
              <a:endParaRPr lang="zh-CN" altLang="en-US" b="1">
                <a:solidFill>
                  <a:prstClr val="black"/>
                </a:solidFill>
              </a:endParaRPr>
            </a:p>
          </p:txBody>
        </p:sp>
        <p:sp>
          <p:nvSpPr>
            <p:cNvPr id="74" name="右中括号 73">
              <a:extLst>
                <a:ext uri="{FF2B5EF4-FFF2-40B4-BE49-F238E27FC236}">
                  <a16:creationId xmlns:a16="http://schemas.microsoft.com/office/drawing/2014/main" id="{2413D62C-745D-5D81-39C6-6F75B04A58F0}"/>
                </a:ext>
              </a:extLst>
            </p:cNvPr>
            <p:cNvSpPr/>
            <p:nvPr/>
          </p:nvSpPr>
          <p:spPr>
            <a:xfrm>
              <a:off x="8143900" y="3286124"/>
              <a:ext cx="214314" cy="2428892"/>
            </a:xfrm>
            <a:prstGeom prst="rightBracket">
              <a:avLst/>
            </a:prstGeom>
            <a:ln>
              <a:tailEnd type="none"/>
            </a:ln>
          </p:spPr>
          <p:style>
            <a:lnRef idx="2">
              <a:schemeClr val="dk1"/>
            </a:lnRef>
            <a:fillRef idx="0">
              <a:schemeClr val="dk1"/>
            </a:fillRef>
            <a:effectRef idx="1">
              <a:schemeClr val="dk1"/>
            </a:effectRef>
            <a:fontRef idx="minor">
              <a:schemeClr val="tx1"/>
            </a:fontRef>
          </p:style>
          <p:txBody>
            <a:bodyPr anchor="ctr"/>
            <a:lstStyle/>
            <a:p>
              <a:pPr algn="ctr" eaLnBrk="1" fontAlgn="auto" hangingPunct="1">
                <a:spcBef>
                  <a:spcPts val="0"/>
                </a:spcBef>
                <a:spcAft>
                  <a:spcPts val="0"/>
                </a:spcAft>
                <a:defRPr/>
              </a:pPr>
              <a:endParaRPr lang="zh-CN" altLang="en-US" b="1">
                <a:solidFill>
                  <a:prstClr val="black"/>
                </a:solidFill>
              </a:endParaRPr>
            </a:p>
          </p:txBody>
        </p:sp>
      </p:grpSp>
      <p:sp>
        <p:nvSpPr>
          <p:cNvPr id="76" name="右箭头 75">
            <a:extLst>
              <a:ext uri="{FF2B5EF4-FFF2-40B4-BE49-F238E27FC236}">
                <a16:creationId xmlns:a16="http://schemas.microsoft.com/office/drawing/2014/main" id="{90C19AE8-DE84-3029-836A-8FCBE13F93C2}"/>
              </a:ext>
            </a:extLst>
          </p:cNvPr>
          <p:cNvSpPr/>
          <p:nvPr/>
        </p:nvSpPr>
        <p:spPr>
          <a:xfrm>
            <a:off x="4056162" y="3363466"/>
            <a:ext cx="500063" cy="28575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fontAlgn="auto" hangingPunct="1">
              <a:spcBef>
                <a:spcPts val="0"/>
              </a:spcBef>
              <a:spcAft>
                <a:spcPts val="0"/>
              </a:spcAft>
              <a:defRPr/>
            </a:pPr>
            <a:endParaRPr lang="zh-CN" altLang="en-US" b="1">
              <a:solidFill>
                <a:prstClr val="white"/>
              </a:solidFill>
            </a:endParaRPr>
          </a:p>
        </p:txBody>
      </p:sp>
      <p:sp>
        <p:nvSpPr>
          <p:cNvPr id="63516" name="TextBox 76">
            <a:extLst>
              <a:ext uri="{FF2B5EF4-FFF2-40B4-BE49-F238E27FC236}">
                <a16:creationId xmlns:a16="http://schemas.microsoft.com/office/drawing/2014/main" id="{ACCE7CEC-F65B-5E80-80AD-806ACB5D29AD}"/>
              </a:ext>
            </a:extLst>
          </p:cNvPr>
          <p:cNvSpPr txBox="1">
            <a:spLocks noChangeArrowheads="1"/>
          </p:cNvSpPr>
          <p:nvPr/>
        </p:nvSpPr>
        <p:spPr bwMode="auto">
          <a:xfrm>
            <a:off x="984350" y="1790254"/>
            <a:ext cx="12858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en-US" sz="2200" b="1">
                <a:solidFill>
                  <a:srgbClr val="0000FF"/>
                </a:solidFill>
                <a:latin typeface="Consolas" panose="020B0609020204030204" pitchFamily="49" charset="0"/>
                <a:ea typeface="楷体" panose="02010609060101010101" pitchFamily="49" charset="-122"/>
                <a:cs typeface="Consolas" panose="020B0609020204030204" pitchFamily="49" charset="0"/>
              </a:rPr>
              <a:t>实例图</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64514" name="TextBox 1">
            <a:extLst>
              <a:ext uri="{FF2B5EF4-FFF2-40B4-BE49-F238E27FC236}">
                <a16:creationId xmlns:a16="http://schemas.microsoft.com/office/drawing/2014/main" id="{08D33308-1DA1-958C-9603-181484A6B16E}"/>
              </a:ext>
            </a:extLst>
          </p:cNvPr>
          <p:cNvSpPr txBox="1">
            <a:spLocks noChangeArrowheads="1"/>
          </p:cNvSpPr>
          <p:nvPr/>
        </p:nvSpPr>
        <p:spPr bwMode="auto">
          <a:xfrm>
            <a:off x="1990750" y="1115219"/>
            <a:ext cx="3357563"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300" b="1" dirty="0">
                <a:solidFill>
                  <a:srgbClr val="0000FF"/>
                </a:solidFill>
                <a:latin typeface="华文楷体" panose="02010600040101010101" pitchFamily="2" charset="-122"/>
                <a:ea typeface="华文楷体" panose="02010600040101010101" pitchFamily="2" charset="-122"/>
              </a:rPr>
              <a:t>队列结点类型声明如下：</a:t>
            </a:r>
          </a:p>
        </p:txBody>
      </p:sp>
      <p:sp>
        <p:nvSpPr>
          <p:cNvPr id="3" name="TextBox 2">
            <a:extLst>
              <a:ext uri="{FF2B5EF4-FFF2-40B4-BE49-F238E27FC236}">
                <a16:creationId xmlns:a16="http://schemas.microsoft.com/office/drawing/2014/main" id="{C0B4A61C-528A-7FDC-7D1E-B398348D29A3}"/>
              </a:ext>
            </a:extLst>
          </p:cNvPr>
          <p:cNvSpPr txBox="1"/>
          <p:nvPr/>
        </p:nvSpPr>
        <p:spPr>
          <a:xfrm>
            <a:off x="2595563" y="2073275"/>
            <a:ext cx="6072187" cy="1706563"/>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lIns="180000" tIns="144000" bIns="144000">
            <a:spAutoFit/>
          </a:bodyPr>
          <a:lstStyle/>
          <a:p>
            <a:pPr eaLnBrk="1" fontAlgn="auto" hangingPunct="1">
              <a:spcBef>
                <a:spcPts val="0"/>
              </a:spcBef>
              <a:spcAft>
                <a:spcPts val="0"/>
              </a:spcAft>
              <a:defRPr/>
            </a:pPr>
            <a:r>
              <a:rPr lang="en-US" altLang="zh-CN" sz="2300" b="1" dirty="0">
                <a:solidFill>
                  <a:srgbClr val="0000FF"/>
                </a:solidFill>
                <a:latin typeface="+mn-ea"/>
                <a:cs typeface="Calibri" panose="020F0502020204030204" pitchFamily="34" charset="0"/>
              </a:rPr>
              <a:t>struct </a:t>
            </a:r>
            <a:r>
              <a:rPr lang="en-US" altLang="zh-CN" sz="2300" b="1" dirty="0" err="1">
                <a:solidFill>
                  <a:srgbClr val="0000FF"/>
                </a:solidFill>
                <a:latin typeface="+mn-ea"/>
                <a:cs typeface="Calibri" panose="020F0502020204030204" pitchFamily="34" charset="0"/>
              </a:rPr>
              <a:t>NodeType</a:t>
            </a:r>
            <a:r>
              <a:rPr lang="en-US" altLang="zh-CN" sz="2300" b="1" dirty="0">
                <a:solidFill>
                  <a:srgbClr val="0000FF"/>
                </a:solidFill>
                <a:latin typeface="+mn-ea"/>
                <a:cs typeface="Calibri" panose="020F0502020204030204" pitchFamily="34" charset="0"/>
              </a:rPr>
              <a:t>		//</a:t>
            </a:r>
            <a:r>
              <a:rPr lang="zh-CN" altLang="zh-CN" sz="2300" b="1" dirty="0">
                <a:solidFill>
                  <a:srgbClr val="0000FF"/>
                </a:solidFill>
                <a:latin typeface="+mn-ea"/>
                <a:cs typeface="Calibri" panose="020F0502020204030204" pitchFamily="34" charset="0"/>
              </a:rPr>
              <a:t>队列结点类型</a:t>
            </a:r>
          </a:p>
          <a:p>
            <a:pPr eaLnBrk="1" fontAlgn="auto" hangingPunct="1">
              <a:spcBef>
                <a:spcPts val="0"/>
              </a:spcBef>
              <a:spcAft>
                <a:spcPts val="0"/>
              </a:spcAft>
              <a:defRPr/>
            </a:pPr>
            <a:r>
              <a:rPr lang="en-US" altLang="zh-CN" sz="2300" b="1" dirty="0">
                <a:solidFill>
                  <a:srgbClr val="0000FF"/>
                </a:solidFill>
                <a:latin typeface="+mn-ea"/>
                <a:cs typeface="Calibri" panose="020F0502020204030204" pitchFamily="34" charset="0"/>
              </a:rPr>
              <a:t>{  int </a:t>
            </a:r>
            <a:r>
              <a:rPr lang="en-US" altLang="zh-CN" sz="2300" b="1" dirty="0" err="1">
                <a:solidFill>
                  <a:srgbClr val="0000FF"/>
                </a:solidFill>
                <a:latin typeface="+mn-ea"/>
                <a:cs typeface="Calibri" panose="020F0502020204030204" pitchFamily="34" charset="0"/>
              </a:rPr>
              <a:t>vno</a:t>
            </a:r>
            <a:r>
              <a:rPr lang="en-US" altLang="zh-CN" sz="2300" b="1" dirty="0">
                <a:solidFill>
                  <a:srgbClr val="0000FF"/>
                </a:solidFill>
                <a:latin typeface="+mn-ea"/>
                <a:cs typeface="Calibri" panose="020F0502020204030204" pitchFamily="34" charset="0"/>
              </a:rPr>
              <a:t>;			//</a:t>
            </a:r>
            <a:r>
              <a:rPr lang="zh-CN" altLang="zh-CN" sz="2300" b="1" dirty="0">
                <a:solidFill>
                  <a:srgbClr val="0000FF"/>
                </a:solidFill>
                <a:latin typeface="+mn-ea"/>
                <a:cs typeface="Calibri" panose="020F0502020204030204" pitchFamily="34" charset="0"/>
              </a:rPr>
              <a:t>顶点编号</a:t>
            </a:r>
          </a:p>
          <a:p>
            <a:pPr eaLnBrk="1" fontAlgn="auto" hangingPunct="1">
              <a:spcBef>
                <a:spcPts val="0"/>
              </a:spcBef>
              <a:spcAft>
                <a:spcPts val="0"/>
              </a:spcAft>
              <a:defRPr/>
            </a:pPr>
            <a:r>
              <a:rPr lang="en-US" altLang="zh-CN" sz="2300" b="1" dirty="0">
                <a:solidFill>
                  <a:srgbClr val="0000FF"/>
                </a:solidFill>
                <a:latin typeface="+mn-ea"/>
                <a:cs typeface="Calibri" panose="020F0502020204030204" pitchFamily="34" charset="0"/>
              </a:rPr>
              <a:t>   int length;			//</a:t>
            </a:r>
            <a:r>
              <a:rPr lang="zh-CN" altLang="zh-CN" sz="2300" b="1" dirty="0">
                <a:solidFill>
                  <a:srgbClr val="0000FF"/>
                </a:solidFill>
                <a:latin typeface="+mn-ea"/>
                <a:cs typeface="Calibri" panose="020F0502020204030204" pitchFamily="34" charset="0"/>
              </a:rPr>
              <a:t>路径长度</a:t>
            </a:r>
          </a:p>
          <a:p>
            <a:pPr eaLnBrk="1" fontAlgn="auto" hangingPunct="1">
              <a:spcBef>
                <a:spcPts val="0"/>
              </a:spcBef>
              <a:spcAft>
                <a:spcPts val="0"/>
              </a:spcAft>
              <a:defRPr/>
            </a:pPr>
            <a:r>
              <a:rPr lang="en-US" altLang="zh-CN" sz="2300" b="1" dirty="0">
                <a:solidFill>
                  <a:srgbClr val="0000FF"/>
                </a:solidFill>
                <a:latin typeface="+mn-ea"/>
                <a:cs typeface="Calibri" panose="020F0502020204030204" pitchFamily="34" charset="0"/>
              </a:rPr>
              <a:t>};</a:t>
            </a:r>
            <a:endParaRPr lang="zh-CN" altLang="zh-CN" sz="2300" b="1" dirty="0">
              <a:solidFill>
                <a:srgbClr val="0000FF"/>
              </a:solidFill>
              <a:latin typeface="+mn-ea"/>
              <a:cs typeface="Calibri" panose="020F0502020204030204" pitchFamily="34" charset="0"/>
            </a:endParaRPr>
          </a:p>
        </p:txBody>
      </p:sp>
      <p:sp>
        <p:nvSpPr>
          <p:cNvPr id="64516" name="TextBox 3">
            <a:extLst>
              <a:ext uri="{FF2B5EF4-FFF2-40B4-BE49-F238E27FC236}">
                <a16:creationId xmlns:a16="http://schemas.microsoft.com/office/drawing/2014/main" id="{0D58DC0E-3622-7416-2B04-D4E8DCC2C85B}"/>
              </a:ext>
            </a:extLst>
          </p:cNvPr>
          <p:cNvSpPr txBox="1">
            <a:spLocks noChangeArrowheads="1"/>
          </p:cNvSpPr>
          <p:nvPr/>
        </p:nvSpPr>
        <p:spPr bwMode="auto">
          <a:xfrm>
            <a:off x="1969918" y="4010819"/>
            <a:ext cx="7929563"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ts val="3200"/>
              </a:lnSpc>
            </a:pPr>
            <a:r>
              <a:rPr lang="en-US" altLang="zh-CN" sz="2000" b="1"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300" b="1" dirty="0">
                <a:solidFill>
                  <a:srgbClr val="0000FF"/>
                </a:solidFill>
                <a:latin typeface="+mn-ea"/>
                <a:cs typeface="Consolas" panose="020B0609020204030204" pitchFamily="49" charset="0"/>
              </a:rPr>
              <a:t>用</a:t>
            </a:r>
            <a:r>
              <a:rPr lang="en-US" altLang="zh-CN" sz="2300" b="1" dirty="0" err="1">
                <a:solidFill>
                  <a:srgbClr val="0000FF"/>
                </a:solidFill>
                <a:latin typeface="+mn-ea"/>
                <a:cs typeface="Consolas" panose="020B0609020204030204" pitchFamily="49" charset="0"/>
              </a:rPr>
              <a:t>dist</a:t>
            </a:r>
            <a:r>
              <a:rPr lang="zh-CN" altLang="zh-CN" sz="2300" b="1" dirty="0">
                <a:solidFill>
                  <a:srgbClr val="0000FF"/>
                </a:solidFill>
                <a:latin typeface="+mn-ea"/>
                <a:cs typeface="Consolas" panose="020B0609020204030204" pitchFamily="49" charset="0"/>
              </a:rPr>
              <a:t>数组存放源点</a:t>
            </a:r>
            <a:r>
              <a:rPr lang="en-US" altLang="zh-CN" sz="2300" b="1" dirty="0">
                <a:solidFill>
                  <a:srgbClr val="0000FF"/>
                </a:solidFill>
                <a:latin typeface="+mn-ea"/>
                <a:cs typeface="Consolas" panose="020B0609020204030204" pitchFamily="49" charset="0"/>
              </a:rPr>
              <a:t>v</a:t>
            </a:r>
            <a:r>
              <a:rPr lang="zh-CN" altLang="zh-CN" sz="2300" b="1" dirty="0">
                <a:solidFill>
                  <a:srgbClr val="0000FF"/>
                </a:solidFill>
                <a:latin typeface="+mn-ea"/>
                <a:cs typeface="Consolas" panose="020B0609020204030204" pitchFamily="49" charset="0"/>
              </a:rPr>
              <a:t>出发的最短路径长度，</a:t>
            </a:r>
            <a:r>
              <a:rPr lang="en-US" altLang="zh-CN" sz="2300" b="1" dirty="0" err="1">
                <a:solidFill>
                  <a:srgbClr val="0000FF"/>
                </a:solidFill>
                <a:latin typeface="+mn-ea"/>
                <a:cs typeface="Consolas" panose="020B0609020204030204" pitchFamily="49" charset="0"/>
              </a:rPr>
              <a:t>dist</a:t>
            </a:r>
            <a:r>
              <a:rPr lang="en-US" altLang="zh-CN" sz="2300" b="1" dirty="0">
                <a:solidFill>
                  <a:srgbClr val="0000FF"/>
                </a:solidFill>
                <a:latin typeface="+mn-ea"/>
                <a:cs typeface="Consolas" panose="020B0609020204030204" pitchFamily="49" charset="0"/>
              </a:rPr>
              <a:t>[</a:t>
            </a:r>
            <a:r>
              <a:rPr lang="en-US" altLang="zh-CN" sz="2300" b="1" dirty="0" err="1">
                <a:solidFill>
                  <a:srgbClr val="0000FF"/>
                </a:solidFill>
                <a:latin typeface="+mn-ea"/>
                <a:cs typeface="Consolas" panose="020B0609020204030204" pitchFamily="49" charset="0"/>
              </a:rPr>
              <a:t>i</a:t>
            </a:r>
            <a:r>
              <a:rPr lang="en-US" altLang="zh-CN" sz="2300" b="1" dirty="0">
                <a:solidFill>
                  <a:srgbClr val="0000FF"/>
                </a:solidFill>
                <a:latin typeface="+mn-ea"/>
                <a:cs typeface="Consolas" panose="020B0609020204030204" pitchFamily="49" charset="0"/>
              </a:rPr>
              <a:t>]</a:t>
            </a:r>
            <a:r>
              <a:rPr lang="zh-CN" altLang="zh-CN" sz="2300" b="1" dirty="0">
                <a:solidFill>
                  <a:srgbClr val="0000FF"/>
                </a:solidFill>
                <a:latin typeface="+mn-ea"/>
                <a:cs typeface="Consolas" panose="020B0609020204030204" pitchFamily="49" charset="0"/>
              </a:rPr>
              <a:t>表示源点</a:t>
            </a:r>
            <a:r>
              <a:rPr lang="en-US" altLang="zh-CN" sz="2300" b="1" dirty="0">
                <a:solidFill>
                  <a:srgbClr val="0000FF"/>
                </a:solidFill>
                <a:latin typeface="+mn-ea"/>
                <a:cs typeface="Consolas" panose="020B0609020204030204" pitchFamily="49" charset="0"/>
              </a:rPr>
              <a:t>v</a:t>
            </a:r>
            <a:r>
              <a:rPr lang="zh-CN" altLang="zh-CN" sz="2300" b="1" dirty="0">
                <a:solidFill>
                  <a:srgbClr val="0000FF"/>
                </a:solidFill>
                <a:latin typeface="+mn-ea"/>
                <a:cs typeface="Consolas" panose="020B0609020204030204" pitchFamily="49" charset="0"/>
              </a:rPr>
              <a:t>到顶点</a:t>
            </a:r>
            <a:r>
              <a:rPr lang="en-US" altLang="zh-CN" sz="2300" b="1" dirty="0" err="1">
                <a:solidFill>
                  <a:srgbClr val="0000FF"/>
                </a:solidFill>
                <a:latin typeface="+mn-ea"/>
                <a:cs typeface="Consolas" panose="020B0609020204030204" pitchFamily="49" charset="0"/>
              </a:rPr>
              <a:t>i</a:t>
            </a:r>
            <a:r>
              <a:rPr lang="zh-CN" altLang="zh-CN" sz="2300" b="1" dirty="0">
                <a:solidFill>
                  <a:srgbClr val="0000FF"/>
                </a:solidFill>
                <a:latin typeface="+mn-ea"/>
                <a:cs typeface="Consolas" panose="020B0609020204030204" pitchFamily="49" charset="0"/>
              </a:rPr>
              <a:t>的最短路径长度，初始时所有</a:t>
            </a:r>
            <a:r>
              <a:rPr lang="en-US" altLang="zh-CN" sz="2300" b="1" dirty="0" err="1">
                <a:solidFill>
                  <a:srgbClr val="0000FF"/>
                </a:solidFill>
                <a:latin typeface="+mn-ea"/>
                <a:cs typeface="Consolas" panose="020B0609020204030204" pitchFamily="49" charset="0"/>
              </a:rPr>
              <a:t>dist</a:t>
            </a:r>
            <a:r>
              <a:rPr lang="en-US" altLang="zh-CN" sz="2300" b="1" dirty="0">
                <a:solidFill>
                  <a:srgbClr val="0000FF"/>
                </a:solidFill>
                <a:latin typeface="+mn-ea"/>
                <a:cs typeface="Consolas" panose="020B0609020204030204" pitchFamily="49" charset="0"/>
              </a:rPr>
              <a:t>[</a:t>
            </a:r>
            <a:r>
              <a:rPr lang="en-US" altLang="zh-CN" sz="2300" b="1" dirty="0" err="1">
                <a:solidFill>
                  <a:srgbClr val="0000FF"/>
                </a:solidFill>
                <a:latin typeface="+mn-ea"/>
                <a:cs typeface="Consolas" panose="020B0609020204030204" pitchFamily="49" charset="0"/>
              </a:rPr>
              <a:t>i</a:t>
            </a:r>
            <a:r>
              <a:rPr lang="en-US" altLang="zh-CN" sz="2300" b="1" dirty="0">
                <a:solidFill>
                  <a:srgbClr val="0000FF"/>
                </a:solidFill>
                <a:latin typeface="+mn-ea"/>
                <a:cs typeface="Consolas" panose="020B0609020204030204" pitchFamily="49" charset="0"/>
              </a:rPr>
              <a:t>]</a:t>
            </a:r>
            <a:r>
              <a:rPr lang="zh-CN" altLang="zh-CN" sz="2300" b="1" dirty="0">
                <a:solidFill>
                  <a:srgbClr val="0000FF"/>
                </a:solidFill>
                <a:latin typeface="+mn-ea"/>
                <a:cs typeface="Consolas" panose="020B0609020204030204" pitchFamily="49" charset="0"/>
              </a:rPr>
              <a:t>值为∞。</a:t>
            </a:r>
            <a:endParaRPr lang="en-US" altLang="zh-CN" sz="2300" b="1" dirty="0">
              <a:solidFill>
                <a:srgbClr val="0000FF"/>
              </a:solidFill>
              <a:latin typeface="+mn-ea"/>
              <a:cs typeface="Consolas" panose="020B0609020204030204" pitchFamily="49" charset="0"/>
            </a:endParaRPr>
          </a:p>
          <a:p>
            <a:pPr eaLnBrk="1" hangingPunct="1">
              <a:lnSpc>
                <a:spcPts val="3200"/>
              </a:lnSpc>
            </a:pPr>
            <a:r>
              <a:rPr lang="en-US" altLang="zh-CN" sz="2300" b="1" dirty="0">
                <a:solidFill>
                  <a:srgbClr val="0000FF"/>
                </a:solidFill>
                <a:latin typeface="+mn-ea"/>
                <a:cs typeface="Consolas" panose="020B0609020204030204" pitchFamily="49" charset="0"/>
              </a:rPr>
              <a:t>    </a:t>
            </a:r>
            <a:r>
              <a:rPr lang="zh-CN" altLang="zh-CN" sz="2300" b="1" dirty="0">
                <a:solidFill>
                  <a:srgbClr val="0000FF"/>
                </a:solidFill>
                <a:latin typeface="+mn-ea"/>
                <a:cs typeface="Consolas" panose="020B0609020204030204" pitchFamily="49" charset="0"/>
              </a:rPr>
              <a:t>用</a:t>
            </a:r>
            <a:r>
              <a:rPr lang="en-US" altLang="zh-CN" sz="2300" b="1" dirty="0" err="1">
                <a:solidFill>
                  <a:srgbClr val="0000FF"/>
                </a:solidFill>
                <a:latin typeface="+mn-ea"/>
                <a:cs typeface="Consolas" panose="020B0609020204030204" pitchFamily="49" charset="0"/>
              </a:rPr>
              <a:t>prev</a:t>
            </a:r>
            <a:r>
              <a:rPr lang="zh-CN" altLang="zh-CN" sz="2300" b="1" dirty="0">
                <a:solidFill>
                  <a:srgbClr val="0000FF"/>
                </a:solidFill>
                <a:latin typeface="+mn-ea"/>
                <a:cs typeface="Consolas" panose="020B0609020204030204" pitchFamily="49" charset="0"/>
              </a:rPr>
              <a:t>数组存放最短路径，</a:t>
            </a:r>
            <a:r>
              <a:rPr lang="en-US" altLang="zh-CN" sz="2300" b="1" dirty="0" err="1">
                <a:solidFill>
                  <a:srgbClr val="0000FF"/>
                </a:solidFill>
                <a:latin typeface="+mn-ea"/>
                <a:cs typeface="Consolas" panose="020B0609020204030204" pitchFamily="49" charset="0"/>
              </a:rPr>
              <a:t>prev</a:t>
            </a:r>
            <a:r>
              <a:rPr lang="en-US" altLang="zh-CN" sz="2300" b="1" dirty="0">
                <a:solidFill>
                  <a:srgbClr val="0000FF"/>
                </a:solidFill>
                <a:latin typeface="+mn-ea"/>
                <a:cs typeface="Consolas" panose="020B0609020204030204" pitchFamily="49" charset="0"/>
              </a:rPr>
              <a:t>[</a:t>
            </a:r>
            <a:r>
              <a:rPr lang="en-US" altLang="zh-CN" sz="2300" b="1" dirty="0" err="1">
                <a:solidFill>
                  <a:srgbClr val="0000FF"/>
                </a:solidFill>
                <a:latin typeface="+mn-ea"/>
                <a:cs typeface="Consolas" panose="020B0609020204030204" pitchFamily="49" charset="0"/>
              </a:rPr>
              <a:t>i</a:t>
            </a:r>
            <a:r>
              <a:rPr lang="en-US" altLang="zh-CN" sz="2300" b="1" dirty="0">
                <a:solidFill>
                  <a:srgbClr val="0000FF"/>
                </a:solidFill>
                <a:latin typeface="+mn-ea"/>
                <a:cs typeface="Consolas" panose="020B0609020204030204" pitchFamily="49" charset="0"/>
              </a:rPr>
              <a:t>]</a:t>
            </a:r>
            <a:r>
              <a:rPr lang="zh-CN" altLang="zh-CN" sz="2300" b="1" dirty="0">
                <a:solidFill>
                  <a:srgbClr val="0000FF"/>
                </a:solidFill>
                <a:latin typeface="+mn-ea"/>
                <a:cs typeface="Consolas" panose="020B0609020204030204" pitchFamily="49" charset="0"/>
              </a:rPr>
              <a:t>表示源点</a:t>
            </a:r>
            <a:r>
              <a:rPr lang="en-US" altLang="zh-CN" sz="2300" b="1" dirty="0">
                <a:solidFill>
                  <a:srgbClr val="0000FF"/>
                </a:solidFill>
                <a:latin typeface="+mn-ea"/>
                <a:cs typeface="Consolas" panose="020B0609020204030204" pitchFamily="49" charset="0"/>
              </a:rPr>
              <a:t>v</a:t>
            </a:r>
            <a:r>
              <a:rPr lang="zh-CN" altLang="zh-CN" sz="2300" b="1" dirty="0">
                <a:solidFill>
                  <a:srgbClr val="0000FF"/>
                </a:solidFill>
                <a:latin typeface="+mn-ea"/>
                <a:cs typeface="Consolas" panose="020B0609020204030204" pitchFamily="49" charset="0"/>
              </a:rPr>
              <a:t>到顶点</a:t>
            </a:r>
            <a:r>
              <a:rPr lang="en-US" altLang="zh-CN" sz="2300" b="1" dirty="0" err="1">
                <a:solidFill>
                  <a:srgbClr val="0000FF"/>
                </a:solidFill>
                <a:latin typeface="+mn-ea"/>
                <a:cs typeface="Consolas" panose="020B0609020204030204" pitchFamily="49" charset="0"/>
              </a:rPr>
              <a:t>i</a:t>
            </a:r>
            <a:r>
              <a:rPr lang="zh-CN" altLang="zh-CN" sz="2300" b="1" dirty="0">
                <a:solidFill>
                  <a:srgbClr val="0000FF"/>
                </a:solidFill>
                <a:latin typeface="+mn-ea"/>
                <a:cs typeface="Consolas" panose="020B0609020204030204" pitchFamily="49" charset="0"/>
              </a:rPr>
              <a:t>的最短路径中顶点</a:t>
            </a:r>
            <a:r>
              <a:rPr lang="en-US" altLang="zh-CN" sz="2300" b="1" dirty="0" err="1">
                <a:solidFill>
                  <a:srgbClr val="0000FF"/>
                </a:solidFill>
                <a:latin typeface="+mn-ea"/>
                <a:cs typeface="Consolas" panose="020B0609020204030204" pitchFamily="49" charset="0"/>
              </a:rPr>
              <a:t>i</a:t>
            </a:r>
            <a:r>
              <a:rPr lang="zh-CN" altLang="zh-CN" sz="2300" b="1" dirty="0">
                <a:solidFill>
                  <a:srgbClr val="0000FF"/>
                </a:solidFill>
                <a:latin typeface="+mn-ea"/>
                <a:cs typeface="Consolas" panose="020B0609020204030204" pitchFamily="49" charset="0"/>
              </a:rPr>
              <a:t>的前驱顶点。</a:t>
            </a:r>
          </a:p>
        </p:txBody>
      </p:sp>
    </p:spTree>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圆角矩形 1">
            <a:extLst>
              <a:ext uri="{FF2B5EF4-FFF2-40B4-BE49-F238E27FC236}">
                <a16:creationId xmlns:a16="http://schemas.microsoft.com/office/drawing/2014/main" id="{F7577D5E-A2B7-C4AE-4AC9-26725BC33457}"/>
              </a:ext>
            </a:extLst>
          </p:cNvPr>
          <p:cNvSpPr/>
          <p:nvPr/>
        </p:nvSpPr>
        <p:spPr>
          <a:xfrm>
            <a:off x="7381875" y="501650"/>
            <a:ext cx="714375" cy="428625"/>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0</a:t>
            </a:r>
            <a:r>
              <a:rPr lang="en-US" altLang="zh-CN" b="1">
                <a:solidFill>
                  <a:srgbClr val="0000FF"/>
                </a:solidFill>
                <a:latin typeface="Consolas" pitchFamily="49" charset="0"/>
                <a:cs typeface="Consolas" pitchFamily="49" charset="0"/>
              </a:rPr>
              <a:t>,0</a:t>
            </a:r>
            <a:endParaRPr lang="zh-CN" altLang="en-US" b="1">
              <a:solidFill>
                <a:srgbClr val="0000FF"/>
              </a:solidFill>
              <a:latin typeface="Consolas" pitchFamily="49" charset="0"/>
              <a:cs typeface="Consolas" pitchFamily="49" charset="0"/>
            </a:endParaRPr>
          </a:p>
        </p:txBody>
      </p:sp>
      <p:sp>
        <p:nvSpPr>
          <p:cNvPr id="65539" name="TextBox 2">
            <a:extLst>
              <a:ext uri="{FF2B5EF4-FFF2-40B4-BE49-F238E27FC236}">
                <a16:creationId xmlns:a16="http://schemas.microsoft.com/office/drawing/2014/main" id="{E8D50CAF-8A66-CE5D-B9A7-CEEF86AC03BE}"/>
              </a:ext>
            </a:extLst>
          </p:cNvPr>
          <p:cNvSpPr txBox="1">
            <a:spLocks noChangeArrowheads="1"/>
          </p:cNvSpPr>
          <p:nvPr/>
        </p:nvSpPr>
        <p:spPr bwMode="auto">
          <a:xfrm>
            <a:off x="4379913" y="358775"/>
            <a:ext cx="2286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C00000"/>
                </a:solidFill>
                <a:latin typeface="Times New Roman" panose="02020603050405020304" pitchFamily="18" charset="0"/>
                <a:ea typeface="楷体" panose="02010609060101010101" pitchFamily="49" charset="-122"/>
                <a:cs typeface="Times New Roman" panose="02020603050405020304" pitchFamily="18" charset="0"/>
              </a:rPr>
              <a:t>顶点编号</a:t>
            </a:r>
            <a:r>
              <a:rPr lang="zh-CN" altLang="zh-CN" sz="2000" b="1">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a:solidFill>
                  <a:srgbClr val="0000FF"/>
                </a:solidFill>
                <a:latin typeface="Times New Roman" panose="02020603050405020304" pitchFamily="18" charset="0"/>
                <a:ea typeface="楷体" panose="02010609060101010101" pitchFamily="49" charset="-122"/>
                <a:cs typeface="Times New Roman" panose="02020603050405020304" pitchFamily="18" charset="0"/>
              </a:rPr>
              <a:t>length</a:t>
            </a:r>
            <a:endParaRPr lang="zh-CN" altLang="en-US" sz="2000" b="1">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5540" name="TextBox 3">
            <a:extLst>
              <a:ext uri="{FF2B5EF4-FFF2-40B4-BE49-F238E27FC236}">
                <a16:creationId xmlns:a16="http://schemas.microsoft.com/office/drawing/2014/main" id="{B6DE30E5-BF6E-3F6E-7041-9940A714A9D9}"/>
              </a:ext>
            </a:extLst>
          </p:cNvPr>
          <p:cNvSpPr txBox="1">
            <a:spLocks noChangeArrowheads="1"/>
          </p:cNvSpPr>
          <p:nvPr/>
        </p:nvSpPr>
        <p:spPr bwMode="auto">
          <a:xfrm>
            <a:off x="8237538" y="501650"/>
            <a:ext cx="1501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00FF"/>
                </a:solidFill>
                <a:latin typeface="Consolas" panose="020B0609020204030204" pitchFamily="49" charset="0"/>
                <a:ea typeface="楷体_GB2312" pitchFamily="49" charset="-122"/>
              </a:rPr>
              <a:t>dist[</a:t>
            </a:r>
            <a:r>
              <a:rPr lang="en-US" altLang="zh-CN" b="1" i="1">
                <a:solidFill>
                  <a:srgbClr val="0000FF"/>
                </a:solidFill>
                <a:latin typeface="Consolas" panose="020B0609020204030204" pitchFamily="49" charset="0"/>
                <a:ea typeface="楷体_GB2312" pitchFamily="49" charset="-122"/>
              </a:rPr>
              <a:t>i</a:t>
            </a:r>
            <a:r>
              <a:rPr lang="en-US" altLang="zh-CN" b="1">
                <a:solidFill>
                  <a:srgbClr val="0000FF"/>
                </a:solidFill>
                <a:latin typeface="Consolas" panose="020B0609020204030204" pitchFamily="49" charset="0"/>
                <a:ea typeface="楷体_GB2312" pitchFamily="49" charset="-122"/>
              </a:rPr>
              <a:t>]=</a:t>
            </a:r>
            <a:r>
              <a:rPr lang="zh-CN" altLang="zh-CN" b="1">
                <a:solidFill>
                  <a:srgbClr val="0000FF"/>
                </a:solidFill>
                <a:latin typeface="Consolas" panose="020B0609020204030204" pitchFamily="49" charset="0"/>
                <a:ea typeface="楷体_GB2312" pitchFamily="49" charset="-122"/>
              </a:rPr>
              <a:t>∞</a:t>
            </a:r>
          </a:p>
        </p:txBody>
      </p:sp>
      <p:grpSp>
        <p:nvGrpSpPr>
          <p:cNvPr id="65541" name="组合 28">
            <a:extLst>
              <a:ext uri="{FF2B5EF4-FFF2-40B4-BE49-F238E27FC236}">
                <a16:creationId xmlns:a16="http://schemas.microsoft.com/office/drawing/2014/main" id="{913CE6C9-04DE-C63E-3917-C7CE3E084F54}"/>
              </a:ext>
            </a:extLst>
          </p:cNvPr>
          <p:cNvGrpSpPr>
            <a:grpSpLocks/>
          </p:cNvGrpSpPr>
          <p:nvPr/>
        </p:nvGrpSpPr>
        <p:grpSpPr bwMode="auto">
          <a:xfrm>
            <a:off x="1738313" y="144463"/>
            <a:ext cx="2071687" cy="2038350"/>
            <a:chOff x="4357686" y="1891224"/>
            <a:chExt cx="2571768" cy="2680784"/>
          </a:xfrm>
        </p:grpSpPr>
        <p:sp>
          <p:nvSpPr>
            <p:cNvPr id="6" name="椭圆 5">
              <a:extLst>
                <a:ext uri="{FF2B5EF4-FFF2-40B4-BE49-F238E27FC236}">
                  <a16:creationId xmlns:a16="http://schemas.microsoft.com/office/drawing/2014/main" id="{767F2A31-A8E0-BE4E-9F0A-E8536F0389A3}"/>
                </a:ext>
              </a:extLst>
            </p:cNvPr>
            <p:cNvSpPr/>
            <p:nvPr/>
          </p:nvSpPr>
          <p:spPr>
            <a:xfrm>
              <a:off x="4357686" y="3070852"/>
              <a:ext cx="429613" cy="43009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0</a:t>
              </a:r>
              <a:endParaRPr lang="zh-CN" altLang="en-US" sz="2000" b="1">
                <a:solidFill>
                  <a:srgbClr val="0000FF"/>
                </a:solidFill>
                <a:latin typeface="Consolas" pitchFamily="49" charset="0"/>
                <a:cs typeface="Consolas" pitchFamily="49" charset="0"/>
              </a:endParaRPr>
            </a:p>
          </p:txBody>
        </p:sp>
        <p:sp>
          <p:nvSpPr>
            <p:cNvPr id="7" name="椭圆 6">
              <a:extLst>
                <a:ext uri="{FF2B5EF4-FFF2-40B4-BE49-F238E27FC236}">
                  <a16:creationId xmlns:a16="http://schemas.microsoft.com/office/drawing/2014/main" id="{6A4CECE8-6F83-7808-EEAD-3CFE212FA4FD}"/>
                </a:ext>
              </a:extLst>
            </p:cNvPr>
            <p:cNvSpPr/>
            <p:nvPr/>
          </p:nvSpPr>
          <p:spPr>
            <a:xfrm>
              <a:off x="5358804" y="2070778"/>
              <a:ext cx="427642" cy="4300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2</a:t>
              </a:r>
              <a:endParaRPr lang="zh-CN" altLang="en-US" sz="2000" b="1">
                <a:solidFill>
                  <a:srgbClr val="0000FF"/>
                </a:solidFill>
                <a:latin typeface="Consolas" pitchFamily="49" charset="0"/>
                <a:cs typeface="Consolas" pitchFamily="49" charset="0"/>
              </a:endParaRPr>
            </a:p>
          </p:txBody>
        </p:sp>
        <p:sp>
          <p:nvSpPr>
            <p:cNvPr id="8" name="椭圆 7">
              <a:extLst>
                <a:ext uri="{FF2B5EF4-FFF2-40B4-BE49-F238E27FC236}">
                  <a16:creationId xmlns:a16="http://schemas.microsoft.com/office/drawing/2014/main" id="{250137F5-1690-D91B-5BA1-BB2145126F32}"/>
                </a:ext>
              </a:extLst>
            </p:cNvPr>
            <p:cNvSpPr/>
            <p:nvPr/>
          </p:nvSpPr>
          <p:spPr>
            <a:xfrm>
              <a:off x="5358804" y="3070852"/>
              <a:ext cx="427642" cy="4300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4</a:t>
              </a:r>
              <a:endParaRPr lang="zh-CN" altLang="en-US" sz="2000" b="1">
                <a:solidFill>
                  <a:srgbClr val="0000FF"/>
                </a:solidFill>
                <a:latin typeface="Consolas" pitchFamily="49" charset="0"/>
                <a:cs typeface="Consolas" pitchFamily="49" charset="0"/>
              </a:endParaRPr>
            </a:p>
          </p:txBody>
        </p:sp>
        <p:sp>
          <p:nvSpPr>
            <p:cNvPr id="9" name="椭圆 8">
              <a:extLst>
                <a:ext uri="{FF2B5EF4-FFF2-40B4-BE49-F238E27FC236}">
                  <a16:creationId xmlns:a16="http://schemas.microsoft.com/office/drawing/2014/main" id="{B4BB919E-5B27-076F-E02E-4A9A75F3BCF0}"/>
                </a:ext>
              </a:extLst>
            </p:cNvPr>
            <p:cNvSpPr/>
            <p:nvPr/>
          </p:nvSpPr>
          <p:spPr>
            <a:xfrm>
              <a:off x="6501812" y="3070852"/>
              <a:ext cx="427642" cy="4300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3</a:t>
              </a:r>
              <a:endParaRPr lang="zh-CN" altLang="en-US" sz="2000" b="1">
                <a:solidFill>
                  <a:srgbClr val="0000FF"/>
                </a:solidFill>
                <a:latin typeface="Consolas" pitchFamily="49" charset="0"/>
                <a:cs typeface="Consolas" pitchFamily="49" charset="0"/>
              </a:endParaRPr>
            </a:p>
          </p:txBody>
        </p:sp>
        <p:sp>
          <p:nvSpPr>
            <p:cNvPr id="10" name="椭圆 9">
              <a:extLst>
                <a:ext uri="{FF2B5EF4-FFF2-40B4-BE49-F238E27FC236}">
                  <a16:creationId xmlns:a16="http://schemas.microsoft.com/office/drawing/2014/main" id="{B488A6ED-4FE5-BFC9-F383-1DE6BFC4CFC0}"/>
                </a:ext>
              </a:extLst>
            </p:cNvPr>
            <p:cNvSpPr/>
            <p:nvPr/>
          </p:nvSpPr>
          <p:spPr>
            <a:xfrm>
              <a:off x="5358804" y="4144001"/>
              <a:ext cx="427642" cy="42800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5</a:t>
              </a:r>
              <a:endParaRPr lang="zh-CN" altLang="en-US" sz="2000" b="1">
                <a:solidFill>
                  <a:srgbClr val="0000FF"/>
                </a:solidFill>
                <a:latin typeface="Consolas" pitchFamily="49" charset="0"/>
                <a:cs typeface="Consolas" pitchFamily="49" charset="0"/>
              </a:endParaRPr>
            </a:p>
          </p:txBody>
        </p:sp>
        <p:sp>
          <p:nvSpPr>
            <p:cNvPr id="11" name="椭圆 10">
              <a:extLst>
                <a:ext uri="{FF2B5EF4-FFF2-40B4-BE49-F238E27FC236}">
                  <a16:creationId xmlns:a16="http://schemas.microsoft.com/office/drawing/2014/main" id="{A19903E5-46F7-4B28-3F7D-4138F2C57751}"/>
                </a:ext>
              </a:extLst>
            </p:cNvPr>
            <p:cNvSpPr/>
            <p:nvPr/>
          </p:nvSpPr>
          <p:spPr>
            <a:xfrm>
              <a:off x="6501812" y="2070778"/>
              <a:ext cx="427642" cy="4300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1</a:t>
              </a:r>
              <a:endParaRPr lang="zh-CN" altLang="en-US" sz="2000" b="1">
                <a:solidFill>
                  <a:srgbClr val="0000FF"/>
                </a:solidFill>
                <a:latin typeface="Consolas" pitchFamily="49" charset="0"/>
                <a:cs typeface="Consolas" pitchFamily="49" charset="0"/>
              </a:endParaRPr>
            </a:p>
          </p:txBody>
        </p:sp>
        <p:cxnSp>
          <p:nvCxnSpPr>
            <p:cNvPr id="12" name="直接箭头连接符 11">
              <a:extLst>
                <a:ext uri="{FF2B5EF4-FFF2-40B4-BE49-F238E27FC236}">
                  <a16:creationId xmlns:a16="http://schemas.microsoft.com/office/drawing/2014/main" id="{7A7956D7-C066-DB35-AB44-83C4A229038B}"/>
                </a:ext>
              </a:extLst>
            </p:cNvPr>
            <p:cNvCxnSpPr>
              <a:stCxn id="6" idx="7"/>
              <a:endCxn id="7" idx="3"/>
            </p:cNvCxnSpPr>
            <p:nvPr/>
          </p:nvCxnSpPr>
          <p:spPr>
            <a:xfrm rot="5400000" flipH="1" flipV="1">
              <a:off x="4723397" y="2439078"/>
              <a:ext cx="697338" cy="69565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5596" name="TextBox 12">
              <a:extLst>
                <a:ext uri="{FF2B5EF4-FFF2-40B4-BE49-F238E27FC236}">
                  <a16:creationId xmlns:a16="http://schemas.microsoft.com/office/drawing/2014/main" id="{C1EC4C1B-BEAA-708A-DF40-0D0996CAE7F2}"/>
                </a:ext>
              </a:extLst>
            </p:cNvPr>
            <p:cNvSpPr txBox="1">
              <a:spLocks noChangeArrowheads="1"/>
            </p:cNvSpPr>
            <p:nvPr/>
          </p:nvSpPr>
          <p:spPr bwMode="auto">
            <a:xfrm>
              <a:off x="4643438" y="2428868"/>
              <a:ext cx="68974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10</a:t>
              </a:r>
              <a:endParaRPr lang="zh-CN" altLang="en-US" sz="1400" b="1">
                <a:solidFill>
                  <a:srgbClr val="0000FF"/>
                </a:solidFill>
                <a:latin typeface="Consolas" panose="020B0609020204030204" pitchFamily="49" charset="0"/>
                <a:ea typeface="楷体_GB2312" pitchFamily="49" charset="-122"/>
              </a:endParaRPr>
            </a:p>
          </p:txBody>
        </p:sp>
        <p:cxnSp>
          <p:nvCxnSpPr>
            <p:cNvPr id="14" name="直接箭头连接符 13">
              <a:extLst>
                <a:ext uri="{FF2B5EF4-FFF2-40B4-BE49-F238E27FC236}">
                  <a16:creationId xmlns:a16="http://schemas.microsoft.com/office/drawing/2014/main" id="{329953E2-4B77-E6C7-385E-7940437D25D1}"/>
                </a:ext>
              </a:extLst>
            </p:cNvPr>
            <p:cNvCxnSpPr>
              <a:stCxn id="6" idx="5"/>
              <a:endCxn id="10" idx="1"/>
            </p:cNvCxnSpPr>
            <p:nvPr/>
          </p:nvCxnSpPr>
          <p:spPr>
            <a:xfrm rot="16200000" flipH="1">
              <a:off x="4687904" y="3474644"/>
              <a:ext cx="768324" cy="69565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5" name="直接箭头连接符 14">
              <a:extLst>
                <a:ext uri="{FF2B5EF4-FFF2-40B4-BE49-F238E27FC236}">
                  <a16:creationId xmlns:a16="http://schemas.microsoft.com/office/drawing/2014/main" id="{304B2DE3-F9A6-2268-B33C-377A354F4806}"/>
                </a:ext>
              </a:extLst>
            </p:cNvPr>
            <p:cNvCxnSpPr>
              <a:stCxn id="6" idx="6"/>
              <a:endCxn id="8" idx="2"/>
            </p:cNvCxnSpPr>
            <p:nvPr/>
          </p:nvCxnSpPr>
          <p:spPr>
            <a:xfrm>
              <a:off x="4787299" y="3285900"/>
              <a:ext cx="571504" cy="20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6" name="直接箭头连接符 15">
              <a:extLst>
                <a:ext uri="{FF2B5EF4-FFF2-40B4-BE49-F238E27FC236}">
                  <a16:creationId xmlns:a16="http://schemas.microsoft.com/office/drawing/2014/main" id="{042F3920-3E91-2499-C083-1E5EA4D58159}"/>
                </a:ext>
              </a:extLst>
            </p:cNvPr>
            <p:cNvCxnSpPr>
              <a:stCxn id="7" idx="5"/>
              <a:endCxn id="9" idx="1"/>
            </p:cNvCxnSpPr>
            <p:nvPr/>
          </p:nvCxnSpPr>
          <p:spPr>
            <a:xfrm rot="16200000" flipH="1">
              <a:off x="5794474" y="2367147"/>
              <a:ext cx="697338" cy="83952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7" name="直接箭头连接符 16">
              <a:extLst>
                <a:ext uri="{FF2B5EF4-FFF2-40B4-BE49-F238E27FC236}">
                  <a16:creationId xmlns:a16="http://schemas.microsoft.com/office/drawing/2014/main" id="{7707BF91-21C5-6EE8-8812-63F90A82734E}"/>
                </a:ext>
              </a:extLst>
            </p:cNvPr>
            <p:cNvCxnSpPr>
              <a:stCxn id="8" idx="6"/>
              <a:endCxn id="9" idx="2"/>
            </p:cNvCxnSpPr>
            <p:nvPr/>
          </p:nvCxnSpPr>
          <p:spPr>
            <a:xfrm>
              <a:off x="5786446" y="3285900"/>
              <a:ext cx="715366" cy="20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8" name="直接箭头连接符 17">
              <a:extLst>
                <a:ext uri="{FF2B5EF4-FFF2-40B4-BE49-F238E27FC236}">
                  <a16:creationId xmlns:a16="http://schemas.microsoft.com/office/drawing/2014/main" id="{C06A5CDE-BF8F-203B-A6C6-99530A69E6FA}"/>
                </a:ext>
              </a:extLst>
            </p:cNvPr>
            <p:cNvCxnSpPr>
              <a:stCxn id="9" idx="3"/>
              <a:endCxn id="10" idx="7"/>
            </p:cNvCxnSpPr>
            <p:nvPr/>
          </p:nvCxnSpPr>
          <p:spPr>
            <a:xfrm rot="5400000">
              <a:off x="5758982" y="3402713"/>
              <a:ext cx="768324" cy="83952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直接箭头连接符 18">
              <a:extLst>
                <a:ext uri="{FF2B5EF4-FFF2-40B4-BE49-F238E27FC236}">
                  <a16:creationId xmlns:a16="http://schemas.microsoft.com/office/drawing/2014/main" id="{4F08BAAD-9F81-838E-848F-9D57541CB7B0}"/>
                </a:ext>
              </a:extLst>
            </p:cNvPr>
            <p:cNvCxnSpPr>
              <a:stCxn id="11" idx="2"/>
              <a:endCxn id="7" idx="6"/>
            </p:cNvCxnSpPr>
            <p:nvPr/>
          </p:nvCxnSpPr>
          <p:spPr>
            <a:xfrm rot="10800000">
              <a:off x="5786446" y="2285825"/>
              <a:ext cx="715366" cy="20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0" name="直接箭头连接符 19">
              <a:extLst>
                <a:ext uri="{FF2B5EF4-FFF2-40B4-BE49-F238E27FC236}">
                  <a16:creationId xmlns:a16="http://schemas.microsoft.com/office/drawing/2014/main" id="{93866A5C-C1D5-E07D-16DC-817360481149}"/>
                </a:ext>
              </a:extLst>
            </p:cNvPr>
            <p:cNvCxnSpPr>
              <a:stCxn id="8" idx="4"/>
              <a:endCxn id="10" idx="0"/>
            </p:cNvCxnSpPr>
            <p:nvPr/>
          </p:nvCxnSpPr>
          <p:spPr>
            <a:xfrm rot="5400000">
              <a:off x="5251098" y="3821488"/>
              <a:ext cx="643054" cy="197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5604" name="TextBox 20">
              <a:extLst>
                <a:ext uri="{FF2B5EF4-FFF2-40B4-BE49-F238E27FC236}">
                  <a16:creationId xmlns:a16="http://schemas.microsoft.com/office/drawing/2014/main" id="{46E3AE53-C871-689B-C1B7-F4646D78FFB4}"/>
                </a:ext>
              </a:extLst>
            </p:cNvPr>
            <p:cNvSpPr txBox="1">
              <a:spLocks noChangeArrowheads="1"/>
            </p:cNvSpPr>
            <p:nvPr/>
          </p:nvSpPr>
          <p:spPr bwMode="auto">
            <a:xfrm>
              <a:off x="4857752" y="2916792"/>
              <a:ext cx="50006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30</a:t>
              </a:r>
              <a:endParaRPr lang="zh-CN" altLang="en-US" sz="1400" b="1">
                <a:solidFill>
                  <a:srgbClr val="0000FF"/>
                </a:solidFill>
                <a:latin typeface="Consolas" panose="020B0609020204030204" pitchFamily="49" charset="0"/>
                <a:ea typeface="楷体_GB2312" pitchFamily="49" charset="-122"/>
              </a:endParaRPr>
            </a:p>
          </p:txBody>
        </p:sp>
        <p:sp>
          <p:nvSpPr>
            <p:cNvPr id="65605" name="TextBox 21">
              <a:extLst>
                <a:ext uri="{FF2B5EF4-FFF2-40B4-BE49-F238E27FC236}">
                  <a16:creationId xmlns:a16="http://schemas.microsoft.com/office/drawing/2014/main" id="{42E141EE-B915-CA3D-9290-BBD111CCCE7B}"/>
                </a:ext>
              </a:extLst>
            </p:cNvPr>
            <p:cNvSpPr txBox="1">
              <a:spLocks noChangeArrowheads="1"/>
            </p:cNvSpPr>
            <p:nvPr/>
          </p:nvSpPr>
          <p:spPr bwMode="auto">
            <a:xfrm>
              <a:off x="4643438" y="3702610"/>
              <a:ext cx="50006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100</a:t>
              </a:r>
              <a:endParaRPr lang="zh-CN" altLang="en-US" sz="1400" b="1">
                <a:solidFill>
                  <a:srgbClr val="0000FF"/>
                </a:solidFill>
                <a:latin typeface="Consolas" panose="020B0609020204030204" pitchFamily="49" charset="0"/>
                <a:ea typeface="楷体_GB2312" pitchFamily="49" charset="-122"/>
              </a:endParaRPr>
            </a:p>
          </p:txBody>
        </p:sp>
        <p:sp>
          <p:nvSpPr>
            <p:cNvPr id="65606" name="TextBox 22">
              <a:extLst>
                <a:ext uri="{FF2B5EF4-FFF2-40B4-BE49-F238E27FC236}">
                  <a16:creationId xmlns:a16="http://schemas.microsoft.com/office/drawing/2014/main" id="{478D8E9E-44C8-FF6C-80C3-764023667952}"/>
                </a:ext>
              </a:extLst>
            </p:cNvPr>
            <p:cNvSpPr txBox="1">
              <a:spLocks noChangeArrowheads="1"/>
            </p:cNvSpPr>
            <p:nvPr/>
          </p:nvSpPr>
          <p:spPr bwMode="auto">
            <a:xfrm>
              <a:off x="5525746" y="3534683"/>
              <a:ext cx="50006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60</a:t>
              </a:r>
              <a:endParaRPr lang="zh-CN" altLang="en-US" sz="1400" b="1">
                <a:solidFill>
                  <a:srgbClr val="0000FF"/>
                </a:solidFill>
                <a:latin typeface="Consolas" panose="020B0609020204030204" pitchFamily="49" charset="0"/>
                <a:ea typeface="楷体_GB2312" pitchFamily="49" charset="-122"/>
              </a:endParaRPr>
            </a:p>
          </p:txBody>
        </p:sp>
        <p:sp>
          <p:nvSpPr>
            <p:cNvPr id="65607" name="TextBox 23">
              <a:extLst>
                <a:ext uri="{FF2B5EF4-FFF2-40B4-BE49-F238E27FC236}">
                  <a16:creationId xmlns:a16="http://schemas.microsoft.com/office/drawing/2014/main" id="{5F5E4B6E-5825-3513-2492-00AB121251DB}"/>
                </a:ext>
              </a:extLst>
            </p:cNvPr>
            <p:cNvSpPr txBox="1">
              <a:spLocks noChangeArrowheads="1"/>
            </p:cNvSpPr>
            <p:nvPr/>
          </p:nvSpPr>
          <p:spPr bwMode="auto">
            <a:xfrm>
              <a:off x="5773920" y="2643566"/>
              <a:ext cx="50006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50</a:t>
              </a:r>
              <a:endParaRPr lang="zh-CN" altLang="en-US" sz="1400" b="1">
                <a:solidFill>
                  <a:srgbClr val="0000FF"/>
                </a:solidFill>
                <a:latin typeface="Consolas" panose="020B0609020204030204" pitchFamily="49" charset="0"/>
                <a:ea typeface="楷体_GB2312" pitchFamily="49" charset="-122"/>
              </a:endParaRPr>
            </a:p>
          </p:txBody>
        </p:sp>
        <p:sp>
          <p:nvSpPr>
            <p:cNvPr id="65608" name="TextBox 24">
              <a:extLst>
                <a:ext uri="{FF2B5EF4-FFF2-40B4-BE49-F238E27FC236}">
                  <a16:creationId xmlns:a16="http://schemas.microsoft.com/office/drawing/2014/main" id="{8E2AAEF0-10CF-84C7-8048-4A9CB1ECA73D}"/>
                </a:ext>
              </a:extLst>
            </p:cNvPr>
            <p:cNvSpPr txBox="1">
              <a:spLocks noChangeArrowheads="1"/>
            </p:cNvSpPr>
            <p:nvPr/>
          </p:nvSpPr>
          <p:spPr bwMode="auto">
            <a:xfrm>
              <a:off x="5954374" y="1891224"/>
              <a:ext cx="50006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4</a:t>
              </a:r>
              <a:endParaRPr lang="zh-CN" altLang="en-US" sz="1400" b="1">
                <a:solidFill>
                  <a:srgbClr val="0000FF"/>
                </a:solidFill>
                <a:latin typeface="Consolas" panose="020B0609020204030204" pitchFamily="49" charset="0"/>
                <a:ea typeface="楷体_GB2312" pitchFamily="49" charset="-122"/>
              </a:endParaRPr>
            </a:p>
          </p:txBody>
        </p:sp>
        <p:sp>
          <p:nvSpPr>
            <p:cNvPr id="65609" name="TextBox 25">
              <a:extLst>
                <a:ext uri="{FF2B5EF4-FFF2-40B4-BE49-F238E27FC236}">
                  <a16:creationId xmlns:a16="http://schemas.microsoft.com/office/drawing/2014/main" id="{EC59407D-3648-A26B-4FAE-6570F277B9AF}"/>
                </a:ext>
              </a:extLst>
            </p:cNvPr>
            <p:cNvSpPr txBox="1">
              <a:spLocks noChangeArrowheads="1"/>
            </p:cNvSpPr>
            <p:nvPr/>
          </p:nvSpPr>
          <p:spPr bwMode="auto">
            <a:xfrm>
              <a:off x="6143636" y="3774049"/>
              <a:ext cx="50006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10</a:t>
              </a:r>
              <a:endParaRPr lang="zh-CN" altLang="en-US" sz="1400" b="1">
                <a:solidFill>
                  <a:srgbClr val="0000FF"/>
                </a:solidFill>
                <a:latin typeface="Consolas" panose="020B0609020204030204" pitchFamily="49" charset="0"/>
                <a:ea typeface="楷体_GB2312" pitchFamily="49" charset="-122"/>
              </a:endParaRPr>
            </a:p>
          </p:txBody>
        </p:sp>
        <p:sp>
          <p:nvSpPr>
            <p:cNvPr id="65610" name="TextBox 26">
              <a:extLst>
                <a:ext uri="{FF2B5EF4-FFF2-40B4-BE49-F238E27FC236}">
                  <a16:creationId xmlns:a16="http://schemas.microsoft.com/office/drawing/2014/main" id="{C4869D3C-2A49-2B10-9C20-DFCD9F133425}"/>
                </a:ext>
              </a:extLst>
            </p:cNvPr>
            <p:cNvSpPr txBox="1">
              <a:spLocks noChangeArrowheads="1"/>
            </p:cNvSpPr>
            <p:nvPr/>
          </p:nvSpPr>
          <p:spPr bwMode="auto">
            <a:xfrm>
              <a:off x="5913793" y="3227212"/>
              <a:ext cx="50006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20</a:t>
              </a:r>
              <a:endParaRPr lang="zh-CN" altLang="en-US" sz="1400" b="1">
                <a:solidFill>
                  <a:srgbClr val="0000FF"/>
                </a:solidFill>
                <a:latin typeface="Consolas" panose="020B0609020204030204" pitchFamily="49" charset="0"/>
                <a:ea typeface="楷体_GB2312" pitchFamily="49" charset="-122"/>
              </a:endParaRPr>
            </a:p>
          </p:txBody>
        </p:sp>
      </p:grpSp>
      <p:sp>
        <p:nvSpPr>
          <p:cNvPr id="30" name="任意多边形 29">
            <a:extLst>
              <a:ext uri="{FF2B5EF4-FFF2-40B4-BE49-F238E27FC236}">
                <a16:creationId xmlns:a16="http://schemas.microsoft.com/office/drawing/2014/main" id="{70AFC308-927B-B501-168A-44E81BA89E11}"/>
              </a:ext>
            </a:extLst>
          </p:cNvPr>
          <p:cNvSpPr/>
          <p:nvPr/>
        </p:nvSpPr>
        <p:spPr>
          <a:xfrm>
            <a:off x="5710238" y="92075"/>
            <a:ext cx="2003425" cy="473075"/>
          </a:xfrm>
          <a:custGeom>
            <a:avLst/>
            <a:gdLst>
              <a:gd name="connsiteX0" fmla="*/ 0 w 2004165"/>
              <a:gd name="connsiteY0" fmla="*/ 311063 h 473901"/>
              <a:gd name="connsiteX1" fmla="*/ 576197 w 2004165"/>
              <a:gd name="connsiteY1" fmla="*/ 35490 h 473901"/>
              <a:gd name="connsiteX2" fmla="*/ 1753644 w 2004165"/>
              <a:gd name="connsiteY2" fmla="*/ 98120 h 473901"/>
              <a:gd name="connsiteX3" fmla="*/ 2004165 w 2004165"/>
              <a:gd name="connsiteY3" fmla="*/ 473901 h 473901"/>
            </a:gdLst>
            <a:ahLst/>
            <a:cxnLst>
              <a:cxn ang="0">
                <a:pos x="connsiteX0" y="connsiteY0"/>
              </a:cxn>
              <a:cxn ang="0">
                <a:pos x="connsiteX1" y="connsiteY1"/>
              </a:cxn>
              <a:cxn ang="0">
                <a:pos x="connsiteX2" y="connsiteY2"/>
              </a:cxn>
              <a:cxn ang="0">
                <a:pos x="connsiteX3" y="connsiteY3"/>
              </a:cxn>
            </a:cxnLst>
            <a:rect l="l" t="t" r="r" b="b"/>
            <a:pathLst>
              <a:path w="2004165" h="473901">
                <a:moveTo>
                  <a:pt x="0" y="311063"/>
                </a:moveTo>
                <a:cubicBezTo>
                  <a:pt x="141961" y="191022"/>
                  <a:pt x="283923" y="70981"/>
                  <a:pt x="576197" y="35490"/>
                </a:cubicBezTo>
                <a:cubicBezTo>
                  <a:pt x="868471" y="0"/>
                  <a:pt x="1515649" y="25052"/>
                  <a:pt x="1753644" y="98120"/>
                </a:cubicBezTo>
                <a:cubicBezTo>
                  <a:pt x="1991639" y="171189"/>
                  <a:pt x="1997902" y="322545"/>
                  <a:pt x="2004165" y="473901"/>
                </a:cubicBezTo>
              </a:path>
            </a:pathLst>
          </a:custGeom>
          <a:ln>
            <a:tailEnd type="arrow"/>
          </a:ln>
        </p:spPr>
        <p:style>
          <a:lnRef idx="2">
            <a:schemeClr val="dk1"/>
          </a:lnRef>
          <a:fillRef idx="0">
            <a:schemeClr val="dk1"/>
          </a:fillRef>
          <a:effectRef idx="1">
            <a:schemeClr val="dk1"/>
          </a:effectRef>
          <a:fontRef idx="minor">
            <a:schemeClr val="tx1"/>
          </a:fontRef>
        </p:style>
        <p:txBody>
          <a:bodyPr anchor="ctr"/>
          <a:lstStyle/>
          <a:p>
            <a:pPr algn="ctr" eaLnBrk="1" fontAlgn="auto" hangingPunct="1">
              <a:spcBef>
                <a:spcPts val="0"/>
              </a:spcBef>
              <a:spcAft>
                <a:spcPts val="0"/>
              </a:spcAft>
              <a:defRPr/>
            </a:pPr>
            <a:endParaRPr lang="zh-CN" altLang="en-US" b="1">
              <a:solidFill>
                <a:prstClr val="black"/>
              </a:solidFill>
            </a:endParaRPr>
          </a:p>
        </p:txBody>
      </p:sp>
      <p:grpSp>
        <p:nvGrpSpPr>
          <p:cNvPr id="72" name="组合 71">
            <a:extLst>
              <a:ext uri="{FF2B5EF4-FFF2-40B4-BE49-F238E27FC236}">
                <a16:creationId xmlns:a16="http://schemas.microsoft.com/office/drawing/2014/main" id="{F2C24EB5-3D6E-C75F-26EB-847D008A70C2}"/>
              </a:ext>
            </a:extLst>
          </p:cNvPr>
          <p:cNvGrpSpPr>
            <a:grpSpLocks/>
          </p:cNvGrpSpPr>
          <p:nvPr/>
        </p:nvGrpSpPr>
        <p:grpSpPr bwMode="auto">
          <a:xfrm>
            <a:off x="4381500" y="930275"/>
            <a:ext cx="3357563" cy="1571625"/>
            <a:chOff x="2857488" y="928669"/>
            <a:chExt cx="3357587" cy="1571637"/>
          </a:xfrm>
        </p:grpSpPr>
        <p:sp>
          <p:nvSpPr>
            <p:cNvPr id="65585" name="TextBox 30">
              <a:extLst>
                <a:ext uri="{FF2B5EF4-FFF2-40B4-BE49-F238E27FC236}">
                  <a16:creationId xmlns:a16="http://schemas.microsoft.com/office/drawing/2014/main" id="{6BD59186-E09B-EA8A-1FFF-9CDE8DBE3A29}"/>
                </a:ext>
              </a:extLst>
            </p:cNvPr>
            <p:cNvSpPr txBox="1">
              <a:spLocks noChangeArrowheads="1"/>
            </p:cNvSpPr>
            <p:nvPr/>
          </p:nvSpPr>
          <p:spPr bwMode="auto">
            <a:xfrm>
              <a:off x="2857488" y="1669309"/>
              <a:ext cx="10715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600" b="1">
                  <a:solidFill>
                    <a:srgbClr val="0000FF"/>
                  </a:solidFill>
                  <a:latin typeface="Times New Roman" panose="02020603050405020304" pitchFamily="18" charset="0"/>
                  <a:ea typeface="楷体_GB2312" pitchFamily="49" charset="-122"/>
                </a:rPr>
                <a:t>0+10&lt;</a:t>
              </a:r>
              <a:r>
                <a:rPr lang="zh-CN" altLang="zh-CN" sz="1600" b="1">
                  <a:solidFill>
                    <a:srgbClr val="0000FF"/>
                  </a:solidFill>
                  <a:latin typeface="Times New Roman" panose="02020603050405020304" pitchFamily="18" charset="0"/>
                  <a:ea typeface="楷体_GB2312" pitchFamily="49" charset="-122"/>
                </a:rPr>
                <a:t>∞</a:t>
              </a:r>
              <a:r>
                <a:rPr lang="en-US" altLang="zh-CN" sz="1600" b="1">
                  <a:solidFill>
                    <a:srgbClr val="0000FF"/>
                  </a:solidFill>
                  <a:latin typeface="Times New Roman" panose="02020603050405020304" pitchFamily="18" charset="0"/>
                  <a:ea typeface="楷体_GB2312" pitchFamily="49" charset="-122"/>
                </a:rPr>
                <a:t>:</a:t>
              </a:r>
              <a:endParaRPr lang="zh-CN" altLang="zh-CN" sz="1600" b="1">
                <a:solidFill>
                  <a:srgbClr val="0000FF"/>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prev[2]=0</a:t>
              </a:r>
              <a:endParaRPr lang="zh-CN" altLang="zh-CN" sz="1600" b="1">
                <a:solidFill>
                  <a:srgbClr val="FF0000"/>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dist[2]=10</a:t>
              </a:r>
              <a:endParaRPr lang="zh-CN" altLang="zh-CN" sz="1600" b="1">
                <a:solidFill>
                  <a:srgbClr val="FF0000"/>
                </a:solidFill>
                <a:latin typeface="Times New Roman" panose="02020603050405020304" pitchFamily="18" charset="0"/>
                <a:ea typeface="楷体_GB2312" pitchFamily="49" charset="-122"/>
              </a:endParaRPr>
            </a:p>
          </p:txBody>
        </p:sp>
        <p:sp>
          <p:nvSpPr>
            <p:cNvPr id="5" name="圆角矩形 4">
              <a:extLst>
                <a:ext uri="{FF2B5EF4-FFF2-40B4-BE49-F238E27FC236}">
                  <a16:creationId xmlns:a16="http://schemas.microsoft.com/office/drawing/2014/main" id="{72274F9F-483F-11D4-93C4-5D5591F5EC89}"/>
                </a:ext>
              </a:extLst>
            </p:cNvPr>
            <p:cNvSpPr/>
            <p:nvPr/>
          </p:nvSpPr>
          <p:spPr>
            <a:xfrm>
              <a:off x="3929059" y="1812914"/>
              <a:ext cx="714380" cy="428628"/>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2</a:t>
              </a:r>
              <a:r>
                <a:rPr lang="en-US" altLang="zh-CN" b="1">
                  <a:solidFill>
                    <a:srgbClr val="0000FF"/>
                  </a:solidFill>
                  <a:latin typeface="Consolas" pitchFamily="49" charset="0"/>
                  <a:cs typeface="Consolas" pitchFamily="49" charset="0"/>
                </a:rPr>
                <a:t>,10</a:t>
              </a:r>
              <a:endParaRPr lang="zh-CN" altLang="en-US" b="1">
                <a:solidFill>
                  <a:srgbClr val="0000FF"/>
                </a:solidFill>
                <a:latin typeface="Consolas" pitchFamily="49" charset="0"/>
                <a:cs typeface="Consolas" pitchFamily="49" charset="0"/>
              </a:endParaRPr>
            </a:p>
          </p:txBody>
        </p:sp>
        <p:cxnSp>
          <p:nvCxnSpPr>
            <p:cNvPr id="37" name="直接箭头连接符 36">
              <a:extLst>
                <a:ext uri="{FF2B5EF4-FFF2-40B4-BE49-F238E27FC236}">
                  <a16:creationId xmlns:a16="http://schemas.microsoft.com/office/drawing/2014/main" id="{175C78A7-CF45-7F5F-1800-276A1B8FD968}"/>
                </a:ext>
              </a:extLst>
            </p:cNvPr>
            <p:cNvCxnSpPr>
              <a:stCxn id="2" idx="2"/>
              <a:endCxn id="5" idx="0"/>
            </p:cNvCxnSpPr>
            <p:nvPr/>
          </p:nvCxnSpPr>
          <p:spPr>
            <a:xfrm rot="5400000">
              <a:off x="4808540" y="406377"/>
              <a:ext cx="884245" cy="192882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5588" name="TextBox 41">
              <a:extLst>
                <a:ext uri="{FF2B5EF4-FFF2-40B4-BE49-F238E27FC236}">
                  <a16:creationId xmlns:a16="http://schemas.microsoft.com/office/drawing/2014/main" id="{EBED65C5-72A7-C5CB-7080-96FEB777F012}"/>
                </a:ext>
              </a:extLst>
            </p:cNvPr>
            <p:cNvSpPr txBox="1">
              <a:spLocks noChangeArrowheads="1"/>
            </p:cNvSpPr>
            <p:nvPr/>
          </p:nvSpPr>
          <p:spPr bwMode="auto">
            <a:xfrm>
              <a:off x="4572000" y="1071546"/>
              <a:ext cx="6429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6600"/>
                  </a:solidFill>
                  <a:latin typeface="Times New Roman" panose="02020603050405020304" pitchFamily="18" charset="0"/>
                  <a:ea typeface="楷体_GB2312" pitchFamily="49" charset="-122"/>
                </a:rPr>
                <a:t>0→2</a:t>
              </a:r>
              <a:endParaRPr lang="zh-CN" altLang="en-US" b="1">
                <a:solidFill>
                  <a:srgbClr val="006600"/>
                </a:solidFill>
                <a:latin typeface="Times New Roman" panose="02020603050405020304" pitchFamily="18" charset="0"/>
                <a:ea typeface="楷体_GB2312" pitchFamily="49" charset="-122"/>
              </a:endParaRPr>
            </a:p>
          </p:txBody>
        </p:sp>
      </p:grpSp>
      <p:grpSp>
        <p:nvGrpSpPr>
          <p:cNvPr id="73" name="组合 72">
            <a:extLst>
              <a:ext uri="{FF2B5EF4-FFF2-40B4-BE49-F238E27FC236}">
                <a16:creationId xmlns:a16="http://schemas.microsoft.com/office/drawing/2014/main" id="{FD56617C-58B6-4D24-651D-510805C200EE}"/>
              </a:ext>
            </a:extLst>
          </p:cNvPr>
          <p:cNvGrpSpPr>
            <a:grpSpLocks/>
          </p:cNvGrpSpPr>
          <p:nvPr/>
        </p:nvGrpSpPr>
        <p:grpSpPr bwMode="auto">
          <a:xfrm>
            <a:off x="6380163" y="930275"/>
            <a:ext cx="2000250" cy="1544638"/>
            <a:chOff x="4857752" y="929463"/>
            <a:chExt cx="2000264" cy="1544584"/>
          </a:xfrm>
        </p:grpSpPr>
        <p:sp>
          <p:nvSpPr>
            <p:cNvPr id="32" name="圆角矩形 31">
              <a:extLst>
                <a:ext uri="{FF2B5EF4-FFF2-40B4-BE49-F238E27FC236}">
                  <a16:creationId xmlns:a16="http://schemas.microsoft.com/office/drawing/2014/main" id="{882573C3-00F7-A1D4-F15F-F32D7BD27F00}"/>
                </a:ext>
              </a:extLst>
            </p:cNvPr>
            <p:cNvSpPr/>
            <p:nvPr/>
          </p:nvSpPr>
          <p:spPr>
            <a:xfrm>
              <a:off x="5857884" y="1812082"/>
              <a:ext cx="714380" cy="42861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4</a:t>
              </a:r>
              <a:r>
                <a:rPr lang="en-US" altLang="zh-CN" b="1">
                  <a:solidFill>
                    <a:srgbClr val="0000FF"/>
                  </a:solidFill>
                  <a:latin typeface="Consolas" pitchFamily="49" charset="0"/>
                  <a:cs typeface="Consolas" pitchFamily="49" charset="0"/>
                </a:rPr>
                <a:t>,30</a:t>
              </a:r>
              <a:endParaRPr lang="zh-CN" altLang="en-US" b="1">
                <a:solidFill>
                  <a:srgbClr val="0000FF"/>
                </a:solidFill>
                <a:latin typeface="Consolas" pitchFamily="49" charset="0"/>
                <a:cs typeface="Consolas" pitchFamily="49" charset="0"/>
              </a:endParaRPr>
            </a:p>
          </p:txBody>
        </p:sp>
        <p:sp>
          <p:nvSpPr>
            <p:cNvPr id="65582" name="TextBox 32">
              <a:extLst>
                <a:ext uri="{FF2B5EF4-FFF2-40B4-BE49-F238E27FC236}">
                  <a16:creationId xmlns:a16="http://schemas.microsoft.com/office/drawing/2014/main" id="{EF2841A6-4A66-3F53-A47C-82849E559531}"/>
                </a:ext>
              </a:extLst>
            </p:cNvPr>
            <p:cNvSpPr txBox="1">
              <a:spLocks noChangeArrowheads="1"/>
            </p:cNvSpPr>
            <p:nvPr/>
          </p:nvSpPr>
          <p:spPr bwMode="auto">
            <a:xfrm>
              <a:off x="4857752" y="1643050"/>
              <a:ext cx="10715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600" b="1">
                  <a:solidFill>
                    <a:srgbClr val="0000FF"/>
                  </a:solidFill>
                  <a:latin typeface="Times New Roman" panose="02020603050405020304" pitchFamily="18" charset="0"/>
                  <a:ea typeface="楷体_GB2312" pitchFamily="49" charset="-122"/>
                </a:rPr>
                <a:t>0+30&lt;</a:t>
              </a:r>
              <a:r>
                <a:rPr lang="zh-CN" altLang="zh-CN" sz="1600" b="1">
                  <a:solidFill>
                    <a:srgbClr val="0000FF"/>
                  </a:solidFill>
                  <a:latin typeface="Times New Roman" panose="02020603050405020304" pitchFamily="18" charset="0"/>
                  <a:ea typeface="楷体_GB2312" pitchFamily="49" charset="-122"/>
                </a:rPr>
                <a:t>∞</a:t>
              </a:r>
              <a:r>
                <a:rPr lang="en-US" altLang="zh-CN" sz="1600" b="1">
                  <a:solidFill>
                    <a:srgbClr val="0000FF"/>
                  </a:solidFill>
                  <a:latin typeface="Times New Roman" panose="02020603050405020304" pitchFamily="18" charset="0"/>
                  <a:ea typeface="楷体_GB2312" pitchFamily="49" charset="-122"/>
                </a:rPr>
                <a:t>:</a:t>
              </a:r>
              <a:endParaRPr lang="zh-CN" altLang="zh-CN" sz="1600" b="1">
                <a:solidFill>
                  <a:srgbClr val="0000FF"/>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prev[4]=0</a:t>
              </a:r>
              <a:endParaRPr lang="zh-CN" altLang="zh-CN" sz="1600" b="1">
                <a:solidFill>
                  <a:srgbClr val="FF0000"/>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dist[4]=30</a:t>
              </a:r>
              <a:endParaRPr lang="zh-CN" altLang="zh-CN" sz="1600" b="1">
                <a:solidFill>
                  <a:srgbClr val="FF0000"/>
                </a:solidFill>
                <a:latin typeface="Times New Roman" panose="02020603050405020304" pitchFamily="18" charset="0"/>
                <a:ea typeface="楷体_GB2312" pitchFamily="49" charset="-122"/>
              </a:endParaRPr>
            </a:p>
          </p:txBody>
        </p:sp>
        <p:cxnSp>
          <p:nvCxnSpPr>
            <p:cNvPr id="39" name="直接箭头连接符 38">
              <a:extLst>
                <a:ext uri="{FF2B5EF4-FFF2-40B4-BE49-F238E27FC236}">
                  <a16:creationId xmlns:a16="http://schemas.microsoft.com/office/drawing/2014/main" id="{6A256D46-0311-8EFB-2A3D-2B1AA00D6DCD}"/>
                </a:ext>
              </a:extLst>
            </p:cNvPr>
            <p:cNvCxnSpPr>
              <a:stCxn id="2" idx="2"/>
              <a:endCxn id="32" idx="0"/>
            </p:cNvCxnSpPr>
            <p:nvPr/>
          </p:nvCxnSpPr>
          <p:spPr>
            <a:xfrm rot="5400000">
              <a:off x="5773764" y="1370773"/>
              <a:ext cx="884207"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5584" name="TextBox 42">
              <a:extLst>
                <a:ext uri="{FF2B5EF4-FFF2-40B4-BE49-F238E27FC236}">
                  <a16:creationId xmlns:a16="http://schemas.microsoft.com/office/drawing/2014/main" id="{3C3E0759-A3D9-AC31-AA56-BD2CD45D3B43}"/>
                </a:ext>
              </a:extLst>
            </p:cNvPr>
            <p:cNvSpPr txBox="1">
              <a:spLocks noChangeArrowheads="1"/>
            </p:cNvSpPr>
            <p:nvPr/>
          </p:nvSpPr>
          <p:spPr bwMode="auto">
            <a:xfrm>
              <a:off x="6215074" y="1273718"/>
              <a:ext cx="6429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6600"/>
                  </a:solidFill>
                  <a:latin typeface="Times New Roman" panose="02020603050405020304" pitchFamily="18" charset="0"/>
                  <a:ea typeface="楷体_GB2312" pitchFamily="49" charset="-122"/>
                </a:rPr>
                <a:t>0→4</a:t>
              </a:r>
              <a:endParaRPr lang="zh-CN" altLang="en-US" b="1">
                <a:solidFill>
                  <a:srgbClr val="006600"/>
                </a:solidFill>
                <a:latin typeface="Times New Roman" panose="02020603050405020304" pitchFamily="18" charset="0"/>
                <a:ea typeface="楷体_GB2312" pitchFamily="49" charset="-122"/>
              </a:endParaRPr>
            </a:p>
          </p:txBody>
        </p:sp>
      </p:grpSp>
      <p:grpSp>
        <p:nvGrpSpPr>
          <p:cNvPr id="74" name="组合 73">
            <a:extLst>
              <a:ext uri="{FF2B5EF4-FFF2-40B4-BE49-F238E27FC236}">
                <a16:creationId xmlns:a16="http://schemas.microsoft.com/office/drawing/2014/main" id="{A7B727ED-87C9-F677-A2EA-3FAC0C5F601B}"/>
              </a:ext>
            </a:extLst>
          </p:cNvPr>
          <p:cNvGrpSpPr>
            <a:grpSpLocks/>
          </p:cNvGrpSpPr>
          <p:nvPr/>
        </p:nvGrpSpPr>
        <p:grpSpPr bwMode="auto">
          <a:xfrm>
            <a:off x="7739063" y="930275"/>
            <a:ext cx="2643187" cy="1485900"/>
            <a:chOff x="6215075" y="928669"/>
            <a:chExt cx="2643205" cy="1486466"/>
          </a:xfrm>
        </p:grpSpPr>
        <p:sp>
          <p:nvSpPr>
            <p:cNvPr id="34" name="圆角矩形 33">
              <a:extLst>
                <a:ext uri="{FF2B5EF4-FFF2-40B4-BE49-F238E27FC236}">
                  <a16:creationId xmlns:a16="http://schemas.microsoft.com/office/drawing/2014/main" id="{488EE665-C1E8-AC30-C6BE-DB52120B730A}"/>
                </a:ext>
              </a:extLst>
            </p:cNvPr>
            <p:cNvSpPr/>
            <p:nvPr/>
          </p:nvSpPr>
          <p:spPr>
            <a:xfrm>
              <a:off x="8143900" y="1811655"/>
              <a:ext cx="714380" cy="428788"/>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5</a:t>
              </a:r>
              <a:r>
                <a:rPr lang="en-US" altLang="zh-CN" b="1">
                  <a:solidFill>
                    <a:srgbClr val="0000FF"/>
                  </a:solidFill>
                  <a:latin typeface="Consolas" pitchFamily="49" charset="0"/>
                  <a:cs typeface="Consolas" pitchFamily="49" charset="0"/>
                </a:rPr>
                <a:t>,100</a:t>
              </a:r>
              <a:endParaRPr lang="zh-CN" altLang="en-US" b="1">
                <a:solidFill>
                  <a:srgbClr val="0000FF"/>
                </a:solidFill>
                <a:latin typeface="Consolas" pitchFamily="49" charset="0"/>
                <a:cs typeface="Consolas" pitchFamily="49" charset="0"/>
              </a:endParaRPr>
            </a:p>
          </p:txBody>
        </p:sp>
        <p:sp>
          <p:nvSpPr>
            <p:cNvPr id="65578" name="TextBox 34">
              <a:extLst>
                <a:ext uri="{FF2B5EF4-FFF2-40B4-BE49-F238E27FC236}">
                  <a16:creationId xmlns:a16="http://schemas.microsoft.com/office/drawing/2014/main" id="{5E74EEBB-BFF3-65AD-1A0B-5F6AC1B320C1}"/>
                </a:ext>
              </a:extLst>
            </p:cNvPr>
            <p:cNvSpPr txBox="1">
              <a:spLocks noChangeArrowheads="1"/>
            </p:cNvSpPr>
            <p:nvPr/>
          </p:nvSpPr>
          <p:spPr bwMode="auto">
            <a:xfrm>
              <a:off x="7000892" y="1584138"/>
              <a:ext cx="129841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600" b="1">
                  <a:solidFill>
                    <a:srgbClr val="0000FF"/>
                  </a:solidFill>
                  <a:latin typeface="Times New Roman" panose="02020603050405020304" pitchFamily="18" charset="0"/>
                  <a:ea typeface="楷体_GB2312" pitchFamily="49" charset="-122"/>
                </a:rPr>
                <a:t>0+100&lt;</a:t>
              </a:r>
              <a:r>
                <a:rPr lang="zh-CN" altLang="zh-CN" sz="1600" b="1">
                  <a:solidFill>
                    <a:srgbClr val="0000FF"/>
                  </a:solidFill>
                  <a:latin typeface="Times New Roman" panose="02020603050405020304" pitchFamily="18" charset="0"/>
                  <a:ea typeface="楷体_GB2312" pitchFamily="49" charset="-122"/>
                </a:rPr>
                <a:t>∞</a:t>
              </a:r>
              <a:r>
                <a:rPr lang="en-US" altLang="zh-CN" sz="1600" b="1">
                  <a:solidFill>
                    <a:srgbClr val="0000FF"/>
                  </a:solidFill>
                  <a:latin typeface="Times New Roman" panose="02020603050405020304" pitchFamily="18" charset="0"/>
                  <a:ea typeface="楷体_GB2312" pitchFamily="49" charset="-122"/>
                </a:rPr>
                <a:t>:</a:t>
              </a:r>
              <a:endParaRPr lang="zh-CN" altLang="zh-CN" sz="1600" b="1">
                <a:solidFill>
                  <a:srgbClr val="0000FF"/>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prev[5]=0</a:t>
              </a:r>
              <a:endParaRPr lang="zh-CN" altLang="zh-CN" sz="1600" b="1">
                <a:solidFill>
                  <a:srgbClr val="FF0000"/>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dist[5]=100</a:t>
              </a:r>
              <a:endParaRPr lang="zh-CN" altLang="zh-CN" sz="1600" b="1">
                <a:solidFill>
                  <a:srgbClr val="FF0000"/>
                </a:solidFill>
                <a:latin typeface="Times New Roman" panose="02020603050405020304" pitchFamily="18" charset="0"/>
                <a:ea typeface="楷体_GB2312" pitchFamily="49" charset="-122"/>
              </a:endParaRPr>
            </a:p>
          </p:txBody>
        </p:sp>
        <p:cxnSp>
          <p:nvCxnSpPr>
            <p:cNvPr id="41" name="直接箭头连接符 40">
              <a:extLst>
                <a:ext uri="{FF2B5EF4-FFF2-40B4-BE49-F238E27FC236}">
                  <a16:creationId xmlns:a16="http://schemas.microsoft.com/office/drawing/2014/main" id="{83A6B0A5-E6A7-1794-666D-9AF54AA7B113}"/>
                </a:ext>
              </a:extLst>
            </p:cNvPr>
            <p:cNvCxnSpPr>
              <a:stCxn id="2" idx="2"/>
              <a:endCxn id="34" idx="0"/>
            </p:cNvCxnSpPr>
            <p:nvPr/>
          </p:nvCxnSpPr>
          <p:spPr>
            <a:xfrm rot="16200000" flipH="1">
              <a:off x="6916590" y="227154"/>
              <a:ext cx="882986" cy="228601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5580" name="TextBox 43">
              <a:extLst>
                <a:ext uri="{FF2B5EF4-FFF2-40B4-BE49-F238E27FC236}">
                  <a16:creationId xmlns:a16="http://schemas.microsoft.com/office/drawing/2014/main" id="{F9412F5C-D20C-71A6-D201-C65A4A17BDAD}"/>
                </a:ext>
              </a:extLst>
            </p:cNvPr>
            <p:cNvSpPr txBox="1">
              <a:spLocks noChangeArrowheads="1"/>
            </p:cNvSpPr>
            <p:nvPr/>
          </p:nvSpPr>
          <p:spPr bwMode="auto">
            <a:xfrm>
              <a:off x="7572396" y="1130842"/>
              <a:ext cx="6429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6600"/>
                  </a:solidFill>
                  <a:latin typeface="Times New Roman" panose="02020603050405020304" pitchFamily="18" charset="0"/>
                  <a:ea typeface="楷体_GB2312" pitchFamily="49" charset="-122"/>
                </a:rPr>
                <a:t>0→5</a:t>
              </a:r>
              <a:endParaRPr lang="zh-CN" altLang="en-US" b="1">
                <a:solidFill>
                  <a:srgbClr val="006600"/>
                </a:solidFill>
                <a:latin typeface="Times New Roman" panose="02020603050405020304" pitchFamily="18" charset="0"/>
                <a:ea typeface="楷体_GB2312" pitchFamily="49" charset="-122"/>
              </a:endParaRPr>
            </a:p>
          </p:txBody>
        </p:sp>
      </p:grpSp>
      <p:grpSp>
        <p:nvGrpSpPr>
          <p:cNvPr id="75" name="组合 74">
            <a:extLst>
              <a:ext uri="{FF2B5EF4-FFF2-40B4-BE49-F238E27FC236}">
                <a16:creationId xmlns:a16="http://schemas.microsoft.com/office/drawing/2014/main" id="{CC60B0A4-9516-B6DE-0849-51BD5F2CEC15}"/>
              </a:ext>
            </a:extLst>
          </p:cNvPr>
          <p:cNvGrpSpPr>
            <a:grpSpLocks/>
          </p:cNvGrpSpPr>
          <p:nvPr/>
        </p:nvGrpSpPr>
        <p:grpSpPr bwMode="auto">
          <a:xfrm>
            <a:off x="3738563" y="2243138"/>
            <a:ext cx="2357437" cy="1544637"/>
            <a:chOff x="2214546" y="2240813"/>
            <a:chExt cx="2357454" cy="1545377"/>
          </a:xfrm>
        </p:grpSpPr>
        <p:sp>
          <p:nvSpPr>
            <p:cNvPr id="45" name="圆角矩形 44">
              <a:extLst>
                <a:ext uri="{FF2B5EF4-FFF2-40B4-BE49-F238E27FC236}">
                  <a16:creationId xmlns:a16="http://schemas.microsoft.com/office/drawing/2014/main" id="{F443EDB8-7C7A-6600-DF6F-D00385E330C4}"/>
                </a:ext>
              </a:extLst>
            </p:cNvPr>
            <p:cNvSpPr/>
            <p:nvPr/>
          </p:nvSpPr>
          <p:spPr>
            <a:xfrm>
              <a:off x="3286116" y="3098474"/>
              <a:ext cx="714380" cy="42883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3</a:t>
              </a:r>
              <a:r>
                <a:rPr lang="en-US" altLang="zh-CN" b="1">
                  <a:solidFill>
                    <a:srgbClr val="0000FF"/>
                  </a:solidFill>
                  <a:latin typeface="Consolas" pitchFamily="49" charset="0"/>
                  <a:cs typeface="Consolas" pitchFamily="49" charset="0"/>
                </a:rPr>
                <a:t>,60</a:t>
              </a:r>
              <a:endParaRPr lang="zh-CN" altLang="en-US" b="1">
                <a:solidFill>
                  <a:srgbClr val="0000FF"/>
                </a:solidFill>
                <a:latin typeface="Consolas" pitchFamily="49" charset="0"/>
                <a:cs typeface="Consolas" pitchFamily="49" charset="0"/>
              </a:endParaRPr>
            </a:p>
          </p:txBody>
        </p:sp>
        <p:sp>
          <p:nvSpPr>
            <p:cNvPr id="65574" name="TextBox 45">
              <a:extLst>
                <a:ext uri="{FF2B5EF4-FFF2-40B4-BE49-F238E27FC236}">
                  <a16:creationId xmlns:a16="http://schemas.microsoft.com/office/drawing/2014/main" id="{F9FADE0D-2F42-A99F-AF6E-0C036446BF7C}"/>
                </a:ext>
              </a:extLst>
            </p:cNvPr>
            <p:cNvSpPr txBox="1">
              <a:spLocks noChangeArrowheads="1"/>
            </p:cNvSpPr>
            <p:nvPr/>
          </p:nvSpPr>
          <p:spPr bwMode="auto">
            <a:xfrm>
              <a:off x="2214546" y="2955193"/>
              <a:ext cx="10715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600" b="1">
                  <a:solidFill>
                    <a:srgbClr val="0000FF"/>
                  </a:solidFill>
                  <a:latin typeface="Times New Roman" panose="02020603050405020304" pitchFamily="18" charset="0"/>
                  <a:ea typeface="楷体_GB2312" pitchFamily="49" charset="-122"/>
                </a:rPr>
                <a:t>10+50&lt;</a:t>
              </a:r>
              <a:r>
                <a:rPr lang="zh-CN" altLang="zh-CN" sz="1600" b="1">
                  <a:solidFill>
                    <a:srgbClr val="0000FF"/>
                  </a:solidFill>
                  <a:latin typeface="Times New Roman" panose="02020603050405020304" pitchFamily="18" charset="0"/>
                  <a:ea typeface="楷体_GB2312" pitchFamily="49" charset="-122"/>
                </a:rPr>
                <a:t>∞</a:t>
              </a:r>
              <a:r>
                <a:rPr lang="en-US" altLang="zh-CN" sz="1600" b="1">
                  <a:solidFill>
                    <a:srgbClr val="0000FF"/>
                  </a:solidFill>
                  <a:latin typeface="Times New Roman" panose="02020603050405020304" pitchFamily="18" charset="0"/>
                  <a:ea typeface="楷体_GB2312" pitchFamily="49" charset="-122"/>
                </a:rPr>
                <a:t>:</a:t>
              </a:r>
              <a:endParaRPr lang="zh-CN" altLang="zh-CN" sz="1600" b="1">
                <a:solidFill>
                  <a:srgbClr val="0000FF"/>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prev[3]=2</a:t>
              </a:r>
              <a:endParaRPr lang="zh-CN" altLang="zh-CN" sz="1600" b="1">
                <a:solidFill>
                  <a:srgbClr val="FF0000"/>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dist[3]=60</a:t>
              </a:r>
              <a:endParaRPr lang="zh-CN" altLang="zh-CN" sz="1600" b="1">
                <a:solidFill>
                  <a:srgbClr val="FF0000"/>
                </a:solidFill>
                <a:latin typeface="Times New Roman" panose="02020603050405020304" pitchFamily="18" charset="0"/>
                <a:ea typeface="楷体_GB2312" pitchFamily="49" charset="-122"/>
              </a:endParaRPr>
            </a:p>
          </p:txBody>
        </p:sp>
        <p:cxnSp>
          <p:nvCxnSpPr>
            <p:cNvPr id="48" name="直接箭头连接符 47">
              <a:extLst>
                <a:ext uri="{FF2B5EF4-FFF2-40B4-BE49-F238E27FC236}">
                  <a16:creationId xmlns:a16="http://schemas.microsoft.com/office/drawing/2014/main" id="{80D92F32-386C-ABD1-F9AE-E1DFB7A0B320}"/>
                </a:ext>
              </a:extLst>
            </p:cNvPr>
            <p:cNvCxnSpPr>
              <a:stCxn id="5" idx="2"/>
              <a:endCxn id="45" idx="0"/>
            </p:cNvCxnSpPr>
            <p:nvPr/>
          </p:nvCxnSpPr>
          <p:spPr>
            <a:xfrm rot="5400000">
              <a:off x="3535947" y="2348172"/>
              <a:ext cx="857661" cy="64294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5576" name="TextBox 49">
              <a:extLst>
                <a:ext uri="{FF2B5EF4-FFF2-40B4-BE49-F238E27FC236}">
                  <a16:creationId xmlns:a16="http://schemas.microsoft.com/office/drawing/2014/main" id="{380E8E6B-33C2-081D-D593-4C463794ED73}"/>
                </a:ext>
              </a:extLst>
            </p:cNvPr>
            <p:cNvSpPr txBox="1">
              <a:spLocks noChangeArrowheads="1"/>
            </p:cNvSpPr>
            <p:nvPr/>
          </p:nvSpPr>
          <p:spPr bwMode="auto">
            <a:xfrm>
              <a:off x="3929058" y="2559602"/>
              <a:ext cx="6429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6600"/>
                  </a:solidFill>
                  <a:latin typeface="Times New Roman" panose="02020603050405020304" pitchFamily="18" charset="0"/>
                  <a:ea typeface="楷体_GB2312" pitchFamily="49" charset="-122"/>
                </a:rPr>
                <a:t>2→3</a:t>
              </a:r>
              <a:endParaRPr lang="zh-CN" altLang="en-US" b="1">
                <a:solidFill>
                  <a:srgbClr val="006600"/>
                </a:solidFill>
                <a:latin typeface="Times New Roman" panose="02020603050405020304" pitchFamily="18" charset="0"/>
                <a:ea typeface="楷体_GB2312" pitchFamily="49" charset="-122"/>
              </a:endParaRPr>
            </a:p>
          </p:txBody>
        </p:sp>
      </p:grpSp>
      <p:grpSp>
        <p:nvGrpSpPr>
          <p:cNvPr id="76" name="组合 75">
            <a:extLst>
              <a:ext uri="{FF2B5EF4-FFF2-40B4-BE49-F238E27FC236}">
                <a16:creationId xmlns:a16="http://schemas.microsoft.com/office/drawing/2014/main" id="{C94DF56A-AD14-04DB-4576-F2AF9F8939CA}"/>
              </a:ext>
            </a:extLst>
          </p:cNvPr>
          <p:cNvGrpSpPr>
            <a:grpSpLocks/>
          </p:cNvGrpSpPr>
          <p:nvPr/>
        </p:nvGrpSpPr>
        <p:grpSpPr bwMode="auto">
          <a:xfrm>
            <a:off x="5881688" y="2243138"/>
            <a:ext cx="1857375" cy="1517650"/>
            <a:chOff x="4357686" y="2240812"/>
            <a:chExt cx="1857389" cy="1519119"/>
          </a:xfrm>
        </p:grpSpPr>
        <p:sp>
          <p:nvSpPr>
            <p:cNvPr id="51" name="圆角矩形 50">
              <a:extLst>
                <a:ext uri="{FF2B5EF4-FFF2-40B4-BE49-F238E27FC236}">
                  <a16:creationId xmlns:a16="http://schemas.microsoft.com/office/drawing/2014/main" id="{FEB76363-B4EE-894C-EBFB-04C6D897DDCA}"/>
                </a:ext>
              </a:extLst>
            </p:cNvPr>
            <p:cNvSpPr/>
            <p:nvPr/>
          </p:nvSpPr>
          <p:spPr>
            <a:xfrm>
              <a:off x="5429256" y="3071878"/>
              <a:ext cx="714380" cy="42904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3</a:t>
              </a:r>
              <a:r>
                <a:rPr lang="en-US" altLang="zh-CN" b="1">
                  <a:solidFill>
                    <a:srgbClr val="0000FF"/>
                  </a:solidFill>
                  <a:latin typeface="Consolas" pitchFamily="49" charset="0"/>
                  <a:cs typeface="Consolas" pitchFamily="49" charset="0"/>
                </a:rPr>
                <a:t>,50</a:t>
              </a:r>
              <a:endParaRPr lang="zh-CN" altLang="en-US" b="1">
                <a:solidFill>
                  <a:srgbClr val="0000FF"/>
                </a:solidFill>
                <a:latin typeface="Consolas" pitchFamily="49" charset="0"/>
                <a:cs typeface="Consolas" pitchFamily="49" charset="0"/>
              </a:endParaRPr>
            </a:p>
          </p:txBody>
        </p:sp>
        <p:sp>
          <p:nvSpPr>
            <p:cNvPr id="65570" name="TextBox 51">
              <a:extLst>
                <a:ext uri="{FF2B5EF4-FFF2-40B4-BE49-F238E27FC236}">
                  <a16:creationId xmlns:a16="http://schemas.microsoft.com/office/drawing/2014/main" id="{A65D6388-101F-D869-2C05-A822CD5F2861}"/>
                </a:ext>
              </a:extLst>
            </p:cNvPr>
            <p:cNvSpPr txBox="1">
              <a:spLocks noChangeArrowheads="1"/>
            </p:cNvSpPr>
            <p:nvPr/>
          </p:nvSpPr>
          <p:spPr bwMode="auto">
            <a:xfrm>
              <a:off x="4357686" y="2928934"/>
              <a:ext cx="10715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600" b="1">
                  <a:solidFill>
                    <a:srgbClr val="0000FF"/>
                  </a:solidFill>
                  <a:latin typeface="Times New Roman" panose="02020603050405020304" pitchFamily="18" charset="0"/>
                  <a:ea typeface="楷体_GB2312" pitchFamily="49" charset="-122"/>
                </a:rPr>
                <a:t>30+20&lt;60:</a:t>
              </a:r>
              <a:endParaRPr lang="zh-CN" altLang="zh-CN" sz="1600" b="1">
                <a:solidFill>
                  <a:srgbClr val="0000FF"/>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prev[3]=4</a:t>
              </a:r>
              <a:endParaRPr lang="zh-CN" altLang="zh-CN" sz="1600" b="1">
                <a:solidFill>
                  <a:srgbClr val="FF0000"/>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dist[3]=50</a:t>
              </a:r>
              <a:endParaRPr lang="zh-CN" altLang="zh-CN" sz="1600" b="1">
                <a:solidFill>
                  <a:srgbClr val="FF0000"/>
                </a:solidFill>
                <a:latin typeface="Times New Roman" panose="02020603050405020304" pitchFamily="18" charset="0"/>
                <a:ea typeface="楷体_GB2312" pitchFamily="49" charset="-122"/>
              </a:endParaRPr>
            </a:p>
          </p:txBody>
        </p:sp>
        <p:cxnSp>
          <p:nvCxnSpPr>
            <p:cNvPr id="56" name="直接箭头连接符 55">
              <a:extLst>
                <a:ext uri="{FF2B5EF4-FFF2-40B4-BE49-F238E27FC236}">
                  <a16:creationId xmlns:a16="http://schemas.microsoft.com/office/drawing/2014/main" id="{13B83976-C6DC-114C-4CDA-167A2901A460}"/>
                </a:ext>
              </a:extLst>
            </p:cNvPr>
            <p:cNvCxnSpPr>
              <a:stCxn id="32" idx="2"/>
              <a:endCxn id="51" idx="0"/>
            </p:cNvCxnSpPr>
            <p:nvPr/>
          </p:nvCxnSpPr>
          <p:spPr>
            <a:xfrm rot="5400000">
              <a:off x="5585229" y="2442030"/>
              <a:ext cx="831066" cy="4286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5572" name="TextBox 58">
              <a:extLst>
                <a:ext uri="{FF2B5EF4-FFF2-40B4-BE49-F238E27FC236}">
                  <a16:creationId xmlns:a16="http://schemas.microsoft.com/office/drawing/2014/main" id="{003CFCCA-8581-227B-4920-CD9D1F791CA2}"/>
                </a:ext>
              </a:extLst>
            </p:cNvPr>
            <p:cNvSpPr txBox="1">
              <a:spLocks noChangeArrowheads="1"/>
            </p:cNvSpPr>
            <p:nvPr/>
          </p:nvSpPr>
          <p:spPr bwMode="auto">
            <a:xfrm>
              <a:off x="5357818" y="2428868"/>
              <a:ext cx="6429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6600"/>
                  </a:solidFill>
                  <a:latin typeface="Times New Roman" panose="02020603050405020304" pitchFamily="18" charset="0"/>
                  <a:ea typeface="楷体_GB2312" pitchFamily="49" charset="-122"/>
                </a:rPr>
                <a:t>4→3</a:t>
              </a:r>
              <a:endParaRPr lang="zh-CN" altLang="en-US" b="1">
                <a:solidFill>
                  <a:srgbClr val="006600"/>
                </a:solidFill>
                <a:latin typeface="Times New Roman" panose="02020603050405020304" pitchFamily="18" charset="0"/>
                <a:ea typeface="楷体_GB2312" pitchFamily="49" charset="-122"/>
              </a:endParaRPr>
            </a:p>
          </p:txBody>
        </p:sp>
      </p:grpSp>
      <p:grpSp>
        <p:nvGrpSpPr>
          <p:cNvPr id="77" name="组合 76">
            <a:extLst>
              <a:ext uri="{FF2B5EF4-FFF2-40B4-BE49-F238E27FC236}">
                <a16:creationId xmlns:a16="http://schemas.microsoft.com/office/drawing/2014/main" id="{F3C2EE05-DE9A-7743-91E8-3E79F2899DC5}"/>
              </a:ext>
            </a:extLst>
          </p:cNvPr>
          <p:cNvGrpSpPr>
            <a:grpSpLocks/>
          </p:cNvGrpSpPr>
          <p:nvPr/>
        </p:nvGrpSpPr>
        <p:grpSpPr bwMode="auto">
          <a:xfrm>
            <a:off x="7739063" y="2243138"/>
            <a:ext cx="2286000" cy="1517650"/>
            <a:chOff x="6215075" y="2240812"/>
            <a:chExt cx="2286015" cy="1519119"/>
          </a:xfrm>
        </p:grpSpPr>
        <p:sp>
          <p:nvSpPr>
            <p:cNvPr id="53" name="圆角矩形 52">
              <a:extLst>
                <a:ext uri="{FF2B5EF4-FFF2-40B4-BE49-F238E27FC236}">
                  <a16:creationId xmlns:a16="http://schemas.microsoft.com/office/drawing/2014/main" id="{6ACC7A38-2C9F-C0A9-66F6-2B760FEFB0B7}"/>
                </a:ext>
              </a:extLst>
            </p:cNvPr>
            <p:cNvSpPr/>
            <p:nvPr/>
          </p:nvSpPr>
          <p:spPr>
            <a:xfrm>
              <a:off x="6429388" y="3071878"/>
              <a:ext cx="714380" cy="42904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5</a:t>
              </a:r>
              <a:r>
                <a:rPr lang="en-US" altLang="zh-CN" b="1">
                  <a:solidFill>
                    <a:srgbClr val="0000FF"/>
                  </a:solidFill>
                  <a:latin typeface="Consolas" pitchFamily="49" charset="0"/>
                  <a:cs typeface="Consolas" pitchFamily="49" charset="0"/>
                </a:rPr>
                <a:t>,90</a:t>
              </a:r>
              <a:endParaRPr lang="zh-CN" altLang="en-US" b="1">
                <a:solidFill>
                  <a:srgbClr val="0000FF"/>
                </a:solidFill>
                <a:latin typeface="Consolas" pitchFamily="49" charset="0"/>
                <a:cs typeface="Consolas" pitchFamily="49" charset="0"/>
              </a:endParaRPr>
            </a:p>
          </p:txBody>
        </p:sp>
        <p:sp>
          <p:nvSpPr>
            <p:cNvPr id="65566" name="TextBox 53">
              <a:extLst>
                <a:ext uri="{FF2B5EF4-FFF2-40B4-BE49-F238E27FC236}">
                  <a16:creationId xmlns:a16="http://schemas.microsoft.com/office/drawing/2014/main" id="{2E574C63-E004-B6B7-4B4B-C0F52D83D776}"/>
                </a:ext>
              </a:extLst>
            </p:cNvPr>
            <p:cNvSpPr txBox="1">
              <a:spLocks noChangeArrowheads="1"/>
            </p:cNvSpPr>
            <p:nvPr/>
          </p:nvSpPr>
          <p:spPr bwMode="auto">
            <a:xfrm>
              <a:off x="7286644" y="2928934"/>
              <a:ext cx="121444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600" b="1">
                  <a:solidFill>
                    <a:srgbClr val="0000FF"/>
                  </a:solidFill>
                  <a:latin typeface="Times New Roman" panose="02020603050405020304" pitchFamily="18" charset="0"/>
                  <a:ea typeface="楷体_GB2312" pitchFamily="49" charset="-122"/>
                </a:rPr>
                <a:t>30+60&lt;100:</a:t>
              </a:r>
              <a:endParaRPr lang="zh-CN" altLang="zh-CN" sz="1600" b="1">
                <a:solidFill>
                  <a:srgbClr val="0000FF"/>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prev[5]=4</a:t>
              </a:r>
              <a:endParaRPr lang="zh-CN" altLang="zh-CN" sz="1600" b="1">
                <a:solidFill>
                  <a:srgbClr val="FF0000"/>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dist[5]=90</a:t>
              </a:r>
              <a:endParaRPr lang="zh-CN" altLang="zh-CN" sz="1600" b="1">
                <a:solidFill>
                  <a:srgbClr val="FF0000"/>
                </a:solidFill>
                <a:latin typeface="Times New Roman" panose="02020603050405020304" pitchFamily="18" charset="0"/>
                <a:ea typeface="楷体_GB2312" pitchFamily="49" charset="-122"/>
              </a:endParaRPr>
            </a:p>
          </p:txBody>
        </p:sp>
        <p:cxnSp>
          <p:nvCxnSpPr>
            <p:cNvPr id="58" name="直接箭头连接符 57">
              <a:extLst>
                <a:ext uri="{FF2B5EF4-FFF2-40B4-BE49-F238E27FC236}">
                  <a16:creationId xmlns:a16="http://schemas.microsoft.com/office/drawing/2014/main" id="{BCF79826-6F32-12B8-D265-6EC244AA7325}"/>
                </a:ext>
              </a:extLst>
            </p:cNvPr>
            <p:cNvCxnSpPr>
              <a:stCxn id="32" idx="2"/>
              <a:endCxn id="53" idx="0"/>
            </p:cNvCxnSpPr>
            <p:nvPr/>
          </p:nvCxnSpPr>
          <p:spPr>
            <a:xfrm rot="16200000" flipH="1">
              <a:off x="6085294" y="2370593"/>
              <a:ext cx="831066" cy="57150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5568" name="TextBox 59">
              <a:extLst>
                <a:ext uri="{FF2B5EF4-FFF2-40B4-BE49-F238E27FC236}">
                  <a16:creationId xmlns:a16="http://schemas.microsoft.com/office/drawing/2014/main" id="{9DE53666-B23A-1EA1-97A0-579E1B4EB08F}"/>
                </a:ext>
              </a:extLst>
            </p:cNvPr>
            <p:cNvSpPr txBox="1">
              <a:spLocks noChangeArrowheads="1"/>
            </p:cNvSpPr>
            <p:nvPr/>
          </p:nvSpPr>
          <p:spPr bwMode="auto">
            <a:xfrm>
              <a:off x="6572264" y="2500306"/>
              <a:ext cx="6429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6600"/>
                  </a:solidFill>
                  <a:latin typeface="Times New Roman" panose="02020603050405020304" pitchFamily="18" charset="0"/>
                  <a:ea typeface="楷体_GB2312" pitchFamily="49" charset="-122"/>
                </a:rPr>
                <a:t>4→5</a:t>
              </a:r>
              <a:endParaRPr lang="zh-CN" altLang="en-US" b="1">
                <a:solidFill>
                  <a:srgbClr val="006600"/>
                </a:solidFill>
                <a:latin typeface="Times New Roman" panose="02020603050405020304" pitchFamily="18" charset="0"/>
                <a:ea typeface="楷体_GB2312" pitchFamily="49" charset="-122"/>
              </a:endParaRPr>
            </a:p>
          </p:txBody>
        </p:sp>
      </p:grpSp>
      <p:grpSp>
        <p:nvGrpSpPr>
          <p:cNvPr id="78" name="组合 77">
            <a:extLst>
              <a:ext uri="{FF2B5EF4-FFF2-40B4-BE49-F238E27FC236}">
                <a16:creationId xmlns:a16="http://schemas.microsoft.com/office/drawing/2014/main" id="{EB802FEA-FDEE-2962-F419-7191F27F398E}"/>
              </a:ext>
            </a:extLst>
          </p:cNvPr>
          <p:cNvGrpSpPr>
            <a:grpSpLocks/>
          </p:cNvGrpSpPr>
          <p:nvPr/>
        </p:nvGrpSpPr>
        <p:grpSpPr bwMode="auto">
          <a:xfrm>
            <a:off x="3738563" y="3529013"/>
            <a:ext cx="1785937" cy="1758950"/>
            <a:chOff x="2214546" y="3527491"/>
            <a:chExt cx="1785950" cy="1758897"/>
          </a:xfrm>
        </p:grpSpPr>
        <p:sp>
          <p:nvSpPr>
            <p:cNvPr id="62" name="圆角矩形 61">
              <a:extLst>
                <a:ext uri="{FF2B5EF4-FFF2-40B4-BE49-F238E27FC236}">
                  <a16:creationId xmlns:a16="http://schemas.microsoft.com/office/drawing/2014/main" id="{B5368580-7E60-8AEA-5332-4F0041487771}"/>
                </a:ext>
              </a:extLst>
            </p:cNvPr>
            <p:cNvSpPr/>
            <p:nvPr/>
          </p:nvSpPr>
          <p:spPr>
            <a:xfrm>
              <a:off x="3286116" y="4599021"/>
              <a:ext cx="714380" cy="428612"/>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5</a:t>
              </a:r>
              <a:r>
                <a:rPr lang="en-US" altLang="zh-CN" b="1">
                  <a:solidFill>
                    <a:srgbClr val="0000FF"/>
                  </a:solidFill>
                  <a:latin typeface="Consolas" pitchFamily="49" charset="0"/>
                  <a:cs typeface="Consolas" pitchFamily="49" charset="0"/>
                </a:rPr>
                <a:t>,70</a:t>
              </a:r>
              <a:endParaRPr lang="zh-CN" altLang="en-US" b="1">
                <a:solidFill>
                  <a:srgbClr val="0000FF"/>
                </a:solidFill>
                <a:latin typeface="Consolas" pitchFamily="49" charset="0"/>
                <a:cs typeface="Consolas" pitchFamily="49" charset="0"/>
              </a:endParaRPr>
            </a:p>
          </p:txBody>
        </p:sp>
        <p:sp>
          <p:nvSpPr>
            <p:cNvPr id="65562" name="TextBox 62">
              <a:extLst>
                <a:ext uri="{FF2B5EF4-FFF2-40B4-BE49-F238E27FC236}">
                  <a16:creationId xmlns:a16="http://schemas.microsoft.com/office/drawing/2014/main" id="{062207F3-65E6-B86D-6FCA-A60D32B7FFA3}"/>
                </a:ext>
              </a:extLst>
            </p:cNvPr>
            <p:cNvSpPr txBox="1">
              <a:spLocks noChangeArrowheads="1"/>
            </p:cNvSpPr>
            <p:nvPr/>
          </p:nvSpPr>
          <p:spPr bwMode="auto">
            <a:xfrm>
              <a:off x="2214546" y="4455391"/>
              <a:ext cx="10715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600" b="1">
                  <a:solidFill>
                    <a:srgbClr val="0000FF"/>
                  </a:solidFill>
                  <a:latin typeface="Times New Roman" panose="02020603050405020304" pitchFamily="18" charset="0"/>
                  <a:ea typeface="楷体_GB2312" pitchFamily="49" charset="-122"/>
                </a:rPr>
                <a:t>60+10&lt;90:</a:t>
              </a:r>
              <a:endParaRPr lang="zh-CN" altLang="zh-CN" sz="1600" b="1">
                <a:solidFill>
                  <a:srgbClr val="0000FF"/>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prev[5]=3</a:t>
              </a:r>
              <a:endParaRPr lang="zh-CN" altLang="zh-CN" sz="1600" b="1">
                <a:solidFill>
                  <a:srgbClr val="FF0000"/>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dist[5]=70</a:t>
              </a:r>
              <a:endParaRPr lang="zh-CN" altLang="zh-CN" sz="1600" b="1">
                <a:solidFill>
                  <a:srgbClr val="FF0000"/>
                </a:solidFill>
                <a:latin typeface="Times New Roman" panose="02020603050405020304" pitchFamily="18" charset="0"/>
                <a:ea typeface="楷体_GB2312" pitchFamily="49" charset="-122"/>
              </a:endParaRPr>
            </a:p>
          </p:txBody>
        </p:sp>
        <p:cxnSp>
          <p:nvCxnSpPr>
            <p:cNvPr id="65" name="直接箭头连接符 64">
              <a:extLst>
                <a:ext uri="{FF2B5EF4-FFF2-40B4-BE49-F238E27FC236}">
                  <a16:creationId xmlns:a16="http://schemas.microsoft.com/office/drawing/2014/main" id="{40F8C377-C997-D5F1-B184-0C014A59D413}"/>
                </a:ext>
              </a:extLst>
            </p:cNvPr>
            <p:cNvCxnSpPr>
              <a:stCxn id="45" idx="2"/>
              <a:endCxn id="62" idx="0"/>
            </p:cNvCxnSpPr>
            <p:nvPr/>
          </p:nvCxnSpPr>
          <p:spPr>
            <a:xfrm rot="5400000">
              <a:off x="3107542" y="4061668"/>
              <a:ext cx="1071530" cy="317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5564" name="TextBox 65">
              <a:extLst>
                <a:ext uri="{FF2B5EF4-FFF2-40B4-BE49-F238E27FC236}">
                  <a16:creationId xmlns:a16="http://schemas.microsoft.com/office/drawing/2014/main" id="{33A57A7A-575B-E13A-8F72-69C4081B11A3}"/>
                </a:ext>
              </a:extLst>
            </p:cNvPr>
            <p:cNvSpPr txBox="1">
              <a:spLocks noChangeArrowheads="1"/>
            </p:cNvSpPr>
            <p:nvPr/>
          </p:nvSpPr>
          <p:spPr bwMode="auto">
            <a:xfrm>
              <a:off x="2928926" y="3845486"/>
              <a:ext cx="6429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6600"/>
                  </a:solidFill>
                  <a:latin typeface="Times New Roman" panose="02020603050405020304" pitchFamily="18" charset="0"/>
                  <a:ea typeface="楷体_GB2312" pitchFamily="49" charset="-122"/>
                </a:rPr>
                <a:t>3→5</a:t>
              </a:r>
              <a:endParaRPr lang="zh-CN" altLang="en-US" b="1">
                <a:solidFill>
                  <a:srgbClr val="006600"/>
                </a:solidFill>
                <a:latin typeface="Times New Roman" panose="02020603050405020304" pitchFamily="18" charset="0"/>
                <a:ea typeface="楷体_GB2312" pitchFamily="49" charset="-122"/>
              </a:endParaRPr>
            </a:p>
          </p:txBody>
        </p:sp>
      </p:grpSp>
      <p:grpSp>
        <p:nvGrpSpPr>
          <p:cNvPr id="79" name="组合 78">
            <a:extLst>
              <a:ext uri="{FF2B5EF4-FFF2-40B4-BE49-F238E27FC236}">
                <a16:creationId xmlns:a16="http://schemas.microsoft.com/office/drawing/2014/main" id="{D659C4DF-550A-7F01-501A-B4776B5ACB2A}"/>
              </a:ext>
            </a:extLst>
          </p:cNvPr>
          <p:cNvGrpSpPr>
            <a:grpSpLocks/>
          </p:cNvGrpSpPr>
          <p:nvPr/>
        </p:nvGrpSpPr>
        <p:grpSpPr bwMode="auto">
          <a:xfrm>
            <a:off x="5894388" y="3514725"/>
            <a:ext cx="2200275" cy="1758950"/>
            <a:chOff x="4370212" y="3512964"/>
            <a:chExt cx="2202052" cy="1758897"/>
          </a:xfrm>
        </p:grpSpPr>
        <p:sp>
          <p:nvSpPr>
            <p:cNvPr id="67" name="圆角矩形 66">
              <a:extLst>
                <a:ext uri="{FF2B5EF4-FFF2-40B4-BE49-F238E27FC236}">
                  <a16:creationId xmlns:a16="http://schemas.microsoft.com/office/drawing/2014/main" id="{BB345C68-7A59-3C41-E00A-204D6682F0B2}"/>
                </a:ext>
              </a:extLst>
            </p:cNvPr>
            <p:cNvSpPr/>
            <p:nvPr/>
          </p:nvSpPr>
          <p:spPr>
            <a:xfrm>
              <a:off x="5442639" y="4584495"/>
              <a:ext cx="713364" cy="428612"/>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5</a:t>
              </a:r>
              <a:r>
                <a:rPr lang="en-US" altLang="zh-CN" b="1">
                  <a:solidFill>
                    <a:srgbClr val="0000FF"/>
                  </a:solidFill>
                  <a:latin typeface="Consolas" pitchFamily="49" charset="0"/>
                  <a:cs typeface="Consolas" pitchFamily="49" charset="0"/>
                </a:rPr>
                <a:t>,60</a:t>
              </a:r>
              <a:endParaRPr lang="zh-CN" altLang="en-US" b="1">
                <a:solidFill>
                  <a:srgbClr val="0000FF"/>
                </a:solidFill>
                <a:latin typeface="Consolas" pitchFamily="49" charset="0"/>
                <a:cs typeface="Consolas" pitchFamily="49" charset="0"/>
              </a:endParaRPr>
            </a:p>
          </p:txBody>
        </p:sp>
        <p:sp>
          <p:nvSpPr>
            <p:cNvPr id="65558" name="TextBox 67">
              <a:extLst>
                <a:ext uri="{FF2B5EF4-FFF2-40B4-BE49-F238E27FC236}">
                  <a16:creationId xmlns:a16="http://schemas.microsoft.com/office/drawing/2014/main" id="{304F0B11-135B-F1CB-A893-D79B5C85E726}"/>
                </a:ext>
              </a:extLst>
            </p:cNvPr>
            <p:cNvSpPr txBox="1">
              <a:spLocks noChangeArrowheads="1"/>
            </p:cNvSpPr>
            <p:nvPr/>
          </p:nvSpPr>
          <p:spPr bwMode="auto">
            <a:xfrm>
              <a:off x="4370212" y="4440864"/>
              <a:ext cx="10715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600" b="1">
                  <a:solidFill>
                    <a:srgbClr val="0000FF"/>
                  </a:solidFill>
                  <a:latin typeface="Times New Roman" panose="02020603050405020304" pitchFamily="18" charset="0"/>
                  <a:ea typeface="楷体_GB2312" pitchFamily="49" charset="-122"/>
                </a:rPr>
                <a:t>50+10&lt;70</a:t>
              </a:r>
              <a:endParaRPr lang="zh-CN" altLang="zh-CN" sz="1600" b="1">
                <a:solidFill>
                  <a:srgbClr val="0000FF"/>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prev[5]=3</a:t>
              </a:r>
              <a:endParaRPr lang="zh-CN" altLang="zh-CN" sz="1600" b="1">
                <a:solidFill>
                  <a:srgbClr val="FF0000"/>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dist[5]=60</a:t>
              </a:r>
              <a:endParaRPr lang="zh-CN" altLang="zh-CN" sz="1600" b="1">
                <a:solidFill>
                  <a:srgbClr val="FF0000"/>
                </a:solidFill>
                <a:latin typeface="Times New Roman" panose="02020603050405020304" pitchFamily="18" charset="0"/>
                <a:ea typeface="楷体_GB2312" pitchFamily="49" charset="-122"/>
              </a:endParaRPr>
            </a:p>
          </p:txBody>
        </p:sp>
        <p:cxnSp>
          <p:nvCxnSpPr>
            <p:cNvPr id="69" name="直接箭头连接符 68">
              <a:extLst>
                <a:ext uri="{FF2B5EF4-FFF2-40B4-BE49-F238E27FC236}">
                  <a16:creationId xmlns:a16="http://schemas.microsoft.com/office/drawing/2014/main" id="{DC63A76A-298A-9FEC-F683-D1376E17A9BB}"/>
                </a:ext>
              </a:extLst>
            </p:cNvPr>
            <p:cNvCxnSpPr>
              <a:endCxn id="67" idx="0"/>
            </p:cNvCxnSpPr>
            <p:nvPr/>
          </p:nvCxnSpPr>
          <p:spPr>
            <a:xfrm rot="5400000">
              <a:off x="5261967" y="4047935"/>
              <a:ext cx="1071531"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5560" name="TextBox 69">
              <a:extLst>
                <a:ext uri="{FF2B5EF4-FFF2-40B4-BE49-F238E27FC236}">
                  <a16:creationId xmlns:a16="http://schemas.microsoft.com/office/drawing/2014/main" id="{9E94D04A-6350-796B-8ADB-B143BFBBBFEB}"/>
                </a:ext>
              </a:extLst>
            </p:cNvPr>
            <p:cNvSpPr txBox="1">
              <a:spLocks noChangeArrowheads="1"/>
            </p:cNvSpPr>
            <p:nvPr/>
          </p:nvSpPr>
          <p:spPr bwMode="auto">
            <a:xfrm>
              <a:off x="5929322" y="3916924"/>
              <a:ext cx="6429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6600"/>
                  </a:solidFill>
                  <a:latin typeface="Times New Roman" panose="02020603050405020304" pitchFamily="18" charset="0"/>
                  <a:ea typeface="楷体_GB2312" pitchFamily="49" charset="-122"/>
                </a:rPr>
                <a:t>3→5</a:t>
              </a:r>
              <a:endParaRPr lang="zh-CN" altLang="en-US" b="1">
                <a:solidFill>
                  <a:srgbClr val="006600"/>
                </a:solidFill>
                <a:latin typeface="Times New Roman" panose="02020603050405020304" pitchFamily="18" charset="0"/>
                <a:ea typeface="楷体_GB2312" pitchFamily="49" charset="-122"/>
              </a:endParaRPr>
            </a:p>
          </p:txBody>
        </p:sp>
      </p:grpSp>
      <p:grpSp>
        <p:nvGrpSpPr>
          <p:cNvPr id="84" name="组合 83">
            <a:extLst>
              <a:ext uri="{FF2B5EF4-FFF2-40B4-BE49-F238E27FC236}">
                <a16:creationId xmlns:a16="http://schemas.microsoft.com/office/drawing/2014/main" id="{99FA2663-EF5A-2CF6-FFA1-A4C442555AA2}"/>
              </a:ext>
            </a:extLst>
          </p:cNvPr>
          <p:cNvGrpSpPr>
            <a:grpSpLocks/>
          </p:cNvGrpSpPr>
          <p:nvPr/>
        </p:nvGrpSpPr>
        <p:grpSpPr bwMode="auto">
          <a:xfrm>
            <a:off x="2595563" y="4073525"/>
            <a:ext cx="5786437" cy="2281238"/>
            <a:chOff x="1071538" y="4071942"/>
            <a:chExt cx="5786478" cy="2280652"/>
          </a:xfrm>
        </p:grpSpPr>
        <p:sp>
          <p:nvSpPr>
            <p:cNvPr id="65555" name="TextBox 79">
              <a:extLst>
                <a:ext uri="{FF2B5EF4-FFF2-40B4-BE49-F238E27FC236}">
                  <a16:creationId xmlns:a16="http://schemas.microsoft.com/office/drawing/2014/main" id="{B8550F04-386A-1CE0-3E04-28E24C793679}"/>
                </a:ext>
              </a:extLst>
            </p:cNvPr>
            <p:cNvSpPr txBox="1">
              <a:spLocks noChangeArrowheads="1"/>
            </p:cNvSpPr>
            <p:nvPr/>
          </p:nvSpPr>
          <p:spPr bwMode="auto">
            <a:xfrm>
              <a:off x="1285852" y="5429264"/>
              <a:ext cx="5572164" cy="92333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dist[1]=</a:t>
              </a:r>
              <a:r>
                <a:rPr lang="zh-CN"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prev[1]=*	dist[2]=10</a:t>
              </a:r>
              <a:r>
                <a:rPr lang="zh-CN"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prev[2]=0</a:t>
              </a:r>
              <a:endParaRPr lang="zh-CN" altLang="zh-CN" b="1">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eaLnBrk="1" hangingPunct="1"/>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dist[3]=50</a:t>
              </a:r>
              <a:r>
                <a:rPr lang="zh-CN"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prev[3]=4	dist[4]=30</a:t>
              </a:r>
              <a:r>
                <a:rPr lang="zh-CN"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prev[4]=0</a:t>
              </a:r>
              <a:endParaRPr lang="zh-CN" altLang="zh-CN" b="1">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eaLnBrk="1" hangingPunct="1"/>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dist[5]=60</a:t>
              </a:r>
              <a:r>
                <a:rPr lang="zh-CN"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prev[5]=3</a:t>
              </a:r>
              <a:endParaRPr lang="zh-CN" altLang="en-US" b="1">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1" name="左弧形箭头 80">
              <a:extLst>
                <a:ext uri="{FF2B5EF4-FFF2-40B4-BE49-F238E27FC236}">
                  <a16:creationId xmlns:a16="http://schemas.microsoft.com/office/drawing/2014/main" id="{625EB17F-DB72-1B04-7176-F493F49E2463}"/>
                </a:ext>
              </a:extLst>
            </p:cNvPr>
            <p:cNvSpPr/>
            <p:nvPr/>
          </p:nvSpPr>
          <p:spPr>
            <a:xfrm>
              <a:off x="1071538" y="4071942"/>
              <a:ext cx="428628" cy="128554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fontAlgn="auto" hangingPunct="1">
                <a:spcBef>
                  <a:spcPts val="0"/>
                </a:spcBef>
                <a:spcAft>
                  <a:spcPts val="0"/>
                </a:spcAft>
                <a:defRPr/>
              </a:pPr>
              <a:endParaRPr lang="zh-CN" altLang="en-US" b="1">
                <a:solidFill>
                  <a:prstClr val="black"/>
                </a:solidFill>
              </a:endParaRPr>
            </a:p>
          </p:txBody>
        </p:sp>
      </p:grpSp>
      <p:grpSp>
        <p:nvGrpSpPr>
          <p:cNvPr id="85" name="组合 84">
            <a:extLst>
              <a:ext uri="{FF2B5EF4-FFF2-40B4-BE49-F238E27FC236}">
                <a16:creationId xmlns:a16="http://schemas.microsoft.com/office/drawing/2014/main" id="{5BBD39B4-62D3-87F1-B244-66498EE1CED8}"/>
              </a:ext>
            </a:extLst>
          </p:cNvPr>
          <p:cNvGrpSpPr>
            <a:grpSpLocks/>
          </p:cNvGrpSpPr>
          <p:nvPr/>
        </p:nvGrpSpPr>
        <p:grpSpPr bwMode="auto">
          <a:xfrm>
            <a:off x="8524875" y="5430838"/>
            <a:ext cx="1928813" cy="708025"/>
            <a:chOff x="7000892" y="5429264"/>
            <a:chExt cx="1928826" cy="707747"/>
          </a:xfrm>
        </p:grpSpPr>
        <p:sp>
          <p:nvSpPr>
            <p:cNvPr id="65553" name="TextBox 81">
              <a:extLst>
                <a:ext uri="{FF2B5EF4-FFF2-40B4-BE49-F238E27FC236}">
                  <a16:creationId xmlns:a16="http://schemas.microsoft.com/office/drawing/2014/main" id="{67D61A73-FBF9-720A-FE88-9A6DC5A76364}"/>
                </a:ext>
              </a:extLst>
            </p:cNvPr>
            <p:cNvSpPr txBox="1">
              <a:spLocks noChangeArrowheads="1"/>
            </p:cNvSpPr>
            <p:nvPr/>
          </p:nvSpPr>
          <p:spPr bwMode="auto">
            <a:xfrm>
              <a:off x="7286644" y="5429264"/>
              <a:ext cx="1643074" cy="707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zh-CN" altLang="en-US" sz="2000" b="1" dirty="0">
                  <a:solidFill>
                    <a:srgbClr val="0000FF"/>
                  </a:solidFill>
                  <a:latin typeface="华文楷体" panose="02010600040101010101" pitchFamily="2" charset="-122"/>
                  <a:ea typeface="华文楷体" panose="02010600040101010101" pitchFamily="2" charset="-122"/>
                </a:rPr>
                <a:t>求顶点</a:t>
              </a:r>
              <a:r>
                <a:rPr lang="en-US" altLang="zh-CN" sz="2000" b="1" dirty="0">
                  <a:solidFill>
                    <a:srgbClr val="0000FF"/>
                  </a:solidFill>
                  <a:latin typeface="华文楷体" panose="02010600040101010101" pitchFamily="2" charset="-122"/>
                  <a:ea typeface="华文楷体" panose="02010600040101010101" pitchFamily="2" charset="-122"/>
                </a:rPr>
                <a:t>0</a:t>
              </a:r>
              <a:r>
                <a:rPr lang="zh-CN" altLang="en-US" sz="2000" b="1" dirty="0">
                  <a:solidFill>
                    <a:srgbClr val="0000FF"/>
                  </a:solidFill>
                  <a:latin typeface="华文楷体" panose="02010600040101010101" pitchFamily="2" charset="-122"/>
                  <a:ea typeface="华文楷体" panose="02010600040101010101" pitchFamily="2" charset="-122"/>
                </a:rPr>
                <a:t>出发的最短路径</a:t>
              </a:r>
            </a:p>
          </p:txBody>
        </p:sp>
        <p:sp>
          <p:nvSpPr>
            <p:cNvPr id="83" name="右箭头 82">
              <a:extLst>
                <a:ext uri="{FF2B5EF4-FFF2-40B4-BE49-F238E27FC236}">
                  <a16:creationId xmlns:a16="http://schemas.microsoft.com/office/drawing/2014/main" id="{099F60C7-E38F-C620-D33E-D3F72A2778E9}"/>
                </a:ext>
              </a:extLst>
            </p:cNvPr>
            <p:cNvSpPr/>
            <p:nvPr/>
          </p:nvSpPr>
          <p:spPr>
            <a:xfrm>
              <a:off x="7000892" y="5714902"/>
              <a:ext cx="285752" cy="28563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fontAlgn="auto" hangingPunct="1">
                <a:spcBef>
                  <a:spcPts val="0"/>
                </a:spcBef>
                <a:spcAft>
                  <a:spcPts val="0"/>
                </a:spcAft>
                <a:defRPr/>
              </a:pPr>
              <a:endParaRPr lang="zh-CN" altLang="en-US" b="1">
                <a:solidFill>
                  <a:prstClr val="white"/>
                </a:solidFill>
              </a:endParaRP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8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B4BFBC-8301-1864-FB52-81FB9E3ADA38}"/>
              </a:ext>
            </a:extLst>
          </p:cNvPr>
          <p:cNvSpPr txBox="1"/>
          <p:nvPr/>
        </p:nvSpPr>
        <p:spPr>
          <a:xfrm>
            <a:off x="1773207" y="1413570"/>
            <a:ext cx="8643998" cy="4907461"/>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lIns="216000" tIns="144000" bIns="144000">
            <a:spAutoFit/>
          </a:bodyPr>
          <a:lstStyle/>
          <a:p>
            <a:pPr eaLnBrk="1" fontAlgn="auto" hangingPunct="1">
              <a:spcBef>
                <a:spcPts val="0"/>
              </a:spcBef>
              <a:spcAft>
                <a:spcPts val="0"/>
              </a:spcAft>
              <a:defRPr/>
            </a:pP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#define INF 0x3f3f3f3f  //</a:t>
            </a:r>
            <a:r>
              <a:rPr lang="zh-CN"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表示∞</a:t>
            </a:r>
          </a:p>
          <a:p>
            <a:pPr eaLnBrk="1" fontAlgn="auto" hangingPunct="1">
              <a:spcBef>
                <a:spcPts val="0"/>
              </a:spcBef>
              <a:spcAft>
                <a:spcPts val="0"/>
              </a:spcAft>
              <a:defRPr/>
            </a:pP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#define MAXN 51</a:t>
            </a:r>
          </a:p>
          <a:p>
            <a:pPr eaLnBrk="1" fontAlgn="auto" hangingPunct="1">
              <a:spcBef>
                <a:spcPts val="0"/>
              </a:spcBef>
              <a:spcAft>
                <a:spcPts val="0"/>
              </a:spcAft>
              <a:defRPr/>
            </a:pP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a:t>
            </a:r>
            <a:r>
              <a:rPr lang="zh-CN"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问题表示</a:t>
            </a:r>
          </a:p>
          <a:p>
            <a:pPr eaLnBrk="1" fontAlgn="auto" hangingPunct="1">
              <a:spcBef>
                <a:spcPts val="0"/>
              </a:spcBef>
              <a:spcAft>
                <a:spcPts val="0"/>
              </a:spcAft>
              <a:defRPr/>
            </a:pP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int n;			//</a:t>
            </a:r>
            <a:r>
              <a:rPr lang="zh-CN"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图顶点个数</a:t>
            </a:r>
          </a:p>
          <a:p>
            <a:pPr eaLnBrk="1" fontAlgn="auto" hangingPunct="1">
              <a:spcBef>
                <a:spcPts val="0"/>
              </a:spcBef>
              <a:spcAft>
                <a:spcPts val="0"/>
              </a:spcAft>
              <a:defRPr/>
            </a:pP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int a[MAXN][MAXN];	//</a:t>
            </a:r>
            <a:r>
              <a:rPr lang="zh-CN"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图的邻接矩阵</a:t>
            </a:r>
          </a:p>
          <a:p>
            <a:pPr eaLnBrk="1" fontAlgn="auto" hangingPunct="1">
              <a:spcBef>
                <a:spcPts val="0"/>
              </a:spcBef>
              <a:spcAft>
                <a:spcPts val="0"/>
              </a:spcAft>
              <a:defRPr/>
            </a:pP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int v;			//</a:t>
            </a:r>
            <a:r>
              <a:rPr lang="zh-CN"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源点</a:t>
            </a:r>
          </a:p>
          <a:p>
            <a:pPr eaLnBrk="1" fontAlgn="auto" hangingPunct="1">
              <a:lnSpc>
                <a:spcPct val="200000"/>
              </a:lnSpc>
              <a:spcBef>
                <a:spcPts val="0"/>
              </a:spcBef>
              <a:spcAft>
                <a:spcPts val="0"/>
              </a:spcAft>
              <a:defRPr/>
            </a:pP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a:t>
            </a:r>
            <a:r>
              <a:rPr lang="zh-CN"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求解结果表示</a:t>
            </a:r>
          </a:p>
          <a:p>
            <a:pPr eaLnBrk="1" fontAlgn="auto" hangingPunct="1">
              <a:spcBef>
                <a:spcPts val="0"/>
              </a:spcBef>
              <a:spcAft>
                <a:spcPts val="0"/>
              </a:spcAft>
              <a:defRPr/>
            </a:pP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int </a:t>
            </a:r>
            <a:r>
              <a:rPr lang="en-US" altLang="zh-CN" sz="2000" b="1" dirty="0" err="1">
                <a:solidFill>
                  <a:srgbClr val="0000FF"/>
                </a:solidFill>
                <a:latin typeface="华文楷体" panose="02010600040101010101" pitchFamily="2" charset="-122"/>
                <a:ea typeface="华文楷体" panose="02010600040101010101" pitchFamily="2" charset="-122"/>
                <a:cs typeface="Calibri" panose="020F0502020204030204" pitchFamily="34" charset="0"/>
              </a:rPr>
              <a:t>dist</a:t>
            </a: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[MAXN];	//</a:t>
            </a:r>
            <a:r>
              <a:rPr lang="en-US" altLang="zh-CN" sz="2000" b="1" dirty="0" err="1">
                <a:solidFill>
                  <a:srgbClr val="0000FF"/>
                </a:solidFill>
                <a:latin typeface="华文楷体" panose="02010600040101010101" pitchFamily="2" charset="-122"/>
                <a:ea typeface="华文楷体" panose="02010600040101010101" pitchFamily="2" charset="-122"/>
                <a:cs typeface="Calibri" panose="020F0502020204030204" pitchFamily="34" charset="0"/>
              </a:rPr>
              <a:t>dist</a:t>
            </a: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a:t>
            </a:r>
            <a:r>
              <a:rPr lang="en-US" altLang="zh-CN" sz="2000" b="1" dirty="0" err="1">
                <a:solidFill>
                  <a:srgbClr val="0000FF"/>
                </a:solidFill>
                <a:latin typeface="华文楷体" panose="02010600040101010101" pitchFamily="2" charset="-122"/>
                <a:ea typeface="华文楷体" panose="02010600040101010101" pitchFamily="2" charset="-122"/>
                <a:cs typeface="Calibri" panose="020F0502020204030204" pitchFamily="34" charset="0"/>
              </a:rPr>
              <a:t>i</a:t>
            </a: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a:t>
            </a:r>
            <a:r>
              <a:rPr lang="zh-CN"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源点到顶点</a:t>
            </a:r>
            <a:r>
              <a:rPr lang="en-US" altLang="zh-CN" sz="2000" b="1" dirty="0" err="1">
                <a:solidFill>
                  <a:srgbClr val="0000FF"/>
                </a:solidFill>
                <a:latin typeface="华文楷体" panose="02010600040101010101" pitchFamily="2" charset="-122"/>
                <a:ea typeface="华文楷体" panose="02010600040101010101" pitchFamily="2" charset="-122"/>
                <a:cs typeface="Calibri" panose="020F0502020204030204" pitchFamily="34" charset="0"/>
              </a:rPr>
              <a:t>i</a:t>
            </a:r>
            <a:r>
              <a:rPr lang="zh-CN"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的最短路径长度</a:t>
            </a:r>
          </a:p>
          <a:p>
            <a:pPr eaLnBrk="1" fontAlgn="auto" hangingPunct="1">
              <a:spcBef>
                <a:spcPts val="0"/>
              </a:spcBef>
              <a:spcAft>
                <a:spcPts val="0"/>
              </a:spcAft>
              <a:defRPr/>
            </a:pP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int </a:t>
            </a:r>
            <a:r>
              <a:rPr lang="en-US" altLang="zh-CN" sz="2000" b="1" dirty="0" err="1">
                <a:solidFill>
                  <a:srgbClr val="0000FF"/>
                </a:solidFill>
                <a:latin typeface="华文楷体" panose="02010600040101010101" pitchFamily="2" charset="-122"/>
                <a:ea typeface="华文楷体" panose="02010600040101010101" pitchFamily="2" charset="-122"/>
                <a:cs typeface="Calibri" panose="020F0502020204030204" pitchFamily="34" charset="0"/>
              </a:rPr>
              <a:t>prev</a:t>
            </a: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[MAXN];	//</a:t>
            </a:r>
            <a:r>
              <a:rPr lang="en-US" altLang="zh-CN" sz="2000" b="1" dirty="0" err="1">
                <a:solidFill>
                  <a:srgbClr val="0000FF"/>
                </a:solidFill>
                <a:latin typeface="华文楷体" panose="02010600040101010101" pitchFamily="2" charset="-122"/>
                <a:ea typeface="华文楷体" panose="02010600040101010101" pitchFamily="2" charset="-122"/>
                <a:cs typeface="Calibri" panose="020F0502020204030204" pitchFamily="34" charset="0"/>
              </a:rPr>
              <a:t>prev</a:t>
            </a: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a:t>
            </a:r>
            <a:r>
              <a:rPr lang="en-US" altLang="zh-CN" sz="2000" b="1" dirty="0" err="1">
                <a:solidFill>
                  <a:srgbClr val="0000FF"/>
                </a:solidFill>
                <a:latin typeface="华文楷体" panose="02010600040101010101" pitchFamily="2" charset="-122"/>
                <a:ea typeface="华文楷体" panose="02010600040101010101" pitchFamily="2" charset="-122"/>
                <a:cs typeface="Calibri" panose="020F0502020204030204" pitchFamily="34" charset="0"/>
              </a:rPr>
              <a:t>i</a:t>
            </a: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a:t>
            </a:r>
            <a:r>
              <a:rPr lang="zh-CN"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表示源点到</a:t>
            </a: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j</a:t>
            </a:r>
            <a:r>
              <a:rPr lang="zh-CN"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的最短路径中顶点</a:t>
            </a: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j</a:t>
            </a:r>
            <a:r>
              <a:rPr lang="zh-CN"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的前驱顶点</a:t>
            </a:r>
          </a:p>
          <a:p>
            <a:pPr eaLnBrk="1" fontAlgn="auto" hangingPunct="1">
              <a:lnSpc>
                <a:spcPct val="200000"/>
              </a:lnSpc>
              <a:spcBef>
                <a:spcPts val="0"/>
              </a:spcBef>
              <a:spcAft>
                <a:spcPts val="0"/>
              </a:spcAft>
              <a:defRPr/>
            </a:pP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struct </a:t>
            </a:r>
            <a:r>
              <a:rPr lang="en-US" altLang="zh-CN" sz="2000" b="1" dirty="0" err="1">
                <a:solidFill>
                  <a:srgbClr val="0000FF"/>
                </a:solidFill>
                <a:latin typeface="华文楷体" panose="02010600040101010101" pitchFamily="2" charset="-122"/>
                <a:ea typeface="华文楷体" panose="02010600040101010101" pitchFamily="2" charset="-122"/>
                <a:cs typeface="Calibri" panose="020F0502020204030204" pitchFamily="34" charset="0"/>
              </a:rPr>
              <a:t>NodeType</a:t>
            </a: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	//</a:t>
            </a:r>
            <a:r>
              <a:rPr lang="zh-CN"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队列结点类型</a:t>
            </a:r>
          </a:p>
          <a:p>
            <a:pPr eaLnBrk="1" fontAlgn="auto" hangingPunct="1">
              <a:spcBef>
                <a:spcPts val="0"/>
              </a:spcBef>
              <a:spcAft>
                <a:spcPts val="0"/>
              </a:spcAft>
              <a:defRPr/>
            </a:pP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  int </a:t>
            </a:r>
            <a:r>
              <a:rPr lang="en-US" altLang="zh-CN" sz="2000" b="1" dirty="0" err="1">
                <a:solidFill>
                  <a:srgbClr val="0000FF"/>
                </a:solidFill>
                <a:latin typeface="华文楷体" panose="02010600040101010101" pitchFamily="2" charset="-122"/>
                <a:ea typeface="华文楷体" panose="02010600040101010101" pitchFamily="2" charset="-122"/>
                <a:cs typeface="Calibri" panose="020F0502020204030204" pitchFamily="34" charset="0"/>
              </a:rPr>
              <a:t>vno</a:t>
            </a: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		//</a:t>
            </a:r>
            <a:r>
              <a:rPr lang="zh-CN"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顶点编号</a:t>
            </a:r>
          </a:p>
          <a:p>
            <a:pPr eaLnBrk="1" fontAlgn="auto" hangingPunct="1">
              <a:spcBef>
                <a:spcPts val="0"/>
              </a:spcBef>
              <a:spcAft>
                <a:spcPts val="0"/>
              </a:spcAft>
              <a:defRPr/>
            </a:pP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   int length;		//</a:t>
            </a:r>
            <a:r>
              <a:rPr lang="zh-CN"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路径长度</a:t>
            </a:r>
          </a:p>
          <a:p>
            <a:pPr eaLnBrk="1" fontAlgn="auto" hangingPunct="1">
              <a:spcBef>
                <a:spcPts val="0"/>
              </a:spcBef>
              <a:spcAft>
                <a:spcPts val="0"/>
              </a:spcAft>
              <a:defRPr/>
            </a:pPr>
            <a:r>
              <a:rPr lang="en-US"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rPr>
              <a:t>};</a:t>
            </a:r>
            <a:endParaRPr lang="zh-CN" altLang="zh-CN" sz="2000" b="1" dirty="0">
              <a:solidFill>
                <a:srgbClr val="0000FF"/>
              </a:solidFill>
              <a:latin typeface="华文楷体" panose="02010600040101010101" pitchFamily="2" charset="-122"/>
              <a:ea typeface="华文楷体" panose="02010600040101010101" pitchFamily="2" charset="-122"/>
              <a:cs typeface="Calibri" panose="020F0502020204030204"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54C0FB-7B6A-6FBA-4837-5D8D5716561B}"/>
              </a:ext>
            </a:extLst>
          </p:cNvPr>
          <p:cNvSpPr txBox="1"/>
          <p:nvPr/>
        </p:nvSpPr>
        <p:spPr>
          <a:xfrm>
            <a:off x="2062758" y="549474"/>
            <a:ext cx="7637008" cy="6173586"/>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lIns="216000" tIns="180000" bIns="36000">
            <a:spAutoFit/>
          </a:bodyPr>
          <a:lstStyle/>
          <a:p>
            <a:pPr eaLnBrk="1" fontAlgn="auto" hangingPunct="1">
              <a:spcBef>
                <a:spcPts val="0"/>
              </a:spcBef>
              <a:spcAft>
                <a:spcPts val="0"/>
              </a:spcAft>
              <a:defRPr/>
            </a:pPr>
            <a:r>
              <a:rPr lang="en-US" altLang="zh-CN" b="1" dirty="0">
                <a:solidFill>
                  <a:srgbClr val="0000FF"/>
                </a:solidFill>
                <a:cs typeface="Calibri" panose="020F0502020204030204" pitchFamily="34" charset="0"/>
              </a:rPr>
              <a:t>void </a:t>
            </a:r>
            <a:r>
              <a:rPr lang="en-US" altLang="zh-CN" b="1" dirty="0" err="1">
                <a:solidFill>
                  <a:srgbClr val="0000FF"/>
                </a:solidFill>
                <a:cs typeface="Calibri" panose="020F0502020204030204" pitchFamily="34" charset="0"/>
              </a:rPr>
              <a:t>bfs</a:t>
            </a:r>
            <a:r>
              <a:rPr lang="en-US" altLang="zh-CN" b="1" dirty="0">
                <a:solidFill>
                  <a:srgbClr val="0000FF"/>
                </a:solidFill>
                <a:cs typeface="Calibri" panose="020F0502020204030204" pitchFamily="34" charset="0"/>
              </a:rPr>
              <a:t>(int v)			//</a:t>
            </a:r>
            <a:r>
              <a:rPr lang="zh-CN" altLang="zh-CN" b="1" dirty="0">
                <a:solidFill>
                  <a:srgbClr val="0000FF"/>
                </a:solidFill>
                <a:cs typeface="Calibri" panose="020F0502020204030204" pitchFamily="34" charset="0"/>
              </a:rPr>
              <a:t>求解算法</a:t>
            </a: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NodeType</a:t>
            </a:r>
            <a:r>
              <a:rPr lang="en-US" altLang="zh-CN" b="1" dirty="0">
                <a:solidFill>
                  <a:srgbClr val="0000FF"/>
                </a:solidFill>
                <a:cs typeface="Calibri" panose="020F0502020204030204" pitchFamily="34" charset="0"/>
              </a:rPr>
              <a:t> e,e1;</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queue&lt;</a:t>
            </a:r>
            <a:r>
              <a:rPr lang="en-US" altLang="zh-CN" b="1" dirty="0" err="1">
                <a:solidFill>
                  <a:srgbClr val="0000FF"/>
                </a:solidFill>
                <a:cs typeface="Calibri" panose="020F0502020204030204" pitchFamily="34" charset="0"/>
              </a:rPr>
              <a:t>NodeType</a:t>
            </a:r>
            <a:r>
              <a:rPr lang="en-US" altLang="zh-CN" b="1" dirty="0">
                <a:solidFill>
                  <a:srgbClr val="0000FF"/>
                </a:solidFill>
                <a:cs typeface="Calibri" panose="020F0502020204030204" pitchFamily="34" charset="0"/>
              </a:rPr>
              <a:t>&gt; </a:t>
            </a:r>
            <a:r>
              <a:rPr lang="en-US" altLang="zh-CN" b="1" dirty="0" err="1">
                <a:solidFill>
                  <a:srgbClr val="0000FF"/>
                </a:solidFill>
                <a:cs typeface="Calibri" panose="020F0502020204030204" pitchFamily="34" charset="0"/>
              </a:rPr>
              <a:t>pqu</a:t>
            </a:r>
            <a:r>
              <a:rPr lang="en-US" altLang="zh-CN" b="1" dirty="0">
                <a:solidFill>
                  <a:srgbClr val="0000FF"/>
                </a:solidFill>
                <a:cs typeface="Calibri" panose="020F0502020204030204" pitchFamily="34" charset="0"/>
              </a:rPr>
              <a:t>;</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e.vno</a:t>
            </a:r>
            <a:r>
              <a:rPr lang="en-US" altLang="zh-CN" b="1" dirty="0">
                <a:solidFill>
                  <a:srgbClr val="0000FF"/>
                </a:solidFill>
                <a:cs typeface="Calibri" panose="020F0502020204030204" pitchFamily="34" charset="0"/>
              </a:rPr>
              <a:t>=v;				//</a:t>
            </a:r>
            <a:r>
              <a:rPr lang="zh-CN" altLang="zh-CN" b="1" dirty="0">
                <a:solidFill>
                  <a:srgbClr val="0000FF"/>
                </a:solidFill>
                <a:cs typeface="Calibri" panose="020F0502020204030204" pitchFamily="34" charset="0"/>
              </a:rPr>
              <a:t>建立源点结点</a:t>
            </a:r>
            <a:r>
              <a:rPr lang="en-US" altLang="zh-CN" b="1" dirty="0">
                <a:solidFill>
                  <a:srgbClr val="0000FF"/>
                </a:solidFill>
                <a:cs typeface="Calibri" panose="020F0502020204030204" pitchFamily="34" charset="0"/>
              </a:rPr>
              <a:t>e</a:t>
            </a:r>
            <a:r>
              <a:rPr lang="zh-CN" altLang="zh-CN" b="1" dirty="0">
                <a:solidFill>
                  <a:srgbClr val="0000FF"/>
                </a:solidFill>
                <a:cs typeface="Calibri" panose="020F0502020204030204" pitchFamily="34" charset="0"/>
              </a:rPr>
              <a:t>（根结点）</a:t>
            </a: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e.length</a:t>
            </a:r>
            <a:r>
              <a:rPr lang="en-US" altLang="zh-CN" b="1" dirty="0">
                <a:solidFill>
                  <a:srgbClr val="0000FF"/>
                </a:solidFill>
                <a:cs typeface="Calibri" panose="020F0502020204030204" pitchFamily="34" charset="0"/>
              </a:rPr>
              <a:t>=0;</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pqu.push</a:t>
            </a:r>
            <a:r>
              <a:rPr lang="en-US" altLang="zh-CN" b="1" dirty="0">
                <a:solidFill>
                  <a:srgbClr val="0000FF"/>
                </a:solidFill>
                <a:cs typeface="Calibri" panose="020F0502020204030204" pitchFamily="34" charset="0"/>
              </a:rPr>
              <a:t>(e);			//</a:t>
            </a:r>
            <a:r>
              <a:rPr lang="zh-CN" altLang="zh-CN" b="1" dirty="0">
                <a:solidFill>
                  <a:srgbClr val="0000FF"/>
                </a:solidFill>
                <a:cs typeface="Calibri" panose="020F0502020204030204" pitchFamily="34" charset="0"/>
              </a:rPr>
              <a:t>源点结点</a:t>
            </a:r>
            <a:r>
              <a:rPr lang="en-US" altLang="zh-CN" b="1" dirty="0">
                <a:solidFill>
                  <a:srgbClr val="0000FF"/>
                </a:solidFill>
                <a:cs typeface="Calibri" panose="020F0502020204030204" pitchFamily="34" charset="0"/>
              </a:rPr>
              <a:t>e</a:t>
            </a:r>
            <a:r>
              <a:rPr lang="zh-CN" altLang="zh-CN" b="1" dirty="0">
                <a:solidFill>
                  <a:srgbClr val="0000FF"/>
                </a:solidFill>
                <a:cs typeface="Calibri" panose="020F0502020204030204" pitchFamily="34" charset="0"/>
              </a:rPr>
              <a:t>进队</a:t>
            </a: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dist</a:t>
            </a:r>
            <a:r>
              <a:rPr lang="en-US" altLang="zh-CN" b="1" dirty="0">
                <a:solidFill>
                  <a:srgbClr val="0000FF"/>
                </a:solidFill>
                <a:cs typeface="Calibri" panose="020F0502020204030204" pitchFamily="34" charset="0"/>
              </a:rPr>
              <a:t>[v]=0;</a:t>
            </a:r>
            <a:endParaRPr lang="zh-CN" altLang="zh-CN" b="1" dirty="0">
              <a:solidFill>
                <a:srgbClr val="0000FF"/>
              </a:solidFill>
              <a:cs typeface="Calibri" panose="020F0502020204030204" pitchFamily="34" charset="0"/>
            </a:endParaRPr>
          </a:p>
          <a:p>
            <a:pPr eaLnBrk="1" fontAlgn="auto" hangingPunct="1">
              <a:lnSpc>
                <a:spcPct val="150000"/>
              </a:lnSpc>
              <a:spcBef>
                <a:spcPts val="0"/>
              </a:spcBef>
              <a:spcAft>
                <a:spcPts val="0"/>
              </a:spcAft>
              <a:defRPr/>
            </a:pPr>
            <a:r>
              <a:rPr lang="en-US" altLang="zh-CN" b="1" dirty="0">
                <a:solidFill>
                  <a:srgbClr val="0000FF"/>
                </a:solidFill>
                <a:cs typeface="Calibri" panose="020F0502020204030204" pitchFamily="34" charset="0"/>
              </a:rPr>
              <a:t>   while(!</a:t>
            </a:r>
            <a:r>
              <a:rPr lang="en-US" altLang="zh-CN" b="1" dirty="0" err="1">
                <a:solidFill>
                  <a:srgbClr val="0000FF"/>
                </a:solidFill>
                <a:cs typeface="Calibri" panose="020F0502020204030204" pitchFamily="34" charset="0"/>
              </a:rPr>
              <a:t>pqu.empty</a:t>
            </a:r>
            <a:r>
              <a:rPr lang="en-US" altLang="zh-CN" b="1" dirty="0">
                <a:solidFill>
                  <a:srgbClr val="0000FF"/>
                </a:solidFill>
                <a:cs typeface="Calibri" panose="020F0502020204030204" pitchFamily="34" charset="0"/>
              </a:rPr>
              <a:t>())		//</a:t>
            </a:r>
            <a:r>
              <a:rPr lang="zh-CN" altLang="zh-CN" b="1" dirty="0">
                <a:solidFill>
                  <a:srgbClr val="0000FF"/>
                </a:solidFill>
                <a:cs typeface="Calibri" panose="020F0502020204030204" pitchFamily="34" charset="0"/>
              </a:rPr>
              <a:t>队列不空循环</a:t>
            </a:r>
          </a:p>
          <a:p>
            <a:pPr eaLnBrk="1" fontAlgn="auto" hangingPunct="1">
              <a:spcBef>
                <a:spcPts val="0"/>
              </a:spcBef>
              <a:spcAft>
                <a:spcPts val="0"/>
              </a:spcAft>
              <a:defRPr/>
            </a:pPr>
            <a:r>
              <a:rPr lang="en-US" altLang="zh-CN" b="1" dirty="0">
                <a:solidFill>
                  <a:srgbClr val="0000FF"/>
                </a:solidFill>
                <a:cs typeface="Calibri" panose="020F0502020204030204" pitchFamily="34" charset="0"/>
              </a:rPr>
              <a:t>   {  e=</a:t>
            </a:r>
            <a:r>
              <a:rPr lang="en-US" altLang="zh-CN" b="1" dirty="0" err="1">
                <a:solidFill>
                  <a:srgbClr val="0000FF"/>
                </a:solidFill>
                <a:cs typeface="Calibri" panose="020F0502020204030204" pitchFamily="34" charset="0"/>
              </a:rPr>
              <a:t>pqu.front</a:t>
            </a: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pqu.pop</a:t>
            </a:r>
            <a:r>
              <a:rPr lang="en-US" altLang="zh-CN" b="1" dirty="0">
                <a:solidFill>
                  <a:srgbClr val="0000FF"/>
                </a:solidFill>
                <a:cs typeface="Calibri" panose="020F0502020204030204" pitchFamily="34" charset="0"/>
              </a:rPr>
              <a:t>();	//</a:t>
            </a:r>
            <a:r>
              <a:rPr lang="zh-CN" altLang="zh-CN" b="1" dirty="0">
                <a:solidFill>
                  <a:srgbClr val="0000FF"/>
                </a:solidFill>
                <a:cs typeface="Calibri" panose="020F0502020204030204" pitchFamily="34" charset="0"/>
              </a:rPr>
              <a:t>出队列结点</a:t>
            </a:r>
            <a:r>
              <a:rPr lang="en-US" altLang="zh-CN" b="1" dirty="0">
                <a:solidFill>
                  <a:srgbClr val="0000FF"/>
                </a:solidFill>
                <a:cs typeface="Calibri" panose="020F0502020204030204" pitchFamily="34" charset="0"/>
              </a:rPr>
              <a:t>e</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for (int j=0; j&lt;n; </a:t>
            </a:r>
            <a:r>
              <a:rPr lang="en-US" altLang="zh-CN" b="1" dirty="0" err="1">
                <a:solidFill>
                  <a:srgbClr val="0000FF"/>
                </a:solidFill>
                <a:cs typeface="Calibri" panose="020F0502020204030204" pitchFamily="34" charset="0"/>
              </a:rPr>
              <a:t>j++</a:t>
            </a:r>
            <a:r>
              <a:rPr lang="en-US" altLang="zh-CN" b="1" dirty="0">
                <a:solidFill>
                  <a:srgbClr val="0000FF"/>
                </a:solidFill>
                <a:cs typeface="Calibri" panose="020F0502020204030204" pitchFamily="34" charset="0"/>
              </a:rPr>
              <a:t>)</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  if(a[</a:t>
            </a:r>
            <a:r>
              <a:rPr lang="en-US" altLang="zh-CN" b="1" dirty="0" err="1">
                <a:solidFill>
                  <a:srgbClr val="0000FF"/>
                </a:solidFill>
                <a:cs typeface="Calibri" panose="020F0502020204030204" pitchFamily="34" charset="0"/>
              </a:rPr>
              <a:t>e.vno</a:t>
            </a:r>
            <a:r>
              <a:rPr lang="en-US" altLang="zh-CN" b="1" dirty="0">
                <a:solidFill>
                  <a:srgbClr val="0000FF"/>
                </a:solidFill>
                <a:cs typeface="Calibri" panose="020F0502020204030204" pitchFamily="34" charset="0"/>
              </a:rPr>
              <a:t>][j]&lt;INF &amp;&amp; </a:t>
            </a:r>
            <a:r>
              <a:rPr lang="en-US" altLang="zh-CN" b="1" dirty="0" err="1">
                <a:solidFill>
                  <a:srgbClr val="0000FF"/>
                </a:solidFill>
                <a:cs typeface="Calibri" panose="020F0502020204030204" pitchFamily="34" charset="0"/>
              </a:rPr>
              <a:t>e.length+a</a:t>
            </a:r>
            <a:r>
              <a:rPr lang="en-US" altLang="zh-CN" b="1" dirty="0">
                <a:solidFill>
                  <a:srgbClr val="0000FF"/>
                </a:solidFill>
                <a:cs typeface="Calibri" panose="020F0502020204030204" pitchFamily="34" charset="0"/>
              </a:rPr>
              <a:t>[</a:t>
            </a:r>
            <a:r>
              <a:rPr lang="en-US" altLang="zh-CN" b="1" dirty="0" err="1">
                <a:solidFill>
                  <a:srgbClr val="0000FF"/>
                </a:solidFill>
                <a:cs typeface="Calibri" panose="020F0502020204030204" pitchFamily="34" charset="0"/>
              </a:rPr>
              <a:t>e.vno</a:t>
            </a:r>
            <a:r>
              <a:rPr lang="en-US" altLang="zh-CN" b="1" dirty="0">
                <a:solidFill>
                  <a:srgbClr val="0000FF"/>
                </a:solidFill>
                <a:cs typeface="Calibri" panose="020F0502020204030204" pitchFamily="34" charset="0"/>
              </a:rPr>
              <a:t>][j]&lt;</a:t>
            </a:r>
            <a:r>
              <a:rPr lang="en-US" altLang="zh-CN" b="1" dirty="0" err="1">
                <a:solidFill>
                  <a:srgbClr val="0000FF"/>
                </a:solidFill>
                <a:cs typeface="Calibri" panose="020F0502020204030204" pitchFamily="34" charset="0"/>
              </a:rPr>
              <a:t>dist</a:t>
            </a:r>
            <a:r>
              <a:rPr lang="en-US" altLang="zh-CN" b="1" dirty="0">
                <a:solidFill>
                  <a:srgbClr val="0000FF"/>
                </a:solidFill>
                <a:cs typeface="Calibri" panose="020F0502020204030204" pitchFamily="34" charset="0"/>
              </a:rPr>
              <a:t>[j])</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	//</a:t>
            </a:r>
            <a:r>
              <a:rPr lang="zh-CN" altLang="zh-CN" b="1" dirty="0">
                <a:solidFill>
                  <a:srgbClr val="0000FF"/>
                </a:solidFill>
                <a:cs typeface="Calibri" panose="020F0502020204030204" pitchFamily="34" charset="0"/>
              </a:rPr>
              <a:t>剪枝：</a:t>
            </a:r>
            <a:r>
              <a:rPr lang="en-US" altLang="zh-CN" b="1" dirty="0" err="1">
                <a:solidFill>
                  <a:srgbClr val="0000FF"/>
                </a:solidFill>
                <a:cs typeface="Calibri" panose="020F0502020204030204" pitchFamily="34" charset="0"/>
              </a:rPr>
              <a:t>e.vno</a:t>
            </a:r>
            <a:r>
              <a:rPr lang="zh-CN" altLang="zh-CN" b="1" dirty="0">
                <a:solidFill>
                  <a:srgbClr val="0000FF"/>
                </a:solidFill>
                <a:cs typeface="Calibri" panose="020F0502020204030204" pitchFamily="34" charset="0"/>
              </a:rPr>
              <a:t>到顶点</a:t>
            </a:r>
            <a:r>
              <a:rPr lang="en-US" altLang="zh-CN" b="1" dirty="0">
                <a:solidFill>
                  <a:srgbClr val="0000FF"/>
                </a:solidFill>
                <a:cs typeface="Calibri" panose="020F0502020204030204" pitchFamily="34" charset="0"/>
              </a:rPr>
              <a:t>j</a:t>
            </a:r>
            <a:r>
              <a:rPr lang="zh-CN" altLang="zh-CN" b="1" dirty="0">
                <a:solidFill>
                  <a:srgbClr val="0000FF"/>
                </a:solidFill>
                <a:cs typeface="Calibri" panose="020F0502020204030204" pitchFamily="34" charset="0"/>
              </a:rPr>
              <a:t>有边并且路径长度更短</a:t>
            </a: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dist</a:t>
            </a:r>
            <a:r>
              <a:rPr lang="en-US" altLang="zh-CN" b="1" dirty="0">
                <a:solidFill>
                  <a:srgbClr val="0000FF"/>
                </a:solidFill>
                <a:cs typeface="Calibri" panose="020F0502020204030204" pitchFamily="34" charset="0"/>
              </a:rPr>
              <a:t>[j]=</a:t>
            </a:r>
            <a:r>
              <a:rPr lang="en-US" altLang="zh-CN" b="1" dirty="0" err="1">
                <a:solidFill>
                  <a:srgbClr val="0000FF"/>
                </a:solidFill>
                <a:cs typeface="Calibri" panose="020F0502020204030204" pitchFamily="34" charset="0"/>
              </a:rPr>
              <a:t>e.length+a</a:t>
            </a:r>
            <a:r>
              <a:rPr lang="en-US" altLang="zh-CN" b="1" dirty="0">
                <a:solidFill>
                  <a:srgbClr val="0000FF"/>
                </a:solidFill>
                <a:cs typeface="Calibri" panose="020F0502020204030204" pitchFamily="34" charset="0"/>
              </a:rPr>
              <a:t>[</a:t>
            </a:r>
            <a:r>
              <a:rPr lang="en-US" altLang="zh-CN" b="1" dirty="0" err="1">
                <a:solidFill>
                  <a:srgbClr val="0000FF"/>
                </a:solidFill>
                <a:cs typeface="Calibri" panose="020F0502020204030204" pitchFamily="34" charset="0"/>
              </a:rPr>
              <a:t>e.vno</a:t>
            </a:r>
            <a:r>
              <a:rPr lang="en-US" altLang="zh-CN" b="1" dirty="0">
                <a:solidFill>
                  <a:srgbClr val="0000FF"/>
                </a:solidFill>
                <a:cs typeface="Calibri" panose="020F0502020204030204" pitchFamily="34" charset="0"/>
              </a:rPr>
              <a:t>][j];</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prev</a:t>
            </a:r>
            <a:r>
              <a:rPr lang="en-US" altLang="zh-CN" b="1" dirty="0">
                <a:solidFill>
                  <a:srgbClr val="0000FF"/>
                </a:solidFill>
                <a:cs typeface="Calibri" panose="020F0502020204030204" pitchFamily="34" charset="0"/>
              </a:rPr>
              <a:t>[j]=</a:t>
            </a:r>
            <a:r>
              <a:rPr lang="en-US" altLang="zh-CN" b="1" dirty="0" err="1">
                <a:solidFill>
                  <a:srgbClr val="0000FF"/>
                </a:solidFill>
                <a:cs typeface="Calibri" panose="020F0502020204030204" pitchFamily="34" charset="0"/>
              </a:rPr>
              <a:t>e.vno</a:t>
            </a:r>
            <a:r>
              <a:rPr lang="en-US" altLang="zh-CN" b="1" dirty="0">
                <a:solidFill>
                  <a:srgbClr val="0000FF"/>
                </a:solidFill>
                <a:cs typeface="Calibri" panose="020F0502020204030204" pitchFamily="34" charset="0"/>
              </a:rPr>
              <a:t>;</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e1.vno=j;		//</a:t>
            </a:r>
            <a:r>
              <a:rPr lang="zh-CN" altLang="zh-CN" b="1" dirty="0">
                <a:solidFill>
                  <a:srgbClr val="0000FF"/>
                </a:solidFill>
                <a:cs typeface="Calibri" panose="020F0502020204030204" pitchFamily="34" charset="0"/>
              </a:rPr>
              <a:t>建立相邻顶点</a:t>
            </a:r>
            <a:r>
              <a:rPr lang="en-US" altLang="zh-CN" b="1" dirty="0">
                <a:solidFill>
                  <a:srgbClr val="0000FF"/>
                </a:solidFill>
                <a:cs typeface="Calibri" panose="020F0502020204030204" pitchFamily="34" charset="0"/>
              </a:rPr>
              <a:t>j</a:t>
            </a:r>
            <a:r>
              <a:rPr lang="zh-CN" altLang="zh-CN" b="1" dirty="0">
                <a:solidFill>
                  <a:srgbClr val="0000FF"/>
                </a:solidFill>
                <a:cs typeface="Calibri" panose="020F0502020204030204" pitchFamily="34" charset="0"/>
              </a:rPr>
              <a:t>的结点</a:t>
            </a:r>
            <a:r>
              <a:rPr lang="en-US" altLang="zh-CN" b="1" dirty="0">
                <a:solidFill>
                  <a:srgbClr val="0000FF"/>
                </a:solidFill>
                <a:cs typeface="Calibri" panose="020F0502020204030204" pitchFamily="34" charset="0"/>
              </a:rPr>
              <a:t>e1</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e1.length=</a:t>
            </a:r>
            <a:r>
              <a:rPr lang="en-US" altLang="zh-CN" b="1" dirty="0" err="1">
                <a:solidFill>
                  <a:srgbClr val="0000FF"/>
                </a:solidFill>
                <a:cs typeface="Calibri" panose="020F0502020204030204" pitchFamily="34" charset="0"/>
              </a:rPr>
              <a:t>dist</a:t>
            </a:r>
            <a:r>
              <a:rPr lang="en-US" altLang="zh-CN" b="1" dirty="0">
                <a:solidFill>
                  <a:srgbClr val="0000FF"/>
                </a:solidFill>
                <a:cs typeface="Calibri" panose="020F0502020204030204" pitchFamily="34" charset="0"/>
              </a:rPr>
              <a:t>[j];</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pqu.push</a:t>
            </a:r>
            <a:r>
              <a:rPr lang="en-US" altLang="zh-CN" b="1" dirty="0">
                <a:solidFill>
                  <a:srgbClr val="0000FF"/>
                </a:solidFill>
                <a:cs typeface="Calibri" panose="020F0502020204030204" pitchFamily="34" charset="0"/>
              </a:rPr>
              <a:t>(e1);		//</a:t>
            </a:r>
            <a:r>
              <a:rPr lang="zh-CN" altLang="zh-CN" b="1" dirty="0">
                <a:solidFill>
                  <a:srgbClr val="0000FF"/>
                </a:solidFill>
                <a:cs typeface="Calibri" panose="020F0502020204030204" pitchFamily="34" charset="0"/>
              </a:rPr>
              <a:t>结点</a:t>
            </a:r>
            <a:r>
              <a:rPr lang="en-US" altLang="zh-CN" b="1" dirty="0">
                <a:solidFill>
                  <a:srgbClr val="0000FF"/>
                </a:solidFill>
                <a:cs typeface="Calibri" panose="020F0502020204030204" pitchFamily="34" charset="0"/>
              </a:rPr>
              <a:t>e1</a:t>
            </a:r>
            <a:r>
              <a:rPr lang="zh-CN" altLang="zh-CN" b="1" dirty="0">
                <a:solidFill>
                  <a:srgbClr val="0000FF"/>
                </a:solidFill>
                <a:cs typeface="Calibri" panose="020F0502020204030204" pitchFamily="34" charset="0"/>
              </a:rPr>
              <a:t>进队</a:t>
            </a: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a:t>
            </a:r>
            <a:endParaRPr lang="zh-CN" altLang="en-US" b="1" dirty="0">
              <a:solidFill>
                <a:srgbClr val="0000FF"/>
              </a:solidFill>
              <a:cs typeface="Calibri" panose="020F0502020204030204"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6" end="1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7" end="1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8" end="1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68610" name="TextBox 2">
            <a:extLst>
              <a:ext uri="{FF2B5EF4-FFF2-40B4-BE49-F238E27FC236}">
                <a16:creationId xmlns:a16="http://schemas.microsoft.com/office/drawing/2014/main" id="{2242AC4B-98AC-1709-3C47-1A86A176F8BF}"/>
              </a:ext>
            </a:extLst>
          </p:cNvPr>
          <p:cNvSpPr txBox="1">
            <a:spLocks noChangeArrowheads="1"/>
          </p:cNvSpPr>
          <p:nvPr/>
        </p:nvSpPr>
        <p:spPr bwMode="auto">
          <a:xfrm>
            <a:off x="1943631" y="2709714"/>
            <a:ext cx="785812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ts val="3200"/>
              </a:lnSpc>
            </a:pPr>
            <a:r>
              <a:rPr lang="en-US" altLang="zh-CN" sz="2000" b="1"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300" b="1" dirty="0">
                <a:solidFill>
                  <a:srgbClr val="0000FF"/>
                </a:solidFill>
                <a:latin typeface="+mn-ea"/>
                <a:cs typeface="Consolas" panose="020B0609020204030204" pitchFamily="49" charset="0"/>
              </a:rPr>
              <a:t>采用</a:t>
            </a:r>
            <a:r>
              <a:rPr lang="en-US" altLang="zh-CN" sz="2300" b="1" dirty="0">
                <a:solidFill>
                  <a:srgbClr val="0000FF"/>
                </a:solidFill>
                <a:latin typeface="+mn-ea"/>
                <a:cs typeface="Consolas" panose="020B0609020204030204" pitchFamily="49" charset="0"/>
              </a:rPr>
              <a:t>STL</a:t>
            </a:r>
            <a:r>
              <a:rPr lang="zh-CN" altLang="zh-CN" sz="2300" b="1" dirty="0">
                <a:solidFill>
                  <a:srgbClr val="0000FF"/>
                </a:solidFill>
                <a:latin typeface="+mn-ea"/>
                <a:cs typeface="Consolas" panose="020B0609020204030204" pitchFamily="49" charset="0"/>
              </a:rPr>
              <a:t>的</a:t>
            </a:r>
            <a:r>
              <a:rPr lang="en-US" altLang="zh-CN" sz="2300" b="1" dirty="0" err="1">
                <a:solidFill>
                  <a:srgbClr val="0000FF"/>
                </a:solidFill>
                <a:latin typeface="+mn-ea"/>
                <a:cs typeface="Consolas" panose="020B0609020204030204" pitchFamily="49" charset="0"/>
              </a:rPr>
              <a:t>priority_queue</a:t>
            </a:r>
            <a:r>
              <a:rPr lang="en-US" altLang="zh-CN" sz="2300" b="1" dirty="0">
                <a:solidFill>
                  <a:srgbClr val="0000FF"/>
                </a:solidFill>
                <a:latin typeface="+mn-ea"/>
                <a:cs typeface="Consolas" panose="020B0609020204030204" pitchFamily="49" charset="0"/>
              </a:rPr>
              <a:t>&lt;</a:t>
            </a:r>
            <a:r>
              <a:rPr lang="en-US" altLang="zh-CN" sz="2300" b="1" dirty="0" err="1">
                <a:solidFill>
                  <a:srgbClr val="0000FF"/>
                </a:solidFill>
                <a:latin typeface="+mn-ea"/>
                <a:cs typeface="Consolas" panose="020B0609020204030204" pitchFamily="49" charset="0"/>
              </a:rPr>
              <a:t>NodeType</a:t>
            </a:r>
            <a:r>
              <a:rPr lang="en-US" altLang="zh-CN" sz="2300" b="1" dirty="0">
                <a:solidFill>
                  <a:srgbClr val="0000FF"/>
                </a:solidFill>
                <a:latin typeface="+mn-ea"/>
                <a:cs typeface="Consolas" panose="020B0609020204030204" pitchFamily="49" charset="0"/>
              </a:rPr>
              <a:t>&gt;</a:t>
            </a:r>
            <a:r>
              <a:rPr lang="zh-CN" altLang="zh-CN" sz="2300" b="1" dirty="0">
                <a:solidFill>
                  <a:srgbClr val="0000FF"/>
                </a:solidFill>
                <a:latin typeface="+mn-ea"/>
                <a:cs typeface="Consolas" panose="020B0609020204030204" pitchFamily="49" charset="0"/>
              </a:rPr>
              <a:t>容器作为优先队列（小根堆），优先队列结点类型与</a:t>
            </a:r>
            <a:r>
              <a:rPr lang="zh-CN" altLang="en-US" sz="2300" b="1" dirty="0">
                <a:solidFill>
                  <a:srgbClr val="0000FF"/>
                </a:solidFill>
                <a:latin typeface="+mn-ea"/>
                <a:cs typeface="Consolas" panose="020B0609020204030204" pitchFamily="49" charset="0"/>
              </a:rPr>
              <a:t>前面</a:t>
            </a:r>
            <a:r>
              <a:rPr lang="zh-CN" altLang="zh-CN" sz="2300" b="1" dirty="0">
                <a:solidFill>
                  <a:srgbClr val="0000FF"/>
                </a:solidFill>
                <a:latin typeface="+mn-ea"/>
                <a:cs typeface="Consolas" panose="020B0609020204030204" pitchFamily="49" charset="0"/>
              </a:rPr>
              <a:t>的相同，添加比较重载函数，即按结点的</a:t>
            </a:r>
            <a:r>
              <a:rPr lang="en-US" altLang="zh-CN" sz="2300" b="1" dirty="0">
                <a:solidFill>
                  <a:srgbClr val="0000FF"/>
                </a:solidFill>
                <a:latin typeface="+mn-ea"/>
                <a:cs typeface="Consolas" panose="020B0609020204030204" pitchFamily="49" charset="0"/>
              </a:rPr>
              <a:t>length</a:t>
            </a:r>
            <a:r>
              <a:rPr lang="zh-CN" altLang="zh-CN" sz="2300" b="1" dirty="0">
                <a:solidFill>
                  <a:srgbClr val="0000FF"/>
                </a:solidFill>
                <a:latin typeface="+mn-ea"/>
                <a:cs typeface="Consolas" panose="020B0609020204030204" pitchFamily="49" charset="0"/>
              </a:rPr>
              <a:t>成员值越小越优先出队，为此设计</a:t>
            </a:r>
            <a:r>
              <a:rPr lang="en-US" altLang="zh-CN" sz="2300" b="1" dirty="0" err="1">
                <a:solidFill>
                  <a:srgbClr val="0000FF"/>
                </a:solidFill>
                <a:latin typeface="+mn-ea"/>
                <a:cs typeface="Consolas" panose="020B0609020204030204" pitchFamily="49" charset="0"/>
              </a:rPr>
              <a:t>NodeType</a:t>
            </a:r>
            <a:r>
              <a:rPr lang="zh-CN" altLang="zh-CN" sz="2300" b="1" dirty="0">
                <a:solidFill>
                  <a:srgbClr val="0000FF"/>
                </a:solidFill>
                <a:latin typeface="+mn-ea"/>
                <a:cs typeface="Consolas" panose="020B0609020204030204" pitchFamily="49" charset="0"/>
              </a:rPr>
              <a:t>结构体的比较重载函数如下：</a:t>
            </a:r>
          </a:p>
        </p:txBody>
      </p:sp>
      <p:sp>
        <p:nvSpPr>
          <p:cNvPr id="4" name="TextBox 3">
            <a:extLst>
              <a:ext uri="{FF2B5EF4-FFF2-40B4-BE49-F238E27FC236}">
                <a16:creationId xmlns:a16="http://schemas.microsoft.com/office/drawing/2014/main" id="{F5593AA3-58C3-6E8F-33FB-37BC1BC52171}"/>
              </a:ext>
            </a:extLst>
          </p:cNvPr>
          <p:cNvSpPr txBox="1"/>
          <p:nvPr/>
        </p:nvSpPr>
        <p:spPr>
          <a:xfrm>
            <a:off x="2086480" y="4797946"/>
            <a:ext cx="7572428" cy="1594622"/>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lIns="144000" tIns="180000" bIns="180000">
            <a:spAutoFit/>
          </a:bodyPr>
          <a:lstStyle/>
          <a:p>
            <a:pPr eaLnBrk="1" fontAlgn="auto" hangingPunct="1">
              <a:spcBef>
                <a:spcPts val="0"/>
              </a:spcBef>
              <a:spcAft>
                <a:spcPts val="0"/>
              </a:spcAft>
              <a:defRPr/>
            </a:pPr>
            <a:r>
              <a:rPr lang="en-US" altLang="zh-CN" sz="2000" b="1" dirty="0">
                <a:solidFill>
                  <a:srgbClr val="0000FF"/>
                </a:solidFill>
                <a:cs typeface="Calibri" panose="020F0502020204030204" pitchFamily="34" charset="0"/>
              </a:rPr>
              <a:t>bool operator&lt;(const </a:t>
            </a:r>
            <a:r>
              <a:rPr lang="en-US" altLang="zh-CN" sz="2000" b="1" dirty="0" err="1">
                <a:solidFill>
                  <a:srgbClr val="0000FF"/>
                </a:solidFill>
                <a:cs typeface="Calibri" panose="020F0502020204030204" pitchFamily="34" charset="0"/>
              </a:rPr>
              <a:t>NodeType</a:t>
            </a:r>
            <a:r>
              <a:rPr lang="en-US" altLang="zh-CN" sz="2000" b="1" dirty="0">
                <a:solidFill>
                  <a:srgbClr val="0000FF"/>
                </a:solidFill>
                <a:cs typeface="Calibri" panose="020F0502020204030204" pitchFamily="34" charset="0"/>
              </a:rPr>
              <a:t> &amp; node) const</a:t>
            </a:r>
            <a:endParaRPr lang="zh-CN" altLang="zh-CN" sz="2000"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sz="2000" b="1" dirty="0">
                <a:solidFill>
                  <a:srgbClr val="0000FF"/>
                </a:solidFill>
                <a:cs typeface="Calibri" panose="020F0502020204030204" pitchFamily="34" charset="0"/>
              </a:rPr>
              <a:t>{</a:t>
            </a:r>
            <a:endParaRPr lang="zh-CN" altLang="zh-CN" sz="2000"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sz="2000" b="1" dirty="0">
                <a:solidFill>
                  <a:srgbClr val="0000FF"/>
                </a:solidFill>
                <a:cs typeface="Calibri" panose="020F0502020204030204" pitchFamily="34" charset="0"/>
              </a:rPr>
              <a:t>    return length&gt;</a:t>
            </a:r>
            <a:r>
              <a:rPr lang="en-US" altLang="zh-CN" sz="2000" b="1" dirty="0" err="1">
                <a:solidFill>
                  <a:srgbClr val="0000FF"/>
                </a:solidFill>
                <a:cs typeface="Calibri" panose="020F0502020204030204" pitchFamily="34" charset="0"/>
              </a:rPr>
              <a:t>node.length</a:t>
            </a:r>
            <a:r>
              <a:rPr lang="en-US" altLang="zh-CN" sz="2000" b="1" dirty="0">
                <a:solidFill>
                  <a:srgbClr val="0000FF"/>
                </a:solidFill>
                <a:cs typeface="Calibri" panose="020F0502020204030204" pitchFamily="34" charset="0"/>
              </a:rPr>
              <a:t>;	//length</a:t>
            </a:r>
            <a:r>
              <a:rPr lang="zh-CN" altLang="zh-CN" sz="2000" b="1" dirty="0">
                <a:solidFill>
                  <a:srgbClr val="0000FF"/>
                </a:solidFill>
                <a:cs typeface="Calibri" panose="020F0502020204030204" pitchFamily="34" charset="0"/>
              </a:rPr>
              <a:t>越小越优先出队</a:t>
            </a:r>
          </a:p>
          <a:p>
            <a:pPr eaLnBrk="1" fontAlgn="auto" hangingPunct="1">
              <a:spcBef>
                <a:spcPts val="0"/>
              </a:spcBef>
              <a:spcAft>
                <a:spcPts val="0"/>
              </a:spcAft>
              <a:defRPr/>
            </a:pPr>
            <a:r>
              <a:rPr lang="en-US" altLang="zh-CN" sz="2000" b="1" dirty="0">
                <a:solidFill>
                  <a:srgbClr val="0000FF"/>
                </a:solidFill>
                <a:cs typeface="Calibri" panose="020F0502020204030204" pitchFamily="34" charset="0"/>
              </a:rPr>
              <a:t>}</a:t>
            </a:r>
            <a:endParaRPr lang="zh-CN" altLang="zh-CN" sz="2000" b="1" dirty="0">
              <a:solidFill>
                <a:srgbClr val="0000FF"/>
              </a:solidFill>
              <a:cs typeface="Calibri" panose="020F0502020204030204" pitchFamily="34" charset="0"/>
            </a:endParaRPr>
          </a:p>
        </p:txBody>
      </p:sp>
      <p:sp>
        <p:nvSpPr>
          <p:cNvPr id="10" name="TextBox 1">
            <a:extLst>
              <a:ext uri="{FF2B5EF4-FFF2-40B4-BE49-F238E27FC236}">
                <a16:creationId xmlns:a16="http://schemas.microsoft.com/office/drawing/2014/main" id="{DAD3FE3B-EB29-EFED-2A14-104C97852386}"/>
              </a:ext>
            </a:extLst>
          </p:cNvPr>
          <p:cNvSpPr txBox="1"/>
          <p:nvPr/>
        </p:nvSpPr>
        <p:spPr>
          <a:xfrm>
            <a:off x="819150" y="1197546"/>
            <a:ext cx="5286375" cy="446087"/>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eaLnBrk="1" fontAlgn="auto" hangingPunct="1">
              <a:spcBef>
                <a:spcPts val="0"/>
              </a:spcBef>
              <a:spcAft>
                <a:spcPts val="0"/>
              </a:spcAft>
              <a:defRPr/>
            </a:pPr>
            <a:r>
              <a:rPr lang="zh-CN" altLang="zh-CN" sz="2300" b="1" dirty="0">
                <a:solidFill>
                  <a:srgbClr val="0000FF"/>
                </a:solidFill>
                <a:latin typeface="华文楷体" panose="02010600040101010101" pitchFamily="2" charset="-122"/>
                <a:ea typeface="华文楷体" panose="02010600040101010101" pitchFamily="2" charset="-122"/>
              </a:rPr>
              <a:t>采用</a:t>
            </a:r>
            <a:r>
              <a:rPr lang="zh-CN" altLang="en-US" sz="2300" b="1" dirty="0">
                <a:solidFill>
                  <a:srgbClr val="0000FF"/>
                </a:solidFill>
                <a:latin typeface="华文楷体" panose="02010600040101010101" pitchFamily="2" charset="-122"/>
                <a:ea typeface="华文楷体" panose="02010600040101010101" pitchFamily="2" charset="-122"/>
              </a:rPr>
              <a:t>优先</a:t>
            </a:r>
            <a:r>
              <a:rPr lang="zh-CN" altLang="zh-CN" sz="2300" b="1" dirty="0">
                <a:solidFill>
                  <a:srgbClr val="0000FF"/>
                </a:solidFill>
                <a:latin typeface="华文楷体" panose="02010600040101010101" pitchFamily="2" charset="-122"/>
                <a:ea typeface="华文楷体" panose="02010600040101010101" pitchFamily="2" charset="-122"/>
              </a:rPr>
              <a:t>队列式分枝限界法求解</a:t>
            </a:r>
          </a:p>
        </p:txBody>
      </p:sp>
    </p:spTree>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CD8E60-2BF7-F9D8-8CE1-2FD2D2B35442}"/>
              </a:ext>
            </a:extLst>
          </p:cNvPr>
          <p:cNvSpPr txBox="1"/>
          <p:nvPr/>
        </p:nvSpPr>
        <p:spPr>
          <a:xfrm>
            <a:off x="2062758" y="333450"/>
            <a:ext cx="8358246" cy="6384788"/>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lIns="180000" tIns="180000" bIns="108000">
            <a:spAutoFit/>
          </a:bodyPr>
          <a:lstStyle/>
          <a:p>
            <a:pPr eaLnBrk="1" fontAlgn="auto" hangingPunct="1">
              <a:spcBef>
                <a:spcPts val="0"/>
              </a:spcBef>
              <a:spcAft>
                <a:spcPts val="0"/>
              </a:spcAft>
              <a:defRPr/>
            </a:pPr>
            <a:r>
              <a:rPr lang="en-US" altLang="zh-CN" b="1" dirty="0">
                <a:solidFill>
                  <a:srgbClr val="0000FF"/>
                </a:solidFill>
                <a:cs typeface="Calibri" panose="020F0502020204030204" pitchFamily="34" charset="0"/>
              </a:rPr>
              <a:t>void </a:t>
            </a:r>
            <a:r>
              <a:rPr lang="en-US" altLang="zh-CN" b="1" dirty="0" err="1">
                <a:solidFill>
                  <a:srgbClr val="0000FF"/>
                </a:solidFill>
                <a:cs typeface="Calibri" panose="020F0502020204030204" pitchFamily="34" charset="0"/>
              </a:rPr>
              <a:t>bfs</a:t>
            </a:r>
            <a:r>
              <a:rPr lang="en-US" altLang="zh-CN" b="1" dirty="0">
                <a:solidFill>
                  <a:srgbClr val="0000FF"/>
                </a:solidFill>
                <a:cs typeface="Calibri" panose="020F0502020204030204" pitchFamily="34" charset="0"/>
              </a:rPr>
              <a:t>(int v)			//</a:t>
            </a:r>
            <a:r>
              <a:rPr lang="zh-CN" altLang="zh-CN" b="1" dirty="0">
                <a:solidFill>
                  <a:srgbClr val="0000FF"/>
                </a:solidFill>
                <a:cs typeface="Calibri" panose="020F0502020204030204" pitchFamily="34" charset="0"/>
              </a:rPr>
              <a:t>求解算法</a:t>
            </a: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NodeType</a:t>
            </a:r>
            <a:r>
              <a:rPr lang="en-US" altLang="zh-CN" b="1" dirty="0">
                <a:solidFill>
                  <a:srgbClr val="0000FF"/>
                </a:solidFill>
                <a:cs typeface="Calibri" panose="020F0502020204030204" pitchFamily="34" charset="0"/>
              </a:rPr>
              <a:t> e,e1;</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priority_queue</a:t>
            </a:r>
            <a:r>
              <a:rPr lang="en-US" altLang="zh-CN" b="1" dirty="0">
                <a:solidFill>
                  <a:srgbClr val="0000FF"/>
                </a:solidFill>
                <a:cs typeface="Calibri" panose="020F0502020204030204" pitchFamily="34" charset="0"/>
              </a:rPr>
              <a:t>&lt;</a:t>
            </a:r>
            <a:r>
              <a:rPr lang="en-US" altLang="zh-CN" b="1" dirty="0" err="1">
                <a:solidFill>
                  <a:srgbClr val="0000FF"/>
                </a:solidFill>
                <a:cs typeface="Calibri" panose="020F0502020204030204" pitchFamily="34" charset="0"/>
              </a:rPr>
              <a:t>NodeType</a:t>
            </a:r>
            <a:r>
              <a:rPr lang="en-US" altLang="zh-CN" b="1" dirty="0">
                <a:solidFill>
                  <a:srgbClr val="0000FF"/>
                </a:solidFill>
                <a:cs typeface="Calibri" panose="020F0502020204030204" pitchFamily="34" charset="0"/>
              </a:rPr>
              <a:t>&gt; </a:t>
            </a:r>
            <a:r>
              <a:rPr lang="en-US" altLang="zh-CN" b="1" dirty="0" err="1">
                <a:solidFill>
                  <a:srgbClr val="0000FF"/>
                </a:solidFill>
                <a:cs typeface="Calibri" panose="020F0502020204030204" pitchFamily="34" charset="0"/>
              </a:rPr>
              <a:t>pqu</a:t>
            </a:r>
            <a:r>
              <a:rPr lang="en-US" altLang="zh-CN" b="1" dirty="0">
                <a:solidFill>
                  <a:srgbClr val="0000FF"/>
                </a:solidFill>
                <a:cs typeface="Calibri" panose="020F0502020204030204" pitchFamily="34" charset="0"/>
              </a:rPr>
              <a:t>;	//</a:t>
            </a:r>
            <a:r>
              <a:rPr lang="zh-CN" altLang="zh-CN" b="1" dirty="0">
                <a:solidFill>
                  <a:srgbClr val="0000FF"/>
                </a:solidFill>
                <a:cs typeface="Calibri" panose="020F0502020204030204" pitchFamily="34" charset="0"/>
              </a:rPr>
              <a:t>定义优先队列</a:t>
            </a: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e.vno</a:t>
            </a:r>
            <a:r>
              <a:rPr lang="en-US" altLang="zh-CN" b="1" dirty="0">
                <a:solidFill>
                  <a:srgbClr val="0000FF"/>
                </a:solidFill>
                <a:cs typeface="Calibri" panose="020F0502020204030204" pitchFamily="34" charset="0"/>
              </a:rPr>
              <a:t>=v;				//</a:t>
            </a:r>
            <a:r>
              <a:rPr lang="zh-CN" altLang="zh-CN" b="1" dirty="0">
                <a:solidFill>
                  <a:srgbClr val="0000FF"/>
                </a:solidFill>
                <a:cs typeface="Calibri" panose="020F0502020204030204" pitchFamily="34" charset="0"/>
              </a:rPr>
              <a:t>建立源点结点</a:t>
            </a:r>
            <a:r>
              <a:rPr lang="en-US" altLang="zh-CN" b="1" dirty="0">
                <a:solidFill>
                  <a:srgbClr val="0000FF"/>
                </a:solidFill>
                <a:cs typeface="Calibri" panose="020F0502020204030204" pitchFamily="34" charset="0"/>
              </a:rPr>
              <a:t>e</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e.length</a:t>
            </a:r>
            <a:r>
              <a:rPr lang="en-US" altLang="zh-CN" b="1" dirty="0">
                <a:solidFill>
                  <a:srgbClr val="0000FF"/>
                </a:solidFill>
                <a:cs typeface="Calibri" panose="020F0502020204030204" pitchFamily="34" charset="0"/>
              </a:rPr>
              <a:t>=0;</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pqu.push</a:t>
            </a:r>
            <a:r>
              <a:rPr lang="en-US" altLang="zh-CN" b="1" dirty="0">
                <a:solidFill>
                  <a:srgbClr val="0000FF"/>
                </a:solidFill>
                <a:cs typeface="Calibri" panose="020F0502020204030204" pitchFamily="34" charset="0"/>
              </a:rPr>
              <a:t>(e);			//</a:t>
            </a:r>
            <a:r>
              <a:rPr lang="zh-CN" altLang="zh-CN" b="1" dirty="0">
                <a:solidFill>
                  <a:srgbClr val="0000FF"/>
                </a:solidFill>
                <a:cs typeface="Calibri" panose="020F0502020204030204" pitchFamily="34" charset="0"/>
              </a:rPr>
              <a:t>源点结点</a:t>
            </a:r>
            <a:r>
              <a:rPr lang="en-US" altLang="zh-CN" b="1" dirty="0">
                <a:solidFill>
                  <a:srgbClr val="0000FF"/>
                </a:solidFill>
                <a:cs typeface="Calibri" panose="020F0502020204030204" pitchFamily="34" charset="0"/>
              </a:rPr>
              <a:t>e</a:t>
            </a:r>
            <a:r>
              <a:rPr lang="zh-CN" altLang="zh-CN" b="1" dirty="0">
                <a:solidFill>
                  <a:srgbClr val="0000FF"/>
                </a:solidFill>
                <a:cs typeface="Calibri" panose="020F0502020204030204" pitchFamily="34" charset="0"/>
              </a:rPr>
              <a:t>进队</a:t>
            </a: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dist</a:t>
            </a:r>
            <a:r>
              <a:rPr lang="en-US" altLang="zh-CN" b="1" dirty="0">
                <a:solidFill>
                  <a:srgbClr val="0000FF"/>
                </a:solidFill>
                <a:cs typeface="Calibri" panose="020F0502020204030204" pitchFamily="34" charset="0"/>
              </a:rPr>
              <a:t>[v]=0;</a:t>
            </a:r>
            <a:endParaRPr lang="zh-CN" altLang="zh-CN" b="1" dirty="0">
              <a:solidFill>
                <a:srgbClr val="0000FF"/>
              </a:solidFill>
              <a:cs typeface="Calibri" panose="020F0502020204030204" pitchFamily="34" charset="0"/>
            </a:endParaRPr>
          </a:p>
          <a:p>
            <a:pPr eaLnBrk="1" fontAlgn="auto" hangingPunct="1">
              <a:lnSpc>
                <a:spcPct val="200000"/>
              </a:lnSpc>
              <a:spcBef>
                <a:spcPts val="0"/>
              </a:spcBef>
              <a:spcAft>
                <a:spcPts val="0"/>
              </a:spcAft>
              <a:defRPr/>
            </a:pPr>
            <a:r>
              <a:rPr lang="en-US" altLang="zh-CN" b="1" dirty="0">
                <a:solidFill>
                  <a:srgbClr val="0000FF"/>
                </a:solidFill>
                <a:cs typeface="Calibri" panose="020F0502020204030204" pitchFamily="34" charset="0"/>
              </a:rPr>
              <a:t>   while(!</a:t>
            </a:r>
            <a:r>
              <a:rPr lang="en-US" altLang="zh-CN" b="1" dirty="0" err="1">
                <a:solidFill>
                  <a:srgbClr val="0000FF"/>
                </a:solidFill>
                <a:cs typeface="Calibri" panose="020F0502020204030204" pitchFamily="34" charset="0"/>
              </a:rPr>
              <a:t>pqu.empty</a:t>
            </a:r>
            <a:r>
              <a:rPr lang="en-US" altLang="zh-CN" b="1" dirty="0">
                <a:solidFill>
                  <a:srgbClr val="0000FF"/>
                </a:solidFill>
                <a:cs typeface="Calibri" panose="020F0502020204030204" pitchFamily="34" charset="0"/>
              </a:rPr>
              <a:t>())		//</a:t>
            </a:r>
            <a:r>
              <a:rPr lang="zh-CN" altLang="zh-CN" b="1" dirty="0">
                <a:solidFill>
                  <a:srgbClr val="0000FF"/>
                </a:solidFill>
                <a:cs typeface="Calibri" panose="020F0502020204030204" pitchFamily="34" charset="0"/>
              </a:rPr>
              <a:t>队列不空循环</a:t>
            </a:r>
          </a:p>
          <a:p>
            <a:pPr eaLnBrk="1" fontAlgn="auto" hangingPunct="1">
              <a:spcBef>
                <a:spcPts val="0"/>
              </a:spcBef>
              <a:spcAft>
                <a:spcPts val="0"/>
              </a:spcAft>
              <a:defRPr/>
            </a:pPr>
            <a:r>
              <a:rPr lang="en-US" altLang="zh-CN" b="1" dirty="0">
                <a:solidFill>
                  <a:srgbClr val="0000FF"/>
                </a:solidFill>
                <a:cs typeface="Calibri" panose="020F0502020204030204" pitchFamily="34" charset="0"/>
              </a:rPr>
              <a:t>   {  e=</a:t>
            </a:r>
            <a:r>
              <a:rPr lang="en-US" altLang="zh-CN" b="1" dirty="0" err="1">
                <a:solidFill>
                  <a:srgbClr val="0000FF"/>
                </a:solidFill>
                <a:cs typeface="Calibri" panose="020F0502020204030204" pitchFamily="34" charset="0"/>
              </a:rPr>
              <a:t>pqu.top</a:t>
            </a: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pqu.pop</a:t>
            </a:r>
            <a:r>
              <a:rPr lang="en-US" altLang="zh-CN" b="1" dirty="0">
                <a:solidFill>
                  <a:srgbClr val="0000FF"/>
                </a:solidFill>
                <a:cs typeface="Calibri" panose="020F0502020204030204" pitchFamily="34" charset="0"/>
              </a:rPr>
              <a:t>();		//</a:t>
            </a:r>
            <a:r>
              <a:rPr lang="zh-CN" altLang="zh-CN" b="1" dirty="0">
                <a:solidFill>
                  <a:srgbClr val="0000FF"/>
                </a:solidFill>
                <a:cs typeface="Calibri" panose="020F0502020204030204" pitchFamily="34" charset="0"/>
              </a:rPr>
              <a:t>出队列结点</a:t>
            </a:r>
            <a:r>
              <a:rPr lang="en-US" altLang="zh-CN" b="1" dirty="0">
                <a:solidFill>
                  <a:srgbClr val="0000FF"/>
                </a:solidFill>
                <a:cs typeface="Calibri" panose="020F0502020204030204" pitchFamily="34" charset="0"/>
              </a:rPr>
              <a:t>e</a:t>
            </a:r>
          </a:p>
          <a:p>
            <a:pPr eaLnBrk="1" fontAlgn="auto" hangingPunct="1">
              <a:spcBef>
                <a:spcPts val="0"/>
              </a:spcBef>
              <a:spcAft>
                <a:spcPts val="0"/>
              </a:spcAft>
              <a:defRPr/>
            </a:pPr>
            <a:r>
              <a:rPr lang="en-US" altLang="zh-CN" b="1" dirty="0">
                <a:solidFill>
                  <a:srgbClr val="0000FF"/>
                </a:solidFill>
                <a:cs typeface="Calibri" panose="020F0502020204030204" pitchFamily="34" charset="0"/>
              </a:rPr>
              <a:t>      for (int j=0; j&lt;n; </a:t>
            </a:r>
            <a:r>
              <a:rPr lang="en-US" altLang="zh-CN" b="1" dirty="0" err="1">
                <a:solidFill>
                  <a:srgbClr val="0000FF"/>
                </a:solidFill>
                <a:cs typeface="Calibri" panose="020F0502020204030204" pitchFamily="34" charset="0"/>
              </a:rPr>
              <a:t>j++</a:t>
            </a:r>
            <a:r>
              <a:rPr lang="en-US" altLang="zh-CN" b="1" dirty="0">
                <a:solidFill>
                  <a:srgbClr val="0000FF"/>
                </a:solidFill>
                <a:cs typeface="Calibri" panose="020F0502020204030204" pitchFamily="34" charset="0"/>
              </a:rPr>
              <a:t>)</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  if(a[</a:t>
            </a:r>
            <a:r>
              <a:rPr lang="en-US" altLang="zh-CN" b="1" dirty="0" err="1">
                <a:solidFill>
                  <a:srgbClr val="0000FF"/>
                </a:solidFill>
                <a:cs typeface="Calibri" panose="020F0502020204030204" pitchFamily="34" charset="0"/>
              </a:rPr>
              <a:t>e.vno</a:t>
            </a:r>
            <a:r>
              <a:rPr lang="en-US" altLang="zh-CN" b="1" dirty="0">
                <a:solidFill>
                  <a:srgbClr val="0000FF"/>
                </a:solidFill>
                <a:cs typeface="Calibri" panose="020F0502020204030204" pitchFamily="34" charset="0"/>
              </a:rPr>
              <a:t>][j]&lt;INF &amp;&amp; </a:t>
            </a:r>
            <a:r>
              <a:rPr lang="en-US" altLang="zh-CN" b="1" dirty="0" err="1">
                <a:solidFill>
                  <a:srgbClr val="0000FF"/>
                </a:solidFill>
                <a:cs typeface="Calibri" panose="020F0502020204030204" pitchFamily="34" charset="0"/>
              </a:rPr>
              <a:t>e.length+a</a:t>
            </a:r>
            <a:r>
              <a:rPr lang="en-US" altLang="zh-CN" b="1" dirty="0">
                <a:solidFill>
                  <a:srgbClr val="0000FF"/>
                </a:solidFill>
                <a:cs typeface="Calibri" panose="020F0502020204030204" pitchFamily="34" charset="0"/>
              </a:rPr>
              <a:t>[</a:t>
            </a:r>
            <a:r>
              <a:rPr lang="en-US" altLang="zh-CN" b="1" dirty="0" err="1">
                <a:solidFill>
                  <a:srgbClr val="0000FF"/>
                </a:solidFill>
                <a:cs typeface="Calibri" panose="020F0502020204030204" pitchFamily="34" charset="0"/>
              </a:rPr>
              <a:t>e.vno</a:t>
            </a:r>
            <a:r>
              <a:rPr lang="en-US" altLang="zh-CN" b="1" dirty="0">
                <a:solidFill>
                  <a:srgbClr val="0000FF"/>
                </a:solidFill>
                <a:cs typeface="Calibri" panose="020F0502020204030204" pitchFamily="34" charset="0"/>
              </a:rPr>
              <a:t>][j]&lt;</a:t>
            </a:r>
            <a:r>
              <a:rPr lang="en-US" altLang="zh-CN" b="1" dirty="0" err="1">
                <a:solidFill>
                  <a:srgbClr val="0000FF"/>
                </a:solidFill>
                <a:cs typeface="Calibri" panose="020F0502020204030204" pitchFamily="34" charset="0"/>
              </a:rPr>
              <a:t>dist</a:t>
            </a:r>
            <a:r>
              <a:rPr lang="en-US" altLang="zh-CN" b="1" dirty="0">
                <a:solidFill>
                  <a:srgbClr val="0000FF"/>
                </a:solidFill>
                <a:cs typeface="Calibri" panose="020F0502020204030204" pitchFamily="34" charset="0"/>
              </a:rPr>
              <a:t>[j])</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  //</a:t>
            </a:r>
            <a:r>
              <a:rPr lang="zh-CN" altLang="zh-CN" b="1" dirty="0">
                <a:solidFill>
                  <a:srgbClr val="0000FF"/>
                </a:solidFill>
                <a:cs typeface="Calibri" panose="020F0502020204030204" pitchFamily="34" charset="0"/>
              </a:rPr>
              <a:t>剪枝：</a:t>
            </a:r>
            <a:r>
              <a:rPr lang="en-US" altLang="zh-CN" b="1" dirty="0" err="1">
                <a:solidFill>
                  <a:srgbClr val="0000FF"/>
                </a:solidFill>
                <a:cs typeface="Calibri" panose="020F0502020204030204" pitchFamily="34" charset="0"/>
              </a:rPr>
              <a:t>e.vno</a:t>
            </a:r>
            <a:r>
              <a:rPr lang="zh-CN" altLang="zh-CN" b="1" dirty="0">
                <a:solidFill>
                  <a:srgbClr val="0000FF"/>
                </a:solidFill>
                <a:cs typeface="Calibri" panose="020F0502020204030204" pitchFamily="34" charset="0"/>
              </a:rPr>
              <a:t>到顶点</a:t>
            </a:r>
            <a:r>
              <a:rPr lang="en-US" altLang="zh-CN" b="1" dirty="0">
                <a:solidFill>
                  <a:srgbClr val="0000FF"/>
                </a:solidFill>
                <a:cs typeface="Calibri" panose="020F0502020204030204" pitchFamily="34" charset="0"/>
              </a:rPr>
              <a:t>j</a:t>
            </a:r>
            <a:r>
              <a:rPr lang="zh-CN" altLang="zh-CN" b="1" dirty="0">
                <a:solidFill>
                  <a:srgbClr val="0000FF"/>
                </a:solidFill>
                <a:cs typeface="Calibri" panose="020F0502020204030204" pitchFamily="34" charset="0"/>
              </a:rPr>
              <a:t>有边并且路径长度更短</a:t>
            </a: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dist</a:t>
            </a:r>
            <a:r>
              <a:rPr lang="en-US" altLang="zh-CN" b="1" dirty="0">
                <a:solidFill>
                  <a:srgbClr val="0000FF"/>
                </a:solidFill>
                <a:cs typeface="Calibri" panose="020F0502020204030204" pitchFamily="34" charset="0"/>
              </a:rPr>
              <a:t>[j]=</a:t>
            </a:r>
            <a:r>
              <a:rPr lang="en-US" altLang="zh-CN" b="1" dirty="0" err="1">
                <a:solidFill>
                  <a:srgbClr val="0000FF"/>
                </a:solidFill>
                <a:cs typeface="Calibri" panose="020F0502020204030204" pitchFamily="34" charset="0"/>
              </a:rPr>
              <a:t>e.length+a</a:t>
            </a:r>
            <a:r>
              <a:rPr lang="en-US" altLang="zh-CN" b="1" dirty="0">
                <a:solidFill>
                  <a:srgbClr val="0000FF"/>
                </a:solidFill>
                <a:cs typeface="Calibri" panose="020F0502020204030204" pitchFamily="34" charset="0"/>
              </a:rPr>
              <a:t>[</a:t>
            </a:r>
            <a:r>
              <a:rPr lang="en-US" altLang="zh-CN" b="1" dirty="0" err="1">
                <a:solidFill>
                  <a:srgbClr val="0000FF"/>
                </a:solidFill>
                <a:cs typeface="Calibri" panose="020F0502020204030204" pitchFamily="34" charset="0"/>
              </a:rPr>
              <a:t>e.vno</a:t>
            </a:r>
            <a:r>
              <a:rPr lang="en-US" altLang="zh-CN" b="1" dirty="0">
                <a:solidFill>
                  <a:srgbClr val="0000FF"/>
                </a:solidFill>
                <a:cs typeface="Calibri" panose="020F0502020204030204" pitchFamily="34" charset="0"/>
              </a:rPr>
              <a:t>][j];</a:t>
            </a: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prev</a:t>
            </a:r>
            <a:r>
              <a:rPr lang="en-US" altLang="zh-CN" b="1" dirty="0">
                <a:solidFill>
                  <a:srgbClr val="0000FF"/>
                </a:solidFill>
                <a:cs typeface="Calibri" panose="020F0502020204030204" pitchFamily="34" charset="0"/>
              </a:rPr>
              <a:t>[j]=</a:t>
            </a:r>
            <a:r>
              <a:rPr lang="en-US" altLang="zh-CN" b="1" dirty="0" err="1">
                <a:solidFill>
                  <a:srgbClr val="0000FF"/>
                </a:solidFill>
                <a:cs typeface="Calibri" panose="020F0502020204030204" pitchFamily="34" charset="0"/>
              </a:rPr>
              <a:t>e.vno</a:t>
            </a:r>
            <a:r>
              <a:rPr lang="en-US" altLang="zh-CN" b="1" dirty="0">
                <a:solidFill>
                  <a:srgbClr val="0000FF"/>
                </a:solidFill>
                <a:cs typeface="Calibri" panose="020F0502020204030204" pitchFamily="34" charset="0"/>
              </a:rPr>
              <a:t>;</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e1.vno=j;			//</a:t>
            </a:r>
            <a:r>
              <a:rPr lang="zh-CN" altLang="zh-CN" b="1" dirty="0">
                <a:solidFill>
                  <a:srgbClr val="0000FF"/>
                </a:solidFill>
                <a:cs typeface="Calibri" panose="020F0502020204030204" pitchFamily="34" charset="0"/>
              </a:rPr>
              <a:t>建立相邻顶点</a:t>
            </a:r>
            <a:r>
              <a:rPr lang="en-US" altLang="zh-CN" b="1" dirty="0">
                <a:solidFill>
                  <a:srgbClr val="0000FF"/>
                </a:solidFill>
                <a:cs typeface="Calibri" panose="020F0502020204030204" pitchFamily="34" charset="0"/>
              </a:rPr>
              <a:t>j</a:t>
            </a:r>
            <a:r>
              <a:rPr lang="zh-CN" altLang="zh-CN" b="1" dirty="0">
                <a:solidFill>
                  <a:srgbClr val="0000FF"/>
                </a:solidFill>
                <a:cs typeface="Calibri" panose="020F0502020204030204" pitchFamily="34" charset="0"/>
              </a:rPr>
              <a:t>的结点</a:t>
            </a:r>
            <a:r>
              <a:rPr lang="en-US" altLang="zh-CN" b="1" dirty="0">
                <a:solidFill>
                  <a:srgbClr val="0000FF"/>
                </a:solidFill>
                <a:cs typeface="Calibri" panose="020F0502020204030204" pitchFamily="34" charset="0"/>
              </a:rPr>
              <a:t>e1</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e1.length=</a:t>
            </a:r>
            <a:r>
              <a:rPr lang="en-US" altLang="zh-CN" b="1" dirty="0" err="1">
                <a:solidFill>
                  <a:srgbClr val="0000FF"/>
                </a:solidFill>
                <a:cs typeface="Calibri" panose="020F0502020204030204" pitchFamily="34" charset="0"/>
              </a:rPr>
              <a:t>dist</a:t>
            </a:r>
            <a:r>
              <a:rPr lang="en-US" altLang="zh-CN" b="1" dirty="0">
                <a:solidFill>
                  <a:srgbClr val="0000FF"/>
                </a:solidFill>
                <a:cs typeface="Calibri" panose="020F0502020204030204" pitchFamily="34" charset="0"/>
              </a:rPr>
              <a:t>[j];</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r>
              <a:rPr lang="en-US" altLang="zh-CN" b="1" dirty="0" err="1">
                <a:solidFill>
                  <a:srgbClr val="0000FF"/>
                </a:solidFill>
                <a:cs typeface="Calibri" panose="020F0502020204030204" pitchFamily="34" charset="0"/>
              </a:rPr>
              <a:t>pqu.push</a:t>
            </a:r>
            <a:r>
              <a:rPr lang="en-US" altLang="zh-CN" b="1" dirty="0">
                <a:solidFill>
                  <a:srgbClr val="0000FF"/>
                </a:solidFill>
                <a:cs typeface="Calibri" panose="020F0502020204030204" pitchFamily="34" charset="0"/>
              </a:rPr>
              <a:t>(e1);		//</a:t>
            </a:r>
            <a:r>
              <a:rPr lang="zh-CN" altLang="zh-CN" b="1" dirty="0">
                <a:solidFill>
                  <a:srgbClr val="0000FF"/>
                </a:solidFill>
                <a:cs typeface="Calibri" panose="020F0502020204030204" pitchFamily="34" charset="0"/>
              </a:rPr>
              <a:t>结点</a:t>
            </a:r>
            <a:r>
              <a:rPr lang="en-US" altLang="zh-CN" b="1" dirty="0">
                <a:solidFill>
                  <a:srgbClr val="0000FF"/>
                </a:solidFill>
                <a:cs typeface="Calibri" panose="020F0502020204030204" pitchFamily="34" charset="0"/>
              </a:rPr>
              <a:t>e1</a:t>
            </a:r>
            <a:r>
              <a:rPr lang="zh-CN" altLang="zh-CN" b="1" dirty="0">
                <a:solidFill>
                  <a:srgbClr val="0000FF"/>
                </a:solidFill>
                <a:cs typeface="Calibri" panose="020F0502020204030204" pitchFamily="34" charset="0"/>
              </a:rPr>
              <a:t>进队</a:t>
            </a:r>
            <a:endParaRPr lang="en-US"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  }</a:t>
            </a:r>
            <a:endParaRPr lang="zh-CN" altLang="zh-CN" b="1" dirty="0">
              <a:solidFill>
                <a:srgbClr val="0000FF"/>
              </a:solidFill>
              <a:cs typeface="Calibri" panose="020F0502020204030204" pitchFamily="34" charset="0"/>
            </a:endParaRPr>
          </a:p>
          <a:p>
            <a:pPr eaLnBrk="1" fontAlgn="auto" hangingPunct="1">
              <a:spcBef>
                <a:spcPts val="0"/>
              </a:spcBef>
              <a:spcAft>
                <a:spcPts val="0"/>
              </a:spcAft>
              <a:defRPr/>
            </a:pPr>
            <a:r>
              <a:rPr lang="en-US" altLang="zh-CN" b="1" dirty="0">
                <a:solidFill>
                  <a:srgbClr val="0000FF"/>
                </a:solidFill>
                <a:cs typeface="Calibri" panose="020F0502020204030204" pitchFamily="34" charset="0"/>
              </a:rPr>
              <a:t>}</a:t>
            </a:r>
            <a:endParaRPr lang="zh-CN" altLang="zh-CN" b="1" dirty="0">
              <a:solidFill>
                <a:srgbClr val="0000FF"/>
              </a:solidFill>
              <a:cs typeface="Calibri" panose="020F0502020204030204"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圆角矩形 1">
            <a:extLst>
              <a:ext uri="{FF2B5EF4-FFF2-40B4-BE49-F238E27FC236}">
                <a16:creationId xmlns:a16="http://schemas.microsoft.com/office/drawing/2014/main" id="{CC7BB500-72D1-B1B6-97F6-C1D3FEE2AC95}"/>
              </a:ext>
            </a:extLst>
          </p:cNvPr>
          <p:cNvSpPr/>
          <p:nvPr/>
        </p:nvSpPr>
        <p:spPr>
          <a:xfrm>
            <a:off x="7381875" y="501650"/>
            <a:ext cx="714375" cy="428625"/>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0</a:t>
            </a:r>
            <a:r>
              <a:rPr lang="en-US" altLang="zh-CN" b="1">
                <a:solidFill>
                  <a:srgbClr val="0000FF"/>
                </a:solidFill>
                <a:latin typeface="Consolas" pitchFamily="49" charset="0"/>
                <a:cs typeface="Consolas" pitchFamily="49" charset="0"/>
              </a:rPr>
              <a:t>,0</a:t>
            </a:r>
            <a:endParaRPr lang="zh-CN" altLang="en-US" b="1">
              <a:solidFill>
                <a:srgbClr val="0000FF"/>
              </a:solidFill>
              <a:latin typeface="Consolas" pitchFamily="49" charset="0"/>
              <a:cs typeface="Consolas" pitchFamily="49" charset="0"/>
            </a:endParaRPr>
          </a:p>
        </p:txBody>
      </p:sp>
      <p:sp>
        <p:nvSpPr>
          <p:cNvPr id="70659" name="TextBox 2">
            <a:extLst>
              <a:ext uri="{FF2B5EF4-FFF2-40B4-BE49-F238E27FC236}">
                <a16:creationId xmlns:a16="http://schemas.microsoft.com/office/drawing/2014/main" id="{ADC9DC77-7933-645D-6D62-3E260340B6A1}"/>
              </a:ext>
            </a:extLst>
          </p:cNvPr>
          <p:cNvSpPr txBox="1">
            <a:spLocks noChangeArrowheads="1"/>
          </p:cNvSpPr>
          <p:nvPr/>
        </p:nvSpPr>
        <p:spPr bwMode="auto">
          <a:xfrm>
            <a:off x="4379913" y="358775"/>
            <a:ext cx="2286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zh-CN" sz="2000" b="1">
                <a:solidFill>
                  <a:srgbClr val="C00000"/>
                </a:solidFill>
                <a:latin typeface="Times New Roman" panose="02020603050405020304" pitchFamily="18" charset="0"/>
                <a:ea typeface="楷体" panose="02010609060101010101" pitchFamily="49" charset="-122"/>
                <a:cs typeface="Times New Roman" panose="02020603050405020304" pitchFamily="18" charset="0"/>
              </a:rPr>
              <a:t>顶点编号</a:t>
            </a:r>
            <a:r>
              <a:rPr lang="zh-CN" altLang="zh-CN" sz="2000" b="1">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a:solidFill>
                  <a:srgbClr val="0000FF"/>
                </a:solidFill>
                <a:latin typeface="Times New Roman" panose="02020603050405020304" pitchFamily="18" charset="0"/>
                <a:ea typeface="楷体" panose="02010609060101010101" pitchFamily="49" charset="-122"/>
                <a:cs typeface="Times New Roman" panose="02020603050405020304" pitchFamily="18" charset="0"/>
              </a:rPr>
              <a:t>length</a:t>
            </a:r>
            <a:endParaRPr lang="zh-CN" altLang="en-US" sz="2000" b="1">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0660" name="TextBox 3">
            <a:extLst>
              <a:ext uri="{FF2B5EF4-FFF2-40B4-BE49-F238E27FC236}">
                <a16:creationId xmlns:a16="http://schemas.microsoft.com/office/drawing/2014/main" id="{8A4138D4-2F52-2B2E-9CC5-DCDD63F698F2}"/>
              </a:ext>
            </a:extLst>
          </p:cNvPr>
          <p:cNvSpPr txBox="1">
            <a:spLocks noChangeArrowheads="1"/>
          </p:cNvSpPr>
          <p:nvPr/>
        </p:nvSpPr>
        <p:spPr bwMode="auto">
          <a:xfrm>
            <a:off x="8237538" y="501650"/>
            <a:ext cx="1501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00FF"/>
                </a:solidFill>
                <a:latin typeface="Consolas" panose="020B0609020204030204" pitchFamily="49" charset="0"/>
                <a:ea typeface="楷体_GB2312" pitchFamily="49" charset="-122"/>
              </a:rPr>
              <a:t>dist[</a:t>
            </a:r>
            <a:r>
              <a:rPr lang="en-US" altLang="zh-CN" b="1" i="1">
                <a:solidFill>
                  <a:srgbClr val="0000FF"/>
                </a:solidFill>
                <a:latin typeface="Consolas" panose="020B0609020204030204" pitchFamily="49" charset="0"/>
                <a:ea typeface="楷体_GB2312" pitchFamily="49" charset="-122"/>
              </a:rPr>
              <a:t>i</a:t>
            </a:r>
            <a:r>
              <a:rPr lang="en-US" altLang="zh-CN" b="1">
                <a:solidFill>
                  <a:srgbClr val="0000FF"/>
                </a:solidFill>
                <a:latin typeface="Consolas" panose="020B0609020204030204" pitchFamily="49" charset="0"/>
                <a:ea typeface="楷体_GB2312" pitchFamily="49" charset="-122"/>
              </a:rPr>
              <a:t>]=</a:t>
            </a:r>
            <a:r>
              <a:rPr lang="zh-CN" altLang="zh-CN" b="1">
                <a:solidFill>
                  <a:srgbClr val="0000FF"/>
                </a:solidFill>
                <a:latin typeface="Consolas" panose="020B0609020204030204" pitchFamily="49" charset="0"/>
                <a:ea typeface="楷体_GB2312" pitchFamily="49" charset="-122"/>
              </a:rPr>
              <a:t>∞</a:t>
            </a:r>
          </a:p>
        </p:txBody>
      </p:sp>
      <p:grpSp>
        <p:nvGrpSpPr>
          <p:cNvPr id="70661" name="组合 28">
            <a:extLst>
              <a:ext uri="{FF2B5EF4-FFF2-40B4-BE49-F238E27FC236}">
                <a16:creationId xmlns:a16="http://schemas.microsoft.com/office/drawing/2014/main" id="{88620CA7-FD90-F263-D5BD-C391913E6096}"/>
              </a:ext>
            </a:extLst>
          </p:cNvPr>
          <p:cNvGrpSpPr>
            <a:grpSpLocks/>
          </p:cNvGrpSpPr>
          <p:nvPr/>
        </p:nvGrpSpPr>
        <p:grpSpPr bwMode="auto">
          <a:xfrm>
            <a:off x="733269" y="1097720"/>
            <a:ext cx="2071687" cy="2038350"/>
            <a:chOff x="4357686" y="1891224"/>
            <a:chExt cx="2571768" cy="2680784"/>
          </a:xfrm>
        </p:grpSpPr>
        <p:sp>
          <p:nvSpPr>
            <p:cNvPr id="6" name="椭圆 5">
              <a:extLst>
                <a:ext uri="{FF2B5EF4-FFF2-40B4-BE49-F238E27FC236}">
                  <a16:creationId xmlns:a16="http://schemas.microsoft.com/office/drawing/2014/main" id="{96B25685-5643-1F34-BD9F-3487EAACAC1B}"/>
                </a:ext>
              </a:extLst>
            </p:cNvPr>
            <p:cNvSpPr/>
            <p:nvPr/>
          </p:nvSpPr>
          <p:spPr>
            <a:xfrm>
              <a:off x="4357686" y="3070852"/>
              <a:ext cx="429613" cy="43009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0</a:t>
              </a:r>
              <a:endParaRPr lang="zh-CN" altLang="en-US" sz="2000" b="1">
                <a:solidFill>
                  <a:srgbClr val="0000FF"/>
                </a:solidFill>
                <a:latin typeface="Consolas" pitchFamily="49" charset="0"/>
                <a:cs typeface="Consolas" pitchFamily="49" charset="0"/>
              </a:endParaRPr>
            </a:p>
          </p:txBody>
        </p:sp>
        <p:sp>
          <p:nvSpPr>
            <p:cNvPr id="7" name="椭圆 6">
              <a:extLst>
                <a:ext uri="{FF2B5EF4-FFF2-40B4-BE49-F238E27FC236}">
                  <a16:creationId xmlns:a16="http://schemas.microsoft.com/office/drawing/2014/main" id="{FD2CB073-44AE-B954-5F41-AF5CE33E229C}"/>
                </a:ext>
              </a:extLst>
            </p:cNvPr>
            <p:cNvSpPr/>
            <p:nvPr/>
          </p:nvSpPr>
          <p:spPr>
            <a:xfrm>
              <a:off x="5358804" y="2070778"/>
              <a:ext cx="427642" cy="4300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2</a:t>
              </a:r>
              <a:endParaRPr lang="zh-CN" altLang="en-US" sz="2000" b="1">
                <a:solidFill>
                  <a:srgbClr val="0000FF"/>
                </a:solidFill>
                <a:latin typeface="Consolas" pitchFamily="49" charset="0"/>
                <a:cs typeface="Consolas" pitchFamily="49" charset="0"/>
              </a:endParaRPr>
            </a:p>
          </p:txBody>
        </p:sp>
        <p:sp>
          <p:nvSpPr>
            <p:cNvPr id="8" name="椭圆 7">
              <a:extLst>
                <a:ext uri="{FF2B5EF4-FFF2-40B4-BE49-F238E27FC236}">
                  <a16:creationId xmlns:a16="http://schemas.microsoft.com/office/drawing/2014/main" id="{A13D8C02-54BA-4E1A-2AB9-F9609F4F86E2}"/>
                </a:ext>
              </a:extLst>
            </p:cNvPr>
            <p:cNvSpPr/>
            <p:nvPr/>
          </p:nvSpPr>
          <p:spPr>
            <a:xfrm>
              <a:off x="5358804" y="3070852"/>
              <a:ext cx="427642" cy="4300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4</a:t>
              </a:r>
              <a:endParaRPr lang="zh-CN" altLang="en-US" sz="2000" b="1">
                <a:solidFill>
                  <a:srgbClr val="0000FF"/>
                </a:solidFill>
                <a:latin typeface="Consolas" pitchFamily="49" charset="0"/>
                <a:cs typeface="Consolas" pitchFamily="49" charset="0"/>
              </a:endParaRPr>
            </a:p>
          </p:txBody>
        </p:sp>
        <p:sp>
          <p:nvSpPr>
            <p:cNvPr id="9" name="椭圆 8">
              <a:extLst>
                <a:ext uri="{FF2B5EF4-FFF2-40B4-BE49-F238E27FC236}">
                  <a16:creationId xmlns:a16="http://schemas.microsoft.com/office/drawing/2014/main" id="{E9AECAC8-A129-9F93-A982-8FD6560742F9}"/>
                </a:ext>
              </a:extLst>
            </p:cNvPr>
            <p:cNvSpPr/>
            <p:nvPr/>
          </p:nvSpPr>
          <p:spPr>
            <a:xfrm>
              <a:off x="6501812" y="3070852"/>
              <a:ext cx="427642" cy="4300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3</a:t>
              </a:r>
              <a:endParaRPr lang="zh-CN" altLang="en-US" sz="2000" b="1">
                <a:solidFill>
                  <a:srgbClr val="0000FF"/>
                </a:solidFill>
                <a:latin typeface="Consolas" pitchFamily="49" charset="0"/>
                <a:cs typeface="Consolas" pitchFamily="49" charset="0"/>
              </a:endParaRPr>
            </a:p>
          </p:txBody>
        </p:sp>
        <p:sp>
          <p:nvSpPr>
            <p:cNvPr id="10" name="椭圆 9">
              <a:extLst>
                <a:ext uri="{FF2B5EF4-FFF2-40B4-BE49-F238E27FC236}">
                  <a16:creationId xmlns:a16="http://schemas.microsoft.com/office/drawing/2014/main" id="{7D64414F-3536-467B-7BBD-A19FAE53C6EB}"/>
                </a:ext>
              </a:extLst>
            </p:cNvPr>
            <p:cNvSpPr/>
            <p:nvPr/>
          </p:nvSpPr>
          <p:spPr>
            <a:xfrm>
              <a:off x="5358804" y="4144001"/>
              <a:ext cx="427642" cy="42800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5</a:t>
              </a:r>
              <a:endParaRPr lang="zh-CN" altLang="en-US" sz="2000" b="1">
                <a:solidFill>
                  <a:srgbClr val="0000FF"/>
                </a:solidFill>
                <a:latin typeface="Consolas" pitchFamily="49" charset="0"/>
                <a:cs typeface="Consolas" pitchFamily="49" charset="0"/>
              </a:endParaRPr>
            </a:p>
          </p:txBody>
        </p:sp>
        <p:sp>
          <p:nvSpPr>
            <p:cNvPr id="11" name="椭圆 10">
              <a:extLst>
                <a:ext uri="{FF2B5EF4-FFF2-40B4-BE49-F238E27FC236}">
                  <a16:creationId xmlns:a16="http://schemas.microsoft.com/office/drawing/2014/main" id="{41726F2D-D21A-B8FF-C0AB-567ECB85AEF6}"/>
                </a:ext>
              </a:extLst>
            </p:cNvPr>
            <p:cNvSpPr/>
            <p:nvPr/>
          </p:nvSpPr>
          <p:spPr>
            <a:xfrm>
              <a:off x="6501812" y="2070778"/>
              <a:ext cx="427642" cy="4300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000" b="1">
                  <a:solidFill>
                    <a:srgbClr val="0000FF"/>
                  </a:solidFill>
                  <a:latin typeface="Consolas" pitchFamily="49" charset="0"/>
                  <a:cs typeface="Consolas" pitchFamily="49" charset="0"/>
                </a:rPr>
                <a:t>1</a:t>
              </a:r>
              <a:endParaRPr lang="zh-CN" altLang="en-US" sz="2000" b="1">
                <a:solidFill>
                  <a:srgbClr val="0000FF"/>
                </a:solidFill>
                <a:latin typeface="Consolas" pitchFamily="49" charset="0"/>
                <a:cs typeface="Consolas" pitchFamily="49" charset="0"/>
              </a:endParaRPr>
            </a:p>
          </p:txBody>
        </p:sp>
        <p:cxnSp>
          <p:nvCxnSpPr>
            <p:cNvPr id="12" name="直接箭头连接符 11">
              <a:extLst>
                <a:ext uri="{FF2B5EF4-FFF2-40B4-BE49-F238E27FC236}">
                  <a16:creationId xmlns:a16="http://schemas.microsoft.com/office/drawing/2014/main" id="{A840F454-E7CB-593F-7665-92B3C2F96F3E}"/>
                </a:ext>
              </a:extLst>
            </p:cNvPr>
            <p:cNvCxnSpPr>
              <a:stCxn id="6" idx="7"/>
              <a:endCxn id="7" idx="3"/>
            </p:cNvCxnSpPr>
            <p:nvPr/>
          </p:nvCxnSpPr>
          <p:spPr>
            <a:xfrm rot="5400000" flipH="1" flipV="1">
              <a:off x="4723397" y="2439078"/>
              <a:ext cx="697338" cy="69565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0711" name="TextBox 12">
              <a:extLst>
                <a:ext uri="{FF2B5EF4-FFF2-40B4-BE49-F238E27FC236}">
                  <a16:creationId xmlns:a16="http://schemas.microsoft.com/office/drawing/2014/main" id="{21D01AC1-663B-C700-1DE5-177B5E0A9685}"/>
                </a:ext>
              </a:extLst>
            </p:cNvPr>
            <p:cNvSpPr txBox="1">
              <a:spLocks noChangeArrowheads="1"/>
            </p:cNvSpPr>
            <p:nvPr/>
          </p:nvSpPr>
          <p:spPr bwMode="auto">
            <a:xfrm>
              <a:off x="4643438" y="2428868"/>
              <a:ext cx="68974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10</a:t>
              </a:r>
              <a:endParaRPr lang="zh-CN" altLang="en-US" sz="1400" b="1">
                <a:solidFill>
                  <a:srgbClr val="0000FF"/>
                </a:solidFill>
                <a:latin typeface="Consolas" panose="020B0609020204030204" pitchFamily="49" charset="0"/>
                <a:ea typeface="楷体_GB2312" pitchFamily="49" charset="-122"/>
              </a:endParaRPr>
            </a:p>
          </p:txBody>
        </p:sp>
        <p:cxnSp>
          <p:nvCxnSpPr>
            <p:cNvPr id="14" name="直接箭头连接符 13">
              <a:extLst>
                <a:ext uri="{FF2B5EF4-FFF2-40B4-BE49-F238E27FC236}">
                  <a16:creationId xmlns:a16="http://schemas.microsoft.com/office/drawing/2014/main" id="{1E6576E3-3F2D-2055-CFDF-73054318FF2B}"/>
                </a:ext>
              </a:extLst>
            </p:cNvPr>
            <p:cNvCxnSpPr>
              <a:stCxn id="6" idx="5"/>
              <a:endCxn id="10" idx="1"/>
            </p:cNvCxnSpPr>
            <p:nvPr/>
          </p:nvCxnSpPr>
          <p:spPr>
            <a:xfrm rot="16200000" flipH="1">
              <a:off x="4687904" y="3474644"/>
              <a:ext cx="768324" cy="69565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5" name="直接箭头连接符 14">
              <a:extLst>
                <a:ext uri="{FF2B5EF4-FFF2-40B4-BE49-F238E27FC236}">
                  <a16:creationId xmlns:a16="http://schemas.microsoft.com/office/drawing/2014/main" id="{7FC0CC40-74C0-47BE-371C-A8A597F47ECB}"/>
                </a:ext>
              </a:extLst>
            </p:cNvPr>
            <p:cNvCxnSpPr>
              <a:stCxn id="6" idx="6"/>
              <a:endCxn id="8" idx="2"/>
            </p:cNvCxnSpPr>
            <p:nvPr/>
          </p:nvCxnSpPr>
          <p:spPr>
            <a:xfrm>
              <a:off x="4787299" y="3285900"/>
              <a:ext cx="571504" cy="20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6" name="直接箭头连接符 15">
              <a:extLst>
                <a:ext uri="{FF2B5EF4-FFF2-40B4-BE49-F238E27FC236}">
                  <a16:creationId xmlns:a16="http://schemas.microsoft.com/office/drawing/2014/main" id="{33B25B5B-97CC-55E9-0EEC-21FCC996CF6E}"/>
                </a:ext>
              </a:extLst>
            </p:cNvPr>
            <p:cNvCxnSpPr>
              <a:stCxn id="7" idx="5"/>
              <a:endCxn id="9" idx="1"/>
            </p:cNvCxnSpPr>
            <p:nvPr/>
          </p:nvCxnSpPr>
          <p:spPr>
            <a:xfrm rot="16200000" flipH="1">
              <a:off x="5794474" y="2367147"/>
              <a:ext cx="697338" cy="83952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7" name="直接箭头连接符 16">
              <a:extLst>
                <a:ext uri="{FF2B5EF4-FFF2-40B4-BE49-F238E27FC236}">
                  <a16:creationId xmlns:a16="http://schemas.microsoft.com/office/drawing/2014/main" id="{0F95888B-503D-6144-1BF6-BA5CB7CACCEC}"/>
                </a:ext>
              </a:extLst>
            </p:cNvPr>
            <p:cNvCxnSpPr>
              <a:stCxn id="8" idx="6"/>
              <a:endCxn id="9" idx="2"/>
            </p:cNvCxnSpPr>
            <p:nvPr/>
          </p:nvCxnSpPr>
          <p:spPr>
            <a:xfrm>
              <a:off x="5786446" y="3285900"/>
              <a:ext cx="715366" cy="20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8" name="直接箭头连接符 17">
              <a:extLst>
                <a:ext uri="{FF2B5EF4-FFF2-40B4-BE49-F238E27FC236}">
                  <a16:creationId xmlns:a16="http://schemas.microsoft.com/office/drawing/2014/main" id="{7F35EE54-7A2E-7D34-0F85-626A79299D3B}"/>
                </a:ext>
              </a:extLst>
            </p:cNvPr>
            <p:cNvCxnSpPr>
              <a:stCxn id="9" idx="3"/>
              <a:endCxn id="10" idx="7"/>
            </p:cNvCxnSpPr>
            <p:nvPr/>
          </p:nvCxnSpPr>
          <p:spPr>
            <a:xfrm rot="5400000">
              <a:off x="5758982" y="3402713"/>
              <a:ext cx="768324" cy="83952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直接箭头连接符 18">
              <a:extLst>
                <a:ext uri="{FF2B5EF4-FFF2-40B4-BE49-F238E27FC236}">
                  <a16:creationId xmlns:a16="http://schemas.microsoft.com/office/drawing/2014/main" id="{341AD015-A1D3-EFF6-D24F-7107721FB540}"/>
                </a:ext>
              </a:extLst>
            </p:cNvPr>
            <p:cNvCxnSpPr>
              <a:stCxn id="11" idx="2"/>
              <a:endCxn id="7" idx="6"/>
            </p:cNvCxnSpPr>
            <p:nvPr/>
          </p:nvCxnSpPr>
          <p:spPr>
            <a:xfrm rot="10800000">
              <a:off x="5786446" y="2285825"/>
              <a:ext cx="715366" cy="20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0" name="直接箭头连接符 19">
              <a:extLst>
                <a:ext uri="{FF2B5EF4-FFF2-40B4-BE49-F238E27FC236}">
                  <a16:creationId xmlns:a16="http://schemas.microsoft.com/office/drawing/2014/main" id="{DD7B7380-152F-5E93-8C3C-A5FD9D06D8FD}"/>
                </a:ext>
              </a:extLst>
            </p:cNvPr>
            <p:cNvCxnSpPr>
              <a:stCxn id="8" idx="4"/>
              <a:endCxn id="10" idx="0"/>
            </p:cNvCxnSpPr>
            <p:nvPr/>
          </p:nvCxnSpPr>
          <p:spPr>
            <a:xfrm rot="5400000">
              <a:off x="5251098" y="3821488"/>
              <a:ext cx="643054" cy="197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0719" name="TextBox 20">
              <a:extLst>
                <a:ext uri="{FF2B5EF4-FFF2-40B4-BE49-F238E27FC236}">
                  <a16:creationId xmlns:a16="http://schemas.microsoft.com/office/drawing/2014/main" id="{2740EDF6-0F92-A96E-B493-FF8EF3BD3AC3}"/>
                </a:ext>
              </a:extLst>
            </p:cNvPr>
            <p:cNvSpPr txBox="1">
              <a:spLocks noChangeArrowheads="1"/>
            </p:cNvSpPr>
            <p:nvPr/>
          </p:nvSpPr>
          <p:spPr bwMode="auto">
            <a:xfrm>
              <a:off x="4857752" y="2916792"/>
              <a:ext cx="50006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30</a:t>
              </a:r>
              <a:endParaRPr lang="zh-CN" altLang="en-US" sz="1400" b="1">
                <a:solidFill>
                  <a:srgbClr val="0000FF"/>
                </a:solidFill>
                <a:latin typeface="Consolas" panose="020B0609020204030204" pitchFamily="49" charset="0"/>
                <a:ea typeface="楷体_GB2312" pitchFamily="49" charset="-122"/>
              </a:endParaRPr>
            </a:p>
          </p:txBody>
        </p:sp>
        <p:sp>
          <p:nvSpPr>
            <p:cNvPr id="70720" name="TextBox 21">
              <a:extLst>
                <a:ext uri="{FF2B5EF4-FFF2-40B4-BE49-F238E27FC236}">
                  <a16:creationId xmlns:a16="http://schemas.microsoft.com/office/drawing/2014/main" id="{6D480468-AC32-AD84-8DD3-E9F2C0CDF06D}"/>
                </a:ext>
              </a:extLst>
            </p:cNvPr>
            <p:cNvSpPr txBox="1">
              <a:spLocks noChangeArrowheads="1"/>
            </p:cNvSpPr>
            <p:nvPr/>
          </p:nvSpPr>
          <p:spPr bwMode="auto">
            <a:xfrm>
              <a:off x="4643438" y="3702610"/>
              <a:ext cx="50006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100</a:t>
              </a:r>
              <a:endParaRPr lang="zh-CN" altLang="en-US" sz="1400" b="1">
                <a:solidFill>
                  <a:srgbClr val="0000FF"/>
                </a:solidFill>
                <a:latin typeface="Consolas" panose="020B0609020204030204" pitchFamily="49" charset="0"/>
                <a:ea typeface="楷体_GB2312" pitchFamily="49" charset="-122"/>
              </a:endParaRPr>
            </a:p>
          </p:txBody>
        </p:sp>
        <p:sp>
          <p:nvSpPr>
            <p:cNvPr id="70721" name="TextBox 22">
              <a:extLst>
                <a:ext uri="{FF2B5EF4-FFF2-40B4-BE49-F238E27FC236}">
                  <a16:creationId xmlns:a16="http://schemas.microsoft.com/office/drawing/2014/main" id="{DA15E971-49A3-E3D7-B9F3-2D566ED76DD1}"/>
                </a:ext>
              </a:extLst>
            </p:cNvPr>
            <p:cNvSpPr txBox="1">
              <a:spLocks noChangeArrowheads="1"/>
            </p:cNvSpPr>
            <p:nvPr/>
          </p:nvSpPr>
          <p:spPr bwMode="auto">
            <a:xfrm>
              <a:off x="5525746" y="3534683"/>
              <a:ext cx="50006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60</a:t>
              </a:r>
              <a:endParaRPr lang="zh-CN" altLang="en-US" sz="1400" b="1">
                <a:solidFill>
                  <a:srgbClr val="0000FF"/>
                </a:solidFill>
                <a:latin typeface="Consolas" panose="020B0609020204030204" pitchFamily="49" charset="0"/>
                <a:ea typeface="楷体_GB2312" pitchFamily="49" charset="-122"/>
              </a:endParaRPr>
            </a:p>
          </p:txBody>
        </p:sp>
        <p:sp>
          <p:nvSpPr>
            <p:cNvPr id="70722" name="TextBox 23">
              <a:extLst>
                <a:ext uri="{FF2B5EF4-FFF2-40B4-BE49-F238E27FC236}">
                  <a16:creationId xmlns:a16="http://schemas.microsoft.com/office/drawing/2014/main" id="{8B981A18-84F5-EBDC-CA7D-2E0D14A60621}"/>
                </a:ext>
              </a:extLst>
            </p:cNvPr>
            <p:cNvSpPr txBox="1">
              <a:spLocks noChangeArrowheads="1"/>
            </p:cNvSpPr>
            <p:nvPr/>
          </p:nvSpPr>
          <p:spPr bwMode="auto">
            <a:xfrm>
              <a:off x="5773920" y="2643566"/>
              <a:ext cx="50006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50</a:t>
              </a:r>
              <a:endParaRPr lang="zh-CN" altLang="en-US" sz="1400" b="1">
                <a:solidFill>
                  <a:srgbClr val="0000FF"/>
                </a:solidFill>
                <a:latin typeface="Consolas" panose="020B0609020204030204" pitchFamily="49" charset="0"/>
                <a:ea typeface="楷体_GB2312" pitchFamily="49" charset="-122"/>
              </a:endParaRPr>
            </a:p>
          </p:txBody>
        </p:sp>
        <p:sp>
          <p:nvSpPr>
            <p:cNvPr id="70723" name="TextBox 24">
              <a:extLst>
                <a:ext uri="{FF2B5EF4-FFF2-40B4-BE49-F238E27FC236}">
                  <a16:creationId xmlns:a16="http://schemas.microsoft.com/office/drawing/2014/main" id="{B91267E4-9FF6-99D2-44E4-7EB29F95D722}"/>
                </a:ext>
              </a:extLst>
            </p:cNvPr>
            <p:cNvSpPr txBox="1">
              <a:spLocks noChangeArrowheads="1"/>
            </p:cNvSpPr>
            <p:nvPr/>
          </p:nvSpPr>
          <p:spPr bwMode="auto">
            <a:xfrm>
              <a:off x="5954374" y="1891224"/>
              <a:ext cx="50006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4</a:t>
              </a:r>
              <a:endParaRPr lang="zh-CN" altLang="en-US" sz="1400" b="1">
                <a:solidFill>
                  <a:srgbClr val="0000FF"/>
                </a:solidFill>
                <a:latin typeface="Consolas" panose="020B0609020204030204" pitchFamily="49" charset="0"/>
                <a:ea typeface="楷体_GB2312" pitchFamily="49" charset="-122"/>
              </a:endParaRPr>
            </a:p>
          </p:txBody>
        </p:sp>
        <p:sp>
          <p:nvSpPr>
            <p:cNvPr id="70724" name="TextBox 25">
              <a:extLst>
                <a:ext uri="{FF2B5EF4-FFF2-40B4-BE49-F238E27FC236}">
                  <a16:creationId xmlns:a16="http://schemas.microsoft.com/office/drawing/2014/main" id="{A3533916-E6A9-F615-7B75-DD18960E19DA}"/>
                </a:ext>
              </a:extLst>
            </p:cNvPr>
            <p:cNvSpPr txBox="1">
              <a:spLocks noChangeArrowheads="1"/>
            </p:cNvSpPr>
            <p:nvPr/>
          </p:nvSpPr>
          <p:spPr bwMode="auto">
            <a:xfrm>
              <a:off x="6143636" y="3774049"/>
              <a:ext cx="50006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10</a:t>
              </a:r>
              <a:endParaRPr lang="zh-CN" altLang="en-US" sz="1400" b="1">
                <a:solidFill>
                  <a:srgbClr val="0000FF"/>
                </a:solidFill>
                <a:latin typeface="Consolas" panose="020B0609020204030204" pitchFamily="49" charset="0"/>
                <a:ea typeface="楷体_GB2312" pitchFamily="49" charset="-122"/>
              </a:endParaRPr>
            </a:p>
          </p:txBody>
        </p:sp>
        <p:sp>
          <p:nvSpPr>
            <p:cNvPr id="70725" name="TextBox 26">
              <a:extLst>
                <a:ext uri="{FF2B5EF4-FFF2-40B4-BE49-F238E27FC236}">
                  <a16:creationId xmlns:a16="http://schemas.microsoft.com/office/drawing/2014/main" id="{EC83DBBC-30CB-5695-423C-E6BA0EAFFE51}"/>
                </a:ext>
              </a:extLst>
            </p:cNvPr>
            <p:cNvSpPr txBox="1">
              <a:spLocks noChangeArrowheads="1"/>
            </p:cNvSpPr>
            <p:nvPr/>
          </p:nvSpPr>
          <p:spPr bwMode="auto">
            <a:xfrm>
              <a:off x="5913793" y="3227212"/>
              <a:ext cx="500066" cy="40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400" b="1">
                  <a:solidFill>
                    <a:srgbClr val="0000FF"/>
                  </a:solidFill>
                  <a:latin typeface="Consolas" panose="020B0609020204030204" pitchFamily="49" charset="0"/>
                  <a:ea typeface="楷体_GB2312" pitchFamily="49" charset="-122"/>
                </a:rPr>
                <a:t>20</a:t>
              </a:r>
              <a:endParaRPr lang="zh-CN" altLang="en-US" sz="1400" b="1">
                <a:solidFill>
                  <a:srgbClr val="0000FF"/>
                </a:solidFill>
                <a:latin typeface="Consolas" panose="020B0609020204030204" pitchFamily="49" charset="0"/>
                <a:ea typeface="楷体_GB2312" pitchFamily="49" charset="-122"/>
              </a:endParaRPr>
            </a:p>
          </p:txBody>
        </p:sp>
      </p:grpSp>
      <p:sp>
        <p:nvSpPr>
          <p:cNvPr id="30" name="任意多边形 29">
            <a:extLst>
              <a:ext uri="{FF2B5EF4-FFF2-40B4-BE49-F238E27FC236}">
                <a16:creationId xmlns:a16="http://schemas.microsoft.com/office/drawing/2014/main" id="{72AED6B7-FF75-6FB8-950A-3C9D2DA6D4E3}"/>
              </a:ext>
            </a:extLst>
          </p:cNvPr>
          <p:cNvSpPr/>
          <p:nvPr/>
        </p:nvSpPr>
        <p:spPr>
          <a:xfrm>
            <a:off x="5710238" y="92075"/>
            <a:ext cx="2003425" cy="473075"/>
          </a:xfrm>
          <a:custGeom>
            <a:avLst/>
            <a:gdLst>
              <a:gd name="connsiteX0" fmla="*/ 0 w 2004165"/>
              <a:gd name="connsiteY0" fmla="*/ 311063 h 473901"/>
              <a:gd name="connsiteX1" fmla="*/ 576197 w 2004165"/>
              <a:gd name="connsiteY1" fmla="*/ 35490 h 473901"/>
              <a:gd name="connsiteX2" fmla="*/ 1753644 w 2004165"/>
              <a:gd name="connsiteY2" fmla="*/ 98120 h 473901"/>
              <a:gd name="connsiteX3" fmla="*/ 2004165 w 2004165"/>
              <a:gd name="connsiteY3" fmla="*/ 473901 h 473901"/>
            </a:gdLst>
            <a:ahLst/>
            <a:cxnLst>
              <a:cxn ang="0">
                <a:pos x="connsiteX0" y="connsiteY0"/>
              </a:cxn>
              <a:cxn ang="0">
                <a:pos x="connsiteX1" y="connsiteY1"/>
              </a:cxn>
              <a:cxn ang="0">
                <a:pos x="connsiteX2" y="connsiteY2"/>
              </a:cxn>
              <a:cxn ang="0">
                <a:pos x="connsiteX3" y="connsiteY3"/>
              </a:cxn>
            </a:cxnLst>
            <a:rect l="l" t="t" r="r" b="b"/>
            <a:pathLst>
              <a:path w="2004165" h="473901">
                <a:moveTo>
                  <a:pt x="0" y="311063"/>
                </a:moveTo>
                <a:cubicBezTo>
                  <a:pt x="141961" y="191022"/>
                  <a:pt x="283923" y="70981"/>
                  <a:pt x="576197" y="35490"/>
                </a:cubicBezTo>
                <a:cubicBezTo>
                  <a:pt x="868471" y="0"/>
                  <a:pt x="1515649" y="25052"/>
                  <a:pt x="1753644" y="98120"/>
                </a:cubicBezTo>
                <a:cubicBezTo>
                  <a:pt x="1991639" y="171189"/>
                  <a:pt x="1997902" y="322545"/>
                  <a:pt x="2004165" y="473901"/>
                </a:cubicBezTo>
              </a:path>
            </a:pathLst>
          </a:custGeom>
          <a:ln>
            <a:tailEnd type="arrow"/>
          </a:ln>
        </p:spPr>
        <p:style>
          <a:lnRef idx="2">
            <a:schemeClr val="dk1"/>
          </a:lnRef>
          <a:fillRef idx="0">
            <a:schemeClr val="dk1"/>
          </a:fillRef>
          <a:effectRef idx="1">
            <a:schemeClr val="dk1"/>
          </a:effectRef>
          <a:fontRef idx="minor">
            <a:schemeClr val="tx1"/>
          </a:fontRef>
        </p:style>
        <p:txBody>
          <a:bodyPr anchor="ctr"/>
          <a:lstStyle/>
          <a:p>
            <a:pPr algn="ctr" eaLnBrk="1" fontAlgn="auto" hangingPunct="1">
              <a:spcBef>
                <a:spcPts val="0"/>
              </a:spcBef>
              <a:spcAft>
                <a:spcPts val="0"/>
              </a:spcAft>
              <a:defRPr/>
            </a:pPr>
            <a:endParaRPr lang="zh-CN" altLang="en-US" b="1">
              <a:solidFill>
                <a:prstClr val="black"/>
              </a:solidFill>
            </a:endParaRPr>
          </a:p>
        </p:txBody>
      </p:sp>
      <p:grpSp>
        <p:nvGrpSpPr>
          <p:cNvPr id="29" name="组合 71">
            <a:extLst>
              <a:ext uri="{FF2B5EF4-FFF2-40B4-BE49-F238E27FC236}">
                <a16:creationId xmlns:a16="http://schemas.microsoft.com/office/drawing/2014/main" id="{E77A4556-0FD4-8385-0F4E-0E1FEA0C95FC}"/>
              </a:ext>
            </a:extLst>
          </p:cNvPr>
          <p:cNvGrpSpPr>
            <a:grpSpLocks/>
          </p:cNvGrpSpPr>
          <p:nvPr/>
        </p:nvGrpSpPr>
        <p:grpSpPr bwMode="auto">
          <a:xfrm>
            <a:off x="4381500" y="930275"/>
            <a:ext cx="3357563" cy="1571625"/>
            <a:chOff x="2857488" y="928669"/>
            <a:chExt cx="3357587" cy="1571637"/>
          </a:xfrm>
        </p:grpSpPr>
        <p:sp>
          <p:nvSpPr>
            <p:cNvPr id="70700" name="TextBox 30">
              <a:extLst>
                <a:ext uri="{FF2B5EF4-FFF2-40B4-BE49-F238E27FC236}">
                  <a16:creationId xmlns:a16="http://schemas.microsoft.com/office/drawing/2014/main" id="{5B5A7847-DBF5-4E53-9020-32AC3EF1F890}"/>
                </a:ext>
              </a:extLst>
            </p:cNvPr>
            <p:cNvSpPr txBox="1">
              <a:spLocks noChangeArrowheads="1"/>
            </p:cNvSpPr>
            <p:nvPr/>
          </p:nvSpPr>
          <p:spPr bwMode="auto">
            <a:xfrm>
              <a:off x="2857488" y="1669309"/>
              <a:ext cx="10715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600" b="1">
                  <a:solidFill>
                    <a:srgbClr val="0000FF"/>
                  </a:solidFill>
                  <a:latin typeface="Times New Roman" panose="02020603050405020304" pitchFamily="18" charset="0"/>
                  <a:ea typeface="楷体_GB2312" pitchFamily="49" charset="-122"/>
                </a:rPr>
                <a:t>0+10&lt;</a:t>
              </a:r>
              <a:r>
                <a:rPr lang="zh-CN" altLang="zh-CN" sz="1600" b="1">
                  <a:solidFill>
                    <a:srgbClr val="0000FF"/>
                  </a:solidFill>
                  <a:latin typeface="Times New Roman" panose="02020603050405020304" pitchFamily="18" charset="0"/>
                  <a:ea typeface="楷体_GB2312" pitchFamily="49" charset="-122"/>
                </a:rPr>
                <a:t>∞</a:t>
              </a:r>
              <a:r>
                <a:rPr lang="en-US" altLang="zh-CN" sz="1600" b="1">
                  <a:solidFill>
                    <a:srgbClr val="0000FF"/>
                  </a:solidFill>
                  <a:latin typeface="Times New Roman" panose="02020603050405020304" pitchFamily="18" charset="0"/>
                  <a:ea typeface="楷体_GB2312" pitchFamily="49" charset="-122"/>
                </a:rPr>
                <a:t>:</a:t>
              </a:r>
              <a:endParaRPr lang="zh-CN" altLang="zh-CN" sz="1600" b="1">
                <a:solidFill>
                  <a:srgbClr val="0000FF"/>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prev[2]=0</a:t>
              </a:r>
              <a:endParaRPr lang="zh-CN" altLang="zh-CN" sz="1600" b="1">
                <a:solidFill>
                  <a:srgbClr val="FF0000"/>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dist[2]=10</a:t>
              </a:r>
              <a:endParaRPr lang="zh-CN" altLang="zh-CN" sz="1600" b="1">
                <a:solidFill>
                  <a:srgbClr val="FF0000"/>
                </a:solidFill>
                <a:latin typeface="Times New Roman" panose="02020603050405020304" pitchFamily="18" charset="0"/>
                <a:ea typeface="楷体_GB2312" pitchFamily="49" charset="-122"/>
              </a:endParaRPr>
            </a:p>
          </p:txBody>
        </p:sp>
        <p:sp>
          <p:nvSpPr>
            <p:cNvPr id="5" name="圆角矩形 4">
              <a:extLst>
                <a:ext uri="{FF2B5EF4-FFF2-40B4-BE49-F238E27FC236}">
                  <a16:creationId xmlns:a16="http://schemas.microsoft.com/office/drawing/2014/main" id="{4DBBB7E2-343E-7BB9-67C9-DFE6CD7E0604}"/>
                </a:ext>
              </a:extLst>
            </p:cNvPr>
            <p:cNvSpPr/>
            <p:nvPr/>
          </p:nvSpPr>
          <p:spPr>
            <a:xfrm>
              <a:off x="3929059" y="1812914"/>
              <a:ext cx="714380" cy="428628"/>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2</a:t>
              </a:r>
              <a:r>
                <a:rPr lang="en-US" altLang="zh-CN" b="1">
                  <a:solidFill>
                    <a:srgbClr val="0000FF"/>
                  </a:solidFill>
                  <a:latin typeface="Consolas" pitchFamily="49" charset="0"/>
                  <a:cs typeface="Consolas" pitchFamily="49" charset="0"/>
                </a:rPr>
                <a:t>,10</a:t>
              </a:r>
              <a:endParaRPr lang="zh-CN" altLang="en-US" b="1">
                <a:solidFill>
                  <a:srgbClr val="0000FF"/>
                </a:solidFill>
                <a:latin typeface="Consolas" pitchFamily="49" charset="0"/>
                <a:cs typeface="Consolas" pitchFamily="49" charset="0"/>
              </a:endParaRPr>
            </a:p>
          </p:txBody>
        </p:sp>
        <p:cxnSp>
          <p:nvCxnSpPr>
            <p:cNvPr id="37" name="直接箭头连接符 36">
              <a:extLst>
                <a:ext uri="{FF2B5EF4-FFF2-40B4-BE49-F238E27FC236}">
                  <a16:creationId xmlns:a16="http://schemas.microsoft.com/office/drawing/2014/main" id="{A1BB1D84-48E5-CB97-0C91-FBB72B81846F}"/>
                </a:ext>
              </a:extLst>
            </p:cNvPr>
            <p:cNvCxnSpPr>
              <a:stCxn id="2" idx="2"/>
              <a:endCxn id="5" idx="0"/>
            </p:cNvCxnSpPr>
            <p:nvPr/>
          </p:nvCxnSpPr>
          <p:spPr>
            <a:xfrm rot="5400000">
              <a:off x="4808540" y="406377"/>
              <a:ext cx="884245" cy="192882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0703" name="TextBox 41">
              <a:extLst>
                <a:ext uri="{FF2B5EF4-FFF2-40B4-BE49-F238E27FC236}">
                  <a16:creationId xmlns:a16="http://schemas.microsoft.com/office/drawing/2014/main" id="{0E9092D9-D406-3546-D0F6-D935327F4BB9}"/>
                </a:ext>
              </a:extLst>
            </p:cNvPr>
            <p:cNvSpPr txBox="1">
              <a:spLocks noChangeArrowheads="1"/>
            </p:cNvSpPr>
            <p:nvPr/>
          </p:nvSpPr>
          <p:spPr bwMode="auto">
            <a:xfrm>
              <a:off x="4572000" y="1071546"/>
              <a:ext cx="6429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6600"/>
                  </a:solidFill>
                  <a:latin typeface="Times New Roman" panose="02020603050405020304" pitchFamily="18" charset="0"/>
                  <a:ea typeface="楷体_GB2312" pitchFamily="49" charset="-122"/>
                </a:rPr>
                <a:t>0→2</a:t>
              </a:r>
              <a:endParaRPr lang="zh-CN" altLang="en-US" b="1">
                <a:solidFill>
                  <a:srgbClr val="006600"/>
                </a:solidFill>
                <a:latin typeface="Times New Roman" panose="02020603050405020304" pitchFamily="18" charset="0"/>
                <a:ea typeface="楷体_GB2312" pitchFamily="49" charset="-122"/>
              </a:endParaRPr>
            </a:p>
          </p:txBody>
        </p:sp>
      </p:grpSp>
      <p:grpSp>
        <p:nvGrpSpPr>
          <p:cNvPr id="36" name="组合 72">
            <a:extLst>
              <a:ext uri="{FF2B5EF4-FFF2-40B4-BE49-F238E27FC236}">
                <a16:creationId xmlns:a16="http://schemas.microsoft.com/office/drawing/2014/main" id="{1D69E048-E463-8C96-9C94-9695B0FA233E}"/>
              </a:ext>
            </a:extLst>
          </p:cNvPr>
          <p:cNvGrpSpPr>
            <a:grpSpLocks/>
          </p:cNvGrpSpPr>
          <p:nvPr/>
        </p:nvGrpSpPr>
        <p:grpSpPr bwMode="auto">
          <a:xfrm>
            <a:off x="6380163" y="930275"/>
            <a:ext cx="2000250" cy="1544638"/>
            <a:chOff x="4857752" y="929463"/>
            <a:chExt cx="2000264" cy="1544584"/>
          </a:xfrm>
        </p:grpSpPr>
        <p:sp>
          <p:nvSpPr>
            <p:cNvPr id="32" name="圆角矩形 31">
              <a:extLst>
                <a:ext uri="{FF2B5EF4-FFF2-40B4-BE49-F238E27FC236}">
                  <a16:creationId xmlns:a16="http://schemas.microsoft.com/office/drawing/2014/main" id="{070ACAB5-8385-D651-5D36-6BA7F93C3312}"/>
                </a:ext>
              </a:extLst>
            </p:cNvPr>
            <p:cNvSpPr/>
            <p:nvPr/>
          </p:nvSpPr>
          <p:spPr>
            <a:xfrm>
              <a:off x="5857884" y="1812082"/>
              <a:ext cx="714380" cy="42861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4</a:t>
              </a:r>
              <a:r>
                <a:rPr lang="en-US" altLang="zh-CN" b="1">
                  <a:solidFill>
                    <a:srgbClr val="0000FF"/>
                  </a:solidFill>
                  <a:latin typeface="Consolas" pitchFamily="49" charset="0"/>
                  <a:cs typeface="Consolas" pitchFamily="49" charset="0"/>
                </a:rPr>
                <a:t>,30</a:t>
              </a:r>
              <a:endParaRPr lang="zh-CN" altLang="en-US" b="1">
                <a:solidFill>
                  <a:srgbClr val="0000FF"/>
                </a:solidFill>
                <a:latin typeface="Consolas" pitchFamily="49" charset="0"/>
                <a:cs typeface="Consolas" pitchFamily="49" charset="0"/>
              </a:endParaRPr>
            </a:p>
          </p:txBody>
        </p:sp>
        <p:sp>
          <p:nvSpPr>
            <p:cNvPr id="70697" name="TextBox 32">
              <a:extLst>
                <a:ext uri="{FF2B5EF4-FFF2-40B4-BE49-F238E27FC236}">
                  <a16:creationId xmlns:a16="http://schemas.microsoft.com/office/drawing/2014/main" id="{56BF4744-72FE-9F16-BAD9-91CCC8E1BC50}"/>
                </a:ext>
              </a:extLst>
            </p:cNvPr>
            <p:cNvSpPr txBox="1">
              <a:spLocks noChangeArrowheads="1"/>
            </p:cNvSpPr>
            <p:nvPr/>
          </p:nvSpPr>
          <p:spPr bwMode="auto">
            <a:xfrm>
              <a:off x="4857752" y="1643050"/>
              <a:ext cx="10715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600" b="1">
                  <a:solidFill>
                    <a:srgbClr val="0000FF"/>
                  </a:solidFill>
                  <a:latin typeface="Times New Roman" panose="02020603050405020304" pitchFamily="18" charset="0"/>
                  <a:ea typeface="楷体_GB2312" pitchFamily="49" charset="-122"/>
                </a:rPr>
                <a:t>0+30&lt;</a:t>
              </a:r>
              <a:r>
                <a:rPr lang="zh-CN" altLang="zh-CN" sz="1600" b="1">
                  <a:solidFill>
                    <a:srgbClr val="0000FF"/>
                  </a:solidFill>
                  <a:latin typeface="Times New Roman" panose="02020603050405020304" pitchFamily="18" charset="0"/>
                  <a:ea typeface="楷体_GB2312" pitchFamily="49" charset="-122"/>
                </a:rPr>
                <a:t>∞</a:t>
              </a:r>
              <a:r>
                <a:rPr lang="en-US" altLang="zh-CN" sz="1600" b="1">
                  <a:solidFill>
                    <a:srgbClr val="0000FF"/>
                  </a:solidFill>
                  <a:latin typeface="Times New Roman" panose="02020603050405020304" pitchFamily="18" charset="0"/>
                  <a:ea typeface="楷体_GB2312" pitchFamily="49" charset="-122"/>
                </a:rPr>
                <a:t>:</a:t>
              </a:r>
              <a:endParaRPr lang="zh-CN" altLang="zh-CN" sz="1600" b="1">
                <a:solidFill>
                  <a:srgbClr val="0000FF"/>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prev[4]=0</a:t>
              </a:r>
              <a:endParaRPr lang="zh-CN" altLang="zh-CN" sz="1600" b="1">
                <a:solidFill>
                  <a:srgbClr val="FF0000"/>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dist[4]=30</a:t>
              </a:r>
              <a:endParaRPr lang="zh-CN" altLang="zh-CN" sz="1600" b="1">
                <a:solidFill>
                  <a:srgbClr val="FF0000"/>
                </a:solidFill>
                <a:latin typeface="Times New Roman" panose="02020603050405020304" pitchFamily="18" charset="0"/>
                <a:ea typeface="楷体_GB2312" pitchFamily="49" charset="-122"/>
              </a:endParaRPr>
            </a:p>
          </p:txBody>
        </p:sp>
        <p:cxnSp>
          <p:nvCxnSpPr>
            <p:cNvPr id="39" name="直接箭头连接符 38">
              <a:extLst>
                <a:ext uri="{FF2B5EF4-FFF2-40B4-BE49-F238E27FC236}">
                  <a16:creationId xmlns:a16="http://schemas.microsoft.com/office/drawing/2014/main" id="{7789B0B6-C49E-B25B-1C03-F94612ADB6A6}"/>
                </a:ext>
              </a:extLst>
            </p:cNvPr>
            <p:cNvCxnSpPr>
              <a:stCxn id="2" idx="2"/>
              <a:endCxn id="32" idx="0"/>
            </p:cNvCxnSpPr>
            <p:nvPr/>
          </p:nvCxnSpPr>
          <p:spPr>
            <a:xfrm rot="5400000">
              <a:off x="5773764" y="1370773"/>
              <a:ext cx="884207"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0699" name="TextBox 42">
              <a:extLst>
                <a:ext uri="{FF2B5EF4-FFF2-40B4-BE49-F238E27FC236}">
                  <a16:creationId xmlns:a16="http://schemas.microsoft.com/office/drawing/2014/main" id="{06C1E2B9-B414-0888-B29E-36E04E294883}"/>
                </a:ext>
              </a:extLst>
            </p:cNvPr>
            <p:cNvSpPr txBox="1">
              <a:spLocks noChangeArrowheads="1"/>
            </p:cNvSpPr>
            <p:nvPr/>
          </p:nvSpPr>
          <p:spPr bwMode="auto">
            <a:xfrm>
              <a:off x="6215074" y="1273718"/>
              <a:ext cx="6429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6600"/>
                  </a:solidFill>
                  <a:latin typeface="Times New Roman" panose="02020603050405020304" pitchFamily="18" charset="0"/>
                  <a:ea typeface="楷体_GB2312" pitchFamily="49" charset="-122"/>
                </a:rPr>
                <a:t>0→4</a:t>
              </a:r>
              <a:endParaRPr lang="zh-CN" altLang="en-US" b="1">
                <a:solidFill>
                  <a:srgbClr val="006600"/>
                </a:solidFill>
                <a:latin typeface="Times New Roman" panose="02020603050405020304" pitchFamily="18" charset="0"/>
                <a:ea typeface="楷体_GB2312" pitchFamily="49" charset="-122"/>
              </a:endParaRPr>
            </a:p>
          </p:txBody>
        </p:sp>
      </p:grpSp>
      <p:grpSp>
        <p:nvGrpSpPr>
          <p:cNvPr id="38" name="组合 73">
            <a:extLst>
              <a:ext uri="{FF2B5EF4-FFF2-40B4-BE49-F238E27FC236}">
                <a16:creationId xmlns:a16="http://schemas.microsoft.com/office/drawing/2014/main" id="{052FA7B7-F91A-81CD-3078-6D8E32903A40}"/>
              </a:ext>
            </a:extLst>
          </p:cNvPr>
          <p:cNvGrpSpPr>
            <a:grpSpLocks/>
          </p:cNvGrpSpPr>
          <p:nvPr/>
        </p:nvGrpSpPr>
        <p:grpSpPr bwMode="auto">
          <a:xfrm>
            <a:off x="7739063" y="930275"/>
            <a:ext cx="2643187" cy="1485900"/>
            <a:chOff x="6215075" y="928669"/>
            <a:chExt cx="2643205" cy="1486466"/>
          </a:xfrm>
        </p:grpSpPr>
        <p:sp>
          <p:nvSpPr>
            <p:cNvPr id="34" name="圆角矩形 33">
              <a:extLst>
                <a:ext uri="{FF2B5EF4-FFF2-40B4-BE49-F238E27FC236}">
                  <a16:creationId xmlns:a16="http://schemas.microsoft.com/office/drawing/2014/main" id="{8FEB5C4B-5666-BE19-516B-CB73D221E672}"/>
                </a:ext>
              </a:extLst>
            </p:cNvPr>
            <p:cNvSpPr/>
            <p:nvPr/>
          </p:nvSpPr>
          <p:spPr>
            <a:xfrm>
              <a:off x="8143900" y="1811655"/>
              <a:ext cx="714380" cy="428788"/>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5</a:t>
              </a:r>
              <a:r>
                <a:rPr lang="en-US" altLang="zh-CN" b="1">
                  <a:solidFill>
                    <a:srgbClr val="0000FF"/>
                  </a:solidFill>
                  <a:latin typeface="Consolas" pitchFamily="49" charset="0"/>
                  <a:cs typeface="Consolas" pitchFamily="49" charset="0"/>
                </a:rPr>
                <a:t>,100</a:t>
              </a:r>
              <a:endParaRPr lang="zh-CN" altLang="en-US" b="1">
                <a:solidFill>
                  <a:srgbClr val="0000FF"/>
                </a:solidFill>
                <a:latin typeface="Consolas" pitchFamily="49" charset="0"/>
                <a:cs typeface="Consolas" pitchFamily="49" charset="0"/>
              </a:endParaRPr>
            </a:p>
          </p:txBody>
        </p:sp>
        <p:sp>
          <p:nvSpPr>
            <p:cNvPr id="70693" name="TextBox 34">
              <a:extLst>
                <a:ext uri="{FF2B5EF4-FFF2-40B4-BE49-F238E27FC236}">
                  <a16:creationId xmlns:a16="http://schemas.microsoft.com/office/drawing/2014/main" id="{B38BC8F1-605F-4364-89AF-3C8248E8D546}"/>
                </a:ext>
              </a:extLst>
            </p:cNvPr>
            <p:cNvSpPr txBox="1">
              <a:spLocks noChangeArrowheads="1"/>
            </p:cNvSpPr>
            <p:nvPr/>
          </p:nvSpPr>
          <p:spPr bwMode="auto">
            <a:xfrm>
              <a:off x="7000892" y="1584138"/>
              <a:ext cx="129841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600" b="1">
                  <a:solidFill>
                    <a:srgbClr val="0000FF"/>
                  </a:solidFill>
                  <a:latin typeface="Times New Roman" panose="02020603050405020304" pitchFamily="18" charset="0"/>
                  <a:ea typeface="楷体_GB2312" pitchFamily="49" charset="-122"/>
                </a:rPr>
                <a:t>0+100&lt;</a:t>
              </a:r>
              <a:r>
                <a:rPr lang="zh-CN" altLang="zh-CN" sz="1600" b="1">
                  <a:solidFill>
                    <a:srgbClr val="0000FF"/>
                  </a:solidFill>
                  <a:latin typeface="Times New Roman" panose="02020603050405020304" pitchFamily="18" charset="0"/>
                  <a:ea typeface="楷体_GB2312" pitchFamily="49" charset="-122"/>
                </a:rPr>
                <a:t>∞</a:t>
              </a:r>
              <a:r>
                <a:rPr lang="en-US" altLang="zh-CN" sz="1600" b="1">
                  <a:solidFill>
                    <a:srgbClr val="0000FF"/>
                  </a:solidFill>
                  <a:latin typeface="Times New Roman" panose="02020603050405020304" pitchFamily="18" charset="0"/>
                  <a:ea typeface="楷体_GB2312" pitchFamily="49" charset="-122"/>
                </a:rPr>
                <a:t>:</a:t>
              </a:r>
              <a:endParaRPr lang="zh-CN" altLang="zh-CN" sz="1600" b="1">
                <a:solidFill>
                  <a:srgbClr val="0000FF"/>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prev[5]=0</a:t>
              </a:r>
              <a:endParaRPr lang="zh-CN" altLang="zh-CN" sz="1600" b="1">
                <a:solidFill>
                  <a:srgbClr val="FF0000"/>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dist[5]=100</a:t>
              </a:r>
              <a:endParaRPr lang="zh-CN" altLang="zh-CN" sz="1600" b="1">
                <a:solidFill>
                  <a:srgbClr val="FF0000"/>
                </a:solidFill>
                <a:latin typeface="Times New Roman" panose="02020603050405020304" pitchFamily="18" charset="0"/>
                <a:ea typeface="楷体_GB2312" pitchFamily="49" charset="-122"/>
              </a:endParaRPr>
            </a:p>
          </p:txBody>
        </p:sp>
        <p:cxnSp>
          <p:nvCxnSpPr>
            <p:cNvPr id="41" name="直接箭头连接符 40">
              <a:extLst>
                <a:ext uri="{FF2B5EF4-FFF2-40B4-BE49-F238E27FC236}">
                  <a16:creationId xmlns:a16="http://schemas.microsoft.com/office/drawing/2014/main" id="{733152D2-AB35-AD69-0DD0-878F71C9604A}"/>
                </a:ext>
              </a:extLst>
            </p:cNvPr>
            <p:cNvCxnSpPr>
              <a:stCxn id="2" idx="2"/>
              <a:endCxn id="34" idx="0"/>
            </p:cNvCxnSpPr>
            <p:nvPr/>
          </p:nvCxnSpPr>
          <p:spPr>
            <a:xfrm rot="16200000" flipH="1">
              <a:off x="6916590" y="227154"/>
              <a:ext cx="882986" cy="228601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0695" name="TextBox 43">
              <a:extLst>
                <a:ext uri="{FF2B5EF4-FFF2-40B4-BE49-F238E27FC236}">
                  <a16:creationId xmlns:a16="http://schemas.microsoft.com/office/drawing/2014/main" id="{849514A5-E833-4EF3-0189-9F424D337F35}"/>
                </a:ext>
              </a:extLst>
            </p:cNvPr>
            <p:cNvSpPr txBox="1">
              <a:spLocks noChangeArrowheads="1"/>
            </p:cNvSpPr>
            <p:nvPr/>
          </p:nvSpPr>
          <p:spPr bwMode="auto">
            <a:xfrm>
              <a:off x="7572396" y="1130842"/>
              <a:ext cx="6429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6600"/>
                  </a:solidFill>
                  <a:latin typeface="Times New Roman" panose="02020603050405020304" pitchFamily="18" charset="0"/>
                  <a:ea typeface="楷体_GB2312" pitchFamily="49" charset="-122"/>
                </a:rPr>
                <a:t>0→5</a:t>
              </a:r>
              <a:endParaRPr lang="zh-CN" altLang="en-US" b="1">
                <a:solidFill>
                  <a:srgbClr val="006600"/>
                </a:solidFill>
                <a:latin typeface="Times New Roman" panose="02020603050405020304" pitchFamily="18" charset="0"/>
                <a:ea typeface="楷体_GB2312" pitchFamily="49" charset="-122"/>
              </a:endParaRPr>
            </a:p>
          </p:txBody>
        </p:sp>
      </p:grpSp>
      <p:grpSp>
        <p:nvGrpSpPr>
          <p:cNvPr id="40" name="组合 74">
            <a:extLst>
              <a:ext uri="{FF2B5EF4-FFF2-40B4-BE49-F238E27FC236}">
                <a16:creationId xmlns:a16="http://schemas.microsoft.com/office/drawing/2014/main" id="{7FD32F77-5658-60B0-BF2A-E803B72D32FF}"/>
              </a:ext>
            </a:extLst>
          </p:cNvPr>
          <p:cNvGrpSpPr>
            <a:grpSpLocks/>
          </p:cNvGrpSpPr>
          <p:nvPr/>
        </p:nvGrpSpPr>
        <p:grpSpPr bwMode="auto">
          <a:xfrm>
            <a:off x="3738563" y="2243138"/>
            <a:ext cx="2357437" cy="1544637"/>
            <a:chOff x="2214546" y="2240813"/>
            <a:chExt cx="2357454" cy="1545377"/>
          </a:xfrm>
        </p:grpSpPr>
        <p:sp>
          <p:nvSpPr>
            <p:cNvPr id="45" name="圆角矩形 44">
              <a:extLst>
                <a:ext uri="{FF2B5EF4-FFF2-40B4-BE49-F238E27FC236}">
                  <a16:creationId xmlns:a16="http://schemas.microsoft.com/office/drawing/2014/main" id="{F97C919A-54AB-CB4D-DAE1-F9FBEF852BBE}"/>
                </a:ext>
              </a:extLst>
            </p:cNvPr>
            <p:cNvSpPr/>
            <p:nvPr/>
          </p:nvSpPr>
          <p:spPr>
            <a:xfrm>
              <a:off x="3286116" y="3098474"/>
              <a:ext cx="714380" cy="42883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3</a:t>
              </a:r>
              <a:r>
                <a:rPr lang="en-US" altLang="zh-CN" b="1">
                  <a:solidFill>
                    <a:srgbClr val="0000FF"/>
                  </a:solidFill>
                  <a:latin typeface="Consolas" pitchFamily="49" charset="0"/>
                  <a:cs typeface="Consolas" pitchFamily="49" charset="0"/>
                </a:rPr>
                <a:t>,60</a:t>
              </a:r>
              <a:endParaRPr lang="zh-CN" altLang="en-US" b="1">
                <a:solidFill>
                  <a:srgbClr val="0000FF"/>
                </a:solidFill>
                <a:latin typeface="Consolas" pitchFamily="49" charset="0"/>
                <a:cs typeface="Consolas" pitchFamily="49" charset="0"/>
              </a:endParaRPr>
            </a:p>
          </p:txBody>
        </p:sp>
        <p:sp>
          <p:nvSpPr>
            <p:cNvPr id="70689" name="TextBox 45">
              <a:extLst>
                <a:ext uri="{FF2B5EF4-FFF2-40B4-BE49-F238E27FC236}">
                  <a16:creationId xmlns:a16="http://schemas.microsoft.com/office/drawing/2014/main" id="{1EF9FC40-72D9-B77A-29A1-383791A5CA67}"/>
                </a:ext>
              </a:extLst>
            </p:cNvPr>
            <p:cNvSpPr txBox="1">
              <a:spLocks noChangeArrowheads="1"/>
            </p:cNvSpPr>
            <p:nvPr/>
          </p:nvSpPr>
          <p:spPr bwMode="auto">
            <a:xfrm>
              <a:off x="2214546" y="2955193"/>
              <a:ext cx="10715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600" b="1">
                  <a:solidFill>
                    <a:srgbClr val="0000FF"/>
                  </a:solidFill>
                  <a:latin typeface="Times New Roman" panose="02020603050405020304" pitchFamily="18" charset="0"/>
                  <a:ea typeface="楷体_GB2312" pitchFamily="49" charset="-122"/>
                </a:rPr>
                <a:t>10+50&lt;</a:t>
              </a:r>
              <a:r>
                <a:rPr lang="zh-CN" altLang="zh-CN" sz="1600" b="1">
                  <a:solidFill>
                    <a:srgbClr val="0000FF"/>
                  </a:solidFill>
                  <a:latin typeface="Times New Roman" panose="02020603050405020304" pitchFamily="18" charset="0"/>
                  <a:ea typeface="楷体_GB2312" pitchFamily="49" charset="-122"/>
                </a:rPr>
                <a:t>∞</a:t>
              </a:r>
              <a:r>
                <a:rPr lang="en-US" altLang="zh-CN" sz="1600" b="1">
                  <a:solidFill>
                    <a:srgbClr val="0000FF"/>
                  </a:solidFill>
                  <a:latin typeface="Times New Roman" panose="02020603050405020304" pitchFamily="18" charset="0"/>
                  <a:ea typeface="楷体_GB2312" pitchFamily="49" charset="-122"/>
                </a:rPr>
                <a:t>:</a:t>
              </a:r>
              <a:endParaRPr lang="zh-CN" altLang="zh-CN" sz="1600" b="1">
                <a:solidFill>
                  <a:srgbClr val="0000FF"/>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prev[3]=2</a:t>
              </a:r>
              <a:endParaRPr lang="zh-CN" altLang="zh-CN" sz="1600" b="1">
                <a:solidFill>
                  <a:srgbClr val="FF0000"/>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dist[3]=60</a:t>
              </a:r>
              <a:endParaRPr lang="zh-CN" altLang="zh-CN" sz="1600" b="1">
                <a:solidFill>
                  <a:srgbClr val="FF0000"/>
                </a:solidFill>
                <a:latin typeface="Times New Roman" panose="02020603050405020304" pitchFamily="18" charset="0"/>
                <a:ea typeface="楷体_GB2312" pitchFamily="49" charset="-122"/>
              </a:endParaRPr>
            </a:p>
          </p:txBody>
        </p:sp>
        <p:cxnSp>
          <p:nvCxnSpPr>
            <p:cNvPr id="48" name="直接箭头连接符 47">
              <a:extLst>
                <a:ext uri="{FF2B5EF4-FFF2-40B4-BE49-F238E27FC236}">
                  <a16:creationId xmlns:a16="http://schemas.microsoft.com/office/drawing/2014/main" id="{D3DEDFA3-AA64-120B-1E87-D635ECB6729E}"/>
                </a:ext>
              </a:extLst>
            </p:cNvPr>
            <p:cNvCxnSpPr>
              <a:stCxn id="5" idx="2"/>
              <a:endCxn id="45" idx="0"/>
            </p:cNvCxnSpPr>
            <p:nvPr/>
          </p:nvCxnSpPr>
          <p:spPr>
            <a:xfrm rot="5400000">
              <a:off x="3535947" y="2348172"/>
              <a:ext cx="857661" cy="64294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0691" name="TextBox 49">
              <a:extLst>
                <a:ext uri="{FF2B5EF4-FFF2-40B4-BE49-F238E27FC236}">
                  <a16:creationId xmlns:a16="http://schemas.microsoft.com/office/drawing/2014/main" id="{846A18BF-5EA7-730C-2D35-8A7161BA96D0}"/>
                </a:ext>
              </a:extLst>
            </p:cNvPr>
            <p:cNvSpPr txBox="1">
              <a:spLocks noChangeArrowheads="1"/>
            </p:cNvSpPr>
            <p:nvPr/>
          </p:nvSpPr>
          <p:spPr bwMode="auto">
            <a:xfrm>
              <a:off x="3929058" y="2559602"/>
              <a:ext cx="6429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6600"/>
                  </a:solidFill>
                  <a:latin typeface="Times New Roman" panose="02020603050405020304" pitchFamily="18" charset="0"/>
                  <a:ea typeface="楷体_GB2312" pitchFamily="49" charset="-122"/>
                </a:rPr>
                <a:t>2→3</a:t>
              </a:r>
              <a:endParaRPr lang="zh-CN" altLang="en-US" b="1">
                <a:solidFill>
                  <a:srgbClr val="006600"/>
                </a:solidFill>
                <a:latin typeface="Times New Roman" panose="02020603050405020304" pitchFamily="18" charset="0"/>
                <a:ea typeface="楷体_GB2312" pitchFamily="49" charset="-122"/>
              </a:endParaRPr>
            </a:p>
          </p:txBody>
        </p:sp>
      </p:grpSp>
      <p:grpSp>
        <p:nvGrpSpPr>
          <p:cNvPr id="47" name="组合 75">
            <a:extLst>
              <a:ext uri="{FF2B5EF4-FFF2-40B4-BE49-F238E27FC236}">
                <a16:creationId xmlns:a16="http://schemas.microsoft.com/office/drawing/2014/main" id="{D81232AB-3EA9-87DA-6A5C-3E1F2A10A686}"/>
              </a:ext>
            </a:extLst>
          </p:cNvPr>
          <p:cNvGrpSpPr>
            <a:grpSpLocks/>
          </p:cNvGrpSpPr>
          <p:nvPr/>
        </p:nvGrpSpPr>
        <p:grpSpPr bwMode="auto">
          <a:xfrm>
            <a:off x="5881688" y="2243138"/>
            <a:ext cx="1857375" cy="1517650"/>
            <a:chOff x="4357686" y="2240812"/>
            <a:chExt cx="1857389" cy="1519119"/>
          </a:xfrm>
        </p:grpSpPr>
        <p:sp>
          <p:nvSpPr>
            <p:cNvPr id="51" name="圆角矩形 50">
              <a:extLst>
                <a:ext uri="{FF2B5EF4-FFF2-40B4-BE49-F238E27FC236}">
                  <a16:creationId xmlns:a16="http://schemas.microsoft.com/office/drawing/2014/main" id="{CF5EB506-C251-8AB7-ADD6-897F73D1E93D}"/>
                </a:ext>
              </a:extLst>
            </p:cNvPr>
            <p:cNvSpPr/>
            <p:nvPr/>
          </p:nvSpPr>
          <p:spPr>
            <a:xfrm>
              <a:off x="5429256" y="3071878"/>
              <a:ext cx="714380" cy="42904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3</a:t>
              </a:r>
              <a:r>
                <a:rPr lang="en-US" altLang="zh-CN" b="1">
                  <a:solidFill>
                    <a:srgbClr val="0000FF"/>
                  </a:solidFill>
                  <a:latin typeface="Consolas" pitchFamily="49" charset="0"/>
                  <a:cs typeface="Consolas" pitchFamily="49" charset="0"/>
                </a:rPr>
                <a:t>,50</a:t>
              </a:r>
              <a:endParaRPr lang="zh-CN" altLang="en-US" b="1">
                <a:solidFill>
                  <a:srgbClr val="0000FF"/>
                </a:solidFill>
                <a:latin typeface="Consolas" pitchFamily="49" charset="0"/>
                <a:cs typeface="Consolas" pitchFamily="49" charset="0"/>
              </a:endParaRPr>
            </a:p>
          </p:txBody>
        </p:sp>
        <p:sp>
          <p:nvSpPr>
            <p:cNvPr id="70685" name="TextBox 51">
              <a:extLst>
                <a:ext uri="{FF2B5EF4-FFF2-40B4-BE49-F238E27FC236}">
                  <a16:creationId xmlns:a16="http://schemas.microsoft.com/office/drawing/2014/main" id="{F4A95FFD-A795-8DB7-7FDF-25DC8053D308}"/>
                </a:ext>
              </a:extLst>
            </p:cNvPr>
            <p:cNvSpPr txBox="1">
              <a:spLocks noChangeArrowheads="1"/>
            </p:cNvSpPr>
            <p:nvPr/>
          </p:nvSpPr>
          <p:spPr bwMode="auto">
            <a:xfrm>
              <a:off x="4357686" y="2928934"/>
              <a:ext cx="10715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600" b="1">
                  <a:solidFill>
                    <a:srgbClr val="0000FF"/>
                  </a:solidFill>
                  <a:latin typeface="Times New Roman" panose="02020603050405020304" pitchFamily="18" charset="0"/>
                  <a:ea typeface="楷体_GB2312" pitchFamily="49" charset="-122"/>
                </a:rPr>
                <a:t>30+20&lt;60:</a:t>
              </a:r>
              <a:endParaRPr lang="zh-CN" altLang="zh-CN" sz="1600" b="1">
                <a:solidFill>
                  <a:srgbClr val="0000FF"/>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prev[3]=4</a:t>
              </a:r>
              <a:endParaRPr lang="zh-CN" altLang="zh-CN" sz="1600" b="1">
                <a:solidFill>
                  <a:srgbClr val="FF0000"/>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dist[3]=50</a:t>
              </a:r>
              <a:endParaRPr lang="zh-CN" altLang="zh-CN" sz="1600" b="1">
                <a:solidFill>
                  <a:srgbClr val="FF0000"/>
                </a:solidFill>
                <a:latin typeface="Times New Roman" panose="02020603050405020304" pitchFamily="18" charset="0"/>
                <a:ea typeface="楷体_GB2312" pitchFamily="49" charset="-122"/>
              </a:endParaRPr>
            </a:p>
          </p:txBody>
        </p:sp>
        <p:cxnSp>
          <p:nvCxnSpPr>
            <p:cNvPr id="56" name="直接箭头连接符 55">
              <a:extLst>
                <a:ext uri="{FF2B5EF4-FFF2-40B4-BE49-F238E27FC236}">
                  <a16:creationId xmlns:a16="http://schemas.microsoft.com/office/drawing/2014/main" id="{6A7F91B2-090B-9F06-044F-B8720062C21F}"/>
                </a:ext>
              </a:extLst>
            </p:cNvPr>
            <p:cNvCxnSpPr>
              <a:stCxn id="32" idx="2"/>
              <a:endCxn id="51" idx="0"/>
            </p:cNvCxnSpPr>
            <p:nvPr/>
          </p:nvCxnSpPr>
          <p:spPr>
            <a:xfrm rot="5400000">
              <a:off x="5585229" y="2442030"/>
              <a:ext cx="831066" cy="4286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0687" name="TextBox 58">
              <a:extLst>
                <a:ext uri="{FF2B5EF4-FFF2-40B4-BE49-F238E27FC236}">
                  <a16:creationId xmlns:a16="http://schemas.microsoft.com/office/drawing/2014/main" id="{E7459BB7-4E7A-4937-6D20-B48F4EBAB9DC}"/>
                </a:ext>
              </a:extLst>
            </p:cNvPr>
            <p:cNvSpPr txBox="1">
              <a:spLocks noChangeArrowheads="1"/>
            </p:cNvSpPr>
            <p:nvPr/>
          </p:nvSpPr>
          <p:spPr bwMode="auto">
            <a:xfrm>
              <a:off x="5357818" y="2428868"/>
              <a:ext cx="6429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6600"/>
                  </a:solidFill>
                  <a:latin typeface="Times New Roman" panose="02020603050405020304" pitchFamily="18" charset="0"/>
                  <a:ea typeface="楷体_GB2312" pitchFamily="49" charset="-122"/>
                </a:rPr>
                <a:t>4→3</a:t>
              </a:r>
              <a:endParaRPr lang="zh-CN" altLang="en-US" b="1">
                <a:solidFill>
                  <a:srgbClr val="006600"/>
                </a:solidFill>
                <a:latin typeface="Times New Roman" panose="02020603050405020304" pitchFamily="18" charset="0"/>
                <a:ea typeface="楷体_GB2312" pitchFamily="49" charset="-122"/>
              </a:endParaRPr>
            </a:p>
          </p:txBody>
        </p:sp>
      </p:grpSp>
      <p:grpSp>
        <p:nvGrpSpPr>
          <p:cNvPr id="49" name="组合 76">
            <a:extLst>
              <a:ext uri="{FF2B5EF4-FFF2-40B4-BE49-F238E27FC236}">
                <a16:creationId xmlns:a16="http://schemas.microsoft.com/office/drawing/2014/main" id="{78DADBDD-9B45-90B0-D41B-48CF96D1BBDD}"/>
              </a:ext>
            </a:extLst>
          </p:cNvPr>
          <p:cNvGrpSpPr>
            <a:grpSpLocks/>
          </p:cNvGrpSpPr>
          <p:nvPr/>
        </p:nvGrpSpPr>
        <p:grpSpPr bwMode="auto">
          <a:xfrm>
            <a:off x="7739063" y="2243138"/>
            <a:ext cx="2286000" cy="1517650"/>
            <a:chOff x="6215075" y="2240812"/>
            <a:chExt cx="2286015" cy="1519119"/>
          </a:xfrm>
        </p:grpSpPr>
        <p:sp>
          <p:nvSpPr>
            <p:cNvPr id="53" name="圆角矩形 52">
              <a:extLst>
                <a:ext uri="{FF2B5EF4-FFF2-40B4-BE49-F238E27FC236}">
                  <a16:creationId xmlns:a16="http://schemas.microsoft.com/office/drawing/2014/main" id="{FC75573B-82F9-9ACB-5C72-AA9491AE7647}"/>
                </a:ext>
              </a:extLst>
            </p:cNvPr>
            <p:cNvSpPr/>
            <p:nvPr/>
          </p:nvSpPr>
          <p:spPr>
            <a:xfrm>
              <a:off x="6429388" y="3071878"/>
              <a:ext cx="714380" cy="42904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5</a:t>
              </a:r>
              <a:r>
                <a:rPr lang="en-US" altLang="zh-CN" b="1">
                  <a:solidFill>
                    <a:srgbClr val="0000FF"/>
                  </a:solidFill>
                  <a:latin typeface="Consolas" pitchFamily="49" charset="0"/>
                  <a:cs typeface="Consolas" pitchFamily="49" charset="0"/>
                </a:rPr>
                <a:t>,90</a:t>
              </a:r>
              <a:endParaRPr lang="zh-CN" altLang="en-US" b="1">
                <a:solidFill>
                  <a:srgbClr val="0000FF"/>
                </a:solidFill>
                <a:latin typeface="Consolas" pitchFamily="49" charset="0"/>
                <a:cs typeface="Consolas" pitchFamily="49" charset="0"/>
              </a:endParaRPr>
            </a:p>
          </p:txBody>
        </p:sp>
        <p:sp>
          <p:nvSpPr>
            <p:cNvPr id="70681" name="TextBox 53">
              <a:extLst>
                <a:ext uri="{FF2B5EF4-FFF2-40B4-BE49-F238E27FC236}">
                  <a16:creationId xmlns:a16="http://schemas.microsoft.com/office/drawing/2014/main" id="{1B8846CC-6F02-4D8B-EB59-A61FB8D0977A}"/>
                </a:ext>
              </a:extLst>
            </p:cNvPr>
            <p:cNvSpPr txBox="1">
              <a:spLocks noChangeArrowheads="1"/>
            </p:cNvSpPr>
            <p:nvPr/>
          </p:nvSpPr>
          <p:spPr bwMode="auto">
            <a:xfrm>
              <a:off x="7286644" y="2928934"/>
              <a:ext cx="121444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600" b="1">
                  <a:solidFill>
                    <a:srgbClr val="0000FF"/>
                  </a:solidFill>
                  <a:latin typeface="Times New Roman" panose="02020603050405020304" pitchFamily="18" charset="0"/>
                  <a:ea typeface="楷体_GB2312" pitchFamily="49" charset="-122"/>
                </a:rPr>
                <a:t>30+60&lt;100:</a:t>
              </a:r>
              <a:endParaRPr lang="zh-CN" altLang="zh-CN" sz="1600" b="1">
                <a:solidFill>
                  <a:srgbClr val="0000FF"/>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prev[5]=4</a:t>
              </a:r>
              <a:endParaRPr lang="zh-CN" altLang="zh-CN" sz="1600" b="1">
                <a:solidFill>
                  <a:srgbClr val="FF0000"/>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dist[5]=90</a:t>
              </a:r>
              <a:endParaRPr lang="zh-CN" altLang="zh-CN" sz="1600" b="1">
                <a:solidFill>
                  <a:srgbClr val="FF0000"/>
                </a:solidFill>
                <a:latin typeface="Times New Roman" panose="02020603050405020304" pitchFamily="18" charset="0"/>
                <a:ea typeface="楷体_GB2312" pitchFamily="49" charset="-122"/>
              </a:endParaRPr>
            </a:p>
          </p:txBody>
        </p:sp>
        <p:cxnSp>
          <p:nvCxnSpPr>
            <p:cNvPr id="58" name="直接箭头连接符 57">
              <a:extLst>
                <a:ext uri="{FF2B5EF4-FFF2-40B4-BE49-F238E27FC236}">
                  <a16:creationId xmlns:a16="http://schemas.microsoft.com/office/drawing/2014/main" id="{839CC8D8-4736-880C-5F58-93E915694C7E}"/>
                </a:ext>
              </a:extLst>
            </p:cNvPr>
            <p:cNvCxnSpPr>
              <a:stCxn id="32" idx="2"/>
              <a:endCxn id="53" idx="0"/>
            </p:cNvCxnSpPr>
            <p:nvPr/>
          </p:nvCxnSpPr>
          <p:spPr>
            <a:xfrm rot="16200000" flipH="1">
              <a:off x="6085294" y="2370593"/>
              <a:ext cx="831066" cy="57150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0683" name="TextBox 59">
              <a:extLst>
                <a:ext uri="{FF2B5EF4-FFF2-40B4-BE49-F238E27FC236}">
                  <a16:creationId xmlns:a16="http://schemas.microsoft.com/office/drawing/2014/main" id="{11F6BA24-035D-A721-F5A5-87D0F4EA805F}"/>
                </a:ext>
              </a:extLst>
            </p:cNvPr>
            <p:cNvSpPr txBox="1">
              <a:spLocks noChangeArrowheads="1"/>
            </p:cNvSpPr>
            <p:nvPr/>
          </p:nvSpPr>
          <p:spPr bwMode="auto">
            <a:xfrm>
              <a:off x="6572264" y="2500306"/>
              <a:ext cx="6429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6600"/>
                  </a:solidFill>
                  <a:latin typeface="Times New Roman" panose="02020603050405020304" pitchFamily="18" charset="0"/>
                  <a:ea typeface="楷体_GB2312" pitchFamily="49" charset="-122"/>
                </a:rPr>
                <a:t>4→5</a:t>
              </a:r>
              <a:endParaRPr lang="zh-CN" altLang="en-US" b="1">
                <a:solidFill>
                  <a:srgbClr val="006600"/>
                </a:solidFill>
                <a:latin typeface="Times New Roman" panose="02020603050405020304" pitchFamily="18" charset="0"/>
                <a:ea typeface="楷体_GB2312" pitchFamily="49" charset="-122"/>
              </a:endParaRPr>
            </a:p>
          </p:txBody>
        </p:sp>
      </p:grpSp>
      <p:grpSp>
        <p:nvGrpSpPr>
          <p:cNvPr id="57" name="组合 78">
            <a:extLst>
              <a:ext uri="{FF2B5EF4-FFF2-40B4-BE49-F238E27FC236}">
                <a16:creationId xmlns:a16="http://schemas.microsoft.com/office/drawing/2014/main" id="{DD19D101-9567-41D3-52B2-1A561F844014}"/>
              </a:ext>
            </a:extLst>
          </p:cNvPr>
          <p:cNvGrpSpPr>
            <a:grpSpLocks/>
          </p:cNvGrpSpPr>
          <p:nvPr/>
        </p:nvGrpSpPr>
        <p:grpSpPr bwMode="auto">
          <a:xfrm>
            <a:off x="5894388" y="3514725"/>
            <a:ext cx="2200275" cy="1758950"/>
            <a:chOff x="4370212" y="3512964"/>
            <a:chExt cx="2202052" cy="1758897"/>
          </a:xfrm>
        </p:grpSpPr>
        <p:sp>
          <p:nvSpPr>
            <p:cNvPr id="67" name="圆角矩形 66">
              <a:extLst>
                <a:ext uri="{FF2B5EF4-FFF2-40B4-BE49-F238E27FC236}">
                  <a16:creationId xmlns:a16="http://schemas.microsoft.com/office/drawing/2014/main" id="{75591CB1-5DCB-531E-0CFA-C917AA10D8E5}"/>
                </a:ext>
              </a:extLst>
            </p:cNvPr>
            <p:cNvSpPr/>
            <p:nvPr/>
          </p:nvSpPr>
          <p:spPr>
            <a:xfrm>
              <a:off x="5442639" y="4584495"/>
              <a:ext cx="713364" cy="428612"/>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fontAlgn="auto" hangingPunct="1">
                <a:spcBef>
                  <a:spcPts val="0"/>
                </a:spcBef>
                <a:spcAft>
                  <a:spcPts val="0"/>
                </a:spcAft>
                <a:defRPr/>
              </a:pPr>
              <a:r>
                <a:rPr lang="en-US" altLang="zh-CN" b="1">
                  <a:solidFill>
                    <a:srgbClr val="C00000"/>
                  </a:solidFill>
                  <a:latin typeface="Consolas" pitchFamily="49" charset="0"/>
                  <a:cs typeface="Consolas" pitchFamily="49" charset="0"/>
                </a:rPr>
                <a:t>5</a:t>
              </a:r>
              <a:r>
                <a:rPr lang="en-US" altLang="zh-CN" b="1">
                  <a:solidFill>
                    <a:srgbClr val="0000FF"/>
                  </a:solidFill>
                  <a:latin typeface="Consolas" pitchFamily="49" charset="0"/>
                  <a:cs typeface="Consolas" pitchFamily="49" charset="0"/>
                </a:rPr>
                <a:t>,60</a:t>
              </a:r>
              <a:endParaRPr lang="zh-CN" altLang="en-US" b="1">
                <a:solidFill>
                  <a:srgbClr val="0000FF"/>
                </a:solidFill>
                <a:latin typeface="Consolas" pitchFamily="49" charset="0"/>
                <a:cs typeface="Consolas" pitchFamily="49" charset="0"/>
              </a:endParaRPr>
            </a:p>
          </p:txBody>
        </p:sp>
        <p:sp>
          <p:nvSpPr>
            <p:cNvPr id="70677" name="TextBox 67">
              <a:extLst>
                <a:ext uri="{FF2B5EF4-FFF2-40B4-BE49-F238E27FC236}">
                  <a16:creationId xmlns:a16="http://schemas.microsoft.com/office/drawing/2014/main" id="{FAA6713E-0DE7-7547-000D-09EE982C6981}"/>
                </a:ext>
              </a:extLst>
            </p:cNvPr>
            <p:cNvSpPr txBox="1">
              <a:spLocks noChangeArrowheads="1"/>
            </p:cNvSpPr>
            <p:nvPr/>
          </p:nvSpPr>
          <p:spPr bwMode="auto">
            <a:xfrm>
              <a:off x="4370212" y="4440864"/>
              <a:ext cx="10715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sz="1600" b="1">
                  <a:solidFill>
                    <a:srgbClr val="0000FF"/>
                  </a:solidFill>
                  <a:latin typeface="Times New Roman" panose="02020603050405020304" pitchFamily="18" charset="0"/>
                  <a:ea typeface="楷体_GB2312" pitchFamily="49" charset="-122"/>
                </a:rPr>
                <a:t>50+10&lt;70</a:t>
              </a:r>
              <a:endParaRPr lang="zh-CN" altLang="zh-CN" sz="1600" b="1">
                <a:solidFill>
                  <a:srgbClr val="0000FF"/>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prev[5]=3</a:t>
              </a:r>
              <a:endParaRPr lang="zh-CN" altLang="zh-CN" sz="1600" b="1">
                <a:solidFill>
                  <a:srgbClr val="FF0000"/>
                </a:solidFill>
                <a:latin typeface="Times New Roman" panose="02020603050405020304" pitchFamily="18" charset="0"/>
                <a:ea typeface="楷体_GB2312" pitchFamily="49" charset="-122"/>
              </a:endParaRPr>
            </a:p>
            <a:p>
              <a:pPr eaLnBrk="1" hangingPunct="1"/>
              <a:r>
                <a:rPr lang="en-US" altLang="zh-CN" sz="1600" b="1">
                  <a:solidFill>
                    <a:srgbClr val="FF0000"/>
                  </a:solidFill>
                  <a:latin typeface="Times New Roman" panose="02020603050405020304" pitchFamily="18" charset="0"/>
                  <a:ea typeface="楷体_GB2312" pitchFamily="49" charset="-122"/>
                </a:rPr>
                <a:t>dist[5]=60</a:t>
              </a:r>
              <a:endParaRPr lang="zh-CN" altLang="zh-CN" sz="1600" b="1">
                <a:solidFill>
                  <a:srgbClr val="FF0000"/>
                </a:solidFill>
                <a:latin typeface="Times New Roman" panose="02020603050405020304" pitchFamily="18" charset="0"/>
                <a:ea typeface="楷体_GB2312" pitchFamily="49" charset="-122"/>
              </a:endParaRPr>
            </a:p>
          </p:txBody>
        </p:sp>
        <p:cxnSp>
          <p:nvCxnSpPr>
            <p:cNvPr id="69" name="直接箭头连接符 68">
              <a:extLst>
                <a:ext uri="{FF2B5EF4-FFF2-40B4-BE49-F238E27FC236}">
                  <a16:creationId xmlns:a16="http://schemas.microsoft.com/office/drawing/2014/main" id="{CA1C7CFB-50CC-3284-10C4-E3794C88D7BB}"/>
                </a:ext>
              </a:extLst>
            </p:cNvPr>
            <p:cNvCxnSpPr>
              <a:endCxn id="67" idx="0"/>
            </p:cNvCxnSpPr>
            <p:nvPr/>
          </p:nvCxnSpPr>
          <p:spPr>
            <a:xfrm rot="5400000">
              <a:off x="5261967" y="4047935"/>
              <a:ext cx="1071531"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0679" name="TextBox 69">
              <a:extLst>
                <a:ext uri="{FF2B5EF4-FFF2-40B4-BE49-F238E27FC236}">
                  <a16:creationId xmlns:a16="http://schemas.microsoft.com/office/drawing/2014/main" id="{A74CE570-0D86-5E5F-1F50-E44C6EC1A19C}"/>
                </a:ext>
              </a:extLst>
            </p:cNvPr>
            <p:cNvSpPr txBox="1">
              <a:spLocks noChangeArrowheads="1"/>
            </p:cNvSpPr>
            <p:nvPr/>
          </p:nvSpPr>
          <p:spPr bwMode="auto">
            <a:xfrm>
              <a:off x="5929322" y="3916924"/>
              <a:ext cx="6429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6600"/>
                  </a:solidFill>
                  <a:latin typeface="Times New Roman" panose="02020603050405020304" pitchFamily="18" charset="0"/>
                  <a:ea typeface="楷体_GB2312" pitchFamily="49" charset="-122"/>
                </a:rPr>
                <a:t>3→5</a:t>
              </a:r>
              <a:endParaRPr lang="zh-CN" altLang="en-US" b="1">
                <a:solidFill>
                  <a:srgbClr val="006600"/>
                </a:solidFill>
                <a:latin typeface="Times New Roman" panose="02020603050405020304" pitchFamily="18" charset="0"/>
                <a:ea typeface="楷体_GB2312" pitchFamily="49" charset="-122"/>
              </a:endParaRPr>
            </a:p>
          </p:txBody>
        </p:sp>
      </p:grpSp>
      <p:grpSp>
        <p:nvGrpSpPr>
          <p:cNvPr id="64" name="组合 83">
            <a:extLst>
              <a:ext uri="{FF2B5EF4-FFF2-40B4-BE49-F238E27FC236}">
                <a16:creationId xmlns:a16="http://schemas.microsoft.com/office/drawing/2014/main" id="{A0147042-7BB9-D1E8-6FB2-4D528C1DE8DA}"/>
              </a:ext>
            </a:extLst>
          </p:cNvPr>
          <p:cNvGrpSpPr>
            <a:grpSpLocks/>
          </p:cNvGrpSpPr>
          <p:nvPr/>
        </p:nvGrpSpPr>
        <p:grpSpPr bwMode="auto">
          <a:xfrm>
            <a:off x="2595563" y="4073525"/>
            <a:ext cx="5786437" cy="2281238"/>
            <a:chOff x="1071538" y="4071942"/>
            <a:chExt cx="5786478" cy="2280652"/>
          </a:xfrm>
        </p:grpSpPr>
        <p:sp>
          <p:nvSpPr>
            <p:cNvPr id="70674" name="TextBox 79">
              <a:extLst>
                <a:ext uri="{FF2B5EF4-FFF2-40B4-BE49-F238E27FC236}">
                  <a16:creationId xmlns:a16="http://schemas.microsoft.com/office/drawing/2014/main" id="{E38583B7-4FC6-6054-9FB0-B5395AA56E01}"/>
                </a:ext>
              </a:extLst>
            </p:cNvPr>
            <p:cNvSpPr txBox="1">
              <a:spLocks noChangeArrowheads="1"/>
            </p:cNvSpPr>
            <p:nvPr/>
          </p:nvSpPr>
          <p:spPr bwMode="auto">
            <a:xfrm>
              <a:off x="1285852" y="5429264"/>
              <a:ext cx="5572164" cy="92333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dist[1]=</a:t>
              </a:r>
              <a:r>
                <a:rPr lang="zh-CN"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prev[1]=*	dist[2]=10</a:t>
              </a:r>
              <a:r>
                <a:rPr lang="zh-CN"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prev[2]=0</a:t>
              </a:r>
              <a:endParaRPr lang="zh-CN" altLang="zh-CN" b="1">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eaLnBrk="1" hangingPunct="1"/>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dist[3]=50</a:t>
              </a:r>
              <a:r>
                <a:rPr lang="zh-CN"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prev[3]=4	dist[4]=30</a:t>
              </a:r>
              <a:r>
                <a:rPr lang="zh-CN"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prev[4]=0</a:t>
              </a:r>
              <a:endParaRPr lang="zh-CN" altLang="zh-CN" b="1">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eaLnBrk="1" hangingPunct="1"/>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dist[5]=60</a:t>
              </a:r>
              <a:r>
                <a:rPr lang="zh-CN"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b="1">
                  <a:solidFill>
                    <a:srgbClr val="0000FF"/>
                  </a:solidFill>
                  <a:latin typeface="Consolas" panose="020B0609020204030204" pitchFamily="49" charset="0"/>
                  <a:ea typeface="楷体" panose="02010609060101010101" pitchFamily="49" charset="-122"/>
                  <a:cs typeface="Consolas" panose="020B0609020204030204" pitchFamily="49" charset="0"/>
                </a:rPr>
                <a:t>prev[5]=3</a:t>
              </a:r>
              <a:endParaRPr lang="zh-CN" altLang="en-US" b="1">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1" name="左弧形箭头 80">
              <a:extLst>
                <a:ext uri="{FF2B5EF4-FFF2-40B4-BE49-F238E27FC236}">
                  <a16:creationId xmlns:a16="http://schemas.microsoft.com/office/drawing/2014/main" id="{360161D3-61E9-8E6D-0E79-BD554446C344}"/>
                </a:ext>
              </a:extLst>
            </p:cNvPr>
            <p:cNvSpPr/>
            <p:nvPr/>
          </p:nvSpPr>
          <p:spPr>
            <a:xfrm>
              <a:off x="1071538" y="4071942"/>
              <a:ext cx="428628" cy="128554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fontAlgn="auto" hangingPunct="1">
                <a:spcBef>
                  <a:spcPts val="0"/>
                </a:spcBef>
                <a:spcAft>
                  <a:spcPts val="0"/>
                </a:spcAft>
                <a:defRPr/>
              </a:pPr>
              <a:endParaRPr lang="zh-CN" altLang="en-US" b="1">
                <a:solidFill>
                  <a:prstClr val="black"/>
                </a:solidFill>
              </a:endParaRPr>
            </a:p>
          </p:txBody>
        </p:sp>
      </p:grpSp>
      <p:grpSp>
        <p:nvGrpSpPr>
          <p:cNvPr id="71" name="组合 84">
            <a:extLst>
              <a:ext uri="{FF2B5EF4-FFF2-40B4-BE49-F238E27FC236}">
                <a16:creationId xmlns:a16="http://schemas.microsoft.com/office/drawing/2014/main" id="{191FCA2D-C6E2-D04B-21B8-D91003E35EE1}"/>
              </a:ext>
            </a:extLst>
          </p:cNvPr>
          <p:cNvGrpSpPr>
            <a:grpSpLocks/>
          </p:cNvGrpSpPr>
          <p:nvPr/>
        </p:nvGrpSpPr>
        <p:grpSpPr bwMode="auto">
          <a:xfrm>
            <a:off x="8524875" y="5430838"/>
            <a:ext cx="1928813" cy="646112"/>
            <a:chOff x="7000892" y="5429264"/>
            <a:chExt cx="1928826" cy="646204"/>
          </a:xfrm>
        </p:grpSpPr>
        <p:sp>
          <p:nvSpPr>
            <p:cNvPr id="70672" name="TextBox 81">
              <a:extLst>
                <a:ext uri="{FF2B5EF4-FFF2-40B4-BE49-F238E27FC236}">
                  <a16:creationId xmlns:a16="http://schemas.microsoft.com/office/drawing/2014/main" id="{E9AA57BD-C7CE-0D2E-DAC0-2E11070263CE}"/>
                </a:ext>
              </a:extLst>
            </p:cNvPr>
            <p:cNvSpPr txBox="1">
              <a:spLocks noChangeArrowheads="1"/>
            </p:cNvSpPr>
            <p:nvPr/>
          </p:nvSpPr>
          <p:spPr bwMode="auto">
            <a:xfrm>
              <a:off x="7286644" y="5429264"/>
              <a:ext cx="1643074" cy="646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zh-CN" altLang="en-US" b="1" dirty="0">
                  <a:solidFill>
                    <a:srgbClr val="0000FF"/>
                  </a:solidFill>
                  <a:latin typeface="华文楷体" panose="02010600040101010101" pitchFamily="2" charset="-122"/>
                  <a:ea typeface="华文楷体" panose="02010600040101010101" pitchFamily="2" charset="-122"/>
                </a:rPr>
                <a:t>求顶点</a:t>
              </a:r>
              <a:r>
                <a:rPr lang="en-US" altLang="zh-CN" b="1" dirty="0">
                  <a:solidFill>
                    <a:srgbClr val="0000FF"/>
                  </a:solidFill>
                  <a:latin typeface="华文楷体" panose="02010600040101010101" pitchFamily="2" charset="-122"/>
                  <a:ea typeface="华文楷体" panose="02010600040101010101" pitchFamily="2" charset="-122"/>
                </a:rPr>
                <a:t>0</a:t>
              </a:r>
              <a:r>
                <a:rPr lang="zh-CN" altLang="en-US" b="1" dirty="0">
                  <a:solidFill>
                    <a:srgbClr val="0000FF"/>
                  </a:solidFill>
                  <a:latin typeface="华文楷体" panose="02010600040101010101" pitchFamily="2" charset="-122"/>
                  <a:ea typeface="华文楷体" panose="02010600040101010101" pitchFamily="2" charset="-122"/>
                </a:rPr>
                <a:t>出发的最短路径</a:t>
              </a:r>
            </a:p>
          </p:txBody>
        </p:sp>
        <p:sp>
          <p:nvSpPr>
            <p:cNvPr id="83" name="右箭头 82">
              <a:extLst>
                <a:ext uri="{FF2B5EF4-FFF2-40B4-BE49-F238E27FC236}">
                  <a16:creationId xmlns:a16="http://schemas.microsoft.com/office/drawing/2014/main" id="{6F5E97C3-DA3F-16A4-826B-2131B13079B5}"/>
                </a:ext>
              </a:extLst>
            </p:cNvPr>
            <p:cNvSpPr/>
            <p:nvPr/>
          </p:nvSpPr>
          <p:spPr>
            <a:xfrm>
              <a:off x="7000892" y="5715055"/>
              <a:ext cx="285752" cy="28579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fontAlgn="auto" hangingPunct="1">
                <a:spcBef>
                  <a:spcPts val="0"/>
                </a:spcBef>
                <a:spcAft>
                  <a:spcPts val="0"/>
                </a:spcAft>
                <a:defRPr/>
              </a:pPr>
              <a:endParaRPr lang="zh-CN" altLang="en-US" b="1">
                <a:solidFill>
                  <a:prstClr val="white"/>
                </a:solidFill>
              </a:endParaRP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6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跋涉">
  <a:themeElements>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跋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txDef>
      <a:spPr>
        <a:noFill/>
      </a:spPr>
      <a:bodyPr wrap="square" rtlCol="0">
        <a:spAutoFit/>
      </a:bodyPr>
      <a:lstStyle>
        <a:defPPr>
          <a:defRPr sz="2000" smtClean="0">
            <a:ea typeface="楷体" pitchFamily="49" charset="-122"/>
            <a:cs typeface="Times New Roman" pitchFamily="18" charset="0"/>
          </a:defRPr>
        </a:defPPr>
      </a:lstStyle>
    </a:txDef>
  </a:objectDefaults>
  <a:extraClrSchemeLst/>
</a:theme>
</file>

<file path=ppt/theme/theme2.xml><?xml version="1.0" encoding="utf-8"?>
<a:theme xmlns:a="http://schemas.openxmlformats.org/drawingml/2006/main" name="1_跋涉">
  <a:themeElements>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跋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txDef>
      <a:spPr>
        <a:noFill/>
      </a:spPr>
      <a:bodyPr wrap="square" rtlCol="0">
        <a:spAutoFit/>
      </a:bodyPr>
      <a:lstStyle>
        <a:defPPr>
          <a:defRPr sz="2000" smtClean="0">
            <a:ea typeface="楷体" pitchFamily="49" charset="-122"/>
            <a:cs typeface="Times New Roman" pitchFamily="18" charset="0"/>
          </a:defRPr>
        </a:defPPr>
      </a:lstStyle>
    </a:txDef>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docProps/app.xml><?xml version="1.0" encoding="utf-8"?>
<Properties xmlns="http://schemas.openxmlformats.org/officeDocument/2006/extended-properties" xmlns:vt="http://schemas.openxmlformats.org/officeDocument/2006/docPropsVTypes">
  <Template>Office Theme</Template>
  <TotalTime>2402</TotalTime>
  <Words>6289</Words>
  <Application>Microsoft Office PowerPoint</Application>
  <PresentationFormat>自定义</PresentationFormat>
  <Paragraphs>937</Paragraphs>
  <Slides>52</Slides>
  <Notes>34</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52</vt:i4>
      </vt:variant>
    </vt:vector>
  </HeadingPairs>
  <TitlesOfParts>
    <vt:vector size="65" baseType="lpstr">
      <vt:lpstr>Calibri</vt:lpstr>
      <vt:lpstr>Arial</vt:lpstr>
      <vt:lpstr>Calibri Light</vt:lpstr>
      <vt:lpstr>宋体</vt:lpstr>
      <vt:lpstr>微软雅黑</vt:lpstr>
      <vt:lpstr>等线</vt:lpstr>
      <vt:lpstr>黑体</vt:lpstr>
      <vt:lpstr>楷体_GB2312</vt:lpstr>
      <vt:lpstr>Times New Roman</vt:lpstr>
      <vt:lpstr>Consolas</vt:lpstr>
      <vt:lpstr>楷体</vt:lpstr>
      <vt:lpstr>跋涉</vt:lpstr>
      <vt:lpstr>1_跋涉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    分支限界法</dc:title>
  <dc:creator>g</dc:creator>
  <cp:lastModifiedBy>c14794</cp:lastModifiedBy>
  <cp:revision>59</cp:revision>
  <dcterms:created xsi:type="dcterms:W3CDTF">2009-03-21T00:42:01Z</dcterms:created>
  <dcterms:modified xsi:type="dcterms:W3CDTF">2024-08-06T08:32:11Z</dcterms:modified>
</cp:coreProperties>
</file>