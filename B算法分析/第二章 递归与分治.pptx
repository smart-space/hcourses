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theme/themeOverride20.xml" ContentType="application/vnd.openxmlformats-officedocument.themeOverride+xml"/>
  <Override PartName="/ppt/theme/themeOverride21.xml" ContentType="application/vnd.openxmlformats-officedocument.themeOverride+xml"/>
  <Override PartName="/ppt/theme/themeOverride22.xml" ContentType="application/vnd.openxmlformats-officedocument.themeOverride+xml"/>
  <Override PartName="/ppt/theme/themeOverride23.xml" ContentType="application/vnd.openxmlformats-officedocument.themeOverride+xml"/>
  <Override PartName="/ppt/theme/themeOverride24.xml" ContentType="application/vnd.openxmlformats-officedocument.themeOverride+xml"/>
  <Override PartName="/ppt/theme/themeOverride25.xml" ContentType="application/vnd.openxmlformats-officedocument.themeOverride+xml"/>
  <Override PartName="/ppt/theme/themeOverride26.xml" ContentType="application/vnd.openxmlformats-officedocument.themeOverride+xml"/>
  <Override PartName="/ppt/theme/themeOverride27.xml" ContentType="application/vnd.openxmlformats-officedocument.themeOverride+xml"/>
  <Override PartName="/ppt/theme/themeOverride28.xml" ContentType="application/vnd.openxmlformats-officedocument.themeOverride+xml"/>
  <Override PartName="/ppt/theme/themeOverride29.xml" ContentType="application/vnd.openxmlformats-officedocument.themeOverride+xml"/>
  <Override PartName="/ppt/theme/themeOverride30.xml" ContentType="application/vnd.openxmlformats-officedocument.themeOverride+xml"/>
  <Override PartName="/ppt/theme/themeOverride31.xml" ContentType="application/vnd.openxmlformats-officedocument.themeOverride+xml"/>
  <Override PartName="/ppt/theme/themeOverride32.xml" ContentType="application/vnd.openxmlformats-officedocument.themeOverride+xml"/>
  <Override PartName="/ppt/theme/themeOverride33.xml" ContentType="application/vnd.openxmlformats-officedocument.themeOverride+xml"/>
  <Override PartName="/ppt/theme/themeOverride34.xml" ContentType="application/vnd.openxmlformats-officedocument.themeOverride+xml"/>
  <Override PartName="/ppt/theme/themeOverride35.xml" ContentType="application/vnd.openxmlformats-officedocument.themeOverride+xml"/>
  <Override PartName="/ppt/theme/themeOverride36.xml" ContentType="application/vnd.openxmlformats-officedocument.themeOverride+xml"/>
  <Override PartName="/ppt/theme/themeOverride37.xml" ContentType="application/vnd.openxmlformats-officedocument.themeOverride+xml"/>
  <Override PartName="/ppt/theme/themeOverride38.xml" ContentType="application/vnd.openxmlformats-officedocument.themeOverride+xml"/>
  <Override PartName="/ppt/theme/themeOverride39.xml" ContentType="application/vnd.openxmlformats-officedocument.themeOverride+xml"/>
  <Override PartName="/ppt/theme/themeOverride40.xml" ContentType="application/vnd.openxmlformats-officedocument.themeOverride+xml"/>
  <Override PartName="/ppt/theme/themeOverride41.xml" ContentType="application/vnd.openxmlformats-officedocument.themeOverride+xml"/>
  <Override PartName="/ppt/theme/themeOverride42.xml" ContentType="application/vnd.openxmlformats-officedocument.themeOverride+xml"/>
  <Override PartName="/ppt/theme/themeOverride43.xml" ContentType="application/vnd.openxmlformats-officedocument.themeOverr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heme/themeOverride44.xml" ContentType="application/vnd.openxmlformats-officedocument.themeOverride+xml"/>
  <Override PartName="/ppt/theme/themeOverride45.xml" ContentType="application/vnd.openxmlformats-officedocument.themeOverride+xml"/>
  <Override PartName="/ppt/theme/themeOverride46.xml" ContentType="application/vnd.openxmlformats-officedocument.themeOverride+xml"/>
  <Override PartName="/ppt/theme/themeOverride47.xml" ContentType="application/vnd.openxmlformats-officedocument.themeOverride+xml"/>
  <Override PartName="/ppt/theme/themeOverride48.xml" ContentType="application/vnd.openxmlformats-officedocument.themeOverride+xml"/>
  <Override PartName="/ppt/theme/themeOverride49.xml" ContentType="application/vnd.openxmlformats-officedocument.themeOverride+xml"/>
  <Override PartName="/ppt/theme/themeOverride50.xml" ContentType="application/vnd.openxmlformats-officedocument.themeOverride+xml"/>
  <Override PartName="/ppt/theme/themeOverride51.xml" ContentType="application/vnd.openxmlformats-officedocument.themeOverride+xml"/>
  <Override PartName="/ppt/theme/themeOverride52.xml" ContentType="application/vnd.openxmlformats-officedocument.themeOverride+xml"/>
  <Override PartName="/ppt/theme/themeOverride53.xml" ContentType="application/vnd.openxmlformats-officedocument.themeOverride+xml"/>
  <Override PartName="/ppt/theme/themeOverride54.xml" ContentType="application/vnd.openxmlformats-officedocument.themeOverride+xml"/>
  <Override PartName="/ppt/theme/themeOverride55.xml" ContentType="application/vnd.openxmlformats-officedocument.themeOverride+xml"/>
  <Override PartName="/ppt/theme/themeOverride56.xml" ContentType="application/vnd.openxmlformats-officedocument.themeOverride+xml"/>
  <Override PartName="/ppt/theme/themeOverride57.xml" ContentType="application/vnd.openxmlformats-officedocument.themeOverr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2.xml" ContentType="application/vnd.openxmlformats-officedocument.presentationml.notesSlide+xml"/>
  <Override PartName="/ppt/theme/themeOverride58.xml" ContentType="application/vnd.openxmlformats-officedocument.themeOverride+xml"/>
  <Override PartName="/ppt/theme/themeOverride59.xml" ContentType="application/vnd.openxmlformats-officedocument.themeOverride+xml"/>
  <Override PartName="/ppt/theme/themeOverride60.xml" ContentType="application/vnd.openxmlformats-officedocument.themeOverride+xml"/>
  <Override PartName="/ppt/theme/themeOverride61.xml" ContentType="application/vnd.openxmlformats-officedocument.themeOverr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heme/themeOverride62.xml" ContentType="application/vnd.openxmlformats-officedocument.themeOverr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heme/themeOverride63.xml" ContentType="application/vnd.openxmlformats-officedocument.themeOverride+xml"/>
  <Override PartName="/ppt/theme/themeOverride64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65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66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67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68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69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70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71.xml" ContentType="application/vnd.openxmlformats-officedocument.themeOverride+xml"/>
  <Override PartName="/ppt/theme/themeOverride72.xml" ContentType="application/vnd.openxmlformats-officedocument.themeOverride+xml"/>
  <Override PartName="/ppt/theme/themeOverride73.xml" ContentType="application/vnd.openxmlformats-officedocument.themeOverride+xml"/>
  <Override PartName="/ppt/theme/themeOverride74.xml" ContentType="application/vnd.openxmlformats-officedocument.themeOverride+xml"/>
  <Override PartName="/ppt/theme/themeOverride75.xml" ContentType="application/vnd.openxmlformats-officedocument.themeOverride+xml"/>
  <Override PartName="/ppt/theme/themeOverride76.xml" ContentType="application/vnd.openxmlformats-officedocument.themeOverride+xml"/>
  <Override PartName="/ppt/theme/themeOverride77.xml" ContentType="application/vnd.openxmlformats-officedocument.themeOverride+xml"/>
  <Override PartName="/ppt/theme/themeOverride78.xml" ContentType="application/vnd.openxmlformats-officedocument.themeOverride+xml"/>
  <Override PartName="/ppt/theme/themeOverride79.xml" ContentType="application/vnd.openxmlformats-officedocument.themeOverride+xml"/>
  <Override PartName="/ppt/theme/themeOverride80.xml" ContentType="application/vnd.openxmlformats-officedocument.themeOverride+xml"/>
  <Override PartName="/ppt/theme/themeOverride81.xml" ContentType="application/vnd.openxmlformats-officedocument.themeOverride+xml"/>
  <Override PartName="/ppt/notesSlides/notesSlide10.xml" ContentType="application/vnd.openxmlformats-officedocument.presentationml.notesSlide+xml"/>
  <Override PartName="/ppt/theme/themeOverride82.xml" ContentType="application/vnd.openxmlformats-officedocument.themeOverride+xml"/>
  <Override PartName="/ppt/theme/themeOverride83.xml" ContentType="application/vnd.openxmlformats-officedocument.themeOverride+xml"/>
  <Override PartName="/ppt/theme/themeOverride84.xml" ContentType="application/vnd.openxmlformats-officedocument.themeOverride+xml"/>
  <Override PartName="/ppt/theme/themeOverride85.xml" ContentType="application/vnd.openxmlformats-officedocument.themeOverride+xml"/>
  <Override PartName="/ppt/theme/themeOverride86.xml" ContentType="application/vnd.openxmlformats-officedocument.themeOverride+xml"/>
  <Override PartName="/ppt/theme/themeOverride87.xml" ContentType="application/vnd.openxmlformats-officedocument.themeOverride+xml"/>
  <Override PartName="/ppt/theme/themeOverride88.xml" ContentType="application/vnd.openxmlformats-officedocument.themeOverride+xml"/>
  <Override PartName="/ppt/theme/themeOverride89.xml" ContentType="application/vnd.openxmlformats-officedocument.themeOverride+xml"/>
  <Override PartName="/ppt/theme/themeOverride90.xml" ContentType="application/vnd.openxmlformats-officedocument.themeOverride+xml"/>
  <Override PartName="/ppt/theme/themeOverride91.xml" ContentType="application/vnd.openxmlformats-officedocument.themeOverride+xml"/>
  <Override PartName="/ppt/theme/themeOverride92.xml" ContentType="application/vnd.openxmlformats-officedocument.themeOverride+xml"/>
  <Override PartName="/ppt/theme/themeOverride93.xml" ContentType="application/vnd.openxmlformats-officedocument.themeOverride+xml"/>
  <Override PartName="/ppt/theme/themeOverride94.xml" ContentType="application/vnd.openxmlformats-officedocument.themeOverride+xml"/>
  <Override PartName="/ppt/theme/themeOverride95.xml" ContentType="application/vnd.openxmlformats-officedocument.themeOverride+xml"/>
  <Override PartName="/ppt/theme/themeOverride96.xml" ContentType="application/vnd.openxmlformats-officedocument.themeOverride+xml"/>
  <Override PartName="/ppt/theme/themeOverride97.xml" ContentType="application/vnd.openxmlformats-officedocument.themeOverride+xml"/>
  <Override PartName="/ppt/theme/themeOverride98.xml" ContentType="application/vnd.openxmlformats-officedocument.themeOverride+xml"/>
  <Override PartName="/ppt/theme/themeOverride99.xml" ContentType="application/vnd.openxmlformats-officedocument.themeOverride+xml"/>
  <Override PartName="/ppt/theme/themeOverride100.xml" ContentType="application/vnd.openxmlformats-officedocument.themeOverride+xml"/>
  <Override PartName="/ppt/theme/themeOverride101.xml" ContentType="application/vnd.openxmlformats-officedocument.themeOverride+xml"/>
  <Override PartName="/ppt/theme/themeOverride102.xml" ContentType="application/vnd.openxmlformats-officedocument.themeOverride+xml"/>
  <Override PartName="/ppt/theme/themeOverride103.xml" ContentType="application/vnd.openxmlformats-officedocument.themeOverride+xml"/>
  <Override PartName="/ppt/theme/themeOverride104.xml" ContentType="application/vnd.openxmlformats-officedocument.themeOverride+xml"/>
  <Override PartName="/ppt/theme/themeOverride105.xml" ContentType="application/vnd.openxmlformats-officedocument.themeOverride+xml"/>
  <Override PartName="/ppt/tags/tag59.xml" ContentType="application/vnd.openxmlformats-officedocument.presentationml.tags+xml"/>
  <Override PartName="/ppt/theme/themeOverride106.xml" ContentType="application/vnd.openxmlformats-officedocument.themeOverride+xml"/>
  <Override PartName="/ppt/theme/themeOverride107.xml" ContentType="application/vnd.openxmlformats-officedocument.themeOverride+xml"/>
  <Override PartName="/ppt/notesSlides/notesSlide11.xml" ContentType="application/vnd.openxmlformats-officedocument.presentationml.notesSlide+xml"/>
  <Override PartName="/ppt/theme/themeOverride108.xml" ContentType="application/vnd.openxmlformats-officedocument.themeOverride+xml"/>
  <Override PartName="/ppt/theme/themeOverride109.xml" ContentType="application/vnd.openxmlformats-officedocument.themeOverride+xml"/>
  <Override PartName="/ppt/theme/themeOverride110.xml" ContentType="application/vnd.openxmlformats-officedocument.themeOverride+xml"/>
  <Override PartName="/ppt/theme/themeOverride111.xml" ContentType="application/vnd.openxmlformats-officedocument.themeOverride+xml"/>
  <Override PartName="/ppt/theme/themeOverride112.xml" ContentType="application/vnd.openxmlformats-officedocument.themeOverride+xml"/>
  <Override PartName="/ppt/theme/themeOverride113.xml" ContentType="application/vnd.openxmlformats-officedocument.themeOverride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heme/themeOverride114.xml" ContentType="application/vnd.openxmlformats-officedocument.themeOverride+xml"/>
  <Override PartName="/ppt/theme/themeOverride115.xml" ContentType="application/vnd.openxmlformats-officedocument.themeOverride+xml"/>
  <Override PartName="/ppt/theme/themeOverride116.xml" ContentType="application/vnd.openxmlformats-officedocument.themeOverride+xml"/>
  <Override PartName="/ppt/tags/tag125.xml" ContentType="application/vnd.openxmlformats-officedocument.presentationml.tags+xml"/>
  <Override PartName="/ppt/theme/themeOverride117.xml" ContentType="application/vnd.openxmlformats-officedocument.themeOverride+xml"/>
  <Override PartName="/ppt/theme/themeOverride118.xml" ContentType="application/vnd.openxmlformats-officedocument.themeOverride+xml"/>
  <Override PartName="/ppt/theme/themeOverride119.xml" ContentType="application/vnd.openxmlformats-officedocument.themeOverride+xml"/>
  <Override PartName="/ppt/theme/themeOverride120.xml" ContentType="application/vnd.openxmlformats-officedocument.themeOverride+xml"/>
  <Override PartName="/ppt/theme/themeOverride121.xml" ContentType="application/vnd.openxmlformats-officedocument.themeOverride+xml"/>
  <Override PartName="/ppt/theme/themeOverride122.xml" ContentType="application/vnd.openxmlformats-officedocument.themeOverride+xml"/>
  <Override PartName="/ppt/theme/themeOverride123.xml" ContentType="application/vnd.openxmlformats-officedocument.themeOverride+xml"/>
  <Override PartName="/ppt/theme/themeOverride124.xml" ContentType="application/vnd.openxmlformats-officedocument.themeOverride+xml"/>
  <Override PartName="/ppt/tags/tag126.xml" ContentType="application/vnd.openxmlformats-officedocument.presentationml.tags+xml"/>
  <Override PartName="/ppt/theme/themeOverride125.xml" ContentType="application/vnd.openxmlformats-officedocument.themeOverride+xml"/>
  <Override PartName="/ppt/theme/themeOverride126.xml" ContentType="application/vnd.openxmlformats-officedocument.themeOverride+xml"/>
  <Override PartName="/ppt/tags/tag127.xml" ContentType="application/vnd.openxmlformats-officedocument.presentationml.tags+xml"/>
  <Override PartName="/ppt/theme/themeOverride127.xml" ContentType="application/vnd.openxmlformats-officedocument.themeOverride+xml"/>
  <Override PartName="/ppt/theme/themeOverride128.xml" ContentType="application/vnd.openxmlformats-officedocument.themeOverride+xml"/>
  <Override PartName="/ppt/theme/themeOverride129.xml" ContentType="application/vnd.openxmlformats-officedocument.themeOverride+xml"/>
  <Override PartName="/ppt/theme/themeOverride130.xml" ContentType="application/vnd.openxmlformats-officedocument.themeOverride+xml"/>
  <Override PartName="/ppt/theme/themeOverride131.xml" ContentType="application/vnd.openxmlformats-officedocument.themeOverride+xml"/>
  <Override PartName="/ppt/theme/themeOverride132.xml" ContentType="application/vnd.openxmlformats-officedocument.themeOverride+xml"/>
  <Override PartName="/ppt/theme/themeOverride133.xml" ContentType="application/vnd.openxmlformats-officedocument.themeOverride+xml"/>
  <Override PartName="/ppt/theme/themeOverride134.xml" ContentType="application/vnd.openxmlformats-officedocument.themeOverride+xml"/>
  <Override PartName="/ppt/tags/tag128.xml" ContentType="application/vnd.openxmlformats-officedocument.presentationml.tags+xml"/>
  <Override PartName="/ppt/theme/themeOverride135.xml" ContentType="application/vnd.openxmlformats-officedocument.themeOverride+xml"/>
  <Override PartName="/ppt/theme/themeOverride136.xml" ContentType="application/vnd.openxmlformats-officedocument.themeOverride+xml"/>
  <Override PartName="/ppt/theme/themeOverride137.xml" ContentType="application/vnd.openxmlformats-officedocument.themeOverride+xml"/>
  <Override PartName="/ppt/theme/themeOverride138.xml" ContentType="application/vnd.openxmlformats-officedocument.themeOverride+xml"/>
  <Override PartName="/ppt/theme/themeOverride139.xml" ContentType="application/vnd.openxmlformats-officedocument.themeOverride+xml"/>
  <Override PartName="/ppt/theme/themeOverride140.xml" ContentType="application/vnd.openxmlformats-officedocument.themeOverride+xml"/>
  <Override PartName="/ppt/theme/themeOverride141.xml" ContentType="application/vnd.openxmlformats-officedocument.themeOverride+xml"/>
  <Override PartName="/ppt/theme/themeOverride142.xml" ContentType="application/vnd.openxmlformats-officedocument.themeOverride+xml"/>
  <Override PartName="/ppt/theme/themeOverride143.xml" ContentType="application/vnd.openxmlformats-officedocument.themeOverride+xml"/>
  <Override PartName="/ppt/theme/themeOverride144.xml" ContentType="application/vnd.openxmlformats-officedocument.themeOverride+xml"/>
  <Override PartName="/ppt/theme/themeOverride145.xml" ContentType="application/vnd.openxmlformats-officedocument.themeOverride+xml"/>
  <Override PartName="/ppt/theme/themeOverride146.xml" ContentType="application/vnd.openxmlformats-officedocument.themeOverride+xml"/>
  <Override PartName="/ppt/theme/themeOverride147.xml" ContentType="application/vnd.openxmlformats-officedocument.themeOverride+xml"/>
  <Override PartName="/ppt/tags/tag129.xml" ContentType="application/vnd.openxmlformats-officedocument.presentationml.tags+xml"/>
  <Override PartName="/ppt/theme/themeOverride148.xml" ContentType="application/vnd.openxmlformats-officedocument.themeOverride+xml"/>
  <Override PartName="/ppt/theme/themeOverride149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  <p:sldMasterId id="2147483672" r:id="rId2"/>
  </p:sldMasterIdLst>
  <p:notesMasterIdLst>
    <p:notesMasterId r:id="rId153"/>
  </p:notesMasterIdLst>
  <p:handoutMasterIdLst>
    <p:handoutMasterId r:id="rId154"/>
  </p:handoutMasterIdLst>
  <p:sldIdLst>
    <p:sldId id="563" r:id="rId3"/>
    <p:sldId id="257" r:id="rId4"/>
    <p:sldId id="264" r:id="rId5"/>
    <p:sldId id="265" r:id="rId6"/>
    <p:sldId id="266" r:id="rId7"/>
    <p:sldId id="267" r:id="rId8"/>
    <p:sldId id="856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396" r:id="rId17"/>
    <p:sldId id="397" r:id="rId18"/>
    <p:sldId id="398" r:id="rId19"/>
    <p:sldId id="399" r:id="rId20"/>
    <p:sldId id="400" r:id="rId21"/>
    <p:sldId id="401" r:id="rId22"/>
    <p:sldId id="402" r:id="rId23"/>
    <p:sldId id="403" r:id="rId24"/>
    <p:sldId id="404" r:id="rId25"/>
    <p:sldId id="405" r:id="rId26"/>
    <p:sldId id="406" r:id="rId27"/>
    <p:sldId id="407" r:id="rId28"/>
    <p:sldId id="408" r:id="rId29"/>
    <p:sldId id="409" r:id="rId30"/>
    <p:sldId id="410" r:id="rId31"/>
    <p:sldId id="411" r:id="rId32"/>
    <p:sldId id="412" r:id="rId33"/>
    <p:sldId id="414" r:id="rId34"/>
    <p:sldId id="416" r:id="rId35"/>
    <p:sldId id="418" r:id="rId36"/>
    <p:sldId id="419" r:id="rId37"/>
    <p:sldId id="420" r:id="rId38"/>
    <p:sldId id="421" r:id="rId39"/>
    <p:sldId id="422" r:id="rId40"/>
    <p:sldId id="423" r:id="rId41"/>
    <p:sldId id="424" r:id="rId42"/>
    <p:sldId id="425" r:id="rId43"/>
    <p:sldId id="426" r:id="rId44"/>
    <p:sldId id="427" r:id="rId45"/>
    <p:sldId id="428" r:id="rId46"/>
    <p:sldId id="429" r:id="rId47"/>
    <p:sldId id="430" r:id="rId48"/>
    <p:sldId id="431" r:id="rId49"/>
    <p:sldId id="432" r:id="rId50"/>
    <p:sldId id="433" r:id="rId51"/>
    <p:sldId id="434" r:id="rId52"/>
    <p:sldId id="435" r:id="rId53"/>
    <p:sldId id="439" r:id="rId54"/>
    <p:sldId id="440" r:id="rId55"/>
    <p:sldId id="441" r:id="rId56"/>
    <p:sldId id="442" r:id="rId57"/>
    <p:sldId id="443" r:id="rId58"/>
    <p:sldId id="444" r:id="rId59"/>
    <p:sldId id="445" r:id="rId60"/>
    <p:sldId id="446" r:id="rId61"/>
    <p:sldId id="447" r:id="rId62"/>
    <p:sldId id="448" r:id="rId63"/>
    <p:sldId id="738" r:id="rId64"/>
    <p:sldId id="449" r:id="rId65"/>
    <p:sldId id="279" r:id="rId66"/>
    <p:sldId id="280" r:id="rId67"/>
    <p:sldId id="281" r:id="rId68"/>
    <p:sldId id="282" r:id="rId69"/>
    <p:sldId id="283" r:id="rId70"/>
    <p:sldId id="284" r:id="rId71"/>
    <p:sldId id="285" r:id="rId72"/>
    <p:sldId id="286" r:id="rId73"/>
    <p:sldId id="287" r:id="rId74"/>
    <p:sldId id="857" r:id="rId75"/>
    <p:sldId id="858" r:id="rId76"/>
    <p:sldId id="859" r:id="rId77"/>
    <p:sldId id="860" r:id="rId78"/>
    <p:sldId id="861" r:id="rId79"/>
    <p:sldId id="862" r:id="rId80"/>
    <p:sldId id="863" r:id="rId81"/>
    <p:sldId id="864" r:id="rId82"/>
    <p:sldId id="865" r:id="rId83"/>
    <p:sldId id="866" r:id="rId84"/>
    <p:sldId id="867" r:id="rId85"/>
    <p:sldId id="868" r:id="rId86"/>
    <p:sldId id="869" r:id="rId87"/>
    <p:sldId id="870" r:id="rId88"/>
    <p:sldId id="871" r:id="rId89"/>
    <p:sldId id="465" r:id="rId90"/>
    <p:sldId id="466" r:id="rId91"/>
    <p:sldId id="467" r:id="rId92"/>
    <p:sldId id="468" r:id="rId93"/>
    <p:sldId id="469" r:id="rId94"/>
    <p:sldId id="302" r:id="rId95"/>
    <p:sldId id="303" r:id="rId96"/>
    <p:sldId id="304" r:id="rId97"/>
    <p:sldId id="305" r:id="rId98"/>
    <p:sldId id="306" r:id="rId99"/>
    <p:sldId id="307" r:id="rId100"/>
    <p:sldId id="393" r:id="rId101"/>
    <p:sldId id="310" r:id="rId102"/>
    <p:sldId id="311" r:id="rId103"/>
    <p:sldId id="312" r:id="rId104"/>
    <p:sldId id="392" r:id="rId105"/>
    <p:sldId id="314" r:id="rId106"/>
    <p:sldId id="390" r:id="rId107"/>
    <p:sldId id="849" r:id="rId108"/>
    <p:sldId id="316" r:id="rId109"/>
    <p:sldId id="317" r:id="rId110"/>
    <p:sldId id="391" r:id="rId111"/>
    <p:sldId id="319" r:id="rId112"/>
    <p:sldId id="320" r:id="rId113"/>
    <p:sldId id="321" r:id="rId114"/>
    <p:sldId id="322" r:id="rId115"/>
    <p:sldId id="850" r:id="rId116"/>
    <p:sldId id="323" r:id="rId117"/>
    <p:sldId id="324" r:id="rId118"/>
    <p:sldId id="851" r:id="rId119"/>
    <p:sldId id="325" r:id="rId120"/>
    <p:sldId id="326" r:id="rId121"/>
    <p:sldId id="327" r:id="rId122"/>
    <p:sldId id="328" r:id="rId123"/>
    <p:sldId id="329" r:id="rId124"/>
    <p:sldId id="330" r:id="rId125"/>
    <p:sldId id="331" r:id="rId126"/>
    <p:sldId id="332" r:id="rId127"/>
    <p:sldId id="395" r:id="rId128"/>
    <p:sldId id="852" r:id="rId129"/>
    <p:sldId id="334" r:id="rId130"/>
    <p:sldId id="335" r:id="rId131"/>
    <p:sldId id="336" r:id="rId132"/>
    <p:sldId id="337" r:id="rId133"/>
    <p:sldId id="338" r:id="rId134"/>
    <p:sldId id="339" r:id="rId135"/>
    <p:sldId id="340" r:id="rId136"/>
    <p:sldId id="853" r:id="rId137"/>
    <p:sldId id="341" r:id="rId138"/>
    <p:sldId id="872" r:id="rId139"/>
    <p:sldId id="873" r:id="rId140"/>
    <p:sldId id="874" r:id="rId141"/>
    <p:sldId id="875" r:id="rId142"/>
    <p:sldId id="876" r:id="rId143"/>
    <p:sldId id="877" r:id="rId144"/>
    <p:sldId id="481" r:id="rId145"/>
    <p:sldId id="482" r:id="rId146"/>
    <p:sldId id="483" r:id="rId147"/>
    <p:sldId id="484" r:id="rId148"/>
    <p:sldId id="485" r:id="rId149"/>
    <p:sldId id="486" r:id="rId150"/>
    <p:sldId id="487" r:id="rId151"/>
    <p:sldId id="394" r:id="rId152"/>
  </p:sldIdLst>
  <p:sldSz cx="12192000" cy="6858000"/>
  <p:notesSz cx="6858000" cy="9144000"/>
  <p:custDataLst>
    <p:tags r:id="rId15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" userDrawn="1">
          <p15:clr>
            <a:srgbClr val="A4A3A4"/>
          </p15:clr>
        </p15:guide>
        <p15:guide id="2" pos="3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152958"/>
    <a:srgbClr val="B58870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644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72" y="180"/>
      </p:cViewPr>
      <p:guideLst>
        <p:guide orient="horz" pos="139"/>
        <p:guide pos="37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17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63" Type="http://schemas.openxmlformats.org/officeDocument/2006/relationships/slide" Target="slides/slide61.xml"/><Relationship Id="rId84" Type="http://schemas.openxmlformats.org/officeDocument/2006/relationships/slide" Target="slides/slide82.xml"/><Relationship Id="rId138" Type="http://schemas.openxmlformats.org/officeDocument/2006/relationships/slide" Target="slides/slide136.xml"/><Relationship Id="rId159" Type="http://schemas.openxmlformats.org/officeDocument/2006/relationships/tableStyles" Target="tableStyles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53" Type="http://schemas.openxmlformats.org/officeDocument/2006/relationships/slide" Target="slides/slide51.xml"/><Relationship Id="rId74" Type="http://schemas.openxmlformats.org/officeDocument/2006/relationships/slide" Target="slides/slide72.xml"/><Relationship Id="rId128" Type="http://schemas.openxmlformats.org/officeDocument/2006/relationships/slide" Target="slides/slide126.xml"/><Relationship Id="rId149" Type="http://schemas.openxmlformats.org/officeDocument/2006/relationships/slide" Target="slides/slide147.xml"/><Relationship Id="rId5" Type="http://schemas.openxmlformats.org/officeDocument/2006/relationships/slide" Target="slides/slide3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43" Type="http://schemas.openxmlformats.org/officeDocument/2006/relationships/slide" Target="slides/slide41.xml"/><Relationship Id="rId64" Type="http://schemas.openxmlformats.org/officeDocument/2006/relationships/slide" Target="slides/slide62.xml"/><Relationship Id="rId118" Type="http://schemas.openxmlformats.org/officeDocument/2006/relationships/slide" Target="slides/slide116.xml"/><Relationship Id="rId139" Type="http://schemas.openxmlformats.org/officeDocument/2006/relationships/slide" Target="slides/slide13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50" Type="http://schemas.openxmlformats.org/officeDocument/2006/relationships/slide" Target="slides/slide148.xml"/><Relationship Id="rId155" Type="http://schemas.openxmlformats.org/officeDocument/2006/relationships/tags" Target="tags/tag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slide" Target="slides/slide122.xml"/><Relationship Id="rId129" Type="http://schemas.openxmlformats.org/officeDocument/2006/relationships/slide" Target="slides/slide127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40" Type="http://schemas.openxmlformats.org/officeDocument/2006/relationships/slide" Target="slides/slide138.xml"/><Relationship Id="rId145" Type="http://schemas.openxmlformats.org/officeDocument/2006/relationships/slide" Target="slides/slide14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0" Type="http://schemas.openxmlformats.org/officeDocument/2006/relationships/slide" Target="slides/slide128.xml"/><Relationship Id="rId135" Type="http://schemas.openxmlformats.org/officeDocument/2006/relationships/slide" Target="slides/slide133.xml"/><Relationship Id="rId151" Type="http://schemas.openxmlformats.org/officeDocument/2006/relationships/slide" Target="slides/slide149.xml"/><Relationship Id="rId156" Type="http://schemas.openxmlformats.org/officeDocument/2006/relationships/presProps" Target="presProps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slide" Target="slides/slide123.xml"/><Relationship Id="rId141" Type="http://schemas.openxmlformats.org/officeDocument/2006/relationships/slide" Target="slides/slide139.xml"/><Relationship Id="rId146" Type="http://schemas.openxmlformats.org/officeDocument/2006/relationships/slide" Target="slides/slide14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slide" Target="slides/slide129.xml"/><Relationship Id="rId136" Type="http://schemas.openxmlformats.org/officeDocument/2006/relationships/slide" Target="slides/slide134.xml"/><Relationship Id="rId157" Type="http://schemas.openxmlformats.org/officeDocument/2006/relationships/viewProps" Target="viewProps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52" Type="http://schemas.openxmlformats.org/officeDocument/2006/relationships/slide" Target="slides/slide15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147" Type="http://schemas.openxmlformats.org/officeDocument/2006/relationships/slide" Target="slides/slide14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142" Type="http://schemas.openxmlformats.org/officeDocument/2006/relationships/slide" Target="slides/slide140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137" Type="http://schemas.openxmlformats.org/officeDocument/2006/relationships/slide" Target="slides/slide135.xml"/><Relationship Id="rId158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slide" Target="slides/slide130.xml"/><Relationship Id="rId153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143" Type="http://schemas.openxmlformats.org/officeDocument/2006/relationships/slide" Target="slides/slide141.xml"/><Relationship Id="rId148" Type="http://schemas.openxmlformats.org/officeDocument/2006/relationships/slide" Target="slides/slide146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26" Type="http://schemas.openxmlformats.org/officeDocument/2006/relationships/slide" Target="slides/slide24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slide" Target="slides/slide131.xml"/><Relationship Id="rId154" Type="http://schemas.openxmlformats.org/officeDocument/2006/relationships/handoutMaster" Target="handoutMasters/handoutMaster1.xml"/><Relationship Id="rId16" Type="http://schemas.openxmlformats.org/officeDocument/2006/relationships/slide" Target="slides/slide14.xml"/><Relationship Id="rId37" Type="http://schemas.openxmlformats.org/officeDocument/2006/relationships/slide" Target="slides/slide35.xml"/><Relationship Id="rId58" Type="http://schemas.openxmlformats.org/officeDocument/2006/relationships/slide" Target="slides/slide56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44" Type="http://schemas.openxmlformats.org/officeDocument/2006/relationships/slide" Target="slides/slide142.xml"/><Relationship Id="rId90" Type="http://schemas.openxmlformats.org/officeDocument/2006/relationships/slide" Target="slides/slide88.xml"/><Relationship Id="rId27" Type="http://schemas.openxmlformats.org/officeDocument/2006/relationships/slide" Target="slides/slide25.xml"/><Relationship Id="rId48" Type="http://schemas.openxmlformats.org/officeDocument/2006/relationships/slide" Target="slides/slide46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34" Type="http://schemas.openxmlformats.org/officeDocument/2006/relationships/slide" Target="slides/slide13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B66139-9B0F-4285-A7C8-5F3DD1739595}" type="datetimeFigureOut">
              <a:rPr lang="zh-CN" altLang="en-US" smtClean="0"/>
              <a:t>2024/8/5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964104-390F-47AC-91D9-CA37E3CE05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8059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2024/8/5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0802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2E81735-A160-429E-8741-EA74DB8349F2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800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>
                <a:latin typeface="Arial" panose="020B0604020202020204" pitchFamily="34" charset="0"/>
              </a:rPr>
              <a:t>chessboard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2800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D96AFBF-A28E-4553-91E8-C88BEDEE5018}" type="slidenum">
              <a:rPr lang="en-US" altLang="zh-CN" smtClean="0"/>
              <a:t>58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5E7B255C-2F3D-4916-BCAE-351F7CB83DD7}" type="slidenum">
              <a:rPr lang="en-US" altLang="zh-CN"/>
              <a:t>65</a:t>
            </a:fld>
            <a:endParaRPr lang="en-US" altLang="zh-CN"/>
          </a:p>
        </p:txBody>
      </p:sp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287048D-2AEE-4521-867D-2BE67067C695}" type="slidenum">
              <a:rPr lang="en-US" altLang="zh-CN"/>
              <a:t>66</a:t>
            </a:fld>
            <a:endParaRPr lang="en-US" altLang="zh-CN"/>
          </a:p>
        </p:txBody>
      </p:sp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908FD9CF-CE50-4BF9-B13F-9310DC7391DE}" type="slidenum">
              <a:rPr lang="en-US" altLang="zh-CN"/>
              <a:t>67</a:t>
            </a:fld>
            <a:endParaRPr lang="en-US" altLang="zh-CN"/>
          </a:p>
        </p:txBody>
      </p:sp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CAD818A8-24E4-4716-8EBF-CE0EDF050DA9}" type="slidenum">
              <a:rPr lang="en-US" altLang="zh-CN"/>
              <a:t>68</a:t>
            </a:fld>
            <a:endParaRPr lang="en-US" altLang="zh-CN"/>
          </a:p>
        </p:txBody>
      </p:sp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CBB82D1C-BB88-44EA-96BE-244EA2D2D987}" type="slidenum">
              <a:rPr lang="en-US" altLang="zh-CN"/>
              <a:t>69</a:t>
            </a:fld>
            <a:endParaRPr lang="en-US" altLang="zh-CN"/>
          </a:p>
        </p:txBody>
      </p:sp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13174459-A859-4CF8-8F1E-814AB5B2162B}" type="slidenum">
              <a:rPr lang="en-US" altLang="zh-CN"/>
              <a:t>70</a:t>
            </a:fld>
            <a:endParaRPr lang="en-US" altLang="zh-CN"/>
          </a:p>
        </p:txBody>
      </p:sp>
      <p:sp>
        <p:nvSpPr>
          <p:cNvPr id="9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C044325-C423-4687-8AD7-68D351F1B676}" type="slidenum">
              <a:rPr lang="en-US" altLang="zh-CN"/>
              <a:t>71</a:t>
            </a:fld>
            <a:endParaRPr lang="en-US" altLang="zh-CN"/>
          </a:p>
        </p:txBody>
      </p:sp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满二叉树深度是</a:t>
            </a:r>
            <a:r>
              <a:rPr lang="en-US" altLang="zh-CN" dirty="0"/>
              <a:t>log(n+1)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76A695-B9A6-41DE-B7AA-38D51A1908C2}" type="slidenum">
              <a:rPr lang="zh-CN" altLang="en-US" smtClean="0"/>
              <a:t>82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96503344-5150-4FD2-892E-AE7CE67CC48B}" type="slidenum">
              <a:rPr lang="en-US" altLang="zh-CN"/>
              <a:t>108</a:t>
            </a:fld>
            <a:endParaRPr lang="en-US" altLang="zh-CN"/>
          </a:p>
        </p:txBody>
      </p:sp>
      <p:sp>
        <p:nvSpPr>
          <p:cNvPr id="145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45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685800" y="5349903"/>
            <a:ext cx="1150620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标题 28"/>
          <p:cNvSpPr>
            <a:spLocks noGrp="1"/>
          </p:cNvSpPr>
          <p:nvPr>
            <p:ph type="ctrTitle"/>
          </p:nvPr>
        </p:nvSpPr>
        <p:spPr>
          <a:xfrm>
            <a:off x="508000" y="4853412"/>
            <a:ext cx="11277600" cy="1222375"/>
          </a:xfrm>
        </p:spPr>
        <p:txBody>
          <a:bodyPr anchor="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508000" y="3886200"/>
            <a:ext cx="112776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6BA32-6B79-4895-824E-744062688BEE}" type="datetimeFigureOut">
              <a:rPr lang="zh-CN" altLang="en-US" smtClean="0"/>
              <a:t>2024/8/5</a:t>
            </a:fld>
            <a:endParaRPr lang="zh-CN" altLang="en-US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>
          <a:xfrm>
            <a:off x="10972800" y="6473952"/>
            <a:ext cx="1011936" cy="246888"/>
          </a:xfrm>
        </p:spPr>
        <p:txBody>
          <a:bodyPr/>
          <a:lstStyle/>
          <a:p>
            <a:fld id="{FF35C9E2-507E-45B8-BD25-F3C98D86BE5F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1EFEFC3-9A40-97F0-4D53-E89EAD2ECE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4301" y="756341"/>
            <a:ext cx="4263399" cy="680573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98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5984109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27" name="内容占位符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25" name="日期占位符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6BA32-6B79-4895-824E-744062688BEE}" type="datetimeFigureOut">
              <a:rPr lang="zh-CN" altLang="en-US" smtClean="0"/>
              <a:t>2024/8/5</a:t>
            </a:fld>
            <a:endParaRPr lang="zh-CN" altLang="en-US"/>
          </a:p>
        </p:txBody>
      </p:sp>
      <p:sp>
        <p:nvSpPr>
          <p:cNvPr id="19" name="页脚占位符 18"/>
          <p:cNvSpPr>
            <a:spLocks noGrp="1"/>
          </p:cNvSpPr>
          <p:nvPr>
            <p:ph type="ftr" sz="quarter" idx="11"/>
          </p:nvPr>
        </p:nvSpPr>
        <p:spPr>
          <a:xfrm>
            <a:off x="4775200" y="76201"/>
            <a:ext cx="3860800" cy="2889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>
          <a:xfrm>
            <a:off x="10972800" y="6473952"/>
            <a:ext cx="1011936" cy="246888"/>
          </a:xfrm>
        </p:spPr>
        <p:txBody>
          <a:bodyPr/>
          <a:lstStyle/>
          <a:p>
            <a:fld id="{FF35C9E2-507E-45B8-BD25-F3C98D86BE5F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6C686BC-D84A-F585-FFF4-35A8D766C9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5366" y="214040"/>
            <a:ext cx="2932284" cy="468085"/>
          </a:xfrm>
          <a:prstGeom prst="rect">
            <a:avLst/>
          </a:prstGeom>
          <a:effectLst/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93E674F8-D069-5E3A-7F51-0737CC644829}"/>
              </a:ext>
            </a:extLst>
          </p:cNvPr>
          <p:cNvSpPr/>
          <p:nvPr userDrawn="1"/>
        </p:nvSpPr>
        <p:spPr>
          <a:xfrm>
            <a:off x="10229997" y="1926771"/>
            <a:ext cx="674913" cy="3246840"/>
          </a:xfrm>
          <a:prstGeom prst="rect">
            <a:avLst/>
          </a:prstGeom>
          <a:blipFill dpi="0" rotWithShape="1">
            <a:blip r:embed="rId3" cstate="print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183373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685800" y="3444903"/>
            <a:ext cx="1150620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508000" y="1676400"/>
            <a:ext cx="112776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19" name="日期占位符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6BA32-6B79-4895-824E-744062688BEE}" type="datetimeFigureOut">
              <a:rPr lang="zh-CN" altLang="en-US" smtClean="0"/>
              <a:t>2024/8/5</a:t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5C9E2-507E-45B8-BD25-F3C98D86BE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240633" y="2947086"/>
            <a:ext cx="115824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7174B1D-EE8A-FDC7-CEB6-0940CBB5A142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5366" y="214040"/>
            <a:ext cx="2932284" cy="468085"/>
          </a:xfrm>
          <a:prstGeom prst="rect">
            <a:avLst/>
          </a:prstGeom>
          <a:effectLst/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55D3A3A7-825E-ED17-752A-CF504AC4992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0229997" y="1926771"/>
            <a:ext cx="674913" cy="3246840"/>
          </a:xfrm>
          <a:prstGeom prst="rect">
            <a:avLst/>
          </a:prstGeom>
          <a:blipFill dpi="0" rotWithShape="1">
            <a:blip r:embed="rId5" cstate="print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541137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9"/>
          <p:cNvSpPr>
            <a:spLocks noGrp="1"/>
          </p:cNvSpPr>
          <p:nvPr>
            <p:ph type="title"/>
          </p:nvPr>
        </p:nvSpPr>
        <p:spPr>
          <a:xfrm>
            <a:off x="402336" y="457200"/>
            <a:ext cx="11582400" cy="841248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4" name="内容占位符 13"/>
          <p:cNvSpPr>
            <a:spLocks noGrp="1"/>
          </p:cNvSpPr>
          <p:nvPr>
            <p:ph sz="half" idx="1"/>
          </p:nvPr>
        </p:nvSpPr>
        <p:spPr>
          <a:xfrm>
            <a:off x="406400" y="1600200"/>
            <a:ext cx="5588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7912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21" name="日期占位符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6BA32-6B79-4895-824E-744062688BEE}" type="datetimeFigureOut">
              <a:rPr lang="zh-CN" altLang="en-US" smtClean="0"/>
              <a:t>2024/8/5</a:t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5C9E2-507E-45B8-BD25-F3C98D86BE5F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3C47A14-E6F2-4E69-9286-73C83F4872CC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5366" y="214040"/>
            <a:ext cx="2932284" cy="468085"/>
          </a:xfrm>
          <a:prstGeom prst="rect">
            <a:avLst/>
          </a:prstGeom>
          <a:effectLst/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62CCE02-D313-62CE-2CB6-27C80259C04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0229997" y="1926771"/>
            <a:ext cx="674913" cy="3246840"/>
          </a:xfrm>
          <a:prstGeom prst="rect">
            <a:avLst/>
          </a:prstGeom>
          <a:blipFill dpi="0" rotWithShape="1">
            <a:blip r:embed="rId5" cstate="print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446913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 28"/>
          <p:cNvSpPr>
            <a:spLocks noGrp="1"/>
          </p:cNvSpPr>
          <p:nvPr>
            <p:ph type="title"/>
          </p:nvPr>
        </p:nvSpPr>
        <p:spPr>
          <a:xfrm>
            <a:off x="406400" y="5410200"/>
            <a:ext cx="114808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375259" y="666750"/>
            <a:ext cx="57207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25" name="文本占位符 24"/>
          <p:cNvSpPr>
            <a:spLocks noGrp="1"/>
          </p:cNvSpPr>
          <p:nvPr>
            <p:ph type="body" sz="half" idx="3"/>
          </p:nvPr>
        </p:nvSpPr>
        <p:spPr>
          <a:xfrm>
            <a:off x="6193367" y="666750"/>
            <a:ext cx="5722988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375259" y="1316038"/>
            <a:ext cx="5720741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28" name="内容占位符 27"/>
          <p:cNvSpPr>
            <a:spLocks noGrp="1"/>
          </p:cNvSpPr>
          <p:nvPr>
            <p:ph sz="quarter" idx="4"/>
          </p:nvPr>
        </p:nvSpPr>
        <p:spPr>
          <a:xfrm>
            <a:off x="6198307" y="1316038"/>
            <a:ext cx="571804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6BA32-6B79-4895-824E-744062688BEE}" type="datetimeFigureOut">
              <a:rPr lang="zh-CN" altLang="en-US" smtClean="0"/>
              <a:t>2024/8/5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0972800" y="6477000"/>
            <a:ext cx="1016000" cy="246888"/>
          </a:xfrm>
        </p:spPr>
        <p:txBody>
          <a:bodyPr/>
          <a:lstStyle/>
          <a:p>
            <a:fld id="{FF35C9E2-507E-45B8-BD25-F3C98D86BE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直接连接符 10"/>
          <p:cNvSpPr>
            <a:spLocks noChangeShapeType="1"/>
          </p:cNvSpPr>
          <p:nvPr/>
        </p:nvSpPr>
        <p:spPr bwMode="auto">
          <a:xfrm>
            <a:off x="685800" y="6019801"/>
            <a:ext cx="1150620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CA6DC45-A57C-2A6B-1758-069E13E4D2A2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5366" y="214040"/>
            <a:ext cx="2932284" cy="468085"/>
          </a:xfrm>
          <a:prstGeom prst="rect">
            <a:avLst/>
          </a:prstGeom>
          <a:effectLst/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C4A52EC4-D988-0354-3653-55917A42135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0229997" y="1926771"/>
            <a:ext cx="674913" cy="3246840"/>
          </a:xfrm>
          <a:prstGeom prst="rect">
            <a:avLst/>
          </a:prstGeom>
          <a:blipFill dpi="0" rotWithShape="1">
            <a:blip r:embed="rId5" cstate="print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218325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 29"/>
          <p:cNvSpPr>
            <a:spLocks noGrp="1"/>
          </p:cNvSpPr>
          <p:nvPr>
            <p:ph type="title"/>
          </p:nvPr>
        </p:nvSpPr>
        <p:spPr>
          <a:xfrm>
            <a:off x="402336" y="457200"/>
            <a:ext cx="11582400" cy="841248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6BA32-6B79-4895-824E-744062688BEE}" type="datetimeFigureOut">
              <a:rPr lang="zh-CN" altLang="en-US" smtClean="0"/>
              <a:t>2024/8/5</a:t>
            </a:fld>
            <a:endParaRPr lang="zh-CN" altLang="en-US"/>
          </a:p>
        </p:txBody>
      </p:sp>
      <p:sp>
        <p:nvSpPr>
          <p:cNvPr id="21" name="页脚占位符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5C9E2-507E-45B8-BD25-F3C98D86BE5F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828A9F2-BA92-EAA6-43C2-A8FE80642CFD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5366" y="214040"/>
            <a:ext cx="2932284" cy="468085"/>
          </a:xfrm>
          <a:prstGeom prst="rect">
            <a:avLst/>
          </a:prstGeom>
          <a:effectLst/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09E2FC0B-AF79-0971-8041-3533F17DE91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0229997" y="1926771"/>
            <a:ext cx="674913" cy="3246840"/>
          </a:xfrm>
          <a:prstGeom prst="rect">
            <a:avLst/>
          </a:prstGeom>
          <a:blipFill dpi="0" rotWithShape="1">
            <a:blip r:embed="rId5" cstate="print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985662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6BA32-6B79-4895-824E-744062688BEE}" type="datetimeFigureOut">
              <a:rPr lang="zh-CN" altLang="en-US" smtClean="0"/>
              <a:t>2024/8/5</a:t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5C9E2-507E-45B8-BD25-F3C98D86BE5F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62F51CA-4ED5-7171-9219-D347C2FACCDA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5366" y="214040"/>
            <a:ext cx="2932284" cy="468085"/>
          </a:xfrm>
          <a:prstGeom prst="rect">
            <a:avLst/>
          </a:prstGeom>
          <a:effectLst/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C2E37F42-F4A4-9637-BC0D-8437F15C289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0229997" y="1926771"/>
            <a:ext cx="674913" cy="3246840"/>
          </a:xfrm>
          <a:prstGeom prst="rect">
            <a:avLst/>
          </a:prstGeom>
          <a:blipFill dpi="0" rotWithShape="1">
            <a:blip r:embed="rId5" cstate="print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8505872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接连接符 7"/>
          <p:cNvSpPr>
            <a:spLocks noChangeShapeType="1"/>
          </p:cNvSpPr>
          <p:nvPr/>
        </p:nvSpPr>
        <p:spPr bwMode="auto">
          <a:xfrm>
            <a:off x="685800" y="5849118"/>
            <a:ext cx="1150620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609600" y="5486400"/>
            <a:ext cx="112776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idx="2"/>
          </p:nvPr>
        </p:nvSpPr>
        <p:spPr>
          <a:xfrm>
            <a:off x="609601" y="609600"/>
            <a:ext cx="4011084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14" name="内容占位符 13"/>
          <p:cNvSpPr>
            <a:spLocks noGrp="1"/>
          </p:cNvSpPr>
          <p:nvPr>
            <p:ph sz="half" idx="1"/>
          </p:nvPr>
        </p:nvSpPr>
        <p:spPr>
          <a:xfrm>
            <a:off x="4766733" y="609600"/>
            <a:ext cx="7120467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25" name="日期占位符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6BA32-6B79-4895-824E-744062688BEE}" type="datetimeFigureOut">
              <a:rPr lang="zh-CN" altLang="en-US" smtClean="0"/>
              <a:t>2024/8/5</a:t>
            </a:fld>
            <a:endParaRPr lang="zh-CN" altLang="en-US"/>
          </a:p>
        </p:txBody>
      </p:sp>
      <p:sp>
        <p:nvSpPr>
          <p:cNvPr id="29" name="页脚占位符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5C9E2-507E-45B8-BD25-F3C98D86BE5F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4C56219-5722-32C1-225A-5187E3DF8E64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5366" y="214040"/>
            <a:ext cx="2932284" cy="468085"/>
          </a:xfrm>
          <a:prstGeom prst="rect">
            <a:avLst/>
          </a:prstGeom>
          <a:effectLst/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3CDD244D-5A95-09DD-CFDF-7C645A3666F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0229997" y="1926771"/>
            <a:ext cx="674913" cy="3246840"/>
          </a:xfrm>
          <a:prstGeom prst="rect">
            <a:avLst/>
          </a:prstGeom>
          <a:blipFill dpi="0" rotWithShape="1">
            <a:blip r:embed="rId5" cstate="print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4227867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图片占位符 12"/>
          <p:cNvSpPr>
            <a:spLocks noGrp="1"/>
          </p:cNvSpPr>
          <p:nvPr>
            <p:ph type="pic" idx="1"/>
          </p:nvPr>
        </p:nvSpPr>
        <p:spPr>
          <a:xfrm>
            <a:off x="4673600" y="616634"/>
            <a:ext cx="67056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/>
              <a:t>单击图标添加图片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6BA32-6B79-4895-824E-744062688BEE}" type="datetimeFigureOut">
              <a:rPr lang="zh-CN" altLang="en-US" smtClean="0"/>
              <a:t>2024/8/5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5C9E2-507E-45B8-BD25-F3C98D86BE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508000" y="4993760"/>
            <a:ext cx="78232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sz="half" idx="2"/>
          </p:nvPr>
        </p:nvSpPr>
        <p:spPr>
          <a:xfrm>
            <a:off x="508000" y="5533218"/>
            <a:ext cx="78232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94A0373-D556-D2E2-C3D0-270E7F48C0FD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5366" y="214040"/>
            <a:ext cx="2932284" cy="468085"/>
          </a:xfrm>
          <a:prstGeom prst="rect">
            <a:avLst/>
          </a:prstGeom>
          <a:effectLst/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CD89A9DC-A8AE-9EEC-0574-289EA823567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0229997" y="1926771"/>
            <a:ext cx="674913" cy="3246840"/>
          </a:xfrm>
          <a:prstGeom prst="rect">
            <a:avLst/>
          </a:prstGeom>
          <a:blipFill dpi="0" rotWithShape="1">
            <a:blip r:embed="rId5" cstate="print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8946952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6BA32-6B79-4895-824E-744062688BEE}" type="datetimeFigureOut">
              <a:rPr lang="zh-CN" altLang="en-US" smtClean="0"/>
              <a:t>2024/8/5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5C9E2-507E-45B8-BD25-F3C98D86BE5F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E36B19F-B0EB-E71B-7EA6-C34EB5586F7A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5366" y="214040"/>
            <a:ext cx="2932284" cy="468085"/>
          </a:xfrm>
          <a:prstGeom prst="rect">
            <a:avLst/>
          </a:prstGeom>
          <a:effectLst/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323BE86A-D071-E117-96D3-120FD3D1DC0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0229997" y="1926771"/>
            <a:ext cx="674913" cy="3246840"/>
          </a:xfrm>
          <a:prstGeom prst="rect">
            <a:avLst/>
          </a:prstGeom>
          <a:blipFill dpi="0" rotWithShape="1">
            <a:blip r:embed="rId5" cstate="print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0522025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144000" y="549277"/>
            <a:ext cx="2438400" cy="5851525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549277"/>
            <a:ext cx="83312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6BA32-6B79-4895-824E-744062688BEE}" type="datetimeFigureOut">
              <a:rPr lang="zh-CN" altLang="en-US" smtClean="0"/>
              <a:t>2024/8/5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5C9E2-507E-45B8-BD25-F3C98D86BE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931662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685800" y="5349903"/>
            <a:ext cx="1150620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标题 28"/>
          <p:cNvSpPr>
            <a:spLocks noGrp="1"/>
          </p:cNvSpPr>
          <p:nvPr>
            <p:ph type="ctrTitle"/>
          </p:nvPr>
        </p:nvSpPr>
        <p:spPr>
          <a:xfrm>
            <a:off x="508000" y="4853412"/>
            <a:ext cx="11277600" cy="1222375"/>
          </a:xfrm>
        </p:spPr>
        <p:txBody>
          <a:bodyPr anchor="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508000" y="3886200"/>
            <a:ext cx="112776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>
          <a:xfrm>
            <a:off x="10972800" y="6473952"/>
            <a:ext cx="1011936" cy="246888"/>
          </a:xfrm>
        </p:spPr>
        <p:txBody>
          <a:bodyPr/>
          <a:lstStyle/>
          <a:p>
            <a:fld id="{2D144C32-927F-4180-9294-88B94A00587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62198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27" name="内容占位符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25" name="日期占位符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9" name="页脚占位符 18"/>
          <p:cNvSpPr>
            <a:spLocks noGrp="1"/>
          </p:cNvSpPr>
          <p:nvPr>
            <p:ph type="ftr" sz="quarter" idx="11"/>
          </p:nvPr>
        </p:nvSpPr>
        <p:spPr>
          <a:xfrm>
            <a:off x="4775200" y="76201"/>
            <a:ext cx="3860800" cy="288925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>
          <a:xfrm>
            <a:off x="10972800" y="6473952"/>
            <a:ext cx="1011936" cy="246888"/>
          </a:xfrm>
        </p:spPr>
        <p:txBody>
          <a:bodyPr/>
          <a:lstStyle/>
          <a:p>
            <a:fld id="{816E1AE2-1FF3-4140-B1E2-6A093B6A483C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18118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685800" y="3444903"/>
            <a:ext cx="1150620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508000" y="1676400"/>
            <a:ext cx="112776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19" name="日期占位符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8B537-0F04-4291-A2BF-9FB11C394A39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240633" y="2947086"/>
            <a:ext cx="115824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8100603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9"/>
          <p:cNvSpPr>
            <a:spLocks noGrp="1"/>
          </p:cNvSpPr>
          <p:nvPr>
            <p:ph type="title"/>
          </p:nvPr>
        </p:nvSpPr>
        <p:spPr>
          <a:xfrm>
            <a:off x="402336" y="457200"/>
            <a:ext cx="11582400" cy="841248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4" name="内容占位符 13"/>
          <p:cNvSpPr>
            <a:spLocks noGrp="1"/>
          </p:cNvSpPr>
          <p:nvPr>
            <p:ph sz="half" idx="1"/>
          </p:nvPr>
        </p:nvSpPr>
        <p:spPr>
          <a:xfrm>
            <a:off x="406400" y="1600200"/>
            <a:ext cx="5588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7912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21" name="日期占位符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C37BD-115D-4EA8-9FFF-E0D34C15907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07011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 28"/>
          <p:cNvSpPr>
            <a:spLocks noGrp="1"/>
          </p:cNvSpPr>
          <p:nvPr>
            <p:ph type="title"/>
          </p:nvPr>
        </p:nvSpPr>
        <p:spPr>
          <a:xfrm>
            <a:off x="406400" y="5410200"/>
            <a:ext cx="114808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375259" y="666750"/>
            <a:ext cx="57207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25" name="文本占位符 24"/>
          <p:cNvSpPr>
            <a:spLocks noGrp="1"/>
          </p:cNvSpPr>
          <p:nvPr>
            <p:ph type="body" sz="half" idx="3"/>
          </p:nvPr>
        </p:nvSpPr>
        <p:spPr>
          <a:xfrm>
            <a:off x="6193367" y="666750"/>
            <a:ext cx="5722988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375259" y="1316038"/>
            <a:ext cx="5720741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28" name="内容占位符 27"/>
          <p:cNvSpPr>
            <a:spLocks noGrp="1"/>
          </p:cNvSpPr>
          <p:nvPr>
            <p:ph sz="quarter" idx="4"/>
          </p:nvPr>
        </p:nvSpPr>
        <p:spPr>
          <a:xfrm>
            <a:off x="6198307" y="1316038"/>
            <a:ext cx="571804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0972800" y="6477000"/>
            <a:ext cx="1016000" cy="246888"/>
          </a:xfrm>
        </p:spPr>
        <p:txBody>
          <a:bodyPr/>
          <a:lstStyle/>
          <a:p>
            <a:fld id="{B4354116-C1ED-4704-8B7C-3CD8FCC6B710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1" name="直接连接符 10"/>
          <p:cNvSpPr>
            <a:spLocks noChangeShapeType="1"/>
          </p:cNvSpPr>
          <p:nvPr/>
        </p:nvSpPr>
        <p:spPr bwMode="auto">
          <a:xfrm>
            <a:off x="685800" y="6019801"/>
            <a:ext cx="1150620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  <p:extLst>
      <p:ext uri="{BB962C8B-B14F-4D97-AF65-F5344CB8AC3E}">
        <p14:creationId xmlns:p14="http://schemas.microsoft.com/office/powerpoint/2010/main" val="18853584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 29"/>
          <p:cNvSpPr>
            <a:spLocks noGrp="1"/>
          </p:cNvSpPr>
          <p:nvPr>
            <p:ph type="title"/>
          </p:nvPr>
        </p:nvSpPr>
        <p:spPr>
          <a:xfrm>
            <a:off x="402336" y="457200"/>
            <a:ext cx="11582400" cy="841248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21" name="页脚占位符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FCAB6-6380-4650-BC87-7786769E450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12200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4E84C-3113-4352-BB42-D00F2299875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768832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接连接符 7"/>
          <p:cNvSpPr>
            <a:spLocks noChangeShapeType="1"/>
          </p:cNvSpPr>
          <p:nvPr/>
        </p:nvSpPr>
        <p:spPr bwMode="auto">
          <a:xfrm>
            <a:off x="685800" y="5849118"/>
            <a:ext cx="1150620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609600" y="5486400"/>
            <a:ext cx="112776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idx="2"/>
          </p:nvPr>
        </p:nvSpPr>
        <p:spPr>
          <a:xfrm>
            <a:off x="609601" y="609600"/>
            <a:ext cx="4011084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14" name="内容占位符 13"/>
          <p:cNvSpPr>
            <a:spLocks noGrp="1"/>
          </p:cNvSpPr>
          <p:nvPr>
            <p:ph sz="half" idx="1"/>
          </p:nvPr>
        </p:nvSpPr>
        <p:spPr>
          <a:xfrm>
            <a:off x="4766733" y="609600"/>
            <a:ext cx="7120467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25" name="日期占位符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29" name="页脚占位符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189A0-D642-4B62-A433-D1A035BE63C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948822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图片占位符 12"/>
          <p:cNvSpPr>
            <a:spLocks noGrp="1"/>
          </p:cNvSpPr>
          <p:nvPr>
            <p:ph type="pic" idx="1"/>
          </p:nvPr>
        </p:nvSpPr>
        <p:spPr>
          <a:xfrm>
            <a:off x="4673600" y="616634"/>
            <a:ext cx="67056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/>
              <a:t>单击图标添加图片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35B0F-B73A-4B5D-9B48-0F16FCCF7B54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508000" y="4993760"/>
            <a:ext cx="78232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sz="half" idx="2"/>
          </p:nvPr>
        </p:nvSpPr>
        <p:spPr>
          <a:xfrm>
            <a:off x="508000" y="5533218"/>
            <a:ext cx="78232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9916742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4EEA2-76B7-4448-BD5F-8B64CC96460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208736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144000" y="549277"/>
            <a:ext cx="2438400" cy="5851525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549277"/>
            <a:ext cx="83312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16C84-7E79-45C1-9440-C3B753F5A6D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45326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3988" y="755650"/>
            <a:ext cx="4264025" cy="681038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98000"/>
              </a:srgbClr>
            </a:outerShdw>
          </a:effectLst>
        </p:spPr>
      </p:pic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55916" y="3602038"/>
            <a:ext cx="9775369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14" name="标题 13"/>
          <p:cNvSpPr>
            <a:spLocks noGrp="1"/>
          </p:cNvSpPr>
          <p:nvPr>
            <p:ph type="title"/>
          </p:nvPr>
        </p:nvSpPr>
        <p:spPr>
          <a:xfrm>
            <a:off x="838200" y="2093689"/>
            <a:ext cx="10515600" cy="1325563"/>
          </a:xfrm>
        </p:spPr>
        <p:txBody>
          <a:bodyPr>
            <a:normAutofit/>
          </a:bodyPr>
          <a:lstStyle>
            <a:lvl1pPr algn="ctr">
              <a:defRPr sz="48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15" name="日期占位符 1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fld id="{9D96BA32-6B79-4895-824E-744062688BEE}" type="datetimeFigureOut">
              <a:rPr lang="zh-CN" altLang="en-US" smtClean="0"/>
              <a:t>2024/8/5</a:t>
            </a:fld>
            <a:endParaRPr lang="zh-CN" altLang="en-US"/>
          </a:p>
        </p:txBody>
      </p:sp>
      <p:sp>
        <p:nvSpPr>
          <p:cNvPr id="16" name="页脚占位符 1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fld id="{FF35C9E2-507E-45B8-BD25-F3C98D86BE5F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4301" y="756341"/>
            <a:ext cx="4263399" cy="680573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98000"/>
              </a:srgbClr>
            </a:outerShdw>
          </a:effectLst>
        </p:spPr>
      </p:pic>
    </p:spTree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4750" y="214313"/>
            <a:ext cx="2932113" cy="4683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矩形 7"/>
          <p:cNvSpPr/>
          <p:nvPr/>
        </p:nvSpPr>
        <p:spPr>
          <a:xfrm>
            <a:off x="10229850" y="1927225"/>
            <a:ext cx="674688" cy="3246438"/>
          </a:xfrm>
          <a:prstGeom prst="rect">
            <a:avLst/>
          </a:prstGeom>
          <a:blipFill dpi="0" rotWithShape="1">
            <a:blip r:embed="rId3" cstate="print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2515" y="617859"/>
            <a:ext cx="8196613" cy="61918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2516" y="1357745"/>
            <a:ext cx="8196612" cy="4932219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二级</a:t>
            </a:r>
          </a:p>
          <a:p>
            <a:pPr lvl="2" fontAlgn="auto"/>
            <a:r>
              <a:rPr lang="zh-CN" altLang="en-US" strike="noStrike" noProof="1"/>
              <a:t>三级</a:t>
            </a:r>
          </a:p>
          <a:p>
            <a:pPr lvl="3" fontAlgn="auto"/>
            <a:r>
              <a:rPr lang="zh-CN" altLang="en-US" strike="noStrike" noProof="1"/>
              <a:t>四级</a:t>
            </a:r>
          </a:p>
          <a:p>
            <a:pPr lvl="4" fontAlgn="auto"/>
            <a:r>
              <a:rPr lang="zh-CN" altLang="en-US" strike="noStrike" noProof="1"/>
              <a:t>五级</a:t>
            </a: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fld id="{9D96BA32-6B79-4895-824E-744062688BEE}" type="datetimeFigureOut">
              <a:rPr lang="zh-CN" altLang="en-US" smtClean="0"/>
              <a:t>2024/8/5</a:t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fld id="{FF35C9E2-507E-45B8-BD25-F3C98D86BE5F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5366" y="214040"/>
            <a:ext cx="2932284" cy="468085"/>
          </a:xfrm>
          <a:prstGeom prst="rect">
            <a:avLst/>
          </a:prstGeom>
          <a:effectLst/>
        </p:spPr>
      </p:pic>
      <p:sp>
        <p:nvSpPr>
          <p:cNvPr id="4" name="矩形 3"/>
          <p:cNvSpPr/>
          <p:nvPr userDrawn="1"/>
        </p:nvSpPr>
        <p:spPr>
          <a:xfrm>
            <a:off x="10229997" y="1926771"/>
            <a:ext cx="674913" cy="3246840"/>
          </a:xfrm>
          <a:prstGeom prst="rect">
            <a:avLst/>
          </a:prstGeom>
          <a:blipFill dpi="0" rotWithShape="1">
            <a:blip r:embed="rId3" cstate="print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685800" y="1050899"/>
            <a:ext cx="1150620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406400" y="1554163"/>
            <a:ext cx="115824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  <a:p>
            <a:pPr lvl="1" eaLnBrk="1" latinLnBrk="0" hangingPunct="1"/>
            <a:r>
              <a:rPr kumimoji="0" lang="zh-CN" altLang="en-US"/>
              <a:t>第二级</a:t>
            </a:r>
          </a:p>
          <a:p>
            <a:pPr lvl="2" eaLnBrk="1" latinLnBrk="0" hangingPunct="1"/>
            <a:r>
              <a:rPr kumimoji="0" lang="zh-CN" altLang="en-US"/>
              <a:t>第三级</a:t>
            </a:r>
          </a:p>
          <a:p>
            <a:pPr lvl="3" eaLnBrk="1" latinLnBrk="0" hangingPunct="1"/>
            <a:r>
              <a:rPr kumimoji="0" lang="zh-CN" altLang="en-US"/>
              <a:t>第四级</a:t>
            </a:r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2"/>
          </p:nvPr>
        </p:nvSpPr>
        <p:spPr>
          <a:xfrm>
            <a:off x="8636000" y="76201"/>
            <a:ext cx="33528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9D96BA32-6B79-4895-824E-744062688BEE}" type="datetimeFigureOut">
              <a:rPr lang="zh-CN" altLang="en-US" smtClean="0"/>
              <a:t>2024/8/5</a:t>
            </a:fld>
            <a:endParaRPr lang="zh-CN" altLang="en-US"/>
          </a:p>
        </p:txBody>
      </p:sp>
      <p:sp>
        <p:nvSpPr>
          <p:cNvPr id="28" name="页脚占位符 27"/>
          <p:cNvSpPr>
            <a:spLocks noGrp="1"/>
          </p:cNvSpPr>
          <p:nvPr>
            <p:ph type="ftr" sz="quarter" idx="3"/>
          </p:nvPr>
        </p:nvSpPr>
        <p:spPr>
          <a:xfrm>
            <a:off x="4165600" y="76201"/>
            <a:ext cx="44704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10972800" y="6477001"/>
            <a:ext cx="1016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FF35C9E2-507E-45B8-BD25-F3C98D86BE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标题占位符 9"/>
          <p:cNvSpPr>
            <a:spLocks noGrp="1"/>
          </p:cNvSpPr>
          <p:nvPr>
            <p:ph type="title"/>
          </p:nvPr>
        </p:nvSpPr>
        <p:spPr>
          <a:xfrm>
            <a:off x="406400" y="457200"/>
            <a:ext cx="115824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>
            <a:off x="685800" y="1050899"/>
            <a:ext cx="1150620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2" name="直接连接符 11"/>
          <p:cNvSpPr>
            <a:spLocks noChangeShapeType="1"/>
          </p:cNvSpPr>
          <p:nvPr/>
        </p:nvSpPr>
        <p:spPr bwMode="auto">
          <a:xfrm>
            <a:off x="685800" y="1057987"/>
            <a:ext cx="1150620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  <p:extLst>
      <p:ext uri="{BB962C8B-B14F-4D97-AF65-F5344CB8AC3E}">
        <p14:creationId xmlns:p14="http://schemas.microsoft.com/office/powerpoint/2010/main" val="2187826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685800" y="1050899"/>
            <a:ext cx="1150620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406400" y="1554163"/>
            <a:ext cx="115824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  <a:p>
            <a:pPr lvl="1" eaLnBrk="1" latinLnBrk="0" hangingPunct="1"/>
            <a:r>
              <a:rPr kumimoji="0" lang="zh-CN" altLang="en-US"/>
              <a:t>第二级</a:t>
            </a:r>
          </a:p>
          <a:p>
            <a:pPr lvl="2" eaLnBrk="1" latinLnBrk="0" hangingPunct="1"/>
            <a:r>
              <a:rPr kumimoji="0" lang="zh-CN" altLang="en-US"/>
              <a:t>第三级</a:t>
            </a:r>
          </a:p>
          <a:p>
            <a:pPr lvl="3" eaLnBrk="1" latinLnBrk="0" hangingPunct="1"/>
            <a:r>
              <a:rPr kumimoji="0" lang="zh-CN" altLang="en-US"/>
              <a:t>第四级</a:t>
            </a:r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2"/>
          </p:nvPr>
        </p:nvSpPr>
        <p:spPr>
          <a:xfrm>
            <a:off x="8636000" y="76201"/>
            <a:ext cx="33528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28" name="页脚占位符 27"/>
          <p:cNvSpPr>
            <a:spLocks noGrp="1"/>
          </p:cNvSpPr>
          <p:nvPr>
            <p:ph type="ftr" sz="quarter" idx="3"/>
          </p:nvPr>
        </p:nvSpPr>
        <p:spPr>
          <a:xfrm>
            <a:off x="4165600" y="76201"/>
            <a:ext cx="44704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10972800" y="6477001"/>
            <a:ext cx="1016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DFBBFC48-F0C3-4F85-995B-BDC8CBEB075E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0" name="标题占位符 9"/>
          <p:cNvSpPr>
            <a:spLocks noGrp="1"/>
          </p:cNvSpPr>
          <p:nvPr>
            <p:ph type="title"/>
          </p:nvPr>
        </p:nvSpPr>
        <p:spPr>
          <a:xfrm>
            <a:off x="406400" y="457200"/>
            <a:ext cx="115824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>
            <a:off x="685800" y="1050899"/>
            <a:ext cx="1150620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2" name="直接连接符 11"/>
          <p:cNvSpPr>
            <a:spLocks noChangeShapeType="1"/>
          </p:cNvSpPr>
          <p:nvPr/>
        </p:nvSpPr>
        <p:spPr bwMode="auto">
          <a:xfrm>
            <a:off x="685800" y="1057987"/>
            <a:ext cx="1150620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  <p:extLst>
      <p:ext uri="{BB962C8B-B14F-4D97-AF65-F5344CB8AC3E}">
        <p14:creationId xmlns:p14="http://schemas.microsoft.com/office/powerpoint/2010/main" val="2359594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49" r:id="rId12"/>
    <p:sldLayoutId id="2147483650" r:id="rId13"/>
  </p:sldLayoutIdLst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tags" Target="../tags/tag19.xml"/><Relationship Id="rId7" Type="http://schemas.openxmlformats.org/officeDocument/2006/relationships/image" Target="../media/image8.png"/><Relationship Id="rId2" Type="http://schemas.openxmlformats.org/officeDocument/2006/relationships/tags" Target="../tags/tag18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7.jpeg"/><Relationship Id="rId5" Type="http://schemas.openxmlformats.org/officeDocument/2006/relationships/slideLayout" Target="../slideLayouts/slideLayout11.xml"/><Relationship Id="rId4" Type="http://schemas.openxmlformats.org/officeDocument/2006/relationships/tags" Target="../tags/tag20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88.xml"/><Relationship Id="rId13" Type="http://schemas.openxmlformats.org/officeDocument/2006/relationships/slide" Target="slide119.xml"/><Relationship Id="rId3" Type="http://schemas.openxmlformats.org/officeDocument/2006/relationships/slide" Target="slide3.xml"/><Relationship Id="rId7" Type="http://schemas.openxmlformats.org/officeDocument/2006/relationships/slide" Target="slide79.xml"/><Relationship Id="rId12" Type="http://schemas.openxmlformats.org/officeDocument/2006/relationships/slide" Target="slide113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8.xml"/><Relationship Id="rId6" Type="http://schemas.openxmlformats.org/officeDocument/2006/relationships/slide" Target="slide73.xml"/><Relationship Id="rId11" Type="http://schemas.openxmlformats.org/officeDocument/2006/relationships/slide" Target="slide108.xml"/><Relationship Id="rId5" Type="http://schemas.openxmlformats.org/officeDocument/2006/relationships/slide" Target="slide52.xml"/><Relationship Id="rId15" Type="http://schemas.openxmlformats.org/officeDocument/2006/relationships/slide" Target="slide143.xml"/><Relationship Id="rId10" Type="http://schemas.openxmlformats.org/officeDocument/2006/relationships/slide" Target="slide103.xml"/><Relationship Id="rId4" Type="http://schemas.openxmlformats.org/officeDocument/2006/relationships/slide" Target="slide28.xml"/><Relationship Id="rId9" Type="http://schemas.openxmlformats.org/officeDocument/2006/relationships/slide" Target="slide93.xml"/><Relationship Id="rId14" Type="http://schemas.openxmlformats.org/officeDocument/2006/relationships/slide" Target="slide12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10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notesSlide" Target="../notesSlides/notesSlide1.xml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6.x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2.xml"/><Relationship Id="rId4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16.xml"/><Relationship Id="rId4" Type="http://schemas.openxmlformats.org/officeDocument/2006/relationships/image" Target="../media/image10.GI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17.xml"/><Relationship Id="rId4" Type="http://schemas.openxmlformats.org/officeDocument/2006/relationships/image" Target="../media/image10.GI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18.xml"/><Relationship Id="rId4" Type="http://schemas.openxmlformats.org/officeDocument/2006/relationships/image" Target="../media/image10.GI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2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22.xml"/><Relationship Id="rId4" Type="http://schemas.openxmlformats.org/officeDocument/2006/relationships/image" Target="../media/image10.GI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23.xml"/><Relationship Id="rId5" Type="http://schemas.openxmlformats.org/officeDocument/2006/relationships/image" Target="../media/image14.emf"/><Relationship Id="rId4" Type="http://schemas.openxmlformats.org/officeDocument/2006/relationships/oleObject" Target="../embeddings/oleObject3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2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2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26.xml"/><Relationship Id="rId4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2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7.jpeg"/><Relationship Id="rId7" Type="http://schemas.openxmlformats.org/officeDocument/2006/relationships/image" Target="../media/image17.wmf"/><Relationship Id="rId12" Type="http://schemas.openxmlformats.org/officeDocument/2006/relationships/image" Target="../media/image19.wmf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28.xml"/><Relationship Id="rId6" Type="http://schemas.openxmlformats.org/officeDocument/2006/relationships/oleObject" Target="../embeddings/oleObject5.bin"/><Relationship Id="rId11" Type="http://schemas.openxmlformats.org/officeDocument/2006/relationships/oleObject" Target="../embeddings/oleObject8.bin"/><Relationship Id="rId5" Type="http://schemas.openxmlformats.org/officeDocument/2006/relationships/image" Target="../media/image16.wmf"/><Relationship Id="rId10" Type="http://schemas.openxmlformats.org/officeDocument/2006/relationships/oleObject" Target="../embeddings/oleObject7.bin"/><Relationship Id="rId4" Type="http://schemas.openxmlformats.org/officeDocument/2006/relationships/oleObject" Target="../embeddings/oleObject4.bin"/><Relationship Id="rId9" Type="http://schemas.openxmlformats.org/officeDocument/2006/relationships/image" Target="../media/image18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2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3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3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3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3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3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3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3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3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3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3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4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4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4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13" Type="http://schemas.openxmlformats.org/officeDocument/2006/relationships/tags" Target="../tags/tag32.xml"/><Relationship Id="rId18" Type="http://schemas.openxmlformats.org/officeDocument/2006/relationships/tags" Target="../tags/tag37.xml"/><Relationship Id="rId26" Type="http://schemas.openxmlformats.org/officeDocument/2006/relationships/slideLayout" Target="../slideLayouts/slideLayout18.xml"/><Relationship Id="rId3" Type="http://schemas.openxmlformats.org/officeDocument/2006/relationships/tags" Target="../tags/tag22.xml"/><Relationship Id="rId21" Type="http://schemas.openxmlformats.org/officeDocument/2006/relationships/tags" Target="../tags/tag40.xml"/><Relationship Id="rId7" Type="http://schemas.openxmlformats.org/officeDocument/2006/relationships/tags" Target="../tags/tag26.xml"/><Relationship Id="rId12" Type="http://schemas.openxmlformats.org/officeDocument/2006/relationships/tags" Target="../tags/tag31.xml"/><Relationship Id="rId17" Type="http://schemas.openxmlformats.org/officeDocument/2006/relationships/tags" Target="../tags/tag36.xml"/><Relationship Id="rId25" Type="http://schemas.openxmlformats.org/officeDocument/2006/relationships/tags" Target="../tags/tag44.xml"/><Relationship Id="rId2" Type="http://schemas.openxmlformats.org/officeDocument/2006/relationships/tags" Target="../tags/tag21.xml"/><Relationship Id="rId16" Type="http://schemas.openxmlformats.org/officeDocument/2006/relationships/tags" Target="../tags/tag35.xml"/><Relationship Id="rId20" Type="http://schemas.openxmlformats.org/officeDocument/2006/relationships/tags" Target="../tags/tag39.xml"/><Relationship Id="rId1" Type="http://schemas.openxmlformats.org/officeDocument/2006/relationships/themeOverride" Target="../theme/themeOverride43.xml"/><Relationship Id="rId6" Type="http://schemas.openxmlformats.org/officeDocument/2006/relationships/tags" Target="../tags/tag25.xml"/><Relationship Id="rId11" Type="http://schemas.openxmlformats.org/officeDocument/2006/relationships/tags" Target="../tags/tag30.xml"/><Relationship Id="rId24" Type="http://schemas.openxmlformats.org/officeDocument/2006/relationships/tags" Target="../tags/tag43.xml"/><Relationship Id="rId5" Type="http://schemas.openxmlformats.org/officeDocument/2006/relationships/tags" Target="../tags/tag24.xml"/><Relationship Id="rId15" Type="http://schemas.openxmlformats.org/officeDocument/2006/relationships/tags" Target="../tags/tag34.xml"/><Relationship Id="rId23" Type="http://schemas.openxmlformats.org/officeDocument/2006/relationships/tags" Target="../tags/tag42.xml"/><Relationship Id="rId10" Type="http://schemas.openxmlformats.org/officeDocument/2006/relationships/tags" Target="../tags/tag29.xml"/><Relationship Id="rId19" Type="http://schemas.openxmlformats.org/officeDocument/2006/relationships/tags" Target="../tags/tag38.xml"/><Relationship Id="rId4" Type="http://schemas.openxmlformats.org/officeDocument/2006/relationships/tags" Target="../tags/tag23.xml"/><Relationship Id="rId9" Type="http://schemas.openxmlformats.org/officeDocument/2006/relationships/tags" Target="../tags/tag28.xml"/><Relationship Id="rId14" Type="http://schemas.openxmlformats.org/officeDocument/2006/relationships/tags" Target="../tags/tag33.xml"/><Relationship Id="rId22" Type="http://schemas.openxmlformats.org/officeDocument/2006/relationships/tags" Target="../tags/tag41.xml"/><Relationship Id="rId27" Type="http://schemas.openxmlformats.org/officeDocument/2006/relationships/image" Target="../media/image7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4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4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4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4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48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49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50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5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5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5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5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55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56.xml"/><Relationship Id="rId4" Type="http://schemas.openxmlformats.org/officeDocument/2006/relationships/image" Target="../media/image20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tags" Target="../tags/tag51.xml"/><Relationship Id="rId3" Type="http://schemas.openxmlformats.org/officeDocument/2006/relationships/tags" Target="../tags/tag46.xml"/><Relationship Id="rId7" Type="http://schemas.openxmlformats.org/officeDocument/2006/relationships/tags" Target="../tags/tag50.xml"/><Relationship Id="rId12" Type="http://schemas.openxmlformats.org/officeDocument/2006/relationships/image" Target="../media/image21.png"/><Relationship Id="rId2" Type="http://schemas.openxmlformats.org/officeDocument/2006/relationships/tags" Target="../tags/tag45.xml"/><Relationship Id="rId1" Type="http://schemas.openxmlformats.org/officeDocument/2006/relationships/themeOverride" Target="../theme/themeOverride57.xml"/><Relationship Id="rId6" Type="http://schemas.openxmlformats.org/officeDocument/2006/relationships/tags" Target="../tags/tag49.xml"/><Relationship Id="rId11" Type="http://schemas.openxmlformats.org/officeDocument/2006/relationships/image" Target="../media/image7.jpeg"/><Relationship Id="rId5" Type="http://schemas.openxmlformats.org/officeDocument/2006/relationships/tags" Target="../tags/tag48.xml"/><Relationship Id="rId10" Type="http://schemas.openxmlformats.org/officeDocument/2006/relationships/notesSlide" Target="../notesSlides/notesSlide2.xml"/><Relationship Id="rId4" Type="http://schemas.openxmlformats.org/officeDocument/2006/relationships/tags" Target="../tags/tag47.xml"/><Relationship Id="rId9" Type="http://schemas.openxmlformats.org/officeDocument/2006/relationships/slideLayout" Target="../slideLayouts/slideLayout18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58.xml"/><Relationship Id="rId4" Type="http://schemas.openxmlformats.org/officeDocument/2006/relationships/image" Target="../media/image10.GIF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59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60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tags" Target="../tags/tag53.xml"/><Relationship Id="rId7" Type="http://schemas.openxmlformats.org/officeDocument/2006/relationships/image" Target="../media/image7.jpeg"/><Relationship Id="rId2" Type="http://schemas.openxmlformats.org/officeDocument/2006/relationships/tags" Target="../tags/tag52.xml"/><Relationship Id="rId1" Type="http://schemas.openxmlformats.org/officeDocument/2006/relationships/themeOverride" Target="../theme/themeOverride61.xml"/><Relationship Id="rId6" Type="http://schemas.openxmlformats.org/officeDocument/2006/relationships/slideLayout" Target="../slideLayouts/slideLayout14.xml"/><Relationship Id="rId5" Type="http://schemas.openxmlformats.org/officeDocument/2006/relationships/tags" Target="../tags/tag55.xml"/><Relationship Id="rId4" Type="http://schemas.openxmlformats.org/officeDocument/2006/relationships/tags" Target="../tags/tag54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7" Type="http://schemas.openxmlformats.org/officeDocument/2006/relationships/image" Target="../media/image23.png"/><Relationship Id="rId2" Type="http://schemas.openxmlformats.org/officeDocument/2006/relationships/tags" Target="../tags/tag56.xml"/><Relationship Id="rId1" Type="http://schemas.openxmlformats.org/officeDocument/2006/relationships/themeOverride" Target="../theme/themeOverride62.xml"/><Relationship Id="rId6" Type="http://schemas.openxmlformats.org/officeDocument/2006/relationships/image" Target="../media/image7.jpeg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58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63.xml"/><Relationship Id="rId4" Type="http://schemas.openxmlformats.org/officeDocument/2006/relationships/image" Target="../media/image24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64.xml"/><Relationship Id="rId5" Type="http://schemas.openxmlformats.org/officeDocument/2006/relationships/hyperlink" Target="file:///E:\Teaching\&#25968;&#25454;&#32467;&#26500;-2006\&#35838;&#20214;&#28436;&#31034;\&#27721;&#35834;&#22612;\&#27721;&#35834;&#22612;.exe" TargetMode="External"/><Relationship Id="rId4" Type="http://schemas.openxmlformats.org/officeDocument/2006/relationships/image" Target="../media/image7.jpe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65.xml"/><Relationship Id="rId5" Type="http://schemas.openxmlformats.org/officeDocument/2006/relationships/image" Target="../media/image25.png"/><Relationship Id="rId4" Type="http://schemas.openxmlformats.org/officeDocument/2006/relationships/image" Target="../media/image7.jpe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66.xml"/><Relationship Id="rId4" Type="http://schemas.openxmlformats.org/officeDocument/2006/relationships/image" Target="../media/image7.jpe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67.xml"/><Relationship Id="rId4" Type="http://schemas.openxmlformats.org/officeDocument/2006/relationships/image" Target="../media/image7.jpe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68.xml"/><Relationship Id="rId5" Type="http://schemas.openxmlformats.org/officeDocument/2006/relationships/image" Target="../media/image26.png"/><Relationship Id="rId4" Type="http://schemas.openxmlformats.org/officeDocument/2006/relationships/image" Target="../media/image7.jpe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69.xml"/><Relationship Id="rId5" Type="http://schemas.openxmlformats.org/officeDocument/2006/relationships/image" Target="../media/image27.png"/><Relationship Id="rId4" Type="http://schemas.openxmlformats.org/officeDocument/2006/relationships/image" Target="../media/image7.jpe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70.xml"/><Relationship Id="rId5" Type="http://schemas.openxmlformats.org/officeDocument/2006/relationships/image" Target="../media/image28.png"/><Relationship Id="rId4" Type="http://schemas.openxmlformats.org/officeDocument/2006/relationships/image" Target="../media/image7.jpe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7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7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73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74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75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76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7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78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79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80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81.xml"/><Relationship Id="rId4" Type="http://schemas.openxmlformats.org/officeDocument/2006/relationships/image" Target="../media/image7.jpe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8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83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84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85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86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87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32.png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88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89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90.xml"/><Relationship Id="rId5" Type="http://schemas.openxmlformats.org/officeDocument/2006/relationships/image" Target="../media/image30.png"/><Relationship Id="rId4" Type="http://schemas.openxmlformats.org/officeDocument/2006/relationships/image" Target="../media/image34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91.xml"/><Relationship Id="rId4" Type="http://schemas.openxmlformats.org/officeDocument/2006/relationships/image" Target="../media/image35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9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93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94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95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96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97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98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99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00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01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0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03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04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tags" Target="../tags/tag59.xml"/><Relationship Id="rId1" Type="http://schemas.openxmlformats.org/officeDocument/2006/relationships/themeOverride" Target="../theme/themeOverride105.xml"/><Relationship Id="rId4" Type="http://schemas.openxmlformats.org/officeDocument/2006/relationships/image" Target="../media/image7.jpe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06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07.xml"/><Relationship Id="rId4" Type="http://schemas.openxmlformats.org/officeDocument/2006/relationships/image" Target="../media/image7.jpe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08.xml"/><Relationship Id="rId4" Type="http://schemas.openxmlformats.org/officeDocument/2006/relationships/image" Target="../media/image36.jpe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09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10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11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12.xml"/></Relationships>
</file>

<file path=ppt/slides/_rels/slide114.xml.rels><?xml version="1.0" encoding="UTF-8" standalone="yes"?>
<Relationships xmlns="http://schemas.openxmlformats.org/package/2006/relationships"><Relationship Id="rId26" Type="http://schemas.openxmlformats.org/officeDocument/2006/relationships/tags" Target="../tags/tag84.xml"/><Relationship Id="rId21" Type="http://schemas.openxmlformats.org/officeDocument/2006/relationships/tags" Target="../tags/tag79.xml"/><Relationship Id="rId34" Type="http://schemas.openxmlformats.org/officeDocument/2006/relationships/tags" Target="../tags/tag92.xml"/><Relationship Id="rId42" Type="http://schemas.openxmlformats.org/officeDocument/2006/relationships/tags" Target="../tags/tag100.xml"/><Relationship Id="rId47" Type="http://schemas.openxmlformats.org/officeDocument/2006/relationships/tags" Target="../tags/tag105.xml"/><Relationship Id="rId50" Type="http://schemas.openxmlformats.org/officeDocument/2006/relationships/tags" Target="../tags/tag108.xml"/><Relationship Id="rId55" Type="http://schemas.openxmlformats.org/officeDocument/2006/relationships/tags" Target="../tags/tag113.xml"/><Relationship Id="rId63" Type="http://schemas.openxmlformats.org/officeDocument/2006/relationships/tags" Target="../tags/tag121.xml"/><Relationship Id="rId68" Type="http://schemas.openxmlformats.org/officeDocument/2006/relationships/image" Target="../media/image7.jpeg"/><Relationship Id="rId7" Type="http://schemas.openxmlformats.org/officeDocument/2006/relationships/tags" Target="../tags/tag65.xml"/><Relationship Id="rId2" Type="http://schemas.openxmlformats.org/officeDocument/2006/relationships/tags" Target="../tags/tag60.xml"/><Relationship Id="rId16" Type="http://schemas.openxmlformats.org/officeDocument/2006/relationships/tags" Target="../tags/tag74.xml"/><Relationship Id="rId29" Type="http://schemas.openxmlformats.org/officeDocument/2006/relationships/tags" Target="../tags/tag87.xml"/><Relationship Id="rId11" Type="http://schemas.openxmlformats.org/officeDocument/2006/relationships/tags" Target="../tags/tag69.xml"/><Relationship Id="rId24" Type="http://schemas.openxmlformats.org/officeDocument/2006/relationships/tags" Target="../tags/tag82.xml"/><Relationship Id="rId32" Type="http://schemas.openxmlformats.org/officeDocument/2006/relationships/tags" Target="../tags/tag90.xml"/><Relationship Id="rId37" Type="http://schemas.openxmlformats.org/officeDocument/2006/relationships/tags" Target="../tags/tag95.xml"/><Relationship Id="rId40" Type="http://schemas.openxmlformats.org/officeDocument/2006/relationships/tags" Target="../tags/tag98.xml"/><Relationship Id="rId45" Type="http://schemas.openxmlformats.org/officeDocument/2006/relationships/tags" Target="../tags/tag103.xml"/><Relationship Id="rId53" Type="http://schemas.openxmlformats.org/officeDocument/2006/relationships/tags" Target="../tags/tag111.xml"/><Relationship Id="rId58" Type="http://schemas.openxmlformats.org/officeDocument/2006/relationships/tags" Target="../tags/tag116.xml"/><Relationship Id="rId66" Type="http://schemas.openxmlformats.org/officeDocument/2006/relationships/tags" Target="../tags/tag124.xml"/><Relationship Id="rId5" Type="http://schemas.openxmlformats.org/officeDocument/2006/relationships/tags" Target="../tags/tag63.xml"/><Relationship Id="rId61" Type="http://schemas.openxmlformats.org/officeDocument/2006/relationships/tags" Target="../tags/tag119.xml"/><Relationship Id="rId19" Type="http://schemas.openxmlformats.org/officeDocument/2006/relationships/tags" Target="../tags/tag77.xml"/><Relationship Id="rId14" Type="http://schemas.openxmlformats.org/officeDocument/2006/relationships/tags" Target="../tags/tag72.xml"/><Relationship Id="rId22" Type="http://schemas.openxmlformats.org/officeDocument/2006/relationships/tags" Target="../tags/tag80.xml"/><Relationship Id="rId27" Type="http://schemas.openxmlformats.org/officeDocument/2006/relationships/tags" Target="../tags/tag85.xml"/><Relationship Id="rId30" Type="http://schemas.openxmlformats.org/officeDocument/2006/relationships/tags" Target="../tags/tag88.xml"/><Relationship Id="rId35" Type="http://schemas.openxmlformats.org/officeDocument/2006/relationships/tags" Target="../tags/tag93.xml"/><Relationship Id="rId43" Type="http://schemas.openxmlformats.org/officeDocument/2006/relationships/tags" Target="../tags/tag101.xml"/><Relationship Id="rId48" Type="http://schemas.openxmlformats.org/officeDocument/2006/relationships/tags" Target="../tags/tag106.xml"/><Relationship Id="rId56" Type="http://schemas.openxmlformats.org/officeDocument/2006/relationships/tags" Target="../tags/tag114.xml"/><Relationship Id="rId64" Type="http://schemas.openxmlformats.org/officeDocument/2006/relationships/tags" Target="../tags/tag122.xml"/><Relationship Id="rId8" Type="http://schemas.openxmlformats.org/officeDocument/2006/relationships/tags" Target="../tags/tag66.xml"/><Relationship Id="rId51" Type="http://schemas.openxmlformats.org/officeDocument/2006/relationships/tags" Target="../tags/tag109.xml"/><Relationship Id="rId3" Type="http://schemas.openxmlformats.org/officeDocument/2006/relationships/tags" Target="../tags/tag61.xml"/><Relationship Id="rId12" Type="http://schemas.openxmlformats.org/officeDocument/2006/relationships/tags" Target="../tags/tag70.xml"/><Relationship Id="rId17" Type="http://schemas.openxmlformats.org/officeDocument/2006/relationships/tags" Target="../tags/tag75.xml"/><Relationship Id="rId25" Type="http://schemas.openxmlformats.org/officeDocument/2006/relationships/tags" Target="../tags/tag83.xml"/><Relationship Id="rId33" Type="http://schemas.openxmlformats.org/officeDocument/2006/relationships/tags" Target="../tags/tag91.xml"/><Relationship Id="rId38" Type="http://schemas.openxmlformats.org/officeDocument/2006/relationships/tags" Target="../tags/tag96.xml"/><Relationship Id="rId46" Type="http://schemas.openxmlformats.org/officeDocument/2006/relationships/tags" Target="../tags/tag104.xml"/><Relationship Id="rId59" Type="http://schemas.openxmlformats.org/officeDocument/2006/relationships/tags" Target="../tags/tag117.xml"/><Relationship Id="rId67" Type="http://schemas.openxmlformats.org/officeDocument/2006/relationships/slideLayout" Target="../slideLayouts/slideLayout14.xml"/><Relationship Id="rId20" Type="http://schemas.openxmlformats.org/officeDocument/2006/relationships/tags" Target="../tags/tag78.xml"/><Relationship Id="rId41" Type="http://schemas.openxmlformats.org/officeDocument/2006/relationships/tags" Target="../tags/tag99.xml"/><Relationship Id="rId54" Type="http://schemas.openxmlformats.org/officeDocument/2006/relationships/tags" Target="../tags/tag112.xml"/><Relationship Id="rId62" Type="http://schemas.openxmlformats.org/officeDocument/2006/relationships/tags" Target="../tags/tag120.xml"/><Relationship Id="rId1" Type="http://schemas.openxmlformats.org/officeDocument/2006/relationships/themeOverride" Target="../theme/themeOverride113.xml"/><Relationship Id="rId6" Type="http://schemas.openxmlformats.org/officeDocument/2006/relationships/tags" Target="../tags/tag64.xml"/><Relationship Id="rId15" Type="http://schemas.openxmlformats.org/officeDocument/2006/relationships/tags" Target="../tags/tag73.xml"/><Relationship Id="rId23" Type="http://schemas.openxmlformats.org/officeDocument/2006/relationships/tags" Target="../tags/tag81.xml"/><Relationship Id="rId28" Type="http://schemas.openxmlformats.org/officeDocument/2006/relationships/tags" Target="../tags/tag86.xml"/><Relationship Id="rId36" Type="http://schemas.openxmlformats.org/officeDocument/2006/relationships/tags" Target="../tags/tag94.xml"/><Relationship Id="rId49" Type="http://schemas.openxmlformats.org/officeDocument/2006/relationships/tags" Target="../tags/tag107.xml"/><Relationship Id="rId57" Type="http://schemas.openxmlformats.org/officeDocument/2006/relationships/tags" Target="../tags/tag115.xml"/><Relationship Id="rId10" Type="http://schemas.openxmlformats.org/officeDocument/2006/relationships/tags" Target="../tags/tag68.xml"/><Relationship Id="rId31" Type="http://schemas.openxmlformats.org/officeDocument/2006/relationships/tags" Target="../tags/tag89.xml"/><Relationship Id="rId44" Type="http://schemas.openxmlformats.org/officeDocument/2006/relationships/tags" Target="../tags/tag102.xml"/><Relationship Id="rId52" Type="http://schemas.openxmlformats.org/officeDocument/2006/relationships/tags" Target="../tags/tag110.xml"/><Relationship Id="rId60" Type="http://schemas.openxmlformats.org/officeDocument/2006/relationships/tags" Target="../tags/tag118.xml"/><Relationship Id="rId65" Type="http://schemas.openxmlformats.org/officeDocument/2006/relationships/tags" Target="../tags/tag123.xml"/><Relationship Id="rId4" Type="http://schemas.openxmlformats.org/officeDocument/2006/relationships/tags" Target="../tags/tag62.xml"/><Relationship Id="rId9" Type="http://schemas.openxmlformats.org/officeDocument/2006/relationships/tags" Target="../tags/tag67.xml"/><Relationship Id="rId13" Type="http://schemas.openxmlformats.org/officeDocument/2006/relationships/tags" Target="../tags/tag71.xml"/><Relationship Id="rId18" Type="http://schemas.openxmlformats.org/officeDocument/2006/relationships/tags" Target="../tags/tag76.xml"/><Relationship Id="rId39" Type="http://schemas.openxmlformats.org/officeDocument/2006/relationships/tags" Target="../tags/tag97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14.xml"/><Relationship Id="rId4" Type="http://schemas.openxmlformats.org/officeDocument/2006/relationships/image" Target="../media/image10.GIF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15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tags" Target="../tags/tag125.xml"/><Relationship Id="rId1" Type="http://schemas.openxmlformats.org/officeDocument/2006/relationships/themeOverride" Target="../theme/themeOverride116.xml"/><Relationship Id="rId4" Type="http://schemas.openxmlformats.org/officeDocument/2006/relationships/image" Target="../media/image7.jpe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17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18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19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120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21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22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23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26.xml"/><Relationship Id="rId1" Type="http://schemas.openxmlformats.org/officeDocument/2006/relationships/themeOverride" Target="../theme/themeOverride124.xml"/><Relationship Id="rId4" Type="http://schemas.openxmlformats.org/officeDocument/2006/relationships/image" Target="../media/image7.jpe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25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tags" Target="../tags/tag127.xml"/><Relationship Id="rId1" Type="http://schemas.openxmlformats.org/officeDocument/2006/relationships/themeOverride" Target="../theme/themeOverride126.xml"/><Relationship Id="rId4" Type="http://schemas.openxmlformats.org/officeDocument/2006/relationships/image" Target="../media/image7.jpe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27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28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29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30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31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32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33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tags" Target="../tags/tag128.xml"/><Relationship Id="rId1" Type="http://schemas.openxmlformats.org/officeDocument/2006/relationships/themeOverride" Target="../theme/themeOverride134.xml"/><Relationship Id="rId4" Type="http://schemas.openxmlformats.org/officeDocument/2006/relationships/image" Target="../media/image7.jpe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35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136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137.xml"/><Relationship Id="rId5" Type="http://schemas.openxmlformats.org/officeDocument/2006/relationships/image" Target="../media/image37.wmf"/><Relationship Id="rId4" Type="http://schemas.openxmlformats.org/officeDocument/2006/relationships/oleObject" Target="../embeddings/oleObject9.bin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138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139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140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141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142.xml"/><Relationship Id="rId4" Type="http://schemas.openxmlformats.org/officeDocument/2006/relationships/image" Target="../media/image38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143.xml"/><Relationship Id="rId4" Type="http://schemas.openxmlformats.org/officeDocument/2006/relationships/image" Target="../media/image39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144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145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146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129.xml"/><Relationship Id="rId1" Type="http://schemas.openxmlformats.org/officeDocument/2006/relationships/themeOverride" Target="../theme/themeOverride147.xml"/><Relationship Id="rId4" Type="http://schemas.openxmlformats.org/officeDocument/2006/relationships/image" Target="../media/image7.jpe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148.xml"/><Relationship Id="rId4" Type="http://schemas.openxmlformats.org/officeDocument/2006/relationships/image" Target="../media/image40.jpe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49.xml"/><Relationship Id="rId4" Type="http://schemas.openxmlformats.org/officeDocument/2006/relationships/image" Target="../media/image4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6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主标题"/>
          <p:cNvSpPr txBox="1"/>
          <p:nvPr>
            <p:custDataLst>
              <p:tags r:id="rId2"/>
            </p:custDataLst>
          </p:nvPr>
        </p:nvSpPr>
        <p:spPr>
          <a:xfrm>
            <a:off x="2801897" y="2977340"/>
            <a:ext cx="6587883" cy="797560"/>
          </a:xfrm>
          <a:prstGeom prst="rect">
            <a:avLst/>
          </a:prstGeom>
          <a:noFill/>
          <a:ln w="9525">
            <a:noFill/>
          </a:ln>
        </p:spPr>
        <p:txBody>
          <a:bodyPr lIns="91363" tIns="45682" rIns="91363" bIns="45682">
            <a:spAutoFit/>
          </a:bodyPr>
          <a:lstStyle/>
          <a:p>
            <a:pPr algn="dist" defTabSz="455930" eaLnBrk="1" hangingPunct="1"/>
            <a:r>
              <a:rPr lang="zh-CN" altLang="en-US" sz="4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第二章 递归与分治</a:t>
            </a:r>
            <a:endParaRPr lang="zh-CN" altLang="en-US" sz="4800" b="1" dirty="0">
              <a:solidFill>
                <a:srgbClr val="FF0000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2" name="主标题英文"/>
          <p:cNvSpPr txBox="1"/>
          <p:nvPr>
            <p:custDataLst>
              <p:tags r:id="rId3"/>
            </p:custDataLst>
          </p:nvPr>
        </p:nvSpPr>
        <p:spPr>
          <a:xfrm>
            <a:off x="470055" y="4094027"/>
            <a:ext cx="11251565" cy="826135"/>
          </a:xfrm>
          <a:prstGeom prst="rect">
            <a:avLst/>
          </a:prstGeom>
          <a:noFill/>
          <a:ln w="9525">
            <a:noFill/>
          </a:ln>
        </p:spPr>
        <p:txBody>
          <a:bodyPr lIns="91363" tIns="45682" rIns="91363" bIns="45682">
            <a:noAutofit/>
          </a:bodyPr>
          <a:lstStyle/>
          <a:p>
            <a:pPr algn="ctr" defTabSz="455930">
              <a:buClrTx/>
              <a:buSzTx/>
              <a:buFontTx/>
            </a:pPr>
            <a:r>
              <a:rPr lang="en-US" altLang="zh-CN" sz="4200" dirty="0">
                <a:solidFill>
                  <a:srgbClr val="FF0000"/>
                </a:solidFill>
                <a:latin typeface="Calibri" panose="020F0502020204030204" charset="0"/>
                <a:sym typeface="Arial" panose="020B0604020202020204" pitchFamily="34" charset="0"/>
              </a:rPr>
              <a:t>Chapter 2  Recursion and Divided-conquer</a:t>
            </a:r>
          </a:p>
        </p:txBody>
      </p:sp>
      <p:sp>
        <p:nvSpPr>
          <p:cNvPr id="17" name="汇报人"/>
          <p:cNvSpPr txBox="1"/>
          <p:nvPr>
            <p:custDataLst>
              <p:tags r:id="rId4"/>
            </p:custDataLst>
          </p:nvPr>
        </p:nvSpPr>
        <p:spPr>
          <a:xfrm>
            <a:off x="3801389" y="5493100"/>
            <a:ext cx="4588901" cy="954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74980"/>
            <a:r>
              <a:rPr lang="zh-CN" altLang="en-US" sz="2800" b="1" dirty="0">
                <a:solidFill>
                  <a:srgbClr val="0000FF"/>
                </a:solidFill>
                <a:latin typeface="+mn-ea"/>
                <a:sym typeface="Arial" panose="020B0604020202020204" pitchFamily="34" charset="0"/>
              </a:rPr>
              <a:t>计算机学院  高翔</a:t>
            </a:r>
            <a:endParaRPr lang="en-US" altLang="zh-CN" sz="2800" b="1" dirty="0">
              <a:solidFill>
                <a:srgbClr val="0000FF"/>
              </a:solidFill>
              <a:latin typeface="+mn-ea"/>
              <a:sym typeface="Arial" panose="020B0604020202020204" pitchFamily="34" charset="0"/>
            </a:endParaRPr>
          </a:p>
          <a:p>
            <a:pPr algn="ctr" defTabSz="474980"/>
            <a:r>
              <a:rPr lang="en-US" altLang="zh-CN" sz="2800" b="1" dirty="0">
                <a:solidFill>
                  <a:srgbClr val="0000FF"/>
                </a:solidFill>
                <a:latin typeface="+mn-ea"/>
              </a:rPr>
              <a:t>gaoxg@nwpu.edu.cn</a:t>
            </a:r>
          </a:p>
        </p:txBody>
      </p:sp>
      <p:sp>
        <p:nvSpPr>
          <p:cNvPr id="2" name="校徽打底">
            <a:extLst>
              <a:ext uri="{FF2B5EF4-FFF2-40B4-BE49-F238E27FC236}">
                <a16:creationId xmlns:a16="http://schemas.microsoft.com/office/drawing/2014/main" id="{DBB2F946-326E-6A1B-8BE7-E39A1CBE93CA}"/>
              </a:ext>
            </a:extLst>
          </p:cNvPr>
          <p:cNvSpPr/>
          <p:nvPr/>
        </p:nvSpPr>
        <p:spPr>
          <a:xfrm>
            <a:off x="3106906" y="1091040"/>
            <a:ext cx="6048672" cy="5706055"/>
          </a:xfrm>
          <a:prstGeom prst="rect">
            <a:avLst/>
          </a:prstGeom>
          <a:blipFill dpi="0" rotWithShape="1">
            <a:blip r:embed="rId7">
              <a:alphaModFix amt="15000"/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3" name="校徽组合">
            <a:extLst>
              <a:ext uri="{FF2B5EF4-FFF2-40B4-BE49-F238E27FC236}">
                <a16:creationId xmlns:a16="http://schemas.microsoft.com/office/drawing/2014/main" id="{E87E0F6E-6B73-C950-7D50-26DE24994869}"/>
              </a:ext>
            </a:extLst>
          </p:cNvPr>
          <p:cNvGrpSpPr/>
          <p:nvPr/>
        </p:nvGrpSpPr>
        <p:grpSpPr>
          <a:xfrm>
            <a:off x="5367274" y="-8266"/>
            <a:ext cx="1457125" cy="1052736"/>
            <a:chOff x="5015984" y="467571"/>
            <a:chExt cx="2160032" cy="1905000"/>
          </a:xfrm>
        </p:grpSpPr>
        <p:sp>
          <p:nvSpPr>
            <p:cNvPr id="7" name="五边形">
              <a:extLst>
                <a:ext uri="{FF2B5EF4-FFF2-40B4-BE49-F238E27FC236}">
                  <a16:creationId xmlns:a16="http://schemas.microsoft.com/office/drawing/2014/main" id="{13DBF0C9-7F2B-A1FB-66A4-FCB483EF44AC}"/>
                </a:ext>
              </a:extLst>
            </p:cNvPr>
            <p:cNvSpPr/>
            <p:nvPr/>
          </p:nvSpPr>
          <p:spPr>
            <a:xfrm rot="5400000">
              <a:off x="5143500" y="340055"/>
              <a:ext cx="1905000" cy="2160032"/>
            </a:xfrm>
            <a:prstGeom prst="homePlate">
              <a:avLst>
                <a:gd name="adj" fmla="val 32000"/>
              </a:avLst>
            </a:prstGeom>
            <a:solidFill>
              <a:srgbClr val="1045C9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  <a:sym typeface="Arial" panose="020B0604020202020204" pitchFamily="34" charset="0"/>
              </a:endParaRPr>
            </a:p>
          </p:txBody>
        </p:sp>
        <p:pic>
          <p:nvPicPr>
            <p:cNvPr id="9" name="校徽">
              <a:extLst>
                <a:ext uri="{FF2B5EF4-FFF2-40B4-BE49-F238E27FC236}">
                  <a16:creationId xmlns:a16="http://schemas.microsoft.com/office/drawing/2014/main" id="{DC30E6EE-822E-6A89-A6AF-C82607F132B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/>
            <a:stretch>
              <a:fillRect/>
            </a:stretch>
          </p:blipFill>
          <p:spPr>
            <a:xfrm>
              <a:off x="5384165" y="584656"/>
              <a:ext cx="1423673" cy="1421486"/>
            </a:xfrm>
            <a:prstGeom prst="rect">
              <a:avLst/>
            </a:prstGeom>
          </p:spPr>
        </p:pic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ext Box 3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1092368" y="1124543"/>
            <a:ext cx="4680520" cy="579438"/>
          </a:xfrm>
          <a:prstGeom prst="rect">
            <a:avLst/>
          </a:prstGeom>
          <a:solidFill>
            <a:srgbClr val="00B0F0"/>
          </a:solidFill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3200" b="1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Consolas" pitchFamily="49" charset="0"/>
              </a:rPr>
              <a:t>2.1  </a:t>
            </a:r>
            <a:r>
              <a:rPr lang="zh-CN" altLang="en-US" sz="3200" b="1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Consolas" pitchFamily="49" charset="0"/>
              </a:rPr>
              <a:t>递归的概念 </a:t>
            </a:r>
          </a:p>
        </p:txBody>
      </p:sp>
      <p:sp>
        <p:nvSpPr>
          <p:cNvPr id="12" name="Text Box 3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1092368" y="1948613"/>
            <a:ext cx="4680520" cy="584775"/>
          </a:xfrm>
          <a:prstGeom prst="rect">
            <a:avLst/>
          </a:prstGeom>
          <a:solidFill>
            <a:srgbClr val="00B0F0"/>
          </a:solidFill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3200" b="1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Consolas" pitchFamily="49" charset="0"/>
              </a:rPr>
              <a:t>2.2  </a:t>
            </a:r>
            <a:r>
              <a:rPr lang="zh-CN" altLang="en-US" sz="3200" b="1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Consolas" pitchFamily="49" charset="0"/>
              </a:rPr>
              <a:t>递归算法设计 </a:t>
            </a:r>
          </a:p>
        </p:txBody>
      </p:sp>
      <p:sp>
        <p:nvSpPr>
          <p:cNvPr id="13" name="Text Box 3">
            <a:hlinkClick r:id="rId5" action="ppaction://hlinksldjump"/>
          </p:cNvPr>
          <p:cNvSpPr txBox="1">
            <a:spLocks noChangeArrowheads="1"/>
          </p:cNvSpPr>
          <p:nvPr/>
        </p:nvSpPr>
        <p:spPr bwMode="auto">
          <a:xfrm>
            <a:off x="1092368" y="2778020"/>
            <a:ext cx="4680520" cy="584775"/>
          </a:xfrm>
          <a:prstGeom prst="rect">
            <a:avLst/>
          </a:prstGeom>
          <a:solidFill>
            <a:srgbClr val="00B0F0"/>
          </a:solidFill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3200" b="1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Consolas" pitchFamily="49" charset="0"/>
              </a:rPr>
              <a:t>2.3 </a:t>
            </a:r>
            <a:r>
              <a:rPr lang="zh-CN" altLang="en-US" sz="3200" b="1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Consolas" pitchFamily="49" charset="0"/>
              </a:rPr>
              <a:t>递归</a:t>
            </a:r>
            <a:r>
              <a:rPr lang="zh-CN" altLang="zh-CN" sz="32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itchFamily="49" charset="0"/>
              </a:rPr>
              <a:t>算法</a:t>
            </a:r>
            <a:r>
              <a:rPr lang="zh-CN" altLang="en-US" sz="32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itchFamily="49" charset="0"/>
              </a:rPr>
              <a:t>示例</a:t>
            </a:r>
            <a:endParaRPr lang="zh-CN" altLang="en-US" sz="3200" b="1" spc="50" dirty="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  <a:cs typeface="Consolas" pitchFamily="49" charset="0"/>
            </a:endParaRPr>
          </a:p>
        </p:txBody>
      </p:sp>
      <p:sp>
        <p:nvSpPr>
          <p:cNvPr id="2" name="Text Box 3">
            <a:hlinkClick r:id="rId6" action="ppaction://hlinksldjump"/>
            <a:extLst>
              <a:ext uri="{FF2B5EF4-FFF2-40B4-BE49-F238E27FC236}">
                <a16:creationId xmlns:a16="http://schemas.microsoft.com/office/drawing/2014/main" id="{C22E27D3-52FB-71DF-8099-66B0148264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2368" y="3607427"/>
            <a:ext cx="4680520" cy="584775"/>
          </a:xfrm>
          <a:prstGeom prst="rect">
            <a:avLst/>
          </a:prstGeom>
          <a:solidFill>
            <a:srgbClr val="00B0F0"/>
          </a:solidFill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3200" b="1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Consolas" pitchFamily="49" charset="0"/>
              </a:rPr>
              <a:t>2.4 </a:t>
            </a:r>
            <a:r>
              <a:rPr lang="zh-CN" altLang="en-US" sz="3200" b="1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Consolas" pitchFamily="49" charset="0"/>
              </a:rPr>
              <a:t>分治法的设计思想</a:t>
            </a:r>
          </a:p>
        </p:txBody>
      </p:sp>
      <p:sp>
        <p:nvSpPr>
          <p:cNvPr id="3" name="Text Box 3">
            <a:hlinkClick r:id="rId7" action="ppaction://hlinksldjump"/>
            <a:extLst>
              <a:ext uri="{FF2B5EF4-FFF2-40B4-BE49-F238E27FC236}">
                <a16:creationId xmlns:a16="http://schemas.microsoft.com/office/drawing/2014/main" id="{E9D5D7F8-B8B3-1CD1-21B2-CDBEA909FA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2368" y="4436834"/>
            <a:ext cx="4680520" cy="584775"/>
          </a:xfrm>
          <a:prstGeom prst="rect">
            <a:avLst/>
          </a:prstGeom>
          <a:solidFill>
            <a:srgbClr val="00B0F0"/>
          </a:solidFill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3200" b="1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Consolas" pitchFamily="49" charset="0"/>
              </a:rPr>
              <a:t>2.5 </a:t>
            </a:r>
            <a:r>
              <a:rPr lang="zh-CN" altLang="en-US" sz="3200" b="1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Consolas" pitchFamily="49" charset="0"/>
              </a:rPr>
              <a:t>快速排序</a:t>
            </a:r>
          </a:p>
        </p:txBody>
      </p:sp>
      <p:sp>
        <p:nvSpPr>
          <p:cNvPr id="4" name="Text Box 3">
            <a:hlinkClick r:id="rId8" action="ppaction://hlinksldjump"/>
            <a:extLst>
              <a:ext uri="{FF2B5EF4-FFF2-40B4-BE49-F238E27FC236}">
                <a16:creationId xmlns:a16="http://schemas.microsoft.com/office/drawing/2014/main" id="{E81A006F-F6F4-E60D-C3FB-86DC348017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2368" y="5266241"/>
            <a:ext cx="4680520" cy="584775"/>
          </a:xfrm>
          <a:prstGeom prst="rect">
            <a:avLst/>
          </a:prstGeom>
          <a:solidFill>
            <a:srgbClr val="00B0F0"/>
          </a:solidFill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3200" b="1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Consolas" pitchFamily="49" charset="0"/>
              </a:rPr>
              <a:t>2.6 </a:t>
            </a:r>
            <a:r>
              <a:rPr lang="zh-CN" altLang="en-US" sz="3200" b="1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Consolas" pitchFamily="49" charset="0"/>
              </a:rPr>
              <a:t>主方法</a:t>
            </a:r>
          </a:p>
        </p:txBody>
      </p:sp>
      <p:sp>
        <p:nvSpPr>
          <p:cNvPr id="5" name="Text Box 3">
            <a:hlinkClick r:id="rId9" action="ppaction://hlinksldjump"/>
            <a:extLst>
              <a:ext uri="{FF2B5EF4-FFF2-40B4-BE49-F238E27FC236}">
                <a16:creationId xmlns:a16="http://schemas.microsoft.com/office/drawing/2014/main" id="{5FEEE22C-5408-0943-FAD2-E22FE09F18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2368" y="6095648"/>
            <a:ext cx="4680520" cy="584775"/>
          </a:xfrm>
          <a:prstGeom prst="rect">
            <a:avLst/>
          </a:prstGeom>
          <a:solidFill>
            <a:srgbClr val="00B0F0"/>
          </a:solidFill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3200" b="1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Consolas" pitchFamily="49" charset="0"/>
              </a:rPr>
              <a:t>2.7</a:t>
            </a:r>
            <a:r>
              <a:rPr lang="zh-CN" altLang="en-US" sz="3200" b="1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Consolas" pitchFamily="49" charset="0"/>
              </a:rPr>
              <a:t>归并排序</a:t>
            </a:r>
          </a:p>
        </p:txBody>
      </p:sp>
      <p:sp>
        <p:nvSpPr>
          <p:cNvPr id="6" name="Text Box 3">
            <a:hlinkClick r:id="rId10" action="ppaction://hlinksldjump"/>
            <a:extLst>
              <a:ext uri="{FF2B5EF4-FFF2-40B4-BE49-F238E27FC236}">
                <a16:creationId xmlns:a16="http://schemas.microsoft.com/office/drawing/2014/main" id="{E788FDB9-DBA1-4BE7-B70A-E3A670F61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6883" y="1132427"/>
            <a:ext cx="4680520" cy="584775"/>
          </a:xfrm>
          <a:prstGeom prst="rect">
            <a:avLst/>
          </a:prstGeom>
          <a:solidFill>
            <a:srgbClr val="00B0F0"/>
          </a:solidFill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3200" b="1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Consolas" pitchFamily="49" charset="0"/>
              </a:rPr>
              <a:t>2.8 </a:t>
            </a:r>
            <a:r>
              <a:rPr lang="zh-CN" altLang="en-US" sz="3200" b="1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Consolas" pitchFamily="49" charset="0"/>
              </a:rPr>
              <a:t>寻找最大次大元素</a:t>
            </a:r>
          </a:p>
        </p:txBody>
      </p:sp>
      <p:sp>
        <p:nvSpPr>
          <p:cNvPr id="7" name="Text Box 3">
            <a:hlinkClick r:id="rId11" action="ppaction://hlinksldjump"/>
            <a:extLst>
              <a:ext uri="{FF2B5EF4-FFF2-40B4-BE49-F238E27FC236}">
                <a16:creationId xmlns:a16="http://schemas.microsoft.com/office/drawing/2014/main" id="{7B85A4BA-ABAC-CBA8-2A2D-7E36FB0358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6883" y="1949240"/>
            <a:ext cx="4680520" cy="584775"/>
          </a:xfrm>
          <a:prstGeom prst="rect">
            <a:avLst/>
          </a:prstGeom>
          <a:solidFill>
            <a:srgbClr val="00B0F0"/>
          </a:solidFill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3200" b="1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Consolas" pitchFamily="49" charset="0"/>
              </a:rPr>
              <a:t>2.9 </a:t>
            </a:r>
            <a:r>
              <a:rPr lang="zh-CN" altLang="en-US" sz="3200" b="1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Consolas" pitchFamily="49" charset="0"/>
              </a:rPr>
              <a:t>折半查找</a:t>
            </a:r>
          </a:p>
        </p:txBody>
      </p:sp>
      <p:sp>
        <p:nvSpPr>
          <p:cNvPr id="8" name="Text Box 3">
            <a:hlinkClick r:id="rId12" action="ppaction://hlinksldjump"/>
            <a:extLst>
              <a:ext uri="{FF2B5EF4-FFF2-40B4-BE49-F238E27FC236}">
                <a16:creationId xmlns:a16="http://schemas.microsoft.com/office/drawing/2014/main" id="{A99B0588-AABD-1348-05D7-CCE03B8C1E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6883" y="2778020"/>
            <a:ext cx="4680520" cy="584775"/>
          </a:xfrm>
          <a:prstGeom prst="rect">
            <a:avLst/>
          </a:prstGeom>
          <a:solidFill>
            <a:srgbClr val="00B0F0"/>
          </a:solidFill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3200" b="1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Consolas" pitchFamily="49" charset="0"/>
              </a:rPr>
              <a:t>2.10 </a:t>
            </a:r>
            <a:r>
              <a:rPr lang="zh-CN" altLang="en-US" sz="3200" b="1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Consolas" pitchFamily="49" charset="0"/>
              </a:rPr>
              <a:t>寻找第</a:t>
            </a:r>
            <a:r>
              <a:rPr lang="en-US" altLang="zh-CN" sz="3200" b="1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Consolas" pitchFamily="49" charset="0"/>
              </a:rPr>
              <a:t>k</a:t>
            </a:r>
            <a:r>
              <a:rPr lang="zh-CN" altLang="en-US" sz="3200" b="1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Consolas" pitchFamily="49" charset="0"/>
              </a:rPr>
              <a:t>小元素</a:t>
            </a:r>
          </a:p>
        </p:txBody>
      </p:sp>
      <p:sp>
        <p:nvSpPr>
          <p:cNvPr id="9" name="Text Box 3">
            <a:hlinkClick r:id="rId13" action="ppaction://hlinksldjump"/>
            <a:extLst>
              <a:ext uri="{FF2B5EF4-FFF2-40B4-BE49-F238E27FC236}">
                <a16:creationId xmlns:a16="http://schemas.microsoft.com/office/drawing/2014/main" id="{1204CB89-C600-0ACB-3561-EAE891030A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6883" y="3606799"/>
            <a:ext cx="4680520" cy="1414809"/>
          </a:xfrm>
          <a:prstGeom prst="rect">
            <a:avLst/>
          </a:prstGeom>
          <a:solidFill>
            <a:srgbClr val="00B0F0"/>
          </a:solidFill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3200" b="1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Consolas" pitchFamily="49" charset="0"/>
              </a:rPr>
              <a:t>2.11 </a:t>
            </a:r>
            <a:r>
              <a:rPr lang="zh-CN" altLang="en-US" sz="3200" b="1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Consolas" pitchFamily="49" charset="0"/>
              </a:rPr>
              <a:t>寻找两个有序序列的中位数</a:t>
            </a:r>
            <a:endParaRPr lang="en-US" altLang="zh-CN" sz="3200" b="1" spc="50" dirty="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  <a:cs typeface="Consolas" pitchFamily="49" charset="0"/>
            </a:endParaRPr>
          </a:p>
        </p:txBody>
      </p:sp>
      <p:sp>
        <p:nvSpPr>
          <p:cNvPr id="10" name="Text Box 3">
            <a:hlinkClick r:id="rId14" action="ppaction://hlinksldjump"/>
            <a:extLst>
              <a:ext uri="{FF2B5EF4-FFF2-40B4-BE49-F238E27FC236}">
                <a16:creationId xmlns:a16="http://schemas.microsoft.com/office/drawing/2014/main" id="{1AB92CED-8090-4421-896E-232388A5E9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6883" y="5266868"/>
            <a:ext cx="4680520" cy="584775"/>
          </a:xfrm>
          <a:prstGeom prst="rect">
            <a:avLst/>
          </a:prstGeom>
          <a:solidFill>
            <a:srgbClr val="00B0F0"/>
          </a:solidFill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3200" b="1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Consolas" pitchFamily="49" charset="0"/>
              </a:rPr>
              <a:t>2.12 </a:t>
            </a:r>
            <a:r>
              <a:rPr lang="zh-CN" altLang="en-US" sz="3200" b="1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Consolas" pitchFamily="49" charset="0"/>
              </a:rPr>
              <a:t>寻找最大子序列和</a:t>
            </a:r>
          </a:p>
        </p:txBody>
      </p:sp>
      <p:sp>
        <p:nvSpPr>
          <p:cNvPr id="11" name="Text Box 3">
            <a:hlinkClick r:id="rId15" action="ppaction://hlinksldjump"/>
            <a:extLst>
              <a:ext uri="{FF2B5EF4-FFF2-40B4-BE49-F238E27FC236}">
                <a16:creationId xmlns:a16="http://schemas.microsoft.com/office/drawing/2014/main" id="{BB57C56F-FEE8-4854-03E9-ABF6E3E7B0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4857" y="6095648"/>
            <a:ext cx="4680520" cy="584775"/>
          </a:xfrm>
          <a:prstGeom prst="rect">
            <a:avLst/>
          </a:prstGeom>
          <a:solidFill>
            <a:srgbClr val="00B0F0"/>
          </a:solidFill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3200" b="1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Consolas" pitchFamily="49" charset="0"/>
              </a:rPr>
              <a:t>2.13 </a:t>
            </a:r>
            <a:r>
              <a:rPr lang="zh-CN" altLang="en-US" sz="3200" b="1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Consolas" pitchFamily="49" charset="0"/>
              </a:rPr>
              <a:t>棋盘覆盖问题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CA05DEF-FE6A-0122-49B3-495C30BEF456}"/>
              </a:ext>
            </a:extLst>
          </p:cNvPr>
          <p:cNvSpPr txBox="1"/>
          <p:nvPr/>
        </p:nvSpPr>
        <p:spPr>
          <a:xfrm>
            <a:off x="5429926" y="315614"/>
            <a:ext cx="1332148" cy="58477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ea typeface="楷体" pitchFamily="49" charset="-122"/>
                <a:cs typeface="Times New Roman" pitchFamily="18" charset="0"/>
              </a:rPr>
              <a:t>目  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Text Box 7"/>
          <p:cNvSpPr txBox="1">
            <a:spLocks noChangeArrowheads="1"/>
          </p:cNvSpPr>
          <p:nvPr/>
        </p:nvSpPr>
        <p:spPr bwMode="auto">
          <a:xfrm>
            <a:off x="109768" y="1457169"/>
            <a:ext cx="3670935" cy="50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108829" tIns="54414" rIns="108829" bIns="54414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6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递归的定义</a:t>
            </a:r>
          </a:p>
        </p:txBody>
      </p:sp>
      <p:sp>
        <p:nvSpPr>
          <p:cNvPr id="16389" name="Text Box 8"/>
          <p:cNvSpPr txBox="1">
            <a:spLocks noChangeArrowheads="1"/>
          </p:cNvSpPr>
          <p:nvPr/>
        </p:nvSpPr>
        <p:spPr bwMode="auto">
          <a:xfrm>
            <a:off x="368301" y="2278380"/>
            <a:ext cx="7835656" cy="36499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8829" tIns="54414" rIns="108829" bIns="54414">
            <a:noAutofit/>
          </a:bodyPr>
          <a:lstStyle/>
          <a:p>
            <a:pPr indent="0" fontAlgn="auto">
              <a:lnSpc>
                <a:spcPct val="100000"/>
              </a:lnSpc>
            </a:pPr>
            <a:r>
              <a:rPr lang="zh-CN" altLang="en-US" sz="2400" dirty="0"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　</a:t>
            </a:r>
            <a:r>
              <a:rPr lang="zh-CN" altLang="en-US" sz="24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　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在定义一个过程或函数时出现调用本过程或本函数的成分，称之为递归。若调用自身，称之为</a:t>
            </a:r>
            <a:r>
              <a:rPr lang="zh-CN" altLang="en-US" sz="22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直接递归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。若过程或函数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p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调用过程或函数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q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q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又调用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p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，称之为</a:t>
            </a:r>
            <a:r>
              <a:rPr lang="zh-CN" altLang="en-US" sz="22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间接递归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。</a:t>
            </a:r>
            <a:endParaRPr lang="en-US" altLang="zh-CN" sz="2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任何间接递归都可以等价地转换为直接递归。</a:t>
            </a:r>
          </a:p>
          <a:p>
            <a:pPr indent="0" fontAlgn="auto">
              <a:lnSpc>
                <a:spcPct val="10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　  如果一个递归过程或递归函数中递归调用语句是最后一条执行语句，则称这种递归调用为</a:t>
            </a:r>
            <a:r>
              <a:rPr lang="zh-CN" altLang="en-US" sz="22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尾递归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。</a:t>
            </a:r>
          </a:p>
        </p:txBody>
      </p:sp>
      <p:sp>
        <p:nvSpPr>
          <p:cNvPr id="10" name="基础扎实 / Strong Preparation"/>
          <p:cNvSpPr txBox="1"/>
          <p:nvPr/>
        </p:nvSpPr>
        <p:spPr>
          <a:xfrm>
            <a:off x="2603627" y="367980"/>
            <a:ext cx="5870237" cy="561660"/>
          </a:xfrm>
          <a:prstGeom prst="rect">
            <a:avLst/>
          </a:prstGeom>
          <a:noFill/>
          <a:ln>
            <a:noFill/>
          </a:ln>
        </p:spPr>
        <p:txBody>
          <a:bodyPr wrap="square" lIns="68549" tIns="34274" rIns="68549" bIns="34274" rtlCol="0">
            <a:spAutoFit/>
          </a:bodyPr>
          <a:lstStyle/>
          <a:p>
            <a:pPr algn="ctr" defTabSz="950595">
              <a:buClr>
                <a:prstClr val="white"/>
              </a:buClr>
              <a:buSzTx/>
              <a:buFontTx/>
              <a:defRPr/>
            </a:pPr>
            <a:r>
              <a:rPr lang="zh-CN" altLang="en-US" sz="3200" b="1" spc="50" dirty="0">
                <a:ln w="11430"/>
                <a:solidFill>
                  <a:srgbClr val="006600"/>
                </a:solidFill>
                <a:latin typeface="+mn-ea"/>
                <a:sym typeface="Arial" panose="020B0604020202020204" pitchFamily="34" charset="0"/>
              </a:rPr>
              <a:t>2.1 递归的概念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4"/>
          <p:cNvSpPr txBox="1">
            <a:spLocks noChangeArrowheads="1"/>
          </p:cNvSpPr>
          <p:nvPr/>
        </p:nvSpPr>
        <p:spPr bwMode="auto">
          <a:xfrm>
            <a:off x="433705" y="1144270"/>
            <a:ext cx="6727825" cy="4768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108829" tIns="54414" rIns="108829" bIns="54414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【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例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2.1】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设计求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n!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（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为正整数）的递归算法。</a:t>
            </a:r>
          </a:p>
        </p:txBody>
      </p:sp>
      <p:sp>
        <p:nvSpPr>
          <p:cNvPr id="17411" name="Text Box 5"/>
          <p:cNvSpPr txBox="1">
            <a:spLocks noChangeArrowheads="1"/>
          </p:cNvSpPr>
          <p:nvPr/>
        </p:nvSpPr>
        <p:spPr bwMode="auto">
          <a:xfrm>
            <a:off x="783117" y="1625033"/>
            <a:ext cx="8925285" cy="4484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8829" tIns="54414" rIns="108829" bIns="54414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解：对应的递归函数如下：</a:t>
            </a:r>
          </a:p>
        </p:txBody>
      </p:sp>
      <p:sp>
        <p:nvSpPr>
          <p:cNvPr id="150534" name="Text Box 6"/>
          <p:cNvSpPr txBox="1">
            <a:spLocks noChangeArrowheads="1"/>
          </p:cNvSpPr>
          <p:nvPr/>
        </p:nvSpPr>
        <p:spPr bwMode="auto">
          <a:xfrm>
            <a:off x="1239907" y="2215598"/>
            <a:ext cx="7183831" cy="236664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lIns="214232" tIns="214232" rIns="108829" bIns="214232">
            <a:spAutoFit/>
          </a:bodyPr>
          <a:lstStyle/>
          <a:p>
            <a:pPr>
              <a:defRPr/>
            </a:pPr>
            <a:r>
              <a:rPr lang="en-US" altLang="zh-CN" sz="2100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int</a:t>
            </a:r>
            <a:r>
              <a:rPr lang="en-US" altLang="zh-CN" sz="210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sz="2100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fun</a:t>
            </a:r>
            <a:r>
              <a:rPr lang="en-US" altLang="zh-CN" sz="210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</a:t>
            </a:r>
            <a:r>
              <a:rPr lang="en-US" altLang="zh-CN" sz="2100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int</a:t>
            </a:r>
            <a:r>
              <a:rPr lang="en-US" altLang="zh-CN" sz="210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n)</a:t>
            </a:r>
          </a:p>
          <a:p>
            <a:pPr>
              <a:defRPr/>
            </a:pPr>
            <a:r>
              <a:rPr lang="en-US" altLang="zh-CN" sz="210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{  if (n==1)			</a:t>
            </a:r>
            <a:r>
              <a:rPr lang="en-US" altLang="zh-CN" sz="2100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en-US" sz="2100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语句</a:t>
            </a:r>
            <a:r>
              <a:rPr lang="en-US" altLang="zh-CN" sz="2100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1</a:t>
            </a:r>
          </a:p>
          <a:p>
            <a:pPr>
              <a:defRPr/>
            </a:pPr>
            <a:r>
              <a:rPr lang="zh-CN" altLang="en-US" sz="210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　</a:t>
            </a:r>
            <a:r>
              <a:rPr lang="en-US" altLang="zh-CN" sz="210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return(1);		</a:t>
            </a:r>
            <a:r>
              <a:rPr lang="en-US" altLang="zh-CN" sz="2100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en-US" sz="2100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语句</a:t>
            </a:r>
            <a:r>
              <a:rPr lang="en-US" altLang="zh-CN" sz="2100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2</a:t>
            </a:r>
          </a:p>
          <a:p>
            <a:pPr>
              <a:defRPr/>
            </a:pPr>
            <a:r>
              <a:rPr lang="zh-CN" altLang="en-US" sz="210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 </a:t>
            </a:r>
            <a:r>
              <a:rPr lang="en-US" altLang="zh-CN" sz="210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else			</a:t>
            </a:r>
            <a:r>
              <a:rPr lang="en-US" altLang="zh-CN" sz="2100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en-US" sz="2100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语句</a:t>
            </a:r>
            <a:r>
              <a:rPr lang="en-US" altLang="zh-CN" sz="2100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3</a:t>
            </a:r>
          </a:p>
          <a:p>
            <a:pPr>
              <a:defRPr/>
            </a:pPr>
            <a:r>
              <a:rPr lang="zh-CN" altLang="en-US" sz="210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　</a:t>
            </a:r>
            <a:r>
              <a:rPr lang="en-US" altLang="zh-CN" sz="210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return(</a:t>
            </a:r>
            <a:r>
              <a:rPr lang="en-US" altLang="zh-CN" sz="2100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fun</a:t>
            </a:r>
            <a:r>
              <a:rPr lang="en-US" altLang="zh-CN" sz="210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(n-1)*n);	</a:t>
            </a:r>
            <a:r>
              <a:rPr lang="en-US" altLang="zh-CN" sz="2100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en-US" sz="2100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语句</a:t>
            </a:r>
            <a:r>
              <a:rPr lang="en-US" altLang="zh-CN" sz="2100" dirty="0">
                <a:solidFill>
                  <a:srgbClr val="00B0F0"/>
                </a:solidFill>
                <a:latin typeface="+mn-ea"/>
                <a:cs typeface="Consolas" panose="020B0609020204030204" pitchFamily="49" charset="0"/>
              </a:rPr>
              <a:t>4</a:t>
            </a:r>
          </a:p>
          <a:p>
            <a:pPr>
              <a:defRPr/>
            </a:pPr>
            <a:r>
              <a:rPr lang="en-US" altLang="zh-CN" sz="210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7413" name="Text Box 7"/>
          <p:cNvSpPr txBox="1">
            <a:spLocks noChangeArrowheads="1"/>
          </p:cNvSpPr>
          <p:nvPr/>
        </p:nvSpPr>
        <p:spPr bwMode="auto">
          <a:xfrm>
            <a:off x="714375" y="4695825"/>
            <a:ext cx="7956550" cy="11563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108829" tIns="54414" rIns="108829" bIns="54414">
            <a:spAutoFit/>
          </a:bodyPr>
          <a:lstStyle/>
          <a:p>
            <a:pPr indent="0" fontAlgn="auto">
              <a:lnSpc>
                <a:spcPct val="100000"/>
              </a:lnSpc>
            </a:pPr>
            <a:r>
              <a:rPr lang="en-US" altLang="zh-CN" sz="2400" dirty="0">
                <a:latin typeface="+mn-ea"/>
                <a:cs typeface="Consolas" panose="020B0609020204030204" pitchFamily="49" charset="0"/>
              </a:rPr>
              <a:t> </a:t>
            </a:r>
            <a:r>
              <a:rPr lang="zh-CN" altLang="en-US" sz="2400" dirty="0">
                <a:latin typeface="+mn-ea"/>
                <a:cs typeface="Consolas" panose="020B0609020204030204" pitchFamily="49" charset="0"/>
              </a:rPr>
              <a:t>　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在该函数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fun(n)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求解过程中，直接调用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fun(n-1)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（语句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4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）自身，所以它是一个直接递归函数。又由于递归调用是最后一条语句，所以它又属于尾递归。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845820" y="1138634"/>
            <a:ext cx="10474269" cy="4484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108829" tIns="54414" rIns="108829" bIns="54414">
            <a:spAutoFit/>
          </a:bodyPr>
          <a:lstStyle/>
          <a:p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一般来说，能够用递归解决的问题应该满足以下三个条件：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5820" y="1904365"/>
            <a:ext cx="7771130" cy="376999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214232" tIns="214232" rIns="214232" bIns="214232" rtlCol="0">
            <a:noAutofit/>
          </a:bodyPr>
          <a:lstStyle/>
          <a:p>
            <a:pPr marL="544195" indent="-544195">
              <a:lnSpc>
                <a:spcPct val="150000"/>
              </a:lnSpc>
              <a:buBlip>
                <a:blip r:embed="rId4"/>
              </a:buBlip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需要解决的问题可以转化为一个或多个子问题来求解，而这些子问题的求解方法与原问题完全相同，只是在数量规模上不同。</a:t>
            </a:r>
          </a:p>
          <a:p>
            <a:pPr marL="544195" indent="-544195">
              <a:lnSpc>
                <a:spcPct val="150000"/>
              </a:lnSpc>
              <a:buBlip>
                <a:blip r:embed="rId4"/>
              </a:buBlip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递归调用的次数必须是有限的。</a:t>
            </a:r>
          </a:p>
          <a:p>
            <a:pPr marL="544195" indent="-544195">
              <a:lnSpc>
                <a:spcPct val="150000"/>
              </a:lnSpc>
              <a:buBlip>
                <a:blip r:embed="rId4"/>
              </a:buBlip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必须有结束递归的条件来终止递归。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-122610" y="1518379"/>
            <a:ext cx="3592195" cy="50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108829" tIns="54414" rIns="108829" bIns="54414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600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何时使用递归</a:t>
            </a:r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457200" y="3613785"/>
            <a:ext cx="8158480" cy="27082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8829" tIns="54414" rIns="108829" bIns="54414">
            <a:noAutofit/>
          </a:bodyPr>
          <a:lstStyle/>
          <a:p>
            <a:pPr>
              <a:lnSpc>
                <a:spcPct val="140000"/>
              </a:lnSpc>
              <a:spcBef>
                <a:spcPct val="50000"/>
              </a:spcBef>
            </a:pPr>
            <a:r>
              <a:rPr kumimoji="1" lang="en-US" altLang="zh-CN" sz="240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 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有许多数学公式、数列等的定义是递归的。例如，求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n!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Fibonacci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数列等。这些问题的求解过程可以将其递归定义直接转化为对应的递归算法。 </a:t>
            </a:r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552567" y="2140970"/>
            <a:ext cx="8447069" cy="4484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8829" tIns="54414" rIns="108829" bIns="54414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在以下三种情况下，常常要用到递归的方法。</a:t>
            </a:r>
          </a:p>
        </p:txBody>
      </p:sp>
      <p:sp>
        <p:nvSpPr>
          <p:cNvPr id="19461" name="Text Box 5"/>
          <p:cNvSpPr txBox="1">
            <a:spLocks noChangeArrowheads="1"/>
          </p:cNvSpPr>
          <p:nvPr/>
        </p:nvSpPr>
        <p:spPr bwMode="auto">
          <a:xfrm>
            <a:off x="552718" y="2818597"/>
            <a:ext cx="3550646" cy="4368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8829" tIns="54414" rIns="108829" bIns="54414">
            <a:spAutoFit/>
          </a:bodyPr>
          <a:lstStyle/>
          <a:p>
            <a:pPr algn="ctr">
              <a:lnSpc>
                <a:spcPct val="110000"/>
              </a:lnSpc>
              <a:spcBef>
                <a:spcPct val="50000"/>
              </a:spcBef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1. 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定义是递归的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489185" y="687695"/>
            <a:ext cx="8196612" cy="89656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CN" dirty="0"/>
              <a:t>Recursive definition</a:t>
            </a:r>
          </a:p>
          <a:p>
            <a:pPr marL="457200" lvl="1" indent="0"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Factorial function</a:t>
            </a:r>
          </a:p>
          <a:p>
            <a:pPr lvl="1"/>
            <a:endParaRPr lang="en-US" altLang="zh-CN" dirty="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1EE39-3C32-4835-BD88-24252166C4AC}" type="slidenum">
              <a:rPr lang="en-US" altLang="zh-CN"/>
              <a:pPr/>
              <a:t>7</a:t>
            </a:fld>
            <a:endParaRPr lang="en-US" altLang="zh-CN"/>
          </a:p>
        </p:txBody>
      </p:sp>
      <p:graphicFrame>
        <p:nvGraphicFramePr>
          <p:cNvPr id="2150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6282096"/>
              </p:ext>
            </p:extLst>
          </p:nvPr>
        </p:nvGraphicFramePr>
        <p:xfrm>
          <a:off x="587375" y="1584262"/>
          <a:ext cx="497628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14320" imgH="457200" progId="Equation.DSMT4">
                  <p:embed/>
                </p:oleObj>
              </mc:Choice>
              <mc:Fallback>
                <p:oleObj name="Equation" r:id="rId5" imgW="171432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375" y="1584262"/>
                        <a:ext cx="4976283" cy="9144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587375" y="2796013"/>
            <a:ext cx="7772400" cy="544716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 altLang="zh-CN" dirty="0"/>
              <a:t>Fibonacci numbers</a:t>
            </a:r>
          </a:p>
          <a:p>
            <a:pPr lvl="1"/>
            <a:endParaRPr lang="en-US" altLang="zh-CN" dirty="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2148566"/>
              </p:ext>
            </p:extLst>
          </p:nvPr>
        </p:nvGraphicFramePr>
        <p:xfrm>
          <a:off x="587375" y="3612443"/>
          <a:ext cx="54848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654300" imgH="457200" progId="Equation.DSMT4">
                  <p:embed/>
                </p:oleObj>
              </mc:Choice>
              <mc:Fallback>
                <p:oleObj name="Equation" r:id="rId7" imgW="2654300" imgH="457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375" y="3612443"/>
                        <a:ext cx="5484813" cy="9144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355451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1292843" y="2829780"/>
            <a:ext cx="5141913" cy="220472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lIns="108829" tIns="257078" rIns="108829" bIns="171386">
            <a:spAutoFit/>
          </a:bodyPr>
          <a:lstStyle/>
          <a:p>
            <a:pPr algn="just">
              <a:spcBef>
                <a:spcPct val="50000"/>
              </a:spcBef>
            </a:pPr>
            <a:r>
              <a:rPr kumimoji="1" lang="en-US" altLang="zh-CN" sz="2100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typedef</a:t>
            </a:r>
            <a:r>
              <a:rPr kumimoji="1" lang="en-US" altLang="zh-CN" sz="210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</a:t>
            </a:r>
            <a:r>
              <a:rPr kumimoji="1" lang="en-US" altLang="zh-CN" sz="2100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struct</a:t>
            </a:r>
            <a:r>
              <a:rPr kumimoji="1" lang="en-US" altLang="zh-CN" sz="210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</a:t>
            </a:r>
            <a:r>
              <a:rPr kumimoji="1" lang="en-US" altLang="zh-CN" sz="2100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LNode</a:t>
            </a:r>
            <a:r>
              <a:rPr kumimoji="1" lang="en-US" altLang="zh-CN" sz="210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</a:t>
            </a:r>
          </a:p>
          <a:p>
            <a:pPr algn="just">
              <a:spcBef>
                <a:spcPct val="50000"/>
              </a:spcBef>
            </a:pPr>
            <a:r>
              <a:rPr kumimoji="1" lang="en-US" altLang="zh-CN" sz="210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{   </a:t>
            </a:r>
            <a:r>
              <a:rPr kumimoji="1" lang="en-US" altLang="zh-CN" sz="2100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ElemType</a:t>
            </a:r>
            <a:r>
              <a:rPr kumimoji="1" lang="en-US" altLang="zh-CN" sz="210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data;</a:t>
            </a:r>
          </a:p>
          <a:p>
            <a:pPr algn="just">
              <a:spcBef>
                <a:spcPct val="50000"/>
              </a:spcBef>
            </a:pPr>
            <a:r>
              <a:rPr kumimoji="1" lang="en-US" altLang="zh-CN" sz="210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 </a:t>
            </a:r>
            <a:r>
              <a:rPr kumimoji="1" lang="en-US" altLang="zh-CN" sz="2100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struct</a:t>
            </a:r>
            <a:r>
              <a:rPr kumimoji="1" lang="en-US" altLang="zh-CN" sz="210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</a:t>
            </a:r>
            <a:r>
              <a:rPr kumimoji="1" lang="en-US" altLang="zh-CN" sz="2100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LNode</a:t>
            </a:r>
            <a:r>
              <a:rPr kumimoji="1" lang="en-US" altLang="zh-CN" sz="210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*next;	  </a:t>
            </a:r>
          </a:p>
          <a:p>
            <a:pPr algn="just">
              <a:spcBef>
                <a:spcPct val="50000"/>
              </a:spcBef>
            </a:pPr>
            <a:r>
              <a:rPr kumimoji="1" lang="en-US" altLang="zh-CN" sz="210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} </a:t>
            </a:r>
            <a:r>
              <a:rPr kumimoji="1" lang="en-US" altLang="zh-CN" sz="2100" dirty="0" err="1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LinkList</a:t>
            </a:r>
            <a:r>
              <a:rPr kumimoji="1" lang="en-US" altLang="zh-CN" sz="210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;      </a:t>
            </a:r>
          </a:p>
        </p:txBody>
      </p:sp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295996" y="1242695"/>
            <a:ext cx="4701750" cy="4484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8829" tIns="54414" rIns="108829" bIns="54414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2.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数据结构是递归的</a:t>
            </a:r>
          </a:p>
        </p:txBody>
      </p:sp>
      <p:sp>
        <p:nvSpPr>
          <p:cNvPr id="20485" name="Text Box 5"/>
          <p:cNvSpPr txBox="1">
            <a:spLocks noChangeArrowheads="1"/>
          </p:cNvSpPr>
          <p:nvPr/>
        </p:nvSpPr>
        <p:spPr bwMode="auto">
          <a:xfrm>
            <a:off x="541655" y="1802130"/>
            <a:ext cx="8028305" cy="10280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8829" tIns="54414" rIns="108829" bIns="54414">
            <a:noAutofit/>
          </a:bodyPr>
          <a:lstStyle/>
          <a:p>
            <a:pPr indent="0" algn="just" fontAlgn="auto">
              <a:lnSpc>
                <a:spcPct val="100000"/>
              </a:lnSpc>
            </a:pPr>
            <a:r>
              <a:rPr kumimoji="1" lang="en-US" altLang="zh-CN" sz="240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 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有些数据结构是递归的。例如单链表就是一种递归数据结构，其结点类型声明如下：</a:t>
            </a:r>
          </a:p>
        </p:txBody>
      </p:sp>
      <p:sp>
        <p:nvSpPr>
          <p:cNvPr id="20486" name="Text Box 6"/>
          <p:cNvSpPr txBox="1">
            <a:spLocks noChangeArrowheads="1"/>
          </p:cNvSpPr>
          <p:nvPr/>
        </p:nvSpPr>
        <p:spPr bwMode="auto">
          <a:xfrm>
            <a:off x="340360" y="5107305"/>
            <a:ext cx="8228965" cy="11474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8829" tIns="54414" rIns="108829" bIns="54414">
            <a:noAutofit/>
          </a:bodyPr>
          <a:lstStyle/>
          <a:p>
            <a:pPr indent="0" fontAlgn="auto">
              <a:lnSpc>
                <a:spcPct val="100000"/>
              </a:lnSpc>
            </a:pPr>
            <a:r>
              <a:rPr kumimoji="1" lang="zh-CN" altLang="en-US" sz="240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 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结构体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LNode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的定义中用到了它自身，即指针域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next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是一种指向自身类型的指针，所以它是一种</a:t>
            </a:r>
            <a:r>
              <a:rPr lang="zh-CN" altLang="en-US" sz="22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递归数据结构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。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966228" y="3216775"/>
            <a:ext cx="719440" cy="4318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lIns="108829" tIns="54414" rIns="108829" bIns="54414" anchor="ctr"/>
          <a:lstStyle/>
          <a:p>
            <a:pPr algn="ctr"/>
            <a:r>
              <a:rPr lang="en-US" altLang="zh-CN" sz="2400" i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a</a:t>
            </a:r>
            <a:r>
              <a:rPr lang="en-US" altLang="zh-CN" sz="2400" baseline="-25000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1687784" y="3216775"/>
            <a:ext cx="719440" cy="4318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lIns="108829" tIns="54414" rIns="108829" bIns="54414" anchor="ctr"/>
          <a:lstStyle/>
          <a:p>
            <a:pPr algn="ctr"/>
            <a:endParaRPr lang="zh-CN" altLang="zh-CN" sz="2400" baseline="-25000">
              <a:solidFill>
                <a:srgbClr val="3333FF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2883323" y="3216775"/>
            <a:ext cx="719440" cy="4318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lIns="108829" tIns="54414" rIns="108829" bIns="54414" anchor="ctr"/>
          <a:lstStyle/>
          <a:p>
            <a:pPr algn="ctr"/>
            <a:r>
              <a:rPr lang="en-US" altLang="zh-CN" sz="2400" i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a</a:t>
            </a:r>
            <a:r>
              <a:rPr lang="en-US" altLang="zh-CN" sz="2400" baseline="-25000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21509" name="Rectangle 5"/>
          <p:cNvSpPr>
            <a:spLocks noChangeArrowheads="1"/>
          </p:cNvSpPr>
          <p:nvPr/>
        </p:nvSpPr>
        <p:spPr bwMode="auto">
          <a:xfrm>
            <a:off x="3604879" y="3216775"/>
            <a:ext cx="719440" cy="4318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lIns="108829" tIns="54414" rIns="108829" bIns="54414" anchor="ctr"/>
          <a:lstStyle/>
          <a:p>
            <a:pPr algn="ctr"/>
            <a:endParaRPr lang="zh-CN" altLang="zh-CN" sz="2400" baseline="-25000">
              <a:solidFill>
                <a:srgbClr val="3333FF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21510" name="Rectangle 6"/>
          <p:cNvSpPr>
            <a:spLocks noChangeArrowheads="1"/>
          </p:cNvSpPr>
          <p:nvPr/>
        </p:nvSpPr>
        <p:spPr bwMode="auto">
          <a:xfrm>
            <a:off x="6723863" y="3216775"/>
            <a:ext cx="719440" cy="4318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lIns="108829" tIns="54414" rIns="108829" bIns="54414" anchor="ctr"/>
          <a:lstStyle/>
          <a:p>
            <a:pPr algn="ctr"/>
            <a:r>
              <a:rPr lang="en-US" altLang="zh-CN" sz="2400" i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a</a:t>
            </a:r>
            <a:r>
              <a:rPr lang="en-US" altLang="zh-CN" sz="2400" i="1" baseline="-25000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n</a:t>
            </a:r>
          </a:p>
        </p:txBody>
      </p:sp>
      <p:sp>
        <p:nvSpPr>
          <p:cNvPr id="21511" name="Rectangle 7"/>
          <p:cNvSpPr>
            <a:spLocks noChangeArrowheads="1"/>
          </p:cNvSpPr>
          <p:nvPr/>
        </p:nvSpPr>
        <p:spPr bwMode="auto">
          <a:xfrm>
            <a:off x="7445418" y="3216775"/>
            <a:ext cx="719440" cy="4318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lIns="108829" tIns="54414" rIns="108829" bIns="54414" anchor="ctr"/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∧</a:t>
            </a:r>
          </a:p>
        </p:txBody>
      </p:sp>
      <p:sp>
        <p:nvSpPr>
          <p:cNvPr id="21512" name="Text Box 8"/>
          <p:cNvSpPr txBox="1">
            <a:spLocks noChangeArrowheads="1"/>
          </p:cNvSpPr>
          <p:nvPr/>
        </p:nvSpPr>
        <p:spPr bwMode="auto">
          <a:xfrm>
            <a:off x="4997207" y="3216775"/>
            <a:ext cx="768107" cy="384810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 lIns="108829" tIns="54414" rIns="108829" bIns="54414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…</a:t>
            </a:r>
          </a:p>
        </p:txBody>
      </p:sp>
      <p:sp>
        <p:nvSpPr>
          <p:cNvPr id="21513" name="Arc 9"/>
          <p:cNvSpPr/>
          <p:nvPr/>
        </p:nvSpPr>
        <p:spPr bwMode="auto">
          <a:xfrm>
            <a:off x="1061448" y="2857983"/>
            <a:ext cx="480331" cy="358792"/>
          </a:xfrm>
          <a:custGeom>
            <a:avLst/>
            <a:gdLst>
              <a:gd name="T0" fmla="*/ 0 w 21600"/>
              <a:gd name="T1" fmla="*/ 0 h 21600"/>
              <a:gd name="T2" fmla="*/ 360362 w 21600"/>
              <a:gd name="T3" fmla="*/ 358775 h 21600"/>
              <a:gd name="T4" fmla="*/ 0 w 21600"/>
              <a:gd name="T5" fmla="*/ 358775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miter lim="800000"/>
            <a:tailEnd type="stealth" w="lg" len="lg"/>
          </a:ln>
        </p:spPr>
        <p:txBody>
          <a:bodyPr wrap="none" lIns="108829" tIns="54414" rIns="108829" bIns="54414" anchor="ctr"/>
          <a:lstStyle/>
          <a:p>
            <a:endParaRPr lang="zh-CN" altLang="en-US"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21514" name="Text Box 10"/>
          <p:cNvSpPr txBox="1">
            <a:spLocks noChangeArrowheads="1"/>
          </p:cNvSpPr>
          <p:nvPr/>
        </p:nvSpPr>
        <p:spPr bwMode="auto">
          <a:xfrm>
            <a:off x="581116" y="2497603"/>
            <a:ext cx="575551" cy="4768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8829" tIns="54414" rIns="108829" bIns="54414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L</a:t>
            </a:r>
          </a:p>
        </p:txBody>
      </p:sp>
      <p:sp>
        <p:nvSpPr>
          <p:cNvPr id="21515" name="Line 11"/>
          <p:cNvSpPr>
            <a:spLocks noChangeShapeType="1"/>
          </p:cNvSpPr>
          <p:nvPr/>
        </p:nvSpPr>
        <p:spPr bwMode="auto">
          <a:xfrm>
            <a:off x="2117332" y="3432685"/>
            <a:ext cx="768109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tailEnd type="triangle" w="med" len="med"/>
          </a:ln>
        </p:spPr>
        <p:txBody>
          <a:bodyPr wrap="none" lIns="108829" tIns="54414" rIns="108829" bIns="54414"/>
          <a:lstStyle/>
          <a:p>
            <a:endParaRPr lang="zh-CN" altLang="en-US"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21516" name="Line 12"/>
          <p:cNvSpPr>
            <a:spLocks noChangeShapeType="1"/>
          </p:cNvSpPr>
          <p:nvPr/>
        </p:nvSpPr>
        <p:spPr bwMode="auto">
          <a:xfrm>
            <a:off x="4038659" y="3432685"/>
            <a:ext cx="768109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tailEnd type="triangle" w="med" len="med"/>
          </a:ln>
        </p:spPr>
        <p:txBody>
          <a:bodyPr wrap="none" lIns="108829" tIns="54414" rIns="108829" bIns="54414"/>
          <a:lstStyle/>
          <a:p>
            <a:endParaRPr lang="zh-CN" altLang="en-US"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21517" name="Line 13"/>
          <p:cNvSpPr>
            <a:spLocks noChangeShapeType="1"/>
          </p:cNvSpPr>
          <p:nvPr/>
        </p:nvSpPr>
        <p:spPr bwMode="auto">
          <a:xfrm>
            <a:off x="5957871" y="3432685"/>
            <a:ext cx="76810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tailEnd type="triangle" w="med" len="med"/>
          </a:ln>
        </p:spPr>
        <p:txBody>
          <a:bodyPr wrap="none" lIns="108829" tIns="54414" rIns="108829" bIns="54414"/>
          <a:lstStyle/>
          <a:p>
            <a:endParaRPr lang="zh-CN" altLang="en-US"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21518" name="Text Box 14"/>
          <p:cNvSpPr txBox="1">
            <a:spLocks noChangeArrowheads="1"/>
          </p:cNvSpPr>
          <p:nvPr/>
        </p:nvSpPr>
        <p:spPr bwMode="auto">
          <a:xfrm>
            <a:off x="368424" y="1478049"/>
            <a:ext cx="4856253" cy="4484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108829" tIns="54414" rIns="108829" bIns="54414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不带头结点单链表示意图</a:t>
            </a:r>
          </a:p>
        </p:txBody>
      </p:sp>
      <p:grpSp>
        <p:nvGrpSpPr>
          <p:cNvPr id="2" name="Group 15"/>
          <p:cNvGrpSpPr/>
          <p:nvPr/>
        </p:nvGrpSpPr>
        <p:grpSpPr bwMode="auto">
          <a:xfrm>
            <a:off x="1757613" y="2307095"/>
            <a:ext cx="7027233" cy="2190851"/>
            <a:chOff x="1440" y="437"/>
            <a:chExt cx="3321" cy="1380"/>
          </a:xfrm>
        </p:grpSpPr>
        <p:sp>
          <p:nvSpPr>
            <p:cNvPr id="21524" name="Text Box 16"/>
            <p:cNvSpPr txBox="1">
              <a:spLocks noChangeArrowheads="1"/>
            </p:cNvSpPr>
            <p:nvPr/>
          </p:nvSpPr>
          <p:spPr bwMode="auto">
            <a:xfrm>
              <a:off x="1687" y="437"/>
              <a:ext cx="2449" cy="27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以</a:t>
              </a:r>
              <a:r>
                <a:rPr lang="en-US" altLang="zh-CN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L</a:t>
              </a:r>
              <a:r>
                <a:rPr lang="zh-CN" altLang="en-US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为首结点指针的单链表</a:t>
              </a:r>
            </a:p>
          </p:txBody>
        </p:sp>
        <p:sp>
          <p:nvSpPr>
            <p:cNvPr id="21525" name="AutoShape 17"/>
            <p:cNvSpPr/>
            <p:nvPr/>
          </p:nvSpPr>
          <p:spPr bwMode="auto">
            <a:xfrm rot="5400000">
              <a:off x="3130" y="323"/>
              <a:ext cx="136" cy="2267"/>
            </a:xfrm>
            <a:prstGeom prst="rightBrace">
              <a:avLst>
                <a:gd name="adj1" fmla="val 138909"/>
                <a:gd name="adj2" fmla="val 50000"/>
              </a:avLst>
            </a:prstGeom>
            <a:noFill/>
            <a:ln w="2857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 sz="2400">
                <a:latin typeface="+mn-ea"/>
                <a:cs typeface="Consolas" panose="020B0609020204030204" pitchFamily="49" charset="0"/>
              </a:endParaRPr>
            </a:p>
          </p:txBody>
        </p:sp>
        <p:sp>
          <p:nvSpPr>
            <p:cNvPr id="21526" name="AutoShape 18"/>
            <p:cNvSpPr/>
            <p:nvPr/>
          </p:nvSpPr>
          <p:spPr bwMode="auto">
            <a:xfrm rot="-5400000">
              <a:off x="2845" y="-637"/>
              <a:ext cx="136" cy="2947"/>
            </a:xfrm>
            <a:prstGeom prst="rightBrace">
              <a:avLst>
                <a:gd name="adj1" fmla="val 180576"/>
                <a:gd name="adj2" fmla="val 50000"/>
              </a:avLst>
            </a:prstGeom>
            <a:noFill/>
            <a:ln w="2857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 sz="2400">
                <a:latin typeface="+mn-ea"/>
                <a:cs typeface="Consolas" panose="020B0609020204030204" pitchFamily="49" charset="0"/>
              </a:endParaRPr>
            </a:p>
          </p:txBody>
        </p:sp>
        <p:sp>
          <p:nvSpPr>
            <p:cNvPr id="21527" name="Text Box 19"/>
            <p:cNvSpPr txBox="1">
              <a:spLocks noChangeArrowheads="1"/>
            </p:cNvSpPr>
            <p:nvPr/>
          </p:nvSpPr>
          <p:spPr bwMode="auto">
            <a:xfrm>
              <a:off x="1631" y="1546"/>
              <a:ext cx="3130" cy="27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以</a:t>
              </a:r>
              <a:r>
                <a:rPr lang="en-US" altLang="zh-CN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L-&gt;next</a:t>
              </a:r>
              <a:r>
                <a:rPr lang="zh-CN" altLang="en-US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为首结点指针的单链表</a:t>
              </a:r>
            </a:p>
          </p:txBody>
        </p:sp>
      </p:grpSp>
      <p:grpSp>
        <p:nvGrpSpPr>
          <p:cNvPr id="3" name="Group 20"/>
          <p:cNvGrpSpPr/>
          <p:nvPr/>
        </p:nvGrpSpPr>
        <p:grpSpPr bwMode="auto">
          <a:xfrm>
            <a:off x="2117332" y="4755133"/>
            <a:ext cx="5182083" cy="1006522"/>
            <a:chOff x="1610" y="2296"/>
            <a:chExt cx="2449" cy="634"/>
          </a:xfrm>
        </p:grpSpPr>
        <p:sp>
          <p:nvSpPr>
            <p:cNvPr id="21522" name="AutoShape 21"/>
            <p:cNvSpPr>
              <a:spLocks noChangeArrowheads="1"/>
            </p:cNvSpPr>
            <p:nvPr/>
          </p:nvSpPr>
          <p:spPr bwMode="auto">
            <a:xfrm>
              <a:off x="2653" y="2296"/>
              <a:ext cx="363" cy="272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336600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 sz="2600">
                <a:latin typeface="+mn-ea"/>
                <a:cs typeface="Consolas" panose="020B0609020204030204" pitchFamily="49" charset="0"/>
              </a:endParaRPr>
            </a:p>
          </p:txBody>
        </p:sp>
        <p:sp>
          <p:nvSpPr>
            <p:cNvPr id="21523" name="Text Box 22"/>
            <p:cNvSpPr txBox="1">
              <a:spLocks noChangeArrowheads="1"/>
            </p:cNvSpPr>
            <p:nvPr/>
          </p:nvSpPr>
          <p:spPr bwMode="auto">
            <a:xfrm>
              <a:off x="1610" y="2659"/>
              <a:ext cx="2449" cy="27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体现出数据结构的递归性</a:t>
              </a:r>
              <a:r>
                <a:rPr kumimoji="1" lang="zh-CN" altLang="en-US" sz="2200" dirty="0">
                  <a:solidFill>
                    <a:srgbClr val="0000FF"/>
                  </a:solidFill>
                  <a:latin typeface="+mn-ea"/>
                </a:rPr>
                <a:t>。</a:t>
              </a: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587585" y="2616642"/>
            <a:ext cx="7046327" cy="317436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lIns="214232" tIns="214232" rIns="108829" bIns="214232">
            <a:spAutoFit/>
          </a:bodyPr>
          <a:lstStyle/>
          <a:p>
            <a:pPr algn="just">
              <a:spcBef>
                <a:spcPct val="50000"/>
              </a:spcBef>
            </a:pPr>
            <a:r>
              <a:rPr kumimoji="1" lang="en-US" altLang="zh-CN" sz="210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int </a:t>
            </a:r>
            <a:r>
              <a:rPr kumimoji="1" lang="en-US" altLang="zh-CN" sz="210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Sum</a:t>
            </a:r>
            <a:r>
              <a:rPr kumimoji="1" lang="en-US" altLang="zh-CN" sz="210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(LinkList *L)</a:t>
            </a:r>
          </a:p>
          <a:p>
            <a:pPr algn="just">
              <a:spcBef>
                <a:spcPct val="50000"/>
              </a:spcBef>
            </a:pPr>
            <a:r>
              <a:rPr kumimoji="1" lang="en-US" altLang="zh-CN" sz="210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{   if (L==NULL)</a:t>
            </a:r>
          </a:p>
          <a:p>
            <a:pPr algn="just">
              <a:spcBef>
                <a:spcPct val="50000"/>
              </a:spcBef>
            </a:pPr>
            <a:r>
              <a:rPr kumimoji="1" lang="zh-CN" altLang="en-US" sz="210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　　</a:t>
            </a:r>
            <a:r>
              <a:rPr kumimoji="1" lang="en-US" altLang="zh-CN" sz="210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return 0;</a:t>
            </a:r>
          </a:p>
          <a:p>
            <a:pPr algn="just">
              <a:spcBef>
                <a:spcPct val="50000"/>
              </a:spcBef>
            </a:pPr>
            <a:r>
              <a:rPr kumimoji="1" lang="zh-CN" altLang="en-US" sz="210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</a:t>
            </a:r>
            <a:r>
              <a:rPr kumimoji="1" lang="en-US" altLang="zh-CN" sz="210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else </a:t>
            </a:r>
          </a:p>
          <a:p>
            <a:pPr algn="just">
              <a:spcBef>
                <a:spcPct val="50000"/>
              </a:spcBef>
            </a:pPr>
            <a:r>
              <a:rPr kumimoji="1" lang="zh-CN" altLang="en-US" sz="210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　　</a:t>
            </a:r>
            <a:r>
              <a:rPr kumimoji="1" lang="en-US" altLang="zh-CN" sz="210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return(L-&gt;data+</a:t>
            </a:r>
            <a:r>
              <a:rPr kumimoji="1" lang="en-US" altLang="zh-CN" sz="210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Sum</a:t>
            </a:r>
            <a:r>
              <a:rPr kumimoji="1" lang="en-US" altLang="zh-CN" sz="210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(L-&gt;next));</a:t>
            </a:r>
          </a:p>
          <a:p>
            <a:pPr>
              <a:spcBef>
                <a:spcPct val="50000"/>
              </a:spcBef>
            </a:pPr>
            <a:r>
              <a:rPr kumimoji="1" lang="en-US" altLang="zh-CN" sz="210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} </a:t>
            </a:r>
          </a:p>
        </p:txBody>
      </p:sp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587375" y="1276985"/>
            <a:ext cx="7181948" cy="11245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8829" tIns="54414" rIns="108829" bIns="54414">
            <a:noAutofit/>
          </a:bodyPr>
          <a:lstStyle/>
          <a:p>
            <a:pPr indent="0" algn="just" fontAlgn="auto">
              <a:lnSpc>
                <a:spcPct val="100000"/>
              </a:lnSpc>
            </a:pPr>
            <a:r>
              <a:rPr kumimoji="1" lang="zh-CN" altLang="en-US" sz="2400" dirty="0">
                <a:solidFill>
                  <a:srgbClr val="FF3300"/>
                </a:solidFill>
                <a:latin typeface="+mn-ea"/>
                <a:cs typeface="Consolas" panose="020B0609020204030204" pitchFamily="49" charset="0"/>
              </a:rPr>
              <a:t>　  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对于递归数据结构，采用递归的方法编写算法既方便又有效。例如，求一个不带头结点的单链表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L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的所有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data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域（假设为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int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型）之和的递归算法如下：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8476" y="1288269"/>
            <a:ext cx="7868157" cy="1314450"/>
          </a:xfrm>
          <a:prstGeom prst="rect">
            <a:avLst/>
          </a:prstGeom>
          <a:noFill/>
        </p:spPr>
        <p:txBody>
          <a:bodyPr wrap="square" lIns="108829" tIns="54414" rIns="108829" bIns="54414" rtlCol="0">
            <a:noAutofit/>
          </a:bodyPr>
          <a:lstStyle/>
          <a:p>
            <a:pPr indent="0" fontAlgn="auto">
              <a:lnSpc>
                <a:spcPct val="100000"/>
              </a:lnSpc>
            </a:pPr>
            <a:r>
              <a:rPr lang="en-US" altLang="zh-CN" sz="2600" dirty="0">
                <a:latin typeface="+mn-ea"/>
                <a:cs typeface="Consolas" panose="020B0609020204030204" pitchFamily="49" charset="0"/>
              </a:rPr>
              <a:t>    </a:t>
            </a:r>
            <a:r>
              <a:rPr lang="zh-CN" altLang="zh-CN" sz="2600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【例</a:t>
            </a:r>
            <a:r>
              <a:rPr lang="en-US" altLang="zh-CN" sz="2600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2.2</a:t>
            </a:r>
            <a:r>
              <a:rPr lang="zh-CN" altLang="zh-CN" sz="2600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】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分析二叉树的二叉链存储结构的递归性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设计求非空二叉链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bt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中所有结点值之和的递归算法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假设二叉链的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data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域为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int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型。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8536" y="2650086"/>
            <a:ext cx="8071338" cy="448445"/>
          </a:xfrm>
          <a:prstGeom prst="rect">
            <a:avLst/>
          </a:prstGeom>
          <a:noFill/>
        </p:spPr>
        <p:txBody>
          <a:bodyPr wrap="square" lIns="108829" tIns="54414" rIns="108829" bIns="54414" rtlCol="0">
            <a:spAutoFit/>
          </a:bodyPr>
          <a:lstStyle/>
          <a:p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解：二叉树采用二叉链存储结构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其结点类型定义如下：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7065" y="3428898"/>
            <a:ext cx="7236768" cy="174069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214232" tIns="214232" rIns="108829" bIns="214232" rtlCol="0">
            <a:spAutoFit/>
          </a:bodyPr>
          <a:lstStyle/>
          <a:p>
            <a:r>
              <a:rPr lang="en-US" altLang="zh-CN" sz="2100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typedef</a:t>
            </a:r>
            <a:r>
              <a:rPr lang="en-US" altLang="zh-CN" sz="210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sz="2100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struct</a:t>
            </a:r>
            <a:r>
              <a:rPr lang="en-US" altLang="zh-CN" sz="210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sz="2100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BNode</a:t>
            </a:r>
            <a:endParaRPr lang="zh-CN" altLang="zh-CN" sz="2100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r>
              <a:rPr lang="en-US" altLang="zh-CN" sz="210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{   </a:t>
            </a:r>
            <a:r>
              <a:rPr lang="en-US" altLang="zh-CN" sz="2100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int</a:t>
            </a:r>
            <a:r>
              <a:rPr lang="en-US" altLang="zh-CN" sz="210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data;</a:t>
            </a:r>
            <a:endParaRPr lang="zh-CN" altLang="zh-CN" sz="2100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r>
              <a:rPr lang="en-US" altLang="zh-CN" sz="210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 </a:t>
            </a:r>
            <a:r>
              <a:rPr lang="en-US" altLang="zh-CN" sz="2100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struct</a:t>
            </a:r>
            <a:r>
              <a:rPr lang="en-US" altLang="zh-CN" sz="210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sz="2100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BNode</a:t>
            </a:r>
            <a:r>
              <a:rPr lang="en-US" altLang="zh-CN" sz="210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*</a:t>
            </a:r>
            <a:r>
              <a:rPr lang="en-US" altLang="zh-CN" sz="2100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lchild</a:t>
            </a:r>
            <a:r>
              <a:rPr lang="zh-CN" altLang="en-US" sz="210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10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*</a:t>
            </a:r>
            <a:r>
              <a:rPr lang="en-US" altLang="zh-CN" sz="2100" dirty="0" err="1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rchild</a:t>
            </a:r>
            <a:r>
              <a:rPr lang="en-US" altLang="zh-CN" sz="210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;</a:t>
            </a:r>
            <a:endParaRPr lang="zh-CN" altLang="zh-CN" sz="2100" dirty="0">
              <a:solidFill>
                <a:srgbClr val="0000FF"/>
              </a:solidFill>
              <a:latin typeface="+mn-ea"/>
              <a:cs typeface="Consolas" panose="020B0609020204030204" pitchFamily="49" charset="0"/>
            </a:endParaRPr>
          </a:p>
          <a:p>
            <a:r>
              <a:rPr lang="en-US" altLang="zh-CN" sz="210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} </a:t>
            </a:r>
            <a:r>
              <a:rPr lang="en-US" altLang="zh-CN" sz="2100" dirty="0" err="1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BTNode</a:t>
            </a:r>
            <a:r>
              <a:rPr lang="en-US" altLang="zh-CN" sz="210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;		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//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二叉链结点类型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/>
          <p:cNvGrpSpPr/>
          <p:nvPr/>
        </p:nvGrpSpPr>
        <p:grpSpPr>
          <a:xfrm>
            <a:off x="1574584" y="1199359"/>
            <a:ext cx="6411858" cy="2143239"/>
            <a:chOff x="1190350" y="2786058"/>
            <a:chExt cx="4810410" cy="214314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" name="椭圆 3"/>
            <p:cNvSpPr/>
            <p:nvPr/>
          </p:nvSpPr>
          <p:spPr>
            <a:xfrm>
              <a:off x="3214678" y="3143248"/>
              <a:ext cx="642942" cy="571504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" name="等腰三角形 4"/>
            <p:cNvSpPr/>
            <p:nvPr/>
          </p:nvSpPr>
          <p:spPr>
            <a:xfrm>
              <a:off x="2214546" y="4071942"/>
              <a:ext cx="1000132" cy="857256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endParaRPr lang="zh-CN" alt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" name="等腰三角形 5"/>
            <p:cNvSpPr/>
            <p:nvPr/>
          </p:nvSpPr>
          <p:spPr>
            <a:xfrm>
              <a:off x="3714744" y="4071942"/>
              <a:ext cx="1000132" cy="857256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</a:t>
              </a:r>
              <a:endParaRPr lang="zh-CN" alt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8" name="直接箭头连接符 7"/>
            <p:cNvCxnSpPr>
              <a:stCxn id="4" idx="3"/>
              <a:endCxn id="5" idx="0"/>
            </p:cNvCxnSpPr>
            <p:nvPr/>
          </p:nvCxnSpPr>
          <p:spPr>
            <a:xfrm rot="5400000">
              <a:off x="2791282" y="3554388"/>
              <a:ext cx="440885" cy="594223"/>
            </a:xfrm>
            <a:prstGeom prst="straightConnector1">
              <a:avLst/>
            </a:prstGeom>
            <a:grpFill/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直接箭头连接符 9"/>
            <p:cNvCxnSpPr>
              <a:stCxn id="4" idx="5"/>
              <a:endCxn id="6" idx="0"/>
            </p:cNvCxnSpPr>
            <p:nvPr/>
          </p:nvCxnSpPr>
          <p:spPr>
            <a:xfrm rot="16200000" flipH="1">
              <a:off x="3768694" y="3625825"/>
              <a:ext cx="440885" cy="451347"/>
            </a:xfrm>
            <a:prstGeom prst="straightConnector1">
              <a:avLst/>
            </a:prstGeom>
            <a:grpFill/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2643174" y="2786058"/>
              <a:ext cx="500066" cy="41400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zh-CN" sz="210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bt</a:t>
              </a:r>
              <a:endParaRPr lang="zh-CN" altLang="en-US" sz="21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3" name="直接箭头连接符 12"/>
            <p:cNvCxnSpPr>
              <a:endCxn id="4" idx="1"/>
            </p:cNvCxnSpPr>
            <p:nvPr/>
          </p:nvCxnSpPr>
          <p:spPr>
            <a:xfrm rot="16200000" flipH="1">
              <a:off x="3041314" y="2959421"/>
              <a:ext cx="298009" cy="237033"/>
            </a:xfrm>
            <a:prstGeom prst="straightConnector1">
              <a:avLst/>
            </a:prstGeom>
            <a:grpFill/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1190350" y="3429000"/>
              <a:ext cx="1595700" cy="41400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zh-CN" sz="210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bt-&gt;lchild</a:t>
              </a:r>
              <a:endParaRPr lang="zh-CN" altLang="en-US" sz="21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5" name="直接箭头连接符 14"/>
            <p:cNvCxnSpPr/>
            <p:nvPr/>
          </p:nvCxnSpPr>
          <p:spPr>
            <a:xfrm rot="16200000" flipH="1">
              <a:off x="2422436" y="3780357"/>
              <a:ext cx="298009" cy="237033"/>
            </a:xfrm>
            <a:prstGeom prst="straightConnector1">
              <a:avLst/>
            </a:prstGeom>
            <a:grpFill/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4429124" y="3643314"/>
              <a:ext cx="1571636" cy="41400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zh-CN" sz="210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bt-&gt;rchild</a:t>
              </a:r>
              <a:endParaRPr lang="zh-CN" altLang="en-US" sz="21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7" name="直接箭头连接符 16"/>
            <p:cNvCxnSpPr/>
            <p:nvPr/>
          </p:nvCxnSpPr>
          <p:spPr>
            <a:xfrm rot="5400000">
              <a:off x="4220042" y="3875116"/>
              <a:ext cx="226570" cy="191595"/>
            </a:xfrm>
            <a:prstGeom prst="straightConnector1">
              <a:avLst/>
            </a:prstGeom>
            <a:grpFill/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9" name="TextBox 18"/>
          <p:cNvSpPr txBox="1"/>
          <p:nvPr/>
        </p:nvSpPr>
        <p:spPr>
          <a:xfrm>
            <a:off x="494456" y="3783504"/>
            <a:ext cx="8149590" cy="2486025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108829" tIns="54414" rIns="108829" bIns="54414" rtlCol="0">
            <a:noAutofit/>
          </a:bodyPr>
          <a:lstStyle/>
          <a:p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int 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Sumbt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(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BTNode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*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bt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)	//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求二叉树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bt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中所有结点值之和</a:t>
            </a:r>
          </a:p>
          <a:p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{  if (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bt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-&gt;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lchild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==NULL &amp;&amp; 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bt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-&gt;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rchild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==NULL)</a:t>
            </a:r>
            <a:endParaRPr lang="zh-CN" altLang="zh-CN" sz="2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  return 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bt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-&gt;data;	//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只有一个结点时返回该结点值</a:t>
            </a:r>
          </a:p>
          <a:p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else	//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否则返回左、右子树结点值之和加上根结点值</a:t>
            </a:r>
          </a:p>
          <a:p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  return 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Sumbt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(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bt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-&gt;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lchild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)+ 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Sumbt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(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bt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-&gt;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rchild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)+</a:t>
            </a:r>
          </a:p>
          <a:p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bt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-&gt;data;</a:t>
            </a:r>
            <a:endParaRPr lang="zh-CN" altLang="zh-CN" sz="2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}</a:t>
            </a:r>
            <a:endParaRPr lang="zh-CN" altLang="en-US" sz="2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907732" y="1734303"/>
            <a:ext cx="9187693" cy="4484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108829" tIns="54414" rIns="108829" bIns="54414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有些问题的解法是递归的，典型的有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Hanoi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问题求解。</a:t>
            </a:r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-167101" y="1093332"/>
            <a:ext cx="5427576" cy="508000"/>
          </a:xfrm>
          <a:prstGeom prst="rect">
            <a:avLst/>
          </a:prstGeom>
          <a:noFill/>
          <a:ln w="38100" algn="ctr">
            <a:noFill/>
            <a:miter lim="800000"/>
            <a:tailEnd type="none" w="lg" len="lg"/>
          </a:ln>
        </p:spPr>
        <p:txBody>
          <a:bodyPr wrap="square" lIns="108829" tIns="54414" rIns="108829" bIns="54414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 sz="2600" dirty="0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 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3.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问题的求解方法是递归的</a:t>
            </a:r>
          </a:p>
        </p:txBody>
      </p:sp>
      <p:pic>
        <p:nvPicPr>
          <p:cNvPr id="67585" name="Picture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58656" y="2225469"/>
            <a:ext cx="2919583" cy="21479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907732" y="4416173"/>
            <a:ext cx="7805187" cy="1748790"/>
          </a:xfrm>
          <a:prstGeom prst="rect">
            <a:avLst/>
          </a:prstGeom>
          <a:noFill/>
        </p:spPr>
        <p:txBody>
          <a:bodyPr wrap="square" lIns="108829" tIns="54414" rIns="108829" bIns="54414" rtlCol="0">
            <a:noAutofit/>
          </a:bodyPr>
          <a:lstStyle/>
          <a:p>
            <a:pPr indent="0" algn="just" fontAlgn="auto">
              <a:lnSpc>
                <a:spcPct val="100000"/>
              </a:lnSpc>
            </a:pPr>
            <a:r>
              <a:rPr kumimoji="1" lang="zh-CN" altLang="en-US" sz="240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　　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盘片移动时必须遵守以下规则：每次只能移动一个盘片；盘片可以插在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X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、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Y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Z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中任一塔座；任何时候都不能将一个较大的盘片放在较小的盘片上。</a:t>
            </a:r>
            <a:endParaRPr lang="en-US" altLang="zh-CN" sz="2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 indent="0" algn="just" fontAlgn="auto">
              <a:lnSpc>
                <a:spcPct val="100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</a:t>
            </a:r>
            <a:endParaRPr lang="zh-CN" altLang="en-US" sz="2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491976" y="2797175"/>
            <a:ext cx="1943563" cy="105918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108829" tIns="54414" rIns="108829" bIns="54414"/>
          <a:lstStyle/>
          <a:p>
            <a:pPr algn="ctr" eaLnBrk="0" hangingPunct="0">
              <a:lnSpc>
                <a:spcPct val="160000"/>
              </a:lnSpc>
            </a:pPr>
            <a:r>
              <a:rPr lang="en-US" altLang="zh-CN" sz="2100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Hanoi(n</a:t>
            </a:r>
            <a:r>
              <a:rPr lang="zh-CN" altLang="en-US" sz="2100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100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x</a:t>
            </a:r>
            <a:r>
              <a:rPr lang="zh-CN" altLang="en-US" sz="2100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100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y</a:t>
            </a:r>
            <a:r>
              <a:rPr lang="zh-CN" altLang="en-US" sz="2100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100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z)</a:t>
            </a:r>
          </a:p>
        </p:txBody>
      </p:sp>
      <p:sp>
        <p:nvSpPr>
          <p:cNvPr id="24579" name="Rectangle 3"/>
          <p:cNvSpPr>
            <a:spLocks noChangeArrowheads="1"/>
          </p:cNvSpPr>
          <p:nvPr/>
        </p:nvSpPr>
        <p:spPr bwMode="auto">
          <a:xfrm>
            <a:off x="3827632" y="2705100"/>
            <a:ext cx="4993640" cy="137541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108829" tIns="54414" rIns="108829" bIns="54414"/>
          <a:lstStyle/>
          <a:p>
            <a:pPr algn="just" eaLnBrk="0" hangingPunct="0">
              <a:lnSpc>
                <a:spcPct val="140000"/>
              </a:lnSpc>
            </a:pPr>
            <a:r>
              <a:rPr lang="en-US" altLang="zh-CN" sz="2100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Hanoi(n-1</a:t>
            </a:r>
            <a:r>
              <a:rPr lang="zh-CN" altLang="en-US" sz="2100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100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x</a:t>
            </a:r>
            <a:r>
              <a:rPr lang="zh-CN" altLang="en-US" sz="2100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100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z</a:t>
            </a:r>
            <a:r>
              <a:rPr lang="zh-CN" altLang="en-US" sz="2100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100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y)</a:t>
            </a:r>
            <a:r>
              <a:rPr lang="zh-CN" altLang="en-US" sz="2100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；</a:t>
            </a:r>
          </a:p>
          <a:p>
            <a:pPr algn="just" eaLnBrk="0" hangingPunct="0">
              <a:lnSpc>
                <a:spcPct val="140000"/>
              </a:lnSpc>
            </a:pPr>
            <a:r>
              <a:rPr lang="en-US" altLang="zh-CN" sz="2100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move(n</a:t>
            </a:r>
            <a:r>
              <a:rPr lang="zh-CN" altLang="en-US" sz="2100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100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x</a:t>
            </a:r>
            <a:r>
              <a:rPr lang="zh-CN" altLang="en-US" sz="2100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100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z):</a:t>
            </a:r>
            <a:r>
              <a:rPr lang="zh-CN" altLang="en-US" sz="2100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将第</a:t>
            </a:r>
            <a:r>
              <a:rPr lang="en-US" altLang="zh-CN" sz="2100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n</a:t>
            </a:r>
            <a:r>
              <a:rPr lang="zh-CN" altLang="en-US" sz="2100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个圆盘从</a:t>
            </a:r>
            <a:r>
              <a:rPr lang="en-US" altLang="zh-CN" sz="2100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x</a:t>
            </a:r>
            <a:r>
              <a:rPr lang="zh-CN" altLang="en-US" sz="2100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移到</a:t>
            </a:r>
            <a:r>
              <a:rPr lang="en-US" altLang="zh-CN" sz="2100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z</a:t>
            </a:r>
            <a:r>
              <a:rPr lang="zh-CN" altLang="en-US" sz="2100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；</a:t>
            </a:r>
          </a:p>
          <a:p>
            <a:pPr algn="just" eaLnBrk="0" hangingPunct="0">
              <a:lnSpc>
                <a:spcPct val="140000"/>
              </a:lnSpc>
            </a:pPr>
            <a:r>
              <a:rPr lang="en-US" altLang="zh-CN" sz="2100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Hanoi(n-1</a:t>
            </a:r>
            <a:r>
              <a:rPr lang="zh-CN" altLang="en-US" sz="2100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100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y</a:t>
            </a:r>
            <a:r>
              <a:rPr lang="zh-CN" altLang="en-US" sz="2100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100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x</a:t>
            </a:r>
            <a:r>
              <a:rPr lang="zh-CN" altLang="en-US" sz="2100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，</a:t>
            </a:r>
            <a:r>
              <a:rPr lang="en-US" altLang="zh-CN" sz="2100" dirty="0">
                <a:solidFill>
                  <a:schemeClr val="tx1"/>
                </a:solidFill>
                <a:latin typeface="+mn-ea"/>
                <a:cs typeface="Consolas" panose="020B0609020204030204" pitchFamily="49" charset="0"/>
              </a:rPr>
              <a:t>z)</a:t>
            </a:r>
          </a:p>
        </p:txBody>
      </p:sp>
      <p:sp>
        <p:nvSpPr>
          <p:cNvPr id="24580" name="AutoShape 4"/>
          <p:cNvSpPr>
            <a:spLocks noChangeArrowheads="1"/>
          </p:cNvSpPr>
          <p:nvPr/>
        </p:nvSpPr>
        <p:spPr bwMode="auto">
          <a:xfrm>
            <a:off x="2442046" y="3206577"/>
            <a:ext cx="1248440" cy="287351"/>
          </a:xfrm>
          <a:prstGeom prst="rightArrow">
            <a:avLst>
              <a:gd name="adj1" fmla="val 50000"/>
              <a:gd name="adj2" fmla="val 8149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lIns="108829" tIns="54414" rIns="108829" bIns="54414" anchor="ctr"/>
          <a:lstStyle/>
          <a:p>
            <a:endParaRPr lang="zh-CN" altLang="en-US">
              <a:latin typeface="+mn-ea"/>
            </a:endParaRPr>
          </a:p>
        </p:txBody>
      </p:sp>
      <p:grpSp>
        <p:nvGrpSpPr>
          <p:cNvPr id="2" name="Group 5"/>
          <p:cNvGrpSpPr/>
          <p:nvPr/>
        </p:nvGrpSpPr>
        <p:grpSpPr bwMode="auto">
          <a:xfrm>
            <a:off x="452925" y="3206273"/>
            <a:ext cx="6655556" cy="3031293"/>
            <a:chOff x="293" y="527"/>
            <a:chExt cx="3946" cy="2504"/>
          </a:xfrm>
        </p:grpSpPr>
        <p:sp>
          <p:nvSpPr>
            <p:cNvPr id="24582" name="Text Box 6"/>
            <p:cNvSpPr txBox="1">
              <a:spLocks noChangeArrowheads="1"/>
            </p:cNvSpPr>
            <p:nvPr/>
          </p:nvSpPr>
          <p:spPr bwMode="auto">
            <a:xfrm>
              <a:off x="293" y="2675"/>
              <a:ext cx="3946" cy="35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“</a:t>
              </a:r>
              <a:r>
                <a:rPr lang="zh-CN" altLang="en-US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大问题”转化为若干个“小问题”求解</a:t>
              </a:r>
            </a:p>
          </p:txBody>
        </p:sp>
        <p:sp>
          <p:nvSpPr>
            <p:cNvPr id="24583" name="Freeform 7"/>
            <p:cNvSpPr/>
            <p:nvPr/>
          </p:nvSpPr>
          <p:spPr bwMode="auto">
            <a:xfrm>
              <a:off x="1016" y="1064"/>
              <a:ext cx="301" cy="1611"/>
            </a:xfrm>
            <a:custGeom>
              <a:avLst/>
              <a:gdLst>
                <a:gd name="T0" fmla="*/ 232 w 232"/>
                <a:gd name="T1" fmla="*/ 641 h 641"/>
                <a:gd name="T2" fmla="*/ 0 w 232"/>
                <a:gd name="T3" fmla="*/ 0 h 641"/>
                <a:gd name="T4" fmla="*/ 0 60000 65536"/>
                <a:gd name="T5" fmla="*/ 0 60000 65536"/>
                <a:gd name="T6" fmla="*/ 0 w 232"/>
                <a:gd name="T7" fmla="*/ 0 h 641"/>
                <a:gd name="T8" fmla="*/ 232 w 232"/>
                <a:gd name="T9" fmla="*/ 641 h 64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32" h="641">
                  <a:moveTo>
                    <a:pt x="232" y="641"/>
                  </a:move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38100">
              <a:solidFill>
                <a:srgbClr val="FF00FF"/>
              </a:solidFill>
              <a:prstDash val="dash"/>
              <a:miter lim="800000"/>
              <a:tailEnd type="stealth" w="lg" len="lg"/>
            </a:ln>
          </p:spPr>
          <p:txBody>
            <a:bodyPr wrap="none"/>
            <a:lstStyle/>
            <a:p>
              <a:endParaRPr lang="zh-CN" altLang="en-US">
                <a:latin typeface="+mn-ea"/>
                <a:cs typeface="Consolas" panose="020B0609020204030204" pitchFamily="49" charset="0"/>
              </a:endParaRPr>
            </a:p>
          </p:txBody>
        </p:sp>
        <p:sp>
          <p:nvSpPr>
            <p:cNvPr id="24584" name="Freeform 8"/>
            <p:cNvSpPr/>
            <p:nvPr/>
          </p:nvSpPr>
          <p:spPr bwMode="auto">
            <a:xfrm>
              <a:off x="2448" y="527"/>
              <a:ext cx="424" cy="2125"/>
            </a:xfrm>
            <a:custGeom>
              <a:avLst/>
              <a:gdLst>
                <a:gd name="T0" fmla="*/ 241 w 241"/>
                <a:gd name="T1" fmla="*/ 1065 h 1065"/>
                <a:gd name="T2" fmla="*/ 0 w 241"/>
                <a:gd name="T3" fmla="*/ 0 h 1065"/>
                <a:gd name="T4" fmla="*/ 0 60000 65536"/>
                <a:gd name="T5" fmla="*/ 0 60000 65536"/>
                <a:gd name="T6" fmla="*/ 0 w 241"/>
                <a:gd name="T7" fmla="*/ 0 h 1065"/>
                <a:gd name="T8" fmla="*/ 241 w 241"/>
                <a:gd name="T9" fmla="*/ 1065 h 106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41" h="1065">
                  <a:moveTo>
                    <a:pt x="241" y="1065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FF00FF"/>
              </a:solidFill>
              <a:prstDash val="dash"/>
              <a:round/>
              <a:tailEnd type="stealth" w="lg" len="lg"/>
            </a:ln>
          </p:spPr>
          <p:txBody>
            <a:bodyPr wrap="none"/>
            <a:lstStyle/>
            <a:p>
              <a:endParaRPr lang="zh-CN" altLang="en-US">
                <a:latin typeface="+mn-ea"/>
                <a:cs typeface="Consolas" panose="020B0609020204030204" pitchFamily="49" charset="0"/>
              </a:endParaRPr>
            </a:p>
          </p:txBody>
        </p:sp>
        <p:sp>
          <p:nvSpPr>
            <p:cNvPr id="24585" name="Freeform 9"/>
            <p:cNvSpPr/>
            <p:nvPr/>
          </p:nvSpPr>
          <p:spPr bwMode="auto">
            <a:xfrm>
              <a:off x="2910" y="1401"/>
              <a:ext cx="307" cy="1251"/>
            </a:xfrm>
            <a:custGeom>
              <a:avLst/>
              <a:gdLst>
                <a:gd name="T0" fmla="*/ 0 w 256"/>
                <a:gd name="T1" fmla="*/ 582 h 582"/>
                <a:gd name="T2" fmla="*/ 256 w 256"/>
                <a:gd name="T3" fmla="*/ 0 h 582"/>
                <a:gd name="T4" fmla="*/ 0 60000 65536"/>
                <a:gd name="T5" fmla="*/ 0 60000 65536"/>
                <a:gd name="T6" fmla="*/ 0 w 256"/>
                <a:gd name="T7" fmla="*/ 0 h 582"/>
                <a:gd name="T8" fmla="*/ 256 w 256"/>
                <a:gd name="T9" fmla="*/ 582 h 58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56" h="582">
                  <a:moveTo>
                    <a:pt x="0" y="582"/>
                  </a:moveTo>
                  <a:lnTo>
                    <a:pt x="256" y="0"/>
                  </a:lnTo>
                </a:path>
              </a:pathLst>
            </a:custGeom>
            <a:solidFill>
              <a:schemeClr val="bg1"/>
            </a:solidFill>
            <a:ln w="38100">
              <a:solidFill>
                <a:srgbClr val="FF00FF"/>
              </a:solidFill>
              <a:prstDash val="dash"/>
              <a:round/>
              <a:tailEnd type="stealth" w="lg" len="lg"/>
            </a:ln>
          </p:spPr>
          <p:txBody>
            <a:bodyPr wrap="none"/>
            <a:lstStyle/>
            <a:p>
              <a:endParaRPr lang="zh-CN" altLang="en-US">
                <a:latin typeface="+mn-ea"/>
                <a:cs typeface="Consolas" panose="020B0609020204030204" pitchFamily="49" charset="0"/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478155" y="1214755"/>
            <a:ext cx="8233410" cy="1052830"/>
          </a:xfrm>
          <a:prstGeom prst="rect">
            <a:avLst/>
          </a:prstGeom>
          <a:noFill/>
        </p:spPr>
        <p:txBody>
          <a:bodyPr wrap="square" lIns="108829" tIns="54414" rIns="108829" bIns="54414" rtlCol="0">
            <a:noAutofit/>
          </a:bodyPr>
          <a:lstStyle/>
          <a:p>
            <a:pPr>
              <a:lnSpc>
                <a:spcPts val="3810"/>
              </a:lnSpc>
            </a:pPr>
            <a:r>
              <a:rPr kumimoji="1" lang="zh-CN" altLang="en-US" sz="2400" dirty="0">
                <a:solidFill>
                  <a:srgbClr val="0000FF"/>
                </a:solidFill>
                <a:latin typeface="+mn-ea"/>
                <a:cs typeface="Consolas" panose="020B0609020204030204" pitchFamily="49" charset="0"/>
              </a:rPr>
              <a:t>   </a:t>
            </a:r>
            <a:r>
              <a:rPr kumimoji="1" lang="zh-CN" altLang="en-US" sz="2400" dirty="0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 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设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Hanoi(n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x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y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z)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表示将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个盘片从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x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通过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y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移动到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z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上，递归分解的过程是：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960726" y="3144832"/>
            <a:ext cx="7080271" cy="12868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noFill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lIns="180000" tIns="180000" bIns="18000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fun(1)=1                    (1)   </a:t>
            </a:r>
          </a:p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fun(n)=n*fun(n-1)     n&gt;1   (2)      </a:t>
            </a:r>
          </a:p>
        </p:txBody>
      </p:sp>
      <p:sp>
        <p:nvSpPr>
          <p:cNvPr id="25603" name="Text Box 3" descr="信纸"/>
          <p:cNvSpPr txBox="1">
            <a:spLocks noChangeArrowheads="1"/>
          </p:cNvSpPr>
          <p:nvPr/>
        </p:nvSpPr>
        <p:spPr bwMode="auto">
          <a:xfrm>
            <a:off x="714375" y="1310640"/>
            <a:ext cx="3388995" cy="491490"/>
          </a:xfrm>
          <a:prstGeom prst="rect">
            <a:avLst/>
          </a:prstGeom>
          <a:noFill/>
          <a:ln>
            <a:noFill/>
            <a:tailEnd type="none" w="lg" len="lg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zh-CN" altLang="en-US" sz="2600" dirty="0">
                <a:solidFill>
                  <a:srgbClr val="FF3300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递归模型</a:t>
            </a:r>
            <a:endParaRPr lang="zh-CN" altLang="en-US" sz="2600" dirty="0">
              <a:solidFill>
                <a:srgbClr val="0000FF"/>
              </a:solidFill>
              <a:latin typeface="Consolas" panose="020B0609020204030204" pitchFamily="49" charset="0"/>
              <a:ea typeface="微软雅黑" panose="020B0503020204020204" charset="-122"/>
              <a:cs typeface="Consolas" panose="020B0609020204030204" pitchFamily="49" charset="0"/>
            </a:endParaRPr>
          </a:p>
        </p:txBody>
      </p:sp>
      <p:sp>
        <p:nvSpPr>
          <p:cNvPr id="25604" name="Text Box 4"/>
          <p:cNvSpPr txBox="1">
            <a:spLocks noChangeArrowheads="1"/>
          </p:cNvSpPr>
          <p:nvPr/>
        </p:nvSpPr>
        <p:spPr bwMode="auto">
          <a:xfrm>
            <a:off x="531495" y="1997075"/>
            <a:ext cx="7938135" cy="829945"/>
          </a:xfrm>
          <a:prstGeom prst="rect">
            <a:avLst/>
          </a:prstGeom>
          <a:noFill/>
          <a:ln w="38100" algn="ctr">
            <a:noFill/>
            <a:miter lim="800000"/>
            <a:tailEnd type="none" w="lg" len="lg"/>
          </a:ln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22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　</a:t>
            </a:r>
            <a:r>
              <a:rPr kumimoji="1" lang="zh-CN" altLang="en-US" sz="2400" dirty="0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　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递归模型是递归算法的抽象，它反映一个递归问题的递归结构。例如前面的递归算法对应的递归模型如下：</a:t>
            </a:r>
          </a:p>
        </p:txBody>
      </p:sp>
      <p:sp>
        <p:nvSpPr>
          <p:cNvPr id="25605" name="Text Box 5"/>
          <p:cNvSpPr txBox="1">
            <a:spLocks noChangeArrowheads="1"/>
          </p:cNvSpPr>
          <p:nvPr/>
        </p:nvSpPr>
        <p:spPr bwMode="auto">
          <a:xfrm>
            <a:off x="531495" y="4517390"/>
            <a:ext cx="7937500" cy="1107996"/>
          </a:xfrm>
          <a:prstGeom prst="rect">
            <a:avLst/>
          </a:prstGeom>
          <a:noFill/>
          <a:ln w="38100" algn="ctr">
            <a:noFill/>
            <a:miter lim="800000"/>
            <a:tailEnd type="none" w="lg" len="lg"/>
          </a:ln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　　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其中，第一个式子给出了递归的终止条件，第二个式子给出了fun(n)的值与fun(n-1)的值之间的关系，我们把第一个式子称为</a:t>
            </a:r>
            <a:r>
              <a:rPr lang="zh-CN" altLang="en-US" sz="22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递归出口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，把第二个式子称为</a:t>
            </a:r>
            <a:r>
              <a:rPr lang="zh-CN" altLang="en-US" sz="22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递归体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"/>
          <p:cNvSpPr txBox="1">
            <a:spLocks noChangeArrowheads="1"/>
          </p:cNvSpPr>
          <p:nvPr/>
        </p:nvSpPr>
        <p:spPr bwMode="auto">
          <a:xfrm>
            <a:off x="587375" y="720090"/>
            <a:ext cx="7740015" cy="126848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Bef>
                <a:spcPts val="0"/>
              </a:spcBef>
            </a:pPr>
            <a:r>
              <a:rPr kumimoji="1" lang="en-US" altLang="zh-CN" sz="2000" dirty="0">
                <a:solidFill>
                  <a:srgbClr val="FF3300"/>
                </a:solidFill>
                <a:latin typeface="Consolas" panose="020B0609020204030204" pitchFamily="49" charset="0"/>
                <a:ea typeface="黑体" panose="02010609060101010101" charset="-122"/>
                <a:cs typeface="Consolas" panose="020B0609020204030204" pitchFamily="49" charset="0"/>
              </a:rPr>
              <a:t>   </a:t>
            </a:r>
            <a:r>
              <a:rPr kumimoji="1" lang="en-US" altLang="zh-CN" sz="2400" dirty="0">
                <a:solidFill>
                  <a:srgbClr val="FF3300"/>
                </a:solidFill>
                <a:latin typeface="Consolas" panose="020B0609020204030204" pitchFamily="49" charset="0"/>
                <a:ea typeface="黑体" panose="02010609060101010101" charset="-122"/>
                <a:cs typeface="Consolas" panose="020B0609020204030204" pitchFamily="49" charset="0"/>
              </a:rPr>
              <a:t> 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一般地，一个递归模型是由递归出口和递归体两部分组成，前者确定递归到何时结束，后者确定递归求解时的递推关系。</a:t>
            </a:r>
            <a:endParaRPr lang="en-US" altLang="zh-CN" sz="2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469747" y="3552825"/>
            <a:ext cx="8393595" cy="2726710"/>
            <a:chOff x="642910" y="3720409"/>
            <a:chExt cx="8365449" cy="2726852"/>
          </a:xfrm>
        </p:grpSpPr>
        <p:sp>
          <p:nvSpPr>
            <p:cNvPr id="4" name="TextBox 3"/>
            <p:cNvSpPr txBox="1"/>
            <p:nvPr/>
          </p:nvSpPr>
          <p:spPr>
            <a:xfrm>
              <a:off x="760144" y="4218511"/>
              <a:ext cx="8248215" cy="66017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lIns="144000" tIns="144000" rIns="144000" bIns="144000" rtlCol="0">
              <a:spAutoFit/>
            </a:bodyPr>
            <a:lstStyle/>
            <a:p>
              <a:r>
                <a:rPr kumimoji="1" lang="zh-CN" altLang="en-US" sz="1800" dirty="0">
                  <a:solidFill>
                    <a:srgbClr val="C00000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 </a:t>
              </a:r>
              <a:r>
                <a:rPr kumimoji="1" lang="en-US" altLang="zh-CN" sz="2400" i="1" dirty="0">
                  <a:solidFill>
                    <a:srgbClr val="C00000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f</a:t>
              </a:r>
              <a:r>
                <a:rPr kumimoji="1" lang="en-US" altLang="zh-CN" sz="2400" dirty="0">
                  <a:solidFill>
                    <a:srgbClr val="C00000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(s</a:t>
              </a:r>
              <a:r>
                <a:rPr kumimoji="1" lang="en-US" altLang="zh-CN" sz="2400" baseline="-30000" dirty="0">
                  <a:solidFill>
                    <a:srgbClr val="C00000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n+1</a:t>
              </a:r>
              <a:r>
                <a:rPr kumimoji="1" lang="en-US" altLang="zh-CN" sz="2400" dirty="0">
                  <a:solidFill>
                    <a:srgbClr val="C00000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)</a:t>
              </a:r>
              <a:r>
                <a:rPr kumimoji="1" lang="en-US" altLang="zh-CN" sz="2400" dirty="0">
                  <a:solidFill>
                    <a:srgbClr val="003300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=</a:t>
              </a:r>
              <a:r>
                <a:rPr kumimoji="1" lang="en-US" altLang="zh-CN" sz="2400" i="1" dirty="0">
                  <a:solidFill>
                    <a:srgbClr val="003300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g</a:t>
              </a:r>
              <a:r>
                <a:rPr kumimoji="1" lang="en-US" altLang="zh-CN" sz="2400" dirty="0">
                  <a:solidFill>
                    <a:srgbClr val="003300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(</a:t>
              </a:r>
              <a:r>
                <a:rPr kumimoji="1" lang="en-US" altLang="zh-CN" sz="2400" i="1" dirty="0">
                  <a:solidFill>
                    <a:srgbClr val="99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f</a:t>
              </a:r>
              <a:r>
                <a:rPr kumimoji="1" lang="en-US" altLang="zh-CN" sz="2400" dirty="0">
                  <a:solidFill>
                    <a:srgbClr val="99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(</a:t>
              </a:r>
              <a:r>
                <a:rPr kumimoji="1" lang="en-US" altLang="zh-CN" sz="2400" dirty="0" err="1">
                  <a:solidFill>
                    <a:srgbClr val="99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s</a:t>
              </a:r>
              <a:r>
                <a:rPr kumimoji="1" lang="en-US" altLang="zh-CN" sz="2400" baseline="-30000" dirty="0" err="1">
                  <a:solidFill>
                    <a:srgbClr val="99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i</a:t>
              </a:r>
              <a:r>
                <a:rPr kumimoji="1" lang="en-US" altLang="zh-CN" sz="2400" dirty="0">
                  <a:solidFill>
                    <a:srgbClr val="99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)</a:t>
              </a:r>
              <a:r>
                <a:rPr kumimoji="1" lang="zh-CN" altLang="en-US" sz="2400" dirty="0">
                  <a:solidFill>
                    <a:srgbClr val="003300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，</a:t>
              </a:r>
              <a:r>
                <a:rPr kumimoji="1" lang="en-US" altLang="zh-CN" sz="2400" i="1" dirty="0">
                  <a:solidFill>
                    <a:srgbClr val="99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f</a:t>
              </a:r>
              <a:r>
                <a:rPr kumimoji="1" lang="en-US" altLang="zh-CN" sz="2400" dirty="0">
                  <a:solidFill>
                    <a:srgbClr val="99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(s</a:t>
              </a:r>
              <a:r>
                <a:rPr kumimoji="1" lang="en-US" altLang="zh-CN" sz="2400" baseline="-30000" dirty="0">
                  <a:solidFill>
                    <a:srgbClr val="99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i+1</a:t>
              </a:r>
              <a:r>
                <a:rPr kumimoji="1" lang="en-US" altLang="zh-CN" sz="2400" dirty="0">
                  <a:solidFill>
                    <a:srgbClr val="99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)</a:t>
              </a:r>
              <a:r>
                <a:rPr kumimoji="1" lang="zh-CN" altLang="en-US" sz="2400" dirty="0">
                  <a:solidFill>
                    <a:srgbClr val="003300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，</a:t>
              </a:r>
              <a:r>
                <a:rPr kumimoji="1" lang="en-US" altLang="zh-CN" sz="2400" dirty="0">
                  <a:solidFill>
                    <a:srgbClr val="003300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…</a:t>
              </a:r>
              <a:r>
                <a:rPr kumimoji="1" lang="zh-CN" altLang="en-US" sz="2400" dirty="0">
                  <a:solidFill>
                    <a:srgbClr val="003300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，</a:t>
              </a:r>
              <a:r>
                <a:rPr kumimoji="1" lang="en-US" altLang="zh-CN" sz="2400" i="1" dirty="0">
                  <a:solidFill>
                    <a:srgbClr val="99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f</a:t>
              </a:r>
              <a:r>
                <a:rPr kumimoji="1" lang="en-US" altLang="zh-CN" sz="2400" dirty="0">
                  <a:solidFill>
                    <a:srgbClr val="99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(</a:t>
              </a:r>
              <a:r>
                <a:rPr kumimoji="1" lang="en-US" altLang="zh-CN" sz="2400" dirty="0" err="1">
                  <a:solidFill>
                    <a:srgbClr val="99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s</a:t>
              </a:r>
              <a:r>
                <a:rPr kumimoji="1" lang="en-US" altLang="zh-CN" sz="2400" baseline="-30000" dirty="0" err="1">
                  <a:solidFill>
                    <a:srgbClr val="99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n</a:t>
              </a:r>
              <a:r>
                <a:rPr kumimoji="1" lang="en-US" altLang="zh-CN" sz="2400" dirty="0">
                  <a:solidFill>
                    <a:srgbClr val="99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)</a:t>
              </a:r>
              <a:r>
                <a:rPr kumimoji="1" lang="zh-CN" altLang="en-US" sz="2400" dirty="0">
                  <a:solidFill>
                    <a:srgbClr val="003300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，</a:t>
              </a:r>
              <a:r>
                <a:rPr kumimoji="1" lang="en-US" altLang="zh-CN" sz="2400" i="1" dirty="0" err="1">
                  <a:solidFill>
                    <a:srgbClr val="003300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c</a:t>
              </a:r>
              <a:r>
                <a:rPr kumimoji="1" lang="en-US" altLang="zh-CN" sz="2400" i="1" baseline="-30000" dirty="0" err="1">
                  <a:solidFill>
                    <a:srgbClr val="003300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j</a:t>
              </a:r>
              <a:r>
                <a:rPr kumimoji="1" lang="zh-CN" altLang="en-US" sz="2400" dirty="0">
                  <a:solidFill>
                    <a:srgbClr val="003300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，</a:t>
              </a:r>
              <a:r>
                <a:rPr kumimoji="1" lang="en-US" altLang="zh-CN" sz="2400" i="1" dirty="0">
                  <a:solidFill>
                    <a:srgbClr val="003300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c</a:t>
              </a:r>
              <a:r>
                <a:rPr kumimoji="1" lang="en-US" altLang="zh-CN" sz="2400" i="1" baseline="-30000" dirty="0">
                  <a:solidFill>
                    <a:srgbClr val="003300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j</a:t>
              </a:r>
              <a:r>
                <a:rPr kumimoji="1" lang="en-US" altLang="zh-CN" sz="2400" baseline="-30000" dirty="0">
                  <a:solidFill>
                    <a:srgbClr val="003300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+1</a:t>
              </a:r>
              <a:r>
                <a:rPr kumimoji="1" lang="zh-CN" altLang="en-US" sz="2400" dirty="0">
                  <a:solidFill>
                    <a:srgbClr val="003300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，</a:t>
              </a:r>
              <a:r>
                <a:rPr kumimoji="1" lang="en-US" altLang="zh-CN" sz="2400" dirty="0">
                  <a:solidFill>
                    <a:srgbClr val="003300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…</a:t>
              </a:r>
              <a:r>
                <a:rPr kumimoji="1" lang="zh-CN" altLang="en-US" sz="2400" dirty="0">
                  <a:solidFill>
                    <a:srgbClr val="003300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，</a:t>
              </a:r>
              <a:r>
                <a:rPr kumimoji="1" lang="en-US" altLang="zh-CN" sz="2400" i="1" dirty="0">
                  <a:solidFill>
                    <a:srgbClr val="003300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c</a:t>
              </a:r>
              <a:r>
                <a:rPr kumimoji="1" lang="en-US" altLang="zh-CN" sz="2400" i="1" baseline="-30000" dirty="0">
                  <a:solidFill>
                    <a:srgbClr val="003300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m</a:t>
              </a:r>
              <a:r>
                <a:rPr kumimoji="1" lang="en-US" altLang="zh-CN" sz="2400" dirty="0">
                  <a:solidFill>
                    <a:srgbClr val="003300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)</a:t>
              </a:r>
              <a:endParaRPr lang="zh-CN" altLang="en-US" sz="2400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42910" y="3720409"/>
              <a:ext cx="3429024" cy="4309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buClrTx/>
                <a:buSzTx/>
                <a:buFontTx/>
              </a:pPr>
              <a:r>
                <a:rPr lang="zh-CN" altLang="en-US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递归体的一般格式如下：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21551" y="5000636"/>
              <a:ext cx="8286808" cy="14466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00000"/>
                </a:lnSpc>
                <a:buClrTx/>
                <a:buSzTx/>
                <a:buFontTx/>
              </a:pPr>
              <a:r>
                <a:rPr kumimoji="1" lang="zh-CN" altLang="en-US" sz="2000" dirty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   </a:t>
              </a:r>
              <a:r>
                <a:rPr lang="zh-CN" altLang="en-US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其中，n、i、j和m均为正整数。这里的</a:t>
              </a:r>
              <a:r>
                <a:rPr lang="en-US" altLang="zh-CN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S</a:t>
              </a:r>
              <a:r>
                <a:rPr lang="zh-CN" altLang="en-US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n+1是一个递归“大问题”，</a:t>
              </a:r>
              <a:r>
                <a:rPr lang="en-US" altLang="zh-CN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S</a:t>
              </a:r>
              <a:r>
                <a:rPr lang="zh-CN" altLang="en-US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i、</a:t>
              </a:r>
              <a:r>
                <a:rPr lang="en-US" altLang="zh-CN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S</a:t>
              </a:r>
              <a:r>
                <a:rPr lang="zh-CN" altLang="en-US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i+1、…、</a:t>
              </a:r>
              <a:r>
                <a:rPr lang="en-US" altLang="zh-CN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S</a:t>
              </a:r>
              <a:r>
                <a:rPr lang="zh-CN" altLang="en-US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n为递归“小问题”，</a:t>
              </a:r>
              <a:r>
                <a:rPr lang="en-US" altLang="zh-CN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C</a:t>
              </a:r>
              <a:r>
                <a:rPr lang="zh-CN" altLang="en-US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j、</a:t>
              </a:r>
              <a:r>
                <a:rPr lang="en-US" altLang="zh-CN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C</a:t>
              </a:r>
              <a:r>
                <a:rPr lang="zh-CN" altLang="en-US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j+1、…、</a:t>
              </a:r>
              <a:r>
                <a:rPr lang="en-US" altLang="zh-CN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C</a:t>
              </a:r>
              <a:r>
                <a:rPr lang="zh-CN" altLang="en-US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m是若干个可以直接（用非递归方法）解决的问题，g是一个非递归函数，可以直接求值。</a:t>
              </a: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427990" y="2016125"/>
            <a:ext cx="8182610" cy="1571625"/>
            <a:chOff x="571472" y="1468366"/>
            <a:chExt cx="7466224" cy="1571191"/>
          </a:xfrm>
        </p:grpSpPr>
        <p:sp>
          <p:nvSpPr>
            <p:cNvPr id="3" name="TextBox 2"/>
            <p:cNvSpPr txBox="1"/>
            <p:nvPr/>
          </p:nvSpPr>
          <p:spPr>
            <a:xfrm>
              <a:off x="716903" y="1928614"/>
              <a:ext cx="4189104" cy="65996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lIns="144000" tIns="144000" bIns="144000" rtlCol="0">
              <a:spAutoFit/>
            </a:bodyPr>
            <a:lstStyle/>
            <a:p>
              <a:r>
                <a:rPr kumimoji="1" lang="zh-CN" altLang="en-US" sz="1800" dirty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 </a:t>
              </a:r>
              <a:r>
                <a:rPr kumimoji="1" lang="en-US" altLang="zh-CN" sz="2400" i="1" dirty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f</a:t>
              </a:r>
              <a:r>
                <a:rPr kumimoji="1" lang="en-US" altLang="zh-CN" sz="2400" dirty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(s</a:t>
              </a:r>
              <a:r>
                <a:rPr kumimoji="1" lang="en-US" altLang="zh-CN" sz="2400" baseline="-30000" dirty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1</a:t>
              </a:r>
              <a:r>
                <a:rPr kumimoji="1" lang="en-US" altLang="zh-CN" sz="2400" dirty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)=</a:t>
              </a:r>
              <a:r>
                <a:rPr kumimoji="1" lang="en-US" altLang="zh-CN" sz="2400" i="1" dirty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m</a:t>
              </a:r>
              <a:r>
                <a:rPr kumimoji="1" lang="en-US" altLang="zh-CN" sz="2400" baseline="-30000" dirty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1</a:t>
              </a:r>
              <a:r>
                <a:rPr kumimoji="1" lang="en-US" altLang="zh-CN" sz="2400" dirty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	     		(2.1)</a:t>
              </a:r>
              <a:endParaRPr lang="zh-CN" altLang="en-US" sz="2400" dirty="0">
                <a:solidFill>
                  <a:srgbClr val="0000FF"/>
                </a:solidFill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08144" y="2579309"/>
              <a:ext cx="7429552" cy="4602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buClrTx/>
                <a:buSzTx/>
                <a:buFontTx/>
              </a:pPr>
              <a:r>
                <a:rPr lang="zh-CN" altLang="en-US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这里的s1与m1均为常量，有些递归问题可能有几个递归出口</a:t>
              </a:r>
              <a:r>
                <a:rPr kumimoji="1" lang="zh-CN" altLang="en-US" sz="2400" dirty="0">
                  <a:solidFill>
                    <a:schemeClr val="bg1"/>
                  </a:solidFill>
                  <a:latin typeface="+mn-ea"/>
                  <a:cs typeface="Consolas" panose="020B0609020204030204" pitchFamily="49" charset="0"/>
                </a:rPr>
                <a:t>。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71472" y="1468366"/>
              <a:ext cx="3857652" cy="4602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buClrTx/>
                <a:buSzTx/>
                <a:buFontTx/>
              </a:pPr>
              <a:r>
                <a:rPr lang="zh-CN" altLang="en-US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递归出口的一般格式如下</a:t>
              </a:r>
              <a:r>
                <a:rPr kumimoji="1" lang="zh-CN" altLang="en-US" sz="2400" dirty="0">
                  <a:solidFill>
                    <a:schemeClr val="bg1"/>
                  </a:solidFill>
                  <a:latin typeface="+mn-ea"/>
                  <a:cs typeface="Consolas" panose="020B0609020204030204" pitchFamily="49" charset="0"/>
                </a:rPr>
                <a:t>：</a:t>
              </a: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-614416" y="1410582"/>
            <a:ext cx="5706110" cy="5219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递归算法的执行过程</a:t>
            </a:r>
          </a:p>
        </p:txBody>
      </p:sp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527050" y="2211705"/>
            <a:ext cx="8169910" cy="275065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80000" tIns="144000" rIns="180000" bIns="14400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ts val="0"/>
              </a:spcBef>
              <a:buBlip>
                <a:blip r:embed="rId4"/>
              </a:buBlip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一个正确的递归程序虽然每次调用的是相同的子程序，但它的参量、输入数据等均有变化。</a:t>
            </a:r>
            <a:endParaRPr lang="en-US" altLang="zh-CN" sz="2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Blip>
                <a:blip r:embed="rId4"/>
              </a:buBlip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在正常的情况下，随着调用的不断深入，必定会出现调用到某一层的函数时，不再执行递归调用而终止函数的执行，遇到递归出口便是这种情况。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Text Box 4"/>
          <p:cNvSpPr txBox="1">
            <a:spLocks noChangeArrowheads="1"/>
          </p:cNvSpPr>
          <p:nvPr/>
        </p:nvSpPr>
        <p:spPr bwMode="auto">
          <a:xfrm>
            <a:off x="614680" y="1546860"/>
            <a:ext cx="7984490" cy="282335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80000" tIns="180000" rIns="180000" bIns="18000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ts val="0"/>
              </a:spcBef>
              <a:buBlip>
                <a:blip r:embed="rId4"/>
              </a:buBlip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递归调用是函数嵌套调用的一种特殊情况，即它是调用自身代码。也可以把每一次递归调用理解成调用自身代码的一个复制件。</a:t>
            </a:r>
            <a:endParaRPr lang="en-US" altLang="zh-CN" sz="2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Blip>
                <a:blip r:embed="rId4"/>
              </a:buBlip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由于每次调用时，它的参量和局部变量均不相同，因而也就保证了各个复制件执行时的独立性。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4"/>
          <p:cNvSpPr txBox="1">
            <a:spLocks noChangeArrowheads="1"/>
          </p:cNvSpPr>
          <p:nvPr/>
        </p:nvSpPr>
        <p:spPr bwMode="auto">
          <a:xfrm>
            <a:off x="571500" y="1424940"/>
            <a:ext cx="8125460" cy="275065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80000" tIns="144000" rIns="180000" bIns="14400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ts val="0"/>
              </a:spcBef>
              <a:buBlip>
                <a:blip r:embed="rId4"/>
              </a:buBlip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系统为每一次调用开辟一组存储单元，用来存放本次调用的返回地址以及被中断的函数的参量值。</a:t>
            </a:r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Blip>
                <a:blip r:embed="rId4"/>
              </a:buBlip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这些单元以系统栈的形式存放，每调用一次进栈一次，当返回时执行出栈操作，把当前栈顶保留的值送回相应的参量中进行恢复，并按栈顶中的返回地址，从断点继续执行。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571500" y="687070"/>
            <a:ext cx="7821930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  <a:buClrTx/>
              <a:buSzTx/>
              <a:buFontTx/>
            </a:pP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　　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对于例2.1的递归算法，求5!即执行fun(5)时内部栈的变化及求解过程如下：</a:t>
            </a:r>
          </a:p>
        </p:txBody>
      </p:sp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1904971" y="1569704"/>
            <a:ext cx="5367875" cy="9833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lIns="144000" tIns="144000" bIns="1440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void main()</a:t>
            </a:r>
          </a:p>
          <a:p>
            <a:pPr>
              <a:spcBef>
                <a:spcPct val="50000"/>
              </a:spcBef>
            </a:pPr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{  printf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(“%</a:t>
            </a:r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d\</a:t>
            </a:r>
            <a:r>
              <a:rPr lang="en-US" altLang="zh-CN" sz="1800" err="1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n</a:t>
            </a:r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”</a:t>
            </a:r>
            <a:r>
              <a:rPr lang="zh-CN" altLang="en-US" sz="18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1800">
                <a:solidFill>
                  <a:srgbClr val="C0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fun(5)</a:t>
            </a:r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);   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3888317" y="2992121"/>
            <a:ext cx="1056216" cy="358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152958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</a:p>
        </p:txBody>
      </p:sp>
      <p:sp>
        <p:nvSpPr>
          <p:cNvPr id="29701" name="Rectangle 5"/>
          <p:cNvSpPr>
            <a:spLocks noChangeArrowheads="1"/>
          </p:cNvSpPr>
          <p:nvPr/>
        </p:nvSpPr>
        <p:spPr bwMode="auto">
          <a:xfrm>
            <a:off x="4944533" y="2992121"/>
            <a:ext cx="1534584" cy="358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152958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fun(4)*5</a:t>
            </a:r>
          </a:p>
        </p:txBody>
      </p:sp>
      <p:sp>
        <p:nvSpPr>
          <p:cNvPr id="29702" name="AutoShape 6"/>
          <p:cNvSpPr>
            <a:spLocks noChangeArrowheads="1"/>
          </p:cNvSpPr>
          <p:nvPr/>
        </p:nvSpPr>
        <p:spPr bwMode="auto">
          <a:xfrm>
            <a:off x="4847803" y="2628257"/>
            <a:ext cx="192617" cy="287338"/>
          </a:xfrm>
          <a:prstGeom prst="downArrow">
            <a:avLst>
              <a:gd name="adj1" fmla="val 50000"/>
              <a:gd name="adj2" fmla="val 49725"/>
            </a:avLst>
          </a:prstGeom>
          <a:solidFill>
            <a:srgbClr val="006600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9703" name="Text Box 7"/>
          <p:cNvSpPr txBox="1">
            <a:spLocks noChangeArrowheads="1"/>
          </p:cNvSpPr>
          <p:nvPr/>
        </p:nvSpPr>
        <p:spPr bwMode="auto">
          <a:xfrm>
            <a:off x="4078818" y="3423921"/>
            <a:ext cx="577849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i="1"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</a:p>
        </p:txBody>
      </p:sp>
      <p:sp>
        <p:nvSpPr>
          <p:cNvPr id="29704" name="Text Box 8"/>
          <p:cNvSpPr txBox="1">
            <a:spLocks noChangeArrowheads="1"/>
          </p:cNvSpPr>
          <p:nvPr/>
        </p:nvSpPr>
        <p:spPr bwMode="auto">
          <a:xfrm>
            <a:off x="5135033" y="3423921"/>
            <a:ext cx="1634067" cy="4308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buClrTx/>
              <a:buSzTx/>
              <a:buFontTx/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函数值</a:t>
            </a:r>
          </a:p>
        </p:txBody>
      </p:sp>
      <p:sp>
        <p:nvSpPr>
          <p:cNvPr id="29705" name="AutoShape 9"/>
          <p:cNvSpPr>
            <a:spLocks noChangeArrowheads="1"/>
          </p:cNvSpPr>
          <p:nvPr/>
        </p:nvSpPr>
        <p:spPr bwMode="auto">
          <a:xfrm>
            <a:off x="4847168" y="3487104"/>
            <a:ext cx="192617" cy="287337"/>
          </a:xfrm>
          <a:prstGeom prst="downArrow">
            <a:avLst>
              <a:gd name="adj1" fmla="val 50000"/>
              <a:gd name="adj2" fmla="val 49725"/>
            </a:avLst>
          </a:prstGeom>
          <a:solidFill>
            <a:srgbClr val="006600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9706" name="Rectangle 10"/>
          <p:cNvSpPr>
            <a:spLocks noChangeArrowheads="1"/>
          </p:cNvSpPr>
          <p:nvPr/>
        </p:nvSpPr>
        <p:spPr bwMode="auto">
          <a:xfrm>
            <a:off x="3888317" y="3898901"/>
            <a:ext cx="1056216" cy="358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152958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</a:p>
        </p:txBody>
      </p:sp>
      <p:sp>
        <p:nvSpPr>
          <p:cNvPr id="29707" name="Rectangle 11"/>
          <p:cNvSpPr>
            <a:spLocks noChangeArrowheads="1"/>
          </p:cNvSpPr>
          <p:nvPr/>
        </p:nvSpPr>
        <p:spPr bwMode="auto">
          <a:xfrm>
            <a:off x="4944533" y="3898901"/>
            <a:ext cx="1534584" cy="358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152958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fun(3)*4</a:t>
            </a:r>
          </a:p>
        </p:txBody>
      </p:sp>
      <p:sp>
        <p:nvSpPr>
          <p:cNvPr id="29708" name="Rectangle 12"/>
          <p:cNvSpPr>
            <a:spLocks noChangeArrowheads="1"/>
          </p:cNvSpPr>
          <p:nvPr/>
        </p:nvSpPr>
        <p:spPr bwMode="auto">
          <a:xfrm>
            <a:off x="3888317" y="4259264"/>
            <a:ext cx="1056216" cy="358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152958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</a:p>
        </p:txBody>
      </p:sp>
      <p:sp>
        <p:nvSpPr>
          <p:cNvPr id="29709" name="Rectangle 13"/>
          <p:cNvSpPr>
            <a:spLocks noChangeArrowheads="1"/>
          </p:cNvSpPr>
          <p:nvPr/>
        </p:nvSpPr>
        <p:spPr bwMode="auto">
          <a:xfrm>
            <a:off x="4944533" y="4259264"/>
            <a:ext cx="1534584" cy="358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152958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fun(4)*5</a:t>
            </a:r>
          </a:p>
        </p:txBody>
      </p:sp>
      <p:sp>
        <p:nvSpPr>
          <p:cNvPr id="29710" name="AutoShape 14"/>
          <p:cNvSpPr>
            <a:spLocks noChangeArrowheads="1"/>
          </p:cNvSpPr>
          <p:nvPr/>
        </p:nvSpPr>
        <p:spPr bwMode="auto">
          <a:xfrm>
            <a:off x="4847168" y="4712335"/>
            <a:ext cx="192617" cy="287338"/>
          </a:xfrm>
          <a:prstGeom prst="downArrow">
            <a:avLst>
              <a:gd name="adj1" fmla="val 50000"/>
              <a:gd name="adj2" fmla="val 49725"/>
            </a:avLst>
          </a:prstGeom>
          <a:solidFill>
            <a:srgbClr val="006600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9711" name="Rectangle 15"/>
          <p:cNvSpPr>
            <a:spLocks noChangeArrowheads="1"/>
          </p:cNvSpPr>
          <p:nvPr/>
        </p:nvSpPr>
        <p:spPr bwMode="auto">
          <a:xfrm>
            <a:off x="3888317" y="5455604"/>
            <a:ext cx="1056216" cy="358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152958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</a:p>
        </p:txBody>
      </p:sp>
      <p:sp>
        <p:nvSpPr>
          <p:cNvPr id="29712" name="Rectangle 16"/>
          <p:cNvSpPr>
            <a:spLocks noChangeArrowheads="1"/>
          </p:cNvSpPr>
          <p:nvPr/>
        </p:nvSpPr>
        <p:spPr bwMode="auto">
          <a:xfrm>
            <a:off x="4944533" y="5455604"/>
            <a:ext cx="1534584" cy="358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152958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fun(3)*4</a:t>
            </a:r>
          </a:p>
        </p:txBody>
      </p:sp>
      <p:sp>
        <p:nvSpPr>
          <p:cNvPr id="29713" name="Rectangle 17"/>
          <p:cNvSpPr>
            <a:spLocks noChangeArrowheads="1"/>
          </p:cNvSpPr>
          <p:nvPr/>
        </p:nvSpPr>
        <p:spPr bwMode="auto">
          <a:xfrm>
            <a:off x="3888317" y="5815966"/>
            <a:ext cx="1056216" cy="358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152958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</a:p>
        </p:txBody>
      </p:sp>
      <p:sp>
        <p:nvSpPr>
          <p:cNvPr id="29714" name="Rectangle 18"/>
          <p:cNvSpPr>
            <a:spLocks noChangeArrowheads="1"/>
          </p:cNvSpPr>
          <p:nvPr/>
        </p:nvSpPr>
        <p:spPr bwMode="auto">
          <a:xfrm>
            <a:off x="4944533" y="5815966"/>
            <a:ext cx="1534584" cy="358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152958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fun(4)*5</a:t>
            </a:r>
          </a:p>
        </p:txBody>
      </p:sp>
      <p:sp>
        <p:nvSpPr>
          <p:cNvPr id="29715" name="Rectangle 19"/>
          <p:cNvSpPr>
            <a:spLocks noChangeArrowheads="1"/>
          </p:cNvSpPr>
          <p:nvPr/>
        </p:nvSpPr>
        <p:spPr bwMode="auto">
          <a:xfrm>
            <a:off x="3888317" y="5096829"/>
            <a:ext cx="1056216" cy="358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152958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</a:p>
        </p:txBody>
      </p:sp>
      <p:sp>
        <p:nvSpPr>
          <p:cNvPr id="29716" name="Rectangle 20"/>
          <p:cNvSpPr>
            <a:spLocks noChangeArrowheads="1"/>
          </p:cNvSpPr>
          <p:nvPr/>
        </p:nvSpPr>
        <p:spPr bwMode="auto">
          <a:xfrm>
            <a:off x="4944533" y="5096829"/>
            <a:ext cx="1534584" cy="358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152958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fun(2)*3</a:t>
            </a:r>
          </a:p>
        </p:txBody>
      </p:sp>
      <p:sp>
        <p:nvSpPr>
          <p:cNvPr id="29717" name="Text Box 21"/>
          <p:cNvSpPr txBox="1">
            <a:spLocks noChangeArrowheads="1"/>
          </p:cNvSpPr>
          <p:nvPr/>
        </p:nvSpPr>
        <p:spPr bwMode="auto">
          <a:xfrm>
            <a:off x="571462" y="2992120"/>
            <a:ext cx="3168649" cy="4308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buClrTx/>
              <a:buSzTx/>
              <a:buFontTx/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fun(5)调用：进栈</a:t>
            </a:r>
          </a:p>
        </p:txBody>
      </p:sp>
      <p:sp>
        <p:nvSpPr>
          <p:cNvPr id="29718" name="Text Box 22"/>
          <p:cNvSpPr txBox="1">
            <a:spLocks noChangeArrowheads="1"/>
          </p:cNvSpPr>
          <p:nvPr/>
        </p:nvSpPr>
        <p:spPr bwMode="auto">
          <a:xfrm>
            <a:off x="571462" y="3898900"/>
            <a:ext cx="3168649" cy="4308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buClrTx/>
              <a:buSzTx/>
              <a:buFontTx/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fun(4)调用：进栈</a:t>
            </a:r>
          </a:p>
        </p:txBody>
      </p:sp>
      <p:sp>
        <p:nvSpPr>
          <p:cNvPr id="29719" name="Text Box 23"/>
          <p:cNvSpPr txBox="1">
            <a:spLocks noChangeArrowheads="1"/>
          </p:cNvSpPr>
          <p:nvPr/>
        </p:nvSpPr>
        <p:spPr bwMode="auto">
          <a:xfrm>
            <a:off x="595632" y="5058728"/>
            <a:ext cx="3168649" cy="4308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fun(3)调用：进栈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AutoShape 2"/>
          <p:cNvSpPr>
            <a:spLocks noChangeArrowheads="1"/>
          </p:cNvSpPr>
          <p:nvPr/>
        </p:nvSpPr>
        <p:spPr bwMode="auto">
          <a:xfrm>
            <a:off x="6079068" y="597854"/>
            <a:ext cx="192617" cy="287337"/>
          </a:xfrm>
          <a:prstGeom prst="downArrow">
            <a:avLst>
              <a:gd name="adj1" fmla="val 50000"/>
              <a:gd name="adj2" fmla="val 49725"/>
            </a:avLst>
          </a:prstGeom>
          <a:solidFill>
            <a:srgbClr val="006600"/>
          </a:solidFill>
          <a:ln w="9525">
            <a:solidFill>
              <a:srgbClr val="152958"/>
            </a:solidFill>
            <a:miter lim="800000"/>
          </a:ln>
        </p:spPr>
        <p:txBody>
          <a:bodyPr wrap="none" anchor="ctr"/>
          <a:lstStyle/>
          <a:p>
            <a:endParaRPr lang="zh-CN" alt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0723" name="Rectangle 3"/>
          <p:cNvSpPr>
            <a:spLocks noChangeArrowheads="1"/>
          </p:cNvSpPr>
          <p:nvPr/>
        </p:nvSpPr>
        <p:spPr bwMode="auto">
          <a:xfrm>
            <a:off x="5120217" y="1622109"/>
            <a:ext cx="1056216" cy="358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152958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</a:p>
        </p:txBody>
      </p:sp>
      <p:sp>
        <p:nvSpPr>
          <p:cNvPr id="30724" name="Rectangle 4"/>
          <p:cNvSpPr>
            <a:spLocks noChangeArrowheads="1"/>
          </p:cNvSpPr>
          <p:nvPr/>
        </p:nvSpPr>
        <p:spPr bwMode="auto">
          <a:xfrm>
            <a:off x="6176433" y="1622109"/>
            <a:ext cx="1534584" cy="358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152958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fun(3)*4</a:t>
            </a:r>
          </a:p>
        </p:txBody>
      </p:sp>
      <p:sp>
        <p:nvSpPr>
          <p:cNvPr id="30725" name="Rectangle 5"/>
          <p:cNvSpPr>
            <a:spLocks noChangeArrowheads="1"/>
          </p:cNvSpPr>
          <p:nvPr/>
        </p:nvSpPr>
        <p:spPr bwMode="auto">
          <a:xfrm>
            <a:off x="5120217" y="1982471"/>
            <a:ext cx="1056216" cy="358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152958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</a:p>
        </p:txBody>
      </p:sp>
      <p:sp>
        <p:nvSpPr>
          <p:cNvPr id="30726" name="Rectangle 6"/>
          <p:cNvSpPr>
            <a:spLocks noChangeArrowheads="1"/>
          </p:cNvSpPr>
          <p:nvPr/>
        </p:nvSpPr>
        <p:spPr bwMode="auto">
          <a:xfrm>
            <a:off x="6176433" y="1982471"/>
            <a:ext cx="1534584" cy="358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152958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fun(4)*5</a:t>
            </a:r>
          </a:p>
        </p:txBody>
      </p:sp>
      <p:sp>
        <p:nvSpPr>
          <p:cNvPr id="30727" name="Rectangle 7"/>
          <p:cNvSpPr>
            <a:spLocks noChangeArrowheads="1"/>
          </p:cNvSpPr>
          <p:nvPr/>
        </p:nvSpPr>
        <p:spPr bwMode="auto">
          <a:xfrm>
            <a:off x="5120217" y="1263334"/>
            <a:ext cx="1056216" cy="358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152958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</a:p>
        </p:txBody>
      </p:sp>
      <p:sp>
        <p:nvSpPr>
          <p:cNvPr id="30728" name="Rectangle 8"/>
          <p:cNvSpPr>
            <a:spLocks noChangeArrowheads="1"/>
          </p:cNvSpPr>
          <p:nvPr/>
        </p:nvSpPr>
        <p:spPr bwMode="auto">
          <a:xfrm>
            <a:off x="6176433" y="1263334"/>
            <a:ext cx="1534584" cy="358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152958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fun(2)*3</a:t>
            </a:r>
          </a:p>
        </p:txBody>
      </p:sp>
      <p:sp>
        <p:nvSpPr>
          <p:cNvPr id="30729" name="Rectangle 9"/>
          <p:cNvSpPr>
            <a:spLocks noChangeArrowheads="1"/>
          </p:cNvSpPr>
          <p:nvPr/>
        </p:nvSpPr>
        <p:spPr bwMode="auto">
          <a:xfrm>
            <a:off x="5118101" y="904559"/>
            <a:ext cx="1056217" cy="358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152958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30730" name="Rectangle 10"/>
          <p:cNvSpPr>
            <a:spLocks noChangeArrowheads="1"/>
          </p:cNvSpPr>
          <p:nvPr/>
        </p:nvSpPr>
        <p:spPr bwMode="auto">
          <a:xfrm>
            <a:off x="6174318" y="904559"/>
            <a:ext cx="1534583" cy="358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152958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fun(1)*2</a:t>
            </a:r>
          </a:p>
        </p:txBody>
      </p:sp>
      <p:sp>
        <p:nvSpPr>
          <p:cNvPr id="30731" name="AutoShape 11"/>
          <p:cNvSpPr>
            <a:spLocks noChangeArrowheads="1"/>
          </p:cNvSpPr>
          <p:nvPr/>
        </p:nvSpPr>
        <p:spPr bwMode="auto">
          <a:xfrm>
            <a:off x="6079068" y="2392680"/>
            <a:ext cx="192617" cy="287338"/>
          </a:xfrm>
          <a:prstGeom prst="downArrow">
            <a:avLst>
              <a:gd name="adj1" fmla="val 50000"/>
              <a:gd name="adj2" fmla="val 49725"/>
            </a:avLst>
          </a:prstGeom>
          <a:solidFill>
            <a:srgbClr val="006600"/>
          </a:solidFill>
          <a:ln w="9525">
            <a:solidFill>
              <a:srgbClr val="152958"/>
            </a:solidFill>
            <a:miter lim="800000"/>
          </a:ln>
        </p:spPr>
        <p:txBody>
          <a:bodyPr wrap="none" anchor="ctr"/>
          <a:lstStyle/>
          <a:p>
            <a:endParaRPr lang="zh-CN" altLang="en-US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0732" name="Rectangle 12"/>
          <p:cNvSpPr>
            <a:spLocks noChangeArrowheads="1"/>
          </p:cNvSpPr>
          <p:nvPr/>
        </p:nvSpPr>
        <p:spPr bwMode="auto">
          <a:xfrm>
            <a:off x="5120217" y="3795714"/>
            <a:ext cx="1056216" cy="358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152958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</a:p>
        </p:txBody>
      </p:sp>
      <p:sp>
        <p:nvSpPr>
          <p:cNvPr id="30733" name="Rectangle 13"/>
          <p:cNvSpPr>
            <a:spLocks noChangeArrowheads="1"/>
          </p:cNvSpPr>
          <p:nvPr/>
        </p:nvSpPr>
        <p:spPr bwMode="auto">
          <a:xfrm>
            <a:off x="6176433" y="3795714"/>
            <a:ext cx="1534584" cy="358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152958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fun(3)*4</a:t>
            </a:r>
          </a:p>
        </p:txBody>
      </p:sp>
      <p:sp>
        <p:nvSpPr>
          <p:cNvPr id="30734" name="Rectangle 14"/>
          <p:cNvSpPr>
            <a:spLocks noChangeArrowheads="1"/>
          </p:cNvSpPr>
          <p:nvPr/>
        </p:nvSpPr>
        <p:spPr bwMode="auto">
          <a:xfrm>
            <a:off x="5120217" y="4156076"/>
            <a:ext cx="1056216" cy="358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152958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</a:p>
        </p:txBody>
      </p:sp>
      <p:sp>
        <p:nvSpPr>
          <p:cNvPr id="30735" name="Rectangle 15"/>
          <p:cNvSpPr>
            <a:spLocks noChangeArrowheads="1"/>
          </p:cNvSpPr>
          <p:nvPr/>
        </p:nvSpPr>
        <p:spPr bwMode="auto">
          <a:xfrm>
            <a:off x="6176433" y="4156076"/>
            <a:ext cx="1534584" cy="358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152958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fun(4)*5</a:t>
            </a:r>
          </a:p>
        </p:txBody>
      </p:sp>
      <p:sp>
        <p:nvSpPr>
          <p:cNvPr id="30736" name="Rectangle 16"/>
          <p:cNvSpPr>
            <a:spLocks noChangeArrowheads="1"/>
          </p:cNvSpPr>
          <p:nvPr/>
        </p:nvSpPr>
        <p:spPr bwMode="auto">
          <a:xfrm>
            <a:off x="5120217" y="3436939"/>
            <a:ext cx="1056216" cy="358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152958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</a:p>
        </p:txBody>
      </p:sp>
      <p:sp>
        <p:nvSpPr>
          <p:cNvPr id="30737" name="Rectangle 17"/>
          <p:cNvSpPr>
            <a:spLocks noChangeArrowheads="1"/>
          </p:cNvSpPr>
          <p:nvPr/>
        </p:nvSpPr>
        <p:spPr bwMode="auto">
          <a:xfrm>
            <a:off x="6176433" y="3436939"/>
            <a:ext cx="1534584" cy="358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152958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fun(2)*3</a:t>
            </a:r>
          </a:p>
        </p:txBody>
      </p:sp>
      <p:sp>
        <p:nvSpPr>
          <p:cNvPr id="30738" name="Rectangle 18"/>
          <p:cNvSpPr>
            <a:spLocks noChangeArrowheads="1"/>
          </p:cNvSpPr>
          <p:nvPr/>
        </p:nvSpPr>
        <p:spPr bwMode="auto">
          <a:xfrm>
            <a:off x="5118101" y="3078164"/>
            <a:ext cx="1056217" cy="358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152958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30739" name="Rectangle 19"/>
          <p:cNvSpPr>
            <a:spLocks noChangeArrowheads="1"/>
          </p:cNvSpPr>
          <p:nvPr/>
        </p:nvSpPr>
        <p:spPr bwMode="auto">
          <a:xfrm>
            <a:off x="6174318" y="3078164"/>
            <a:ext cx="1534583" cy="358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152958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fun(1)*2</a:t>
            </a:r>
          </a:p>
        </p:txBody>
      </p:sp>
      <p:sp>
        <p:nvSpPr>
          <p:cNvPr id="30740" name="Rectangle 20"/>
          <p:cNvSpPr>
            <a:spLocks noChangeArrowheads="1"/>
          </p:cNvSpPr>
          <p:nvPr/>
        </p:nvSpPr>
        <p:spPr bwMode="auto">
          <a:xfrm>
            <a:off x="5118101" y="2719389"/>
            <a:ext cx="1056217" cy="358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152958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30741" name="Rectangle 21"/>
          <p:cNvSpPr>
            <a:spLocks noChangeArrowheads="1"/>
          </p:cNvSpPr>
          <p:nvPr/>
        </p:nvSpPr>
        <p:spPr bwMode="auto">
          <a:xfrm>
            <a:off x="6174318" y="2719389"/>
            <a:ext cx="1534583" cy="358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152958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30742" name="Text Box 22"/>
          <p:cNvSpPr txBox="1">
            <a:spLocks noChangeArrowheads="1"/>
          </p:cNvSpPr>
          <p:nvPr/>
        </p:nvSpPr>
        <p:spPr bwMode="auto">
          <a:xfrm>
            <a:off x="893236" y="1012386"/>
            <a:ext cx="3168649" cy="4308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buClrTx/>
              <a:buSzTx/>
              <a:buFontTx/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fun(2)调用：进栈</a:t>
            </a:r>
          </a:p>
        </p:txBody>
      </p:sp>
      <p:sp>
        <p:nvSpPr>
          <p:cNvPr id="30743" name="Text Box 23"/>
          <p:cNvSpPr txBox="1">
            <a:spLocks noChangeArrowheads="1"/>
          </p:cNvSpPr>
          <p:nvPr/>
        </p:nvSpPr>
        <p:spPr bwMode="auto">
          <a:xfrm>
            <a:off x="761964" y="2786380"/>
            <a:ext cx="4468321" cy="4308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fun(1)调用：进栈并求值</a:t>
            </a:r>
          </a:p>
        </p:txBody>
      </p:sp>
      <p:sp>
        <p:nvSpPr>
          <p:cNvPr id="30744" name="AutoShape 24"/>
          <p:cNvSpPr>
            <a:spLocks noChangeArrowheads="1"/>
          </p:cNvSpPr>
          <p:nvPr/>
        </p:nvSpPr>
        <p:spPr bwMode="auto">
          <a:xfrm>
            <a:off x="6079068" y="4555809"/>
            <a:ext cx="192617" cy="287337"/>
          </a:xfrm>
          <a:prstGeom prst="downArrow">
            <a:avLst>
              <a:gd name="adj1" fmla="val 50000"/>
              <a:gd name="adj2" fmla="val 49725"/>
            </a:avLst>
          </a:prstGeom>
          <a:solidFill>
            <a:srgbClr val="006600"/>
          </a:solidFill>
          <a:ln w="9525">
            <a:solidFill>
              <a:srgbClr val="152958"/>
            </a:solidFill>
            <a:miter lim="800000"/>
          </a:ln>
        </p:spPr>
        <p:txBody>
          <a:bodyPr wrap="none" anchor="ctr"/>
          <a:lstStyle/>
          <a:p>
            <a:endParaRPr lang="zh-CN" altLang="en-US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0745" name="Rectangle 25"/>
          <p:cNvSpPr>
            <a:spLocks noChangeArrowheads="1"/>
          </p:cNvSpPr>
          <p:nvPr/>
        </p:nvSpPr>
        <p:spPr bwMode="auto">
          <a:xfrm>
            <a:off x="5120217" y="5608956"/>
            <a:ext cx="1056216" cy="358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152958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</a:p>
        </p:txBody>
      </p:sp>
      <p:sp>
        <p:nvSpPr>
          <p:cNvPr id="30746" name="Rectangle 26"/>
          <p:cNvSpPr>
            <a:spLocks noChangeArrowheads="1"/>
          </p:cNvSpPr>
          <p:nvPr/>
        </p:nvSpPr>
        <p:spPr bwMode="auto">
          <a:xfrm>
            <a:off x="6176433" y="5608956"/>
            <a:ext cx="1534584" cy="358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152958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fun(3)*4</a:t>
            </a:r>
          </a:p>
        </p:txBody>
      </p:sp>
      <p:sp>
        <p:nvSpPr>
          <p:cNvPr id="30747" name="Rectangle 27"/>
          <p:cNvSpPr>
            <a:spLocks noChangeArrowheads="1"/>
          </p:cNvSpPr>
          <p:nvPr/>
        </p:nvSpPr>
        <p:spPr bwMode="auto">
          <a:xfrm>
            <a:off x="5120217" y="5969319"/>
            <a:ext cx="1056216" cy="358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152958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</a:p>
        </p:txBody>
      </p:sp>
      <p:sp>
        <p:nvSpPr>
          <p:cNvPr id="30748" name="Rectangle 28"/>
          <p:cNvSpPr>
            <a:spLocks noChangeArrowheads="1"/>
          </p:cNvSpPr>
          <p:nvPr/>
        </p:nvSpPr>
        <p:spPr bwMode="auto">
          <a:xfrm>
            <a:off x="6176433" y="5969319"/>
            <a:ext cx="1534584" cy="358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152958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fun(4)*5</a:t>
            </a:r>
          </a:p>
        </p:txBody>
      </p:sp>
      <p:sp>
        <p:nvSpPr>
          <p:cNvPr id="30749" name="Rectangle 29"/>
          <p:cNvSpPr>
            <a:spLocks noChangeArrowheads="1"/>
          </p:cNvSpPr>
          <p:nvPr/>
        </p:nvSpPr>
        <p:spPr bwMode="auto">
          <a:xfrm>
            <a:off x="5120217" y="5250181"/>
            <a:ext cx="1056216" cy="358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152958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</a:p>
        </p:txBody>
      </p:sp>
      <p:sp>
        <p:nvSpPr>
          <p:cNvPr id="30750" name="Rectangle 30"/>
          <p:cNvSpPr>
            <a:spLocks noChangeArrowheads="1"/>
          </p:cNvSpPr>
          <p:nvPr/>
        </p:nvSpPr>
        <p:spPr bwMode="auto">
          <a:xfrm>
            <a:off x="6176433" y="5250181"/>
            <a:ext cx="1534584" cy="358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152958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fun(2)*3</a:t>
            </a:r>
          </a:p>
        </p:txBody>
      </p:sp>
      <p:sp>
        <p:nvSpPr>
          <p:cNvPr id="30751" name="Rectangle 31"/>
          <p:cNvSpPr>
            <a:spLocks noChangeArrowheads="1"/>
          </p:cNvSpPr>
          <p:nvPr/>
        </p:nvSpPr>
        <p:spPr bwMode="auto">
          <a:xfrm>
            <a:off x="5118101" y="4891406"/>
            <a:ext cx="1056217" cy="358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152958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30752" name="Rectangle 32"/>
          <p:cNvSpPr>
            <a:spLocks noChangeArrowheads="1"/>
          </p:cNvSpPr>
          <p:nvPr/>
        </p:nvSpPr>
        <p:spPr bwMode="auto">
          <a:xfrm>
            <a:off x="6174318" y="4891406"/>
            <a:ext cx="1534583" cy="358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152958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1*2</a:t>
            </a:r>
            <a:r>
              <a:rPr lang="zh-CN" altLang="en-US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＝</a:t>
            </a:r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30753" name="Text Box 35"/>
          <p:cNvSpPr txBox="1">
            <a:spLocks noChangeArrowheads="1"/>
          </p:cNvSpPr>
          <p:nvPr/>
        </p:nvSpPr>
        <p:spPr bwMode="auto">
          <a:xfrm>
            <a:off x="761965" y="5193030"/>
            <a:ext cx="3992069" cy="4308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  <a:buClrTx/>
              <a:buSzTx/>
              <a:buFontTx/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退栈1次并求fun(2)值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AutoShape 2"/>
          <p:cNvSpPr>
            <a:spLocks noChangeArrowheads="1"/>
          </p:cNvSpPr>
          <p:nvPr/>
        </p:nvSpPr>
        <p:spPr bwMode="auto">
          <a:xfrm>
            <a:off x="5888568" y="726759"/>
            <a:ext cx="192617" cy="287337"/>
          </a:xfrm>
          <a:prstGeom prst="downArrow">
            <a:avLst>
              <a:gd name="adj1" fmla="val 50000"/>
              <a:gd name="adj2" fmla="val 49725"/>
            </a:avLst>
          </a:prstGeom>
          <a:solidFill>
            <a:srgbClr val="006600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1747" name="Rectangle 3"/>
          <p:cNvSpPr>
            <a:spLocks noChangeArrowheads="1"/>
          </p:cNvSpPr>
          <p:nvPr/>
        </p:nvSpPr>
        <p:spPr bwMode="auto">
          <a:xfrm>
            <a:off x="4929717" y="1582421"/>
            <a:ext cx="1056216" cy="358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</a:p>
        </p:txBody>
      </p:sp>
      <p:sp>
        <p:nvSpPr>
          <p:cNvPr id="31748" name="Rectangle 4"/>
          <p:cNvSpPr>
            <a:spLocks noChangeArrowheads="1"/>
          </p:cNvSpPr>
          <p:nvPr/>
        </p:nvSpPr>
        <p:spPr bwMode="auto">
          <a:xfrm>
            <a:off x="5985933" y="1582421"/>
            <a:ext cx="1534584" cy="358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fun(3)*4</a:t>
            </a:r>
          </a:p>
        </p:txBody>
      </p:sp>
      <p:sp>
        <p:nvSpPr>
          <p:cNvPr id="31749" name="Rectangle 5"/>
          <p:cNvSpPr>
            <a:spLocks noChangeArrowheads="1"/>
          </p:cNvSpPr>
          <p:nvPr/>
        </p:nvSpPr>
        <p:spPr bwMode="auto">
          <a:xfrm>
            <a:off x="4929717" y="1942784"/>
            <a:ext cx="1056216" cy="358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</a:p>
        </p:txBody>
      </p:sp>
      <p:sp>
        <p:nvSpPr>
          <p:cNvPr id="31750" name="Rectangle 6"/>
          <p:cNvSpPr>
            <a:spLocks noChangeArrowheads="1"/>
          </p:cNvSpPr>
          <p:nvPr/>
        </p:nvSpPr>
        <p:spPr bwMode="auto">
          <a:xfrm>
            <a:off x="5985933" y="1942784"/>
            <a:ext cx="1534584" cy="358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fun(4)*5</a:t>
            </a:r>
          </a:p>
        </p:txBody>
      </p:sp>
      <p:sp>
        <p:nvSpPr>
          <p:cNvPr id="31751" name="Rectangle 7"/>
          <p:cNvSpPr>
            <a:spLocks noChangeArrowheads="1"/>
          </p:cNvSpPr>
          <p:nvPr/>
        </p:nvSpPr>
        <p:spPr bwMode="auto">
          <a:xfrm>
            <a:off x="4929717" y="1223646"/>
            <a:ext cx="1056216" cy="358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</a:p>
        </p:txBody>
      </p:sp>
      <p:sp>
        <p:nvSpPr>
          <p:cNvPr id="31752" name="Rectangle 8"/>
          <p:cNvSpPr>
            <a:spLocks noChangeArrowheads="1"/>
          </p:cNvSpPr>
          <p:nvPr/>
        </p:nvSpPr>
        <p:spPr bwMode="auto">
          <a:xfrm>
            <a:off x="5985933" y="1223646"/>
            <a:ext cx="1534584" cy="358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2*3=6</a:t>
            </a:r>
          </a:p>
        </p:txBody>
      </p:sp>
      <p:sp>
        <p:nvSpPr>
          <p:cNvPr id="31753" name="Text Box 11"/>
          <p:cNvSpPr txBox="1">
            <a:spLocks noChangeArrowheads="1"/>
          </p:cNvSpPr>
          <p:nvPr/>
        </p:nvSpPr>
        <p:spPr bwMode="auto">
          <a:xfrm>
            <a:off x="933417" y="1607804"/>
            <a:ext cx="3932771" cy="4308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  <a:buClrTx/>
              <a:buSzTx/>
              <a:buFontTx/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退栈1次并求fun(3)值</a:t>
            </a:r>
          </a:p>
        </p:txBody>
      </p:sp>
      <p:sp>
        <p:nvSpPr>
          <p:cNvPr id="31754" name="AutoShape 12"/>
          <p:cNvSpPr>
            <a:spLocks noChangeArrowheads="1"/>
          </p:cNvSpPr>
          <p:nvPr/>
        </p:nvSpPr>
        <p:spPr bwMode="auto">
          <a:xfrm>
            <a:off x="5888568" y="2526984"/>
            <a:ext cx="192617" cy="287337"/>
          </a:xfrm>
          <a:prstGeom prst="downArrow">
            <a:avLst>
              <a:gd name="adj1" fmla="val 50000"/>
              <a:gd name="adj2" fmla="val 49725"/>
            </a:avLst>
          </a:prstGeom>
          <a:solidFill>
            <a:srgbClr val="006600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1755" name="Rectangle 13"/>
          <p:cNvSpPr>
            <a:spLocks noChangeArrowheads="1"/>
          </p:cNvSpPr>
          <p:nvPr/>
        </p:nvSpPr>
        <p:spPr bwMode="auto">
          <a:xfrm>
            <a:off x="4929717" y="3030221"/>
            <a:ext cx="1056216" cy="358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</a:p>
        </p:txBody>
      </p:sp>
      <p:sp>
        <p:nvSpPr>
          <p:cNvPr id="31756" name="Rectangle 14"/>
          <p:cNvSpPr>
            <a:spLocks noChangeArrowheads="1"/>
          </p:cNvSpPr>
          <p:nvPr/>
        </p:nvSpPr>
        <p:spPr bwMode="auto">
          <a:xfrm>
            <a:off x="5985933" y="3030221"/>
            <a:ext cx="1534584" cy="358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6*4=24</a:t>
            </a:r>
          </a:p>
        </p:txBody>
      </p:sp>
      <p:sp>
        <p:nvSpPr>
          <p:cNvPr id="31757" name="Rectangle 15"/>
          <p:cNvSpPr>
            <a:spLocks noChangeArrowheads="1"/>
          </p:cNvSpPr>
          <p:nvPr/>
        </p:nvSpPr>
        <p:spPr bwMode="auto">
          <a:xfrm>
            <a:off x="4929717" y="3390584"/>
            <a:ext cx="1056216" cy="358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</a:p>
        </p:txBody>
      </p:sp>
      <p:sp>
        <p:nvSpPr>
          <p:cNvPr id="31758" name="Rectangle 16"/>
          <p:cNvSpPr>
            <a:spLocks noChangeArrowheads="1"/>
          </p:cNvSpPr>
          <p:nvPr/>
        </p:nvSpPr>
        <p:spPr bwMode="auto">
          <a:xfrm>
            <a:off x="5985933" y="3390584"/>
            <a:ext cx="1534584" cy="358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fun(4)*5</a:t>
            </a:r>
          </a:p>
        </p:txBody>
      </p:sp>
      <p:sp>
        <p:nvSpPr>
          <p:cNvPr id="31759" name="Text Box 19"/>
          <p:cNvSpPr txBox="1">
            <a:spLocks noChangeArrowheads="1"/>
          </p:cNvSpPr>
          <p:nvPr/>
        </p:nvSpPr>
        <p:spPr bwMode="auto">
          <a:xfrm>
            <a:off x="933418" y="3250878"/>
            <a:ext cx="3837520" cy="4308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退栈1次并求fun(4)值</a:t>
            </a:r>
          </a:p>
        </p:txBody>
      </p:sp>
      <p:sp>
        <p:nvSpPr>
          <p:cNvPr id="31760" name="AutoShape 20"/>
          <p:cNvSpPr>
            <a:spLocks noChangeArrowheads="1"/>
          </p:cNvSpPr>
          <p:nvPr/>
        </p:nvSpPr>
        <p:spPr bwMode="auto">
          <a:xfrm>
            <a:off x="5888568" y="3966845"/>
            <a:ext cx="192617" cy="287338"/>
          </a:xfrm>
          <a:prstGeom prst="downArrow">
            <a:avLst>
              <a:gd name="adj1" fmla="val 50000"/>
              <a:gd name="adj2" fmla="val 49725"/>
            </a:avLst>
          </a:prstGeom>
          <a:solidFill>
            <a:srgbClr val="006600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1761" name="Rectangle 23"/>
          <p:cNvSpPr>
            <a:spLocks noChangeArrowheads="1"/>
          </p:cNvSpPr>
          <p:nvPr/>
        </p:nvSpPr>
        <p:spPr bwMode="auto">
          <a:xfrm>
            <a:off x="4929717" y="4398646"/>
            <a:ext cx="1056216" cy="358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</a:p>
        </p:txBody>
      </p:sp>
      <p:sp>
        <p:nvSpPr>
          <p:cNvPr id="31762" name="Rectangle 24"/>
          <p:cNvSpPr>
            <a:spLocks noChangeArrowheads="1"/>
          </p:cNvSpPr>
          <p:nvPr/>
        </p:nvSpPr>
        <p:spPr bwMode="auto">
          <a:xfrm>
            <a:off x="5985933" y="4398646"/>
            <a:ext cx="1534584" cy="358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24*5=120</a:t>
            </a:r>
          </a:p>
        </p:txBody>
      </p:sp>
      <p:sp>
        <p:nvSpPr>
          <p:cNvPr id="31763" name="Text Box 25"/>
          <p:cNvSpPr txBox="1">
            <a:spLocks noChangeArrowheads="1"/>
          </p:cNvSpPr>
          <p:nvPr/>
        </p:nvSpPr>
        <p:spPr bwMode="auto">
          <a:xfrm>
            <a:off x="933418" y="4393886"/>
            <a:ext cx="3837520" cy="4308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Tx/>
              <a:buSzTx/>
              <a:buFontTx/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退栈1次并求fun(5)值</a:t>
            </a:r>
          </a:p>
        </p:txBody>
      </p:sp>
      <p:sp>
        <p:nvSpPr>
          <p:cNvPr id="31764" name="Text Box 26"/>
          <p:cNvSpPr txBox="1">
            <a:spLocks noChangeArrowheads="1"/>
          </p:cNvSpPr>
          <p:nvPr/>
        </p:nvSpPr>
        <p:spPr bwMode="auto">
          <a:xfrm>
            <a:off x="4638675" y="5407025"/>
            <a:ext cx="2881630" cy="4308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退栈1次并输出120</a:t>
            </a:r>
          </a:p>
        </p:txBody>
      </p:sp>
      <p:sp>
        <p:nvSpPr>
          <p:cNvPr id="31765" name="AutoShape 27"/>
          <p:cNvSpPr>
            <a:spLocks noChangeArrowheads="1"/>
          </p:cNvSpPr>
          <p:nvPr/>
        </p:nvSpPr>
        <p:spPr bwMode="auto">
          <a:xfrm>
            <a:off x="5888568" y="4973320"/>
            <a:ext cx="192617" cy="287338"/>
          </a:xfrm>
          <a:prstGeom prst="downArrow">
            <a:avLst>
              <a:gd name="adj1" fmla="val 50000"/>
              <a:gd name="adj2" fmla="val 49725"/>
            </a:avLst>
          </a:prstGeom>
          <a:solidFill>
            <a:srgbClr val="006600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952464" y="1428737"/>
            <a:ext cx="10001320" cy="4308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从以上过程可以得出：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9920" y="2114550"/>
            <a:ext cx="8056245" cy="248480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80000" tIns="180000" rIns="180000" bIns="180000" rtlCol="0">
            <a:spAutoFit/>
          </a:bodyPr>
          <a:lstStyle/>
          <a:p>
            <a:pPr indent="-457200">
              <a:lnSpc>
                <a:spcPct val="150000"/>
              </a:lnSpc>
              <a:spcBef>
                <a:spcPct val="50000"/>
              </a:spcBef>
              <a:buBlip>
                <a:blip r:embed="rId4"/>
              </a:buBlip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每递归调用一次，就需进栈一次，最多的进栈元素个数称为递归深度，当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越大，递归深度越深，开辟的栈空间也越大。</a:t>
            </a:r>
          </a:p>
          <a:p>
            <a:pPr indent="-457200">
              <a:lnSpc>
                <a:spcPct val="150000"/>
              </a:lnSpc>
              <a:spcBef>
                <a:spcPct val="50000"/>
              </a:spcBef>
              <a:buBlip>
                <a:blip r:embed="rId4"/>
              </a:buBlip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每当遇到递归出口或完成本次执行时，需退栈一次，并恢复参量值，当全部执行完毕时，栈应为空。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Box 2"/>
          <p:cNvSpPr txBox="1">
            <a:spLocks noChangeArrowheads="1"/>
          </p:cNvSpPr>
          <p:nvPr/>
        </p:nvSpPr>
        <p:spPr bwMode="auto">
          <a:xfrm>
            <a:off x="740406" y="1140153"/>
            <a:ext cx="7569200" cy="14773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00000"/>
              </a:lnSpc>
              <a:spcBef>
                <a:spcPts val="0"/>
              </a:spcBef>
            </a:pP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　</a:t>
            </a:r>
            <a:r>
              <a:rPr lang="zh-CN" altLang="en-US" sz="2400" dirty="0">
                <a:solidFill>
                  <a:srgbClr val="0000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　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归纳起来，递归调用的实现是分两步进行的，第一步是分解过程，即用递归体将“大问题”分解成“小问题”，直到递归出口为止，然后进行第二步的求值过程，即已知“小问题”，计算“大问题”。前面的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fun(5)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求解过程如下所示。</a:t>
            </a: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2344222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02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1957113"/>
              </p:ext>
            </p:extLst>
          </p:nvPr>
        </p:nvGraphicFramePr>
        <p:xfrm>
          <a:off x="1191233" y="2862317"/>
          <a:ext cx="6667547" cy="3019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片" r:id="rId4" imgW="3313430" imgH="1999615" progId="Word.Picture.8">
                  <p:embed/>
                </p:oleObj>
              </mc:Choice>
              <mc:Fallback>
                <p:oleObj name="图片" r:id="rId4" imgW="3313430" imgH="1999615" progId="Word.Picture.8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1233" y="2862317"/>
                        <a:ext cx="6667547" cy="301907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579343" y="1127332"/>
            <a:ext cx="6997709" cy="1857375"/>
          </a:xfrm>
          <a:prstGeom prst="rect">
            <a:avLst/>
          </a:prstGeom>
          <a:blipFill>
            <a:blip r:embed="rId3" cstate="print"/>
            <a:tile tx="0" ty="0" sx="100000" sy="100000" flip="none" algn="tl"/>
          </a:blipFill>
          <a:ln w="9525">
            <a:noFill/>
            <a:miter lim="800000"/>
          </a:ln>
        </p:spPr>
        <p:txBody>
          <a:bodyPr wrap="square" lIns="180000" tIns="108000" bIns="108000">
            <a:spAutoFit/>
          </a:bodyPr>
          <a:lstStyle/>
          <a:p>
            <a:pPr>
              <a:lnSpc>
                <a:spcPts val="32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【</a:t>
            </a:r>
            <a:r>
              <a:rPr lang="zh-CN" altLang="en-US" sz="2400" dirty="0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例</a:t>
            </a:r>
            <a:r>
              <a:rPr lang="en-US" altLang="zh-CN" sz="2400" dirty="0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2.3】 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Fibonacci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数列定义为：</a:t>
            </a:r>
          </a:p>
          <a:p>
            <a:pPr>
              <a:lnSpc>
                <a:spcPts val="32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Fib(n)=1			//n=1</a:t>
            </a:r>
          </a:p>
          <a:p>
            <a:pPr>
              <a:lnSpc>
                <a:spcPts val="32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Fib(n)=1			//n=2</a:t>
            </a:r>
          </a:p>
          <a:p>
            <a:pPr>
              <a:lnSpc>
                <a:spcPts val="32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Fib(n)=Fib(n-1)+Fib(n-2)	//n&gt;2</a:t>
            </a: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676708" y="3101706"/>
            <a:ext cx="5376333" cy="4308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对应的递归算法如下：</a:t>
            </a:r>
          </a:p>
        </p:txBody>
      </p:sp>
      <p:sp>
        <p:nvSpPr>
          <p:cNvPr id="198660" name="Text Box 4"/>
          <p:cNvSpPr txBox="1">
            <a:spLocks noChangeArrowheads="1"/>
          </p:cNvSpPr>
          <p:nvPr/>
        </p:nvSpPr>
        <p:spPr bwMode="auto">
          <a:xfrm>
            <a:off x="581459" y="3570038"/>
            <a:ext cx="6900343" cy="231838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  <a:miter lim="800000"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 lIns="180000" tIns="144000" bIns="144000">
            <a:spAutoFit/>
          </a:bodyPr>
          <a:lstStyle/>
          <a:p>
            <a:pPr>
              <a:defRPr/>
            </a:pPr>
            <a:r>
              <a:rPr lang="en-US" altLang="zh-CN" sz="220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int</a:t>
            </a:r>
            <a:r>
              <a:rPr lang="en-US" altLang="zh-CN" sz="2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 </a:t>
            </a:r>
            <a:r>
              <a:rPr lang="en-US" altLang="zh-CN" sz="2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Fib</a:t>
            </a:r>
            <a:r>
              <a:rPr lang="en-US" altLang="zh-CN" sz="2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(</a:t>
            </a:r>
            <a:r>
              <a:rPr lang="en-US" altLang="zh-CN" sz="220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int</a:t>
            </a:r>
            <a:r>
              <a:rPr lang="en-US" altLang="zh-CN" sz="2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 n)</a:t>
            </a:r>
          </a:p>
          <a:p>
            <a:pPr>
              <a:defRPr/>
            </a:pPr>
            <a:r>
              <a:rPr lang="en-US" altLang="zh-CN" sz="2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{</a:t>
            </a:r>
            <a:r>
              <a:rPr lang="zh-CN" altLang="en-US" sz="2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　 </a:t>
            </a:r>
            <a:r>
              <a:rPr lang="en-US" altLang="zh-CN" sz="2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if (n==1 || n==2)</a:t>
            </a:r>
          </a:p>
          <a:p>
            <a:pPr>
              <a:defRPr/>
            </a:pPr>
            <a:r>
              <a:rPr lang="zh-CN" altLang="en-US" sz="2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　　　　</a:t>
            </a:r>
            <a:r>
              <a:rPr lang="en-US" altLang="zh-CN" sz="2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return 1;</a:t>
            </a:r>
          </a:p>
          <a:p>
            <a:pPr>
              <a:defRPr/>
            </a:pPr>
            <a:r>
              <a:rPr lang="zh-CN" altLang="en-US" sz="2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　　</a:t>
            </a:r>
            <a:r>
              <a:rPr lang="en-US" altLang="zh-CN" sz="2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else</a:t>
            </a:r>
          </a:p>
          <a:p>
            <a:pPr>
              <a:defRPr/>
            </a:pPr>
            <a:r>
              <a:rPr lang="en-US" altLang="zh-CN" sz="2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	return </a:t>
            </a:r>
            <a:r>
              <a:rPr lang="en-US" altLang="zh-CN" sz="2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Fib</a:t>
            </a:r>
            <a:r>
              <a:rPr lang="en-US" altLang="zh-CN" sz="2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(n-1)+</a:t>
            </a:r>
            <a:r>
              <a:rPr lang="en-US" altLang="zh-CN" sz="2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Fib</a:t>
            </a:r>
            <a:r>
              <a:rPr lang="en-US" altLang="zh-CN" sz="2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(n-2);</a:t>
            </a:r>
          </a:p>
          <a:p>
            <a:pPr>
              <a:defRPr/>
            </a:pPr>
            <a:r>
              <a:rPr lang="en-US" altLang="zh-CN" sz="2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33797" name="Text Box 5"/>
          <p:cNvSpPr txBox="1">
            <a:spLocks noChangeArrowheads="1"/>
          </p:cNvSpPr>
          <p:nvPr/>
        </p:nvSpPr>
        <p:spPr bwMode="auto">
          <a:xfrm>
            <a:off x="517974" y="6042867"/>
            <a:ext cx="10560051" cy="4308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画出求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Fib(5)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的递归树以及递归工作栈的变化和求解过程。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 Box 2"/>
          <p:cNvSpPr txBox="1">
            <a:spLocks noChangeArrowheads="1"/>
          </p:cNvSpPr>
          <p:nvPr/>
        </p:nvSpPr>
        <p:spPr bwMode="auto">
          <a:xfrm>
            <a:off x="810688" y="642564"/>
            <a:ext cx="5190061" cy="4308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解：求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Fib(5)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的递归树如下：</a:t>
            </a:r>
          </a:p>
        </p:txBody>
      </p:sp>
      <p:sp>
        <p:nvSpPr>
          <p:cNvPr id="2053" name="Text Box 5"/>
          <p:cNvSpPr txBox="1">
            <a:spLocks noChangeArrowheads="1"/>
          </p:cNvSpPr>
          <p:nvPr/>
        </p:nvSpPr>
        <p:spPr bwMode="auto">
          <a:xfrm>
            <a:off x="571500" y="5145405"/>
            <a:ext cx="8523605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00000"/>
              </a:lnSpc>
              <a:spcBef>
                <a:spcPts val="0"/>
              </a:spcBef>
            </a:pP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　　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从上面求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Fib(5)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的过程看到，对于复杂的递归调用，分解和求值可能交替进行、循环反复，直到求出最终值。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4594860" y="1639570"/>
            <a:ext cx="1236980" cy="499745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b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Fib(5</a:t>
            </a:r>
            <a:r>
              <a:rPr lang="zh-CN" altLang="en-US" sz="1800" b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）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2667000" y="2376805"/>
            <a:ext cx="1333500" cy="476885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b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Fib(4</a:t>
            </a:r>
            <a:r>
              <a:rPr lang="zh-CN" altLang="en-US" sz="1800" b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）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1428750" y="3286760"/>
            <a:ext cx="1365250" cy="495935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b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Fib(3</a:t>
            </a:r>
            <a:r>
              <a:rPr lang="zh-CN" altLang="en-US" sz="1800" b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）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3524250" y="3318510"/>
            <a:ext cx="1253490" cy="464185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b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Fib(2</a:t>
            </a:r>
            <a:r>
              <a:rPr lang="zh-CN" altLang="en-US" sz="1800" b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）</a:t>
            </a:r>
          </a:p>
        </p:txBody>
      </p:sp>
      <p:sp>
        <p:nvSpPr>
          <p:cNvPr id="10" name="圆角矩形 9"/>
          <p:cNvSpPr/>
          <p:nvPr/>
        </p:nvSpPr>
        <p:spPr>
          <a:xfrm>
            <a:off x="481172" y="4211006"/>
            <a:ext cx="1328552" cy="500066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b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Fib(2</a:t>
            </a:r>
            <a:r>
              <a:rPr lang="zh-CN" altLang="en-US" sz="1800" b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）</a:t>
            </a:r>
          </a:p>
        </p:txBody>
      </p:sp>
      <p:sp>
        <p:nvSpPr>
          <p:cNvPr id="11" name="圆角矩形 10"/>
          <p:cNvSpPr/>
          <p:nvPr/>
        </p:nvSpPr>
        <p:spPr>
          <a:xfrm>
            <a:off x="2481580" y="4213225"/>
            <a:ext cx="1229995" cy="498475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b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Fib(1</a:t>
            </a:r>
            <a:r>
              <a:rPr lang="zh-CN" altLang="en-US" sz="1800" b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）</a:t>
            </a:r>
          </a:p>
        </p:txBody>
      </p:sp>
      <p:sp>
        <p:nvSpPr>
          <p:cNvPr id="12" name="圆角矩形 11"/>
          <p:cNvSpPr/>
          <p:nvPr/>
        </p:nvSpPr>
        <p:spPr>
          <a:xfrm>
            <a:off x="6736080" y="2353310"/>
            <a:ext cx="1148080" cy="50038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b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Fib(3</a:t>
            </a:r>
            <a:r>
              <a:rPr lang="zh-CN" altLang="en-US" sz="1800" b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）</a:t>
            </a:r>
          </a:p>
        </p:txBody>
      </p:sp>
      <p:sp>
        <p:nvSpPr>
          <p:cNvPr id="13" name="圆角矩形 12"/>
          <p:cNvSpPr/>
          <p:nvPr/>
        </p:nvSpPr>
        <p:spPr>
          <a:xfrm>
            <a:off x="5693410" y="3299460"/>
            <a:ext cx="1211580" cy="483235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b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Fib(2</a:t>
            </a:r>
            <a:r>
              <a:rPr lang="zh-CN" altLang="en-US" sz="1800" b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）</a:t>
            </a:r>
          </a:p>
        </p:txBody>
      </p:sp>
      <p:sp>
        <p:nvSpPr>
          <p:cNvPr id="14" name="圆角矩形 13"/>
          <p:cNvSpPr/>
          <p:nvPr/>
        </p:nvSpPr>
        <p:spPr>
          <a:xfrm>
            <a:off x="7701280" y="3296920"/>
            <a:ext cx="1104900" cy="501015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b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Fib(1</a:t>
            </a:r>
            <a:r>
              <a:rPr lang="zh-CN" altLang="en-US" sz="1800" b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）</a:t>
            </a:r>
          </a:p>
        </p:txBody>
      </p:sp>
      <p:cxnSp>
        <p:nvCxnSpPr>
          <p:cNvPr id="16" name="直接箭头连接符 15"/>
          <p:cNvCxnSpPr/>
          <p:nvPr/>
        </p:nvCxnSpPr>
        <p:spPr>
          <a:xfrm rot="10800000" flipV="1">
            <a:off x="4023352" y="2067866"/>
            <a:ext cx="571504" cy="285752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>
            <a:endCxn id="8" idx="0"/>
          </p:cNvCxnSpPr>
          <p:nvPr/>
        </p:nvCxnSpPr>
        <p:spPr>
          <a:xfrm rot="5400000">
            <a:off x="2182790" y="2786691"/>
            <a:ext cx="428628" cy="571504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 rot="5400000">
            <a:off x="1214407" y="3710940"/>
            <a:ext cx="428628" cy="571504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>
            <a:off x="2542581" y="3801110"/>
            <a:ext cx="407670" cy="417830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endCxn id="9" idx="0"/>
          </p:cNvCxnSpPr>
          <p:nvPr/>
        </p:nvCxnSpPr>
        <p:spPr>
          <a:xfrm rot="16200000" flipH="1">
            <a:off x="3746172" y="2913692"/>
            <a:ext cx="428628" cy="381003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 rot="5400000">
            <a:off x="6521779" y="2782246"/>
            <a:ext cx="428628" cy="571504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 rot="16200000" flipH="1">
            <a:off x="7579988" y="2867050"/>
            <a:ext cx="428628" cy="431107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>
            <a:off x="5878837" y="2067866"/>
            <a:ext cx="857256" cy="357190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047719" y="4723599"/>
            <a:ext cx="28575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200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zh-CN" altLang="en-US" sz="20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019537" y="4723599"/>
            <a:ext cx="28575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200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zh-CN" altLang="en-US" sz="20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023360" y="3826510"/>
            <a:ext cx="285750" cy="2641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altLang="zh-CN" sz="200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zh-CN" altLang="en-US" sz="20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282763" y="3799837"/>
            <a:ext cx="28575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200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zh-CN" altLang="en-US" sz="20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124407" y="3836667"/>
            <a:ext cx="28575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200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zh-CN" altLang="en-US" sz="20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333735" y="1999456"/>
            <a:ext cx="28575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2000"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endParaRPr lang="zh-CN" altLang="en-US" sz="20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307597" y="1999456"/>
            <a:ext cx="28575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200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endParaRPr lang="zh-CN" altLang="en-US" sz="20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809724" y="2925123"/>
            <a:ext cx="28575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200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endParaRPr lang="zh-CN" altLang="en-US" sz="20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699765" y="1282049"/>
            <a:ext cx="28575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2000"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endParaRPr lang="zh-CN" altLang="en-US" sz="20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33" name="直接箭头连接符 32"/>
          <p:cNvCxnSpPr/>
          <p:nvPr/>
        </p:nvCxnSpPr>
        <p:spPr>
          <a:xfrm rot="5400000" flipH="1" flipV="1">
            <a:off x="1404909" y="3710940"/>
            <a:ext cx="428628" cy="571504"/>
          </a:xfrm>
          <a:prstGeom prst="straightConnector1">
            <a:avLst/>
          </a:prstGeom>
          <a:ln w="19050">
            <a:solidFill>
              <a:schemeClr val="accent6"/>
            </a:solidFill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/>
        </p:nvCxnSpPr>
        <p:spPr>
          <a:xfrm rot="16200000" flipV="1">
            <a:off x="2761755" y="3722846"/>
            <a:ext cx="500066" cy="476253"/>
          </a:xfrm>
          <a:prstGeom prst="straightConnector1">
            <a:avLst/>
          </a:prstGeom>
          <a:ln w="19050">
            <a:solidFill>
              <a:schemeClr val="accent6"/>
            </a:solidFill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/>
          <p:nvPr/>
        </p:nvCxnSpPr>
        <p:spPr>
          <a:xfrm rot="5400000" flipH="1" flipV="1">
            <a:off x="2547917" y="2782246"/>
            <a:ext cx="428628" cy="571504"/>
          </a:xfrm>
          <a:prstGeom prst="straightConnector1">
            <a:avLst/>
          </a:prstGeom>
          <a:ln w="19050">
            <a:solidFill>
              <a:schemeClr val="accent6"/>
            </a:solidFill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/>
        </p:nvCxnSpPr>
        <p:spPr>
          <a:xfrm rot="16200000" flipV="1">
            <a:off x="3920530" y="2851829"/>
            <a:ext cx="464724" cy="381003"/>
          </a:xfrm>
          <a:prstGeom prst="straightConnector1">
            <a:avLst/>
          </a:prstGeom>
          <a:ln w="19050">
            <a:solidFill>
              <a:schemeClr val="accent6"/>
            </a:solidFill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/>
          <p:nvPr/>
        </p:nvCxnSpPr>
        <p:spPr>
          <a:xfrm flipV="1">
            <a:off x="4023352" y="2127650"/>
            <a:ext cx="698840" cy="368844"/>
          </a:xfrm>
          <a:prstGeom prst="straightConnector1">
            <a:avLst/>
          </a:prstGeom>
          <a:ln w="19050">
            <a:solidFill>
              <a:schemeClr val="accent6"/>
            </a:solidFill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1" name="直接箭头连接符 60"/>
          <p:cNvCxnSpPr/>
          <p:nvPr/>
        </p:nvCxnSpPr>
        <p:spPr>
          <a:xfrm rot="5400000" flipH="1" flipV="1">
            <a:off x="6712281" y="2782246"/>
            <a:ext cx="428628" cy="571504"/>
          </a:xfrm>
          <a:prstGeom prst="straightConnector1">
            <a:avLst/>
          </a:prstGeom>
          <a:ln w="19050">
            <a:solidFill>
              <a:schemeClr val="accent6"/>
            </a:solidFill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/>
          <p:nvPr/>
        </p:nvCxnSpPr>
        <p:spPr>
          <a:xfrm rot="16200000" flipV="1">
            <a:off x="7866219" y="2813428"/>
            <a:ext cx="428628" cy="476253"/>
          </a:xfrm>
          <a:prstGeom prst="straightConnector1">
            <a:avLst/>
          </a:prstGeom>
          <a:ln w="19050">
            <a:solidFill>
              <a:schemeClr val="accent6"/>
            </a:solidFill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/>
          <p:nvPr/>
        </p:nvCxnSpPr>
        <p:spPr>
          <a:xfrm rot="10800000">
            <a:off x="5958046" y="1961466"/>
            <a:ext cx="968549" cy="392153"/>
          </a:xfrm>
          <a:prstGeom prst="straightConnector1">
            <a:avLst/>
          </a:prstGeom>
          <a:ln w="19050">
            <a:solidFill>
              <a:schemeClr val="accent6"/>
            </a:solidFill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73" name="直接箭头连接符 72"/>
          <p:cNvCxnSpPr/>
          <p:nvPr/>
        </p:nvCxnSpPr>
        <p:spPr>
          <a:xfrm rot="5400000" flipH="1" flipV="1">
            <a:off x="5186842" y="1388941"/>
            <a:ext cx="500066" cy="2117"/>
          </a:xfrm>
          <a:prstGeom prst="straightConnector1">
            <a:avLst/>
          </a:prstGeom>
          <a:ln w="19050">
            <a:solidFill>
              <a:schemeClr val="accent6"/>
            </a:solidFill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75" name="直接箭头连接符 74"/>
          <p:cNvCxnSpPr/>
          <p:nvPr/>
        </p:nvCxnSpPr>
        <p:spPr>
          <a:xfrm rot="5400000">
            <a:off x="4915012" y="1422180"/>
            <a:ext cx="432000" cy="2117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982147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453985" y="590787"/>
            <a:ext cx="8096307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执行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Fib(5)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时递归工作栈的变化和求解过程：</a:t>
            </a:r>
          </a:p>
        </p:txBody>
      </p:sp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5908" y="1166813"/>
            <a:ext cx="8252460" cy="522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Text Box 3"/>
          <p:cNvSpPr txBox="1">
            <a:spLocks noChangeArrowheads="1"/>
          </p:cNvSpPr>
          <p:nvPr/>
        </p:nvSpPr>
        <p:spPr bwMode="auto">
          <a:xfrm>
            <a:off x="583736" y="1202571"/>
            <a:ext cx="3999051" cy="521970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pt-BR" altLang="zh-CN" sz="2800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2.2.1 </a:t>
            </a:r>
            <a:r>
              <a:rPr lang="zh-CN" altLang="pt-BR" sz="2800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递归与数学归纳法</a:t>
            </a:r>
            <a:endParaRPr lang="zh-CN" altLang="en-US" sz="2800" dirty="0">
              <a:solidFill>
                <a:srgbClr val="FF0000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52228" name="Rectangle 4"/>
          <p:cNvSpPr>
            <a:spLocks noChangeArrowheads="1"/>
          </p:cNvSpPr>
          <p:nvPr/>
        </p:nvSpPr>
        <p:spPr bwMode="auto">
          <a:xfrm>
            <a:off x="192618" y="1539875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endParaRPr lang="zh-CN" altLang="pt-BR" b="0"/>
          </a:p>
        </p:txBody>
      </p:sp>
      <p:sp>
        <p:nvSpPr>
          <p:cNvPr id="52229" name="Text Box 5"/>
          <p:cNvSpPr txBox="1">
            <a:spLocks noChangeArrowheads="1"/>
          </p:cNvSpPr>
          <p:nvPr/>
        </p:nvSpPr>
        <p:spPr bwMode="auto">
          <a:xfrm>
            <a:off x="583736" y="2066959"/>
            <a:ext cx="8228330" cy="204434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第一数学归纳法原理：若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{P(1)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P(2)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P(3)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P(4)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…}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是命题序列且满足以下两个性质，则所有命题均为真：</a:t>
            </a:r>
          </a:p>
          <a:p>
            <a:pPr>
              <a:lnSpc>
                <a:spcPct val="15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（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）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P(1)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为真。</a:t>
            </a:r>
          </a:p>
          <a:p>
            <a:pPr>
              <a:lnSpc>
                <a:spcPct val="15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（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2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）任何命题均可以从它的前一个命题推导得出。</a:t>
            </a:r>
          </a:p>
        </p:txBody>
      </p:sp>
      <p:sp>
        <p:nvSpPr>
          <p:cNvPr id="2" name="基础扎实 / Strong Preparation">
            <a:extLst>
              <a:ext uri="{FF2B5EF4-FFF2-40B4-BE49-F238E27FC236}">
                <a16:creationId xmlns:a16="http://schemas.microsoft.com/office/drawing/2014/main" id="{962C0DDC-4361-77B0-C2A5-2B60D408B451}"/>
              </a:ext>
            </a:extLst>
          </p:cNvPr>
          <p:cNvSpPr txBox="1"/>
          <p:nvPr/>
        </p:nvSpPr>
        <p:spPr>
          <a:xfrm>
            <a:off x="2603627" y="367980"/>
            <a:ext cx="5870237" cy="561660"/>
          </a:xfrm>
          <a:prstGeom prst="rect">
            <a:avLst/>
          </a:prstGeom>
          <a:noFill/>
          <a:ln>
            <a:noFill/>
          </a:ln>
        </p:spPr>
        <p:txBody>
          <a:bodyPr wrap="square" lIns="68549" tIns="34274" rIns="68549" bIns="34274" rtlCol="0">
            <a:spAutoFit/>
          </a:bodyPr>
          <a:lstStyle/>
          <a:p>
            <a:pPr algn="ctr" defTabSz="950595">
              <a:buClr>
                <a:prstClr val="white"/>
              </a:buClr>
              <a:buSzTx/>
              <a:buFontTx/>
              <a:defRPr/>
            </a:pPr>
            <a:r>
              <a:rPr lang="zh-CN" altLang="en-US" sz="3200" b="1" spc="50" dirty="0">
                <a:ln w="11430"/>
                <a:solidFill>
                  <a:srgbClr val="006600"/>
                </a:solidFill>
                <a:latin typeface="+mn-ea"/>
                <a:sym typeface="Arial" panose="020B0604020202020204" pitchFamily="34" charset="0"/>
              </a:rPr>
              <a:t>2.</a:t>
            </a:r>
            <a:r>
              <a:rPr lang="en-US" altLang="zh-CN" sz="3200" b="1" spc="50" dirty="0">
                <a:ln w="11430"/>
                <a:solidFill>
                  <a:srgbClr val="006600"/>
                </a:solidFill>
                <a:latin typeface="+mn-ea"/>
                <a:sym typeface="Arial" panose="020B0604020202020204" pitchFamily="34" charset="0"/>
              </a:rPr>
              <a:t>2</a:t>
            </a:r>
            <a:r>
              <a:rPr lang="zh-CN" altLang="en-US" sz="3200" b="1" spc="50" dirty="0">
                <a:ln w="11430"/>
                <a:solidFill>
                  <a:srgbClr val="006600"/>
                </a:solidFill>
                <a:latin typeface="+mn-ea"/>
                <a:sym typeface="Arial" panose="020B0604020202020204" pitchFamily="34" charset="0"/>
              </a:rPr>
              <a:t> 递归算法设计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9" name="Text Box 2"/>
          <p:cNvSpPr txBox="1">
            <a:spLocks noChangeArrowheads="1"/>
          </p:cNvSpPr>
          <p:nvPr/>
        </p:nvSpPr>
        <p:spPr bwMode="auto">
          <a:xfrm>
            <a:off x="462485" y="1338895"/>
            <a:ext cx="8416290" cy="407566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例如，采用第一数学归纳法证明下式：</a:t>
            </a:r>
          </a:p>
          <a:p>
            <a:pPr>
              <a:lnSpc>
                <a:spcPct val="150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1+2+…+n=</a:t>
            </a:r>
          </a:p>
          <a:p>
            <a:pPr>
              <a:lnSpc>
                <a:spcPct val="15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证明：</a:t>
            </a:r>
          </a:p>
          <a:p>
            <a:pPr>
              <a:lnSpc>
                <a:spcPct val="15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当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n=1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时，左式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=1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，右式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=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　　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=1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，左右两式相等，</a:t>
            </a:r>
          </a:p>
          <a:p>
            <a:pPr>
              <a:lnSpc>
                <a:spcPct val="15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等式成立。</a:t>
            </a:r>
          </a:p>
          <a:p>
            <a:pPr>
              <a:lnSpc>
                <a:spcPct val="15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假设当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n=k-1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时等式成立，有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1+2+…+(k-1)= </a:t>
            </a:r>
          </a:p>
          <a:p>
            <a:pPr>
              <a:lnSpc>
                <a:spcPct val="15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当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n=k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时，左式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=1+2+…+k=1+2+…+(k-1)+k=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　　　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+k=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　</a:t>
            </a:r>
          </a:p>
          <a:p>
            <a:pPr>
              <a:lnSpc>
                <a:spcPct val="15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等式成立。即证。</a:t>
            </a:r>
          </a:p>
        </p:txBody>
      </p:sp>
      <p:sp>
        <p:nvSpPr>
          <p:cNvPr id="8200" name="Rectangle 4"/>
          <p:cNvSpPr>
            <a:spLocks noChangeArrowheads="1"/>
          </p:cNvSpPr>
          <p:nvPr/>
        </p:nvSpPr>
        <p:spPr bwMode="auto">
          <a:xfrm>
            <a:off x="0" y="2530912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819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827778"/>
              </p:ext>
            </p:extLst>
          </p:nvPr>
        </p:nvGraphicFramePr>
        <p:xfrm>
          <a:off x="1862894" y="1875492"/>
          <a:ext cx="1038225" cy="584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19100" imgH="317500" progId="Equation.3">
                  <p:embed/>
                </p:oleObj>
              </mc:Choice>
              <mc:Fallback>
                <p:oleObj name="公式" r:id="rId4" imgW="419100" imgH="317500" progId="Equation.3">
                  <p:embed/>
                  <p:pic>
                    <p:nvPicPr>
                      <p:cNvPr id="0" name="图片 20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2894" y="1875492"/>
                        <a:ext cx="1038225" cy="584835"/>
                      </a:xfrm>
                      <a:prstGeom prst="rect">
                        <a:avLst/>
                      </a:prstGeom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1" name="Rectangle 6"/>
          <p:cNvSpPr>
            <a:spLocks noChangeArrowheads="1"/>
          </p:cNvSpPr>
          <p:nvPr/>
        </p:nvSpPr>
        <p:spPr bwMode="auto">
          <a:xfrm>
            <a:off x="0" y="2530912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819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6713595"/>
              </p:ext>
            </p:extLst>
          </p:nvPr>
        </p:nvGraphicFramePr>
        <p:xfrm>
          <a:off x="3714942" y="2847975"/>
          <a:ext cx="735013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66065" imgH="316865" progId="Equation.3">
                  <p:embed/>
                </p:oleObj>
              </mc:Choice>
              <mc:Fallback>
                <p:oleObj name="公式" r:id="rId6" imgW="266065" imgH="316865" progId="Equation.3">
                  <p:embed/>
                  <p:pic>
                    <p:nvPicPr>
                      <p:cNvPr id="0" name="图片 20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4942" y="2847975"/>
                        <a:ext cx="735013" cy="647700"/>
                      </a:xfrm>
                      <a:prstGeom prst="rect">
                        <a:avLst/>
                      </a:prstGeom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2" name="Rectangle 8"/>
          <p:cNvSpPr>
            <a:spLocks noChangeArrowheads="1"/>
          </p:cNvSpPr>
          <p:nvPr/>
        </p:nvSpPr>
        <p:spPr bwMode="auto">
          <a:xfrm>
            <a:off x="0" y="2530912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819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0841020"/>
              </p:ext>
            </p:extLst>
          </p:nvPr>
        </p:nvGraphicFramePr>
        <p:xfrm>
          <a:off x="5979270" y="3795784"/>
          <a:ext cx="960967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19100" imgH="317500" progId="Equation.3">
                  <p:embed/>
                </p:oleObj>
              </mc:Choice>
              <mc:Fallback>
                <p:oleObj name="公式" r:id="rId8" imgW="419100" imgH="317500" progId="Equation.3">
                  <p:embed/>
                  <p:pic>
                    <p:nvPicPr>
                      <p:cNvPr id="0" name="图片 20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9270" y="3795784"/>
                        <a:ext cx="960967" cy="541338"/>
                      </a:xfrm>
                      <a:prstGeom prst="rect">
                        <a:avLst/>
                      </a:prstGeom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8115614"/>
              </p:ext>
            </p:extLst>
          </p:nvPr>
        </p:nvGraphicFramePr>
        <p:xfrm>
          <a:off x="5979271" y="4394816"/>
          <a:ext cx="960967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419100" imgH="317500" progId="Equation.3">
                  <p:embed/>
                </p:oleObj>
              </mc:Choice>
              <mc:Fallback>
                <p:oleObj name="公式" r:id="rId10" imgW="419100" imgH="317500" progId="Equation.3">
                  <p:embed/>
                  <p:pic>
                    <p:nvPicPr>
                      <p:cNvPr id="0" name="图片 20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9271" y="4394816"/>
                        <a:ext cx="960967" cy="541337"/>
                      </a:xfrm>
                      <a:prstGeom prst="rect">
                        <a:avLst/>
                      </a:prstGeom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3" name="Rectangle 11"/>
          <p:cNvSpPr>
            <a:spLocks noChangeArrowheads="1"/>
          </p:cNvSpPr>
          <p:nvPr/>
        </p:nvSpPr>
        <p:spPr bwMode="auto">
          <a:xfrm>
            <a:off x="0" y="2530912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819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4487028"/>
              </p:ext>
            </p:extLst>
          </p:nvPr>
        </p:nvGraphicFramePr>
        <p:xfrm>
          <a:off x="7590002" y="4394816"/>
          <a:ext cx="960755" cy="541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419100" imgH="317500" progId="Equation.3">
                  <p:embed/>
                </p:oleObj>
              </mc:Choice>
              <mc:Fallback>
                <p:oleObj name="公式" r:id="rId11" imgW="419100" imgH="317500" progId="Equation.3">
                  <p:embed/>
                  <p:pic>
                    <p:nvPicPr>
                      <p:cNvPr id="0" name="图片 20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0002" y="4394816"/>
                        <a:ext cx="960755" cy="541655"/>
                      </a:xfrm>
                      <a:prstGeom prst="rect">
                        <a:avLst/>
                      </a:prstGeom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/>
          <p:cNvSpPr txBox="1">
            <a:spLocks noChangeArrowheads="1"/>
          </p:cNvSpPr>
          <p:nvPr/>
        </p:nvSpPr>
        <p:spPr bwMode="auto">
          <a:xfrm>
            <a:off x="571500" y="1356995"/>
            <a:ext cx="8321675" cy="356783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第二数学归纳法原理：若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{P(1)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P(2)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P(3)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P(4)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…}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是满足以下两个性质的命题序列，则对于其他自然数，该命题序列均为真：</a:t>
            </a:r>
          </a:p>
          <a:p>
            <a:pPr>
              <a:lnSpc>
                <a:spcPct val="15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（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）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P(1)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为真。</a:t>
            </a:r>
          </a:p>
          <a:p>
            <a:pPr>
              <a:lnSpc>
                <a:spcPct val="15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（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2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）任何命题均可以从它的前面所有命题推导得出。</a:t>
            </a:r>
          </a:p>
          <a:p>
            <a:pPr>
              <a:lnSpc>
                <a:spcPct val="15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归纳步骤（条件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2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）的意思是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P(n)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可以从前面所有命题假设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{P(1)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P(2)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P(3)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…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P(n-1)}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推导得出。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2"/>
          <p:cNvSpPr txBox="1">
            <a:spLocks noChangeArrowheads="1"/>
          </p:cNvSpPr>
          <p:nvPr/>
        </p:nvSpPr>
        <p:spPr bwMode="auto">
          <a:xfrm>
            <a:off x="596921" y="1244958"/>
            <a:ext cx="7999095" cy="107484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　　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例如，采用第二数学归纳法证明，任何含有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（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n≥0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）个不同结点的二叉树，都可由它的中序序列和先序序列唯一地确定。</a:t>
            </a:r>
          </a:p>
        </p:txBody>
      </p:sp>
      <p:sp>
        <p:nvSpPr>
          <p:cNvPr id="54275" name="Text Box 3"/>
          <p:cNvSpPr txBox="1">
            <a:spLocks noChangeArrowheads="1"/>
          </p:cNvSpPr>
          <p:nvPr/>
        </p:nvSpPr>
        <p:spPr bwMode="auto">
          <a:xfrm>
            <a:off x="535940" y="3009265"/>
            <a:ext cx="8305800" cy="153651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证明：当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n=0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时，二叉树为空，结论正确。</a:t>
            </a:r>
          </a:p>
          <a:p>
            <a:pPr>
              <a:lnSpc>
                <a:spcPct val="15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　　假设结点数小于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的任何二叉树（所有结点值不相同），都可以由其先序序列和中序序列唯一地确定。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0" y="2758559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221" name="Text Box 5"/>
          <p:cNvSpPr txBox="1">
            <a:spLocks noChangeArrowheads="1"/>
          </p:cNvSpPr>
          <p:nvPr/>
        </p:nvSpPr>
        <p:spPr bwMode="auto">
          <a:xfrm>
            <a:off x="381000" y="1186180"/>
            <a:ext cx="8500745" cy="310617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　　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根据归纳假设，由于子先序序列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a1…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ak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和子中序序列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b0b1…bk-1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可以唯一地确定根结点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a0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的左子树，而子先序序列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ak+1…an-1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和子中序序列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bk+1…bn-1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可以唯一地确定根结点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a0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的右子树。</a:t>
            </a:r>
          </a:p>
          <a:p>
            <a:pPr>
              <a:lnSpc>
                <a:spcPct val="15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　　综上所述，这棵二叉树的根结点己经确定，而且其左、右子树都唯一地确定了，所以整个二叉树也就唯一地确定了。</a:t>
            </a: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A983FC57-CA25-4D48-3128-74DEDF4832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232" y="4415701"/>
            <a:ext cx="7924800" cy="107484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Consolas" panose="020B0609020204030204" pitchFamily="49" charset="0"/>
              </a:rPr>
              <a:t>　　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数学归纳法是一种论证方法，而递归是算法和程序设计的一种实现技术，数学归纳法是递归的基础。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Text Box 3"/>
          <p:cNvSpPr txBox="1">
            <a:spLocks noChangeArrowheads="1"/>
          </p:cNvSpPr>
          <p:nvPr/>
        </p:nvSpPr>
        <p:spPr bwMode="auto">
          <a:xfrm>
            <a:off x="712476" y="1735975"/>
            <a:ext cx="7946390" cy="153651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递归算法设计先要给出递归模型，再转换成对应的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C/C++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语言函数，获取递归模型的步骤如下：</a:t>
            </a:r>
          </a:p>
          <a:p>
            <a:pPr indent="457200">
              <a:lnSpc>
                <a:spcPct val="150000"/>
              </a:lnSpc>
            </a:pPr>
            <a:endParaRPr lang="zh-CN" altLang="en-US" sz="2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2" name="Text Box 3">
            <a:extLst>
              <a:ext uri="{FF2B5EF4-FFF2-40B4-BE49-F238E27FC236}">
                <a16:creationId xmlns:a16="http://schemas.microsoft.com/office/drawing/2014/main" id="{950610D1-5886-3C0F-B6CF-2753A9961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899" y="1220426"/>
            <a:ext cx="5289911" cy="523220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pt-BR" altLang="zh-CN" sz="2800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2.2.1 </a:t>
            </a:r>
            <a:r>
              <a:rPr lang="zh-CN" altLang="pt-BR" sz="2800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递归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算法设计的一般步骤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887A7C18-B248-3E39-F63E-944D95C98E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899" y="2941585"/>
            <a:ext cx="8039144" cy="38417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44000" tIns="144000" rIns="144000" bIns="14400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rgbClr val="0000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　　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（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）对原问题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f(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sn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)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进行分析，抽象出合理的“小问题”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f(sn-1)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（与数学归纳法中假设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n=k-1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时等式成立相似）；</a:t>
            </a:r>
          </a:p>
          <a:p>
            <a:pPr>
              <a:lnSpc>
                <a:spcPct val="15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　　（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2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）假设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f(sn-1)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是可解的，在此基础上确定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f(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sn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)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的解，即给出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f(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sn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)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与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f(sn-1)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之间的关系（与数学归纳法中求证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n=k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时等式成立的过程相似）；</a:t>
            </a:r>
          </a:p>
          <a:p>
            <a:pPr>
              <a:lnSpc>
                <a:spcPct val="15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　　（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3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）确定一个特定情况（如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f(1)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或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f(0)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）的解，由此作为递归出口（与数学归纳法中求证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n=1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或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n=0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时等式成立相似）。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2"/>
          <p:cNvSpPr txBox="1">
            <a:spLocks noChangeArrowheads="1"/>
          </p:cNvSpPr>
          <p:nvPr/>
        </p:nvSpPr>
        <p:spPr bwMode="auto">
          <a:xfrm>
            <a:off x="520910" y="1562746"/>
            <a:ext cx="8902723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2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【</a:t>
            </a:r>
            <a:r>
              <a:rPr lang="zh-CN" altLang="en-US" sz="22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例</a:t>
            </a:r>
            <a:r>
              <a:rPr lang="en-US" altLang="zh-CN" sz="22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2.5】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用递归法求一个整数数组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a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的最大元素</a:t>
            </a:r>
            <a:r>
              <a:rPr lang="zh-CN" altLang="en-US" sz="24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</a:p>
        </p:txBody>
      </p:sp>
      <p:sp>
        <p:nvSpPr>
          <p:cNvPr id="59395" name="Text Box 3"/>
          <p:cNvSpPr txBox="1">
            <a:spLocks noChangeArrowheads="1"/>
          </p:cNvSpPr>
          <p:nvPr/>
        </p:nvSpPr>
        <p:spPr bwMode="auto">
          <a:xfrm>
            <a:off x="619295" y="2292568"/>
            <a:ext cx="8185150" cy="327544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　　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解：设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f(a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)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求解数组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a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中前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个元素即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a[0..i-1]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中的最大元素，则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f(a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i-1)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求解数组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a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中前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i-1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个元素即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a[0..i-2]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中的最大元素，前者为“大问题”，后者为“小问题”。</a:t>
            </a: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　　假设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f(a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i-1)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已求出，则有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f(a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)=MAX{f(a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i-1)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a[i-1]}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。递推方向是朝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a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中元素减少的方向推进，当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a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中只有一个元素时，该元素就是最大元素，所以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f(a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1)=a[0]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。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ext Box 2"/>
          <p:cNvSpPr txBox="1">
            <a:spLocks noChangeArrowheads="1"/>
          </p:cNvSpPr>
          <p:nvPr/>
        </p:nvSpPr>
        <p:spPr bwMode="auto">
          <a:xfrm>
            <a:off x="736817" y="2105715"/>
            <a:ext cx="7240270" cy="88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144000" tIns="108000" bIns="10800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8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f</a:t>
            </a:r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(</a:t>
            </a:r>
            <a:r>
              <a:rPr lang="en-US" altLang="zh-CN" sz="18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a</a:t>
            </a:r>
            <a:r>
              <a:rPr lang="zh-CN" altLang="en-US" sz="18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18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)=</a:t>
            </a:r>
            <a:r>
              <a:rPr lang="en-US" altLang="zh-CN" sz="1800" i="1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a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[0]					</a:t>
            </a:r>
            <a:r>
              <a:rPr lang="zh-CN" altLang="en-US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当</a:t>
            </a:r>
            <a:r>
              <a:rPr lang="en-US" altLang="zh-CN" sz="1800" i="1" dirty="0" err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=1</a:t>
            </a:r>
            <a:r>
              <a:rPr lang="zh-CN" altLang="en-US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时</a:t>
            </a:r>
            <a:endParaRPr lang="zh-CN" altLang="en-US" sz="1800" i="1" dirty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8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f</a:t>
            </a:r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(</a:t>
            </a:r>
            <a:r>
              <a:rPr lang="en-US" altLang="zh-CN" sz="18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a</a:t>
            </a:r>
            <a:r>
              <a:rPr lang="zh-CN" altLang="en-US" sz="18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18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)=MAX{</a:t>
            </a:r>
            <a:r>
              <a:rPr lang="en-US" altLang="zh-CN" sz="18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f</a:t>
            </a:r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(</a:t>
            </a:r>
            <a:r>
              <a:rPr lang="en-US" altLang="zh-CN" sz="18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a</a:t>
            </a:r>
            <a:r>
              <a:rPr lang="zh-CN" altLang="en-US" sz="18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18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-1)</a:t>
            </a:r>
            <a:r>
              <a:rPr lang="zh-CN" altLang="en-US" sz="18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18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a</a:t>
            </a:r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[</a:t>
            </a:r>
            <a:r>
              <a:rPr lang="en-US" altLang="zh-CN" sz="1800" i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-1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]}	</a:t>
            </a:r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	</a:t>
            </a:r>
            <a:r>
              <a:rPr lang="zh-CN" altLang="en-US" sz="180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当</a:t>
            </a:r>
            <a:r>
              <a:rPr lang="en-US" altLang="zh-CN" sz="1800" i="1" dirty="0" err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&gt;1</a:t>
            </a:r>
            <a:r>
              <a:rPr lang="zh-CN" altLang="en-US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时</a:t>
            </a:r>
          </a:p>
        </p:txBody>
      </p:sp>
      <p:sp>
        <p:nvSpPr>
          <p:cNvPr id="60419" name="Text Box 3"/>
          <p:cNvSpPr txBox="1">
            <a:spLocks noChangeArrowheads="1"/>
          </p:cNvSpPr>
          <p:nvPr/>
        </p:nvSpPr>
        <p:spPr bwMode="auto">
          <a:xfrm>
            <a:off x="719806" y="3171685"/>
            <a:ext cx="6625167" cy="4308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ClrTx/>
              <a:buSzTx/>
              <a:buFontTx/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对应的递归算法如下：</a:t>
            </a:r>
          </a:p>
        </p:txBody>
      </p:sp>
      <p:sp>
        <p:nvSpPr>
          <p:cNvPr id="60420" name="Text Box 4"/>
          <p:cNvSpPr txBox="1">
            <a:spLocks noChangeArrowheads="1"/>
          </p:cNvSpPr>
          <p:nvPr/>
        </p:nvSpPr>
        <p:spPr bwMode="auto">
          <a:xfrm>
            <a:off x="737415" y="3963089"/>
            <a:ext cx="7239051" cy="202550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lIns="216000" tIns="180000" bIns="180000">
            <a:spAutoFit/>
          </a:bodyPr>
          <a:lstStyle/>
          <a:p>
            <a:r>
              <a:rPr lang="en-US" altLang="zh-CN" sz="1800" dirty="0" err="1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int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 </a:t>
            </a:r>
            <a:r>
              <a:rPr lang="en-US" altLang="zh-CN" sz="1800" dirty="0" err="1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fmax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(</a:t>
            </a:r>
            <a:r>
              <a:rPr lang="en-US" altLang="zh-CN" sz="1800" dirty="0" err="1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int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 </a:t>
            </a:r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a[]</a:t>
            </a:r>
            <a:r>
              <a:rPr lang="zh-CN" altLang="en-US" sz="18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int </a:t>
            </a:r>
            <a:r>
              <a:rPr lang="en-US" altLang="zh-CN" sz="1800" dirty="0" err="1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)</a:t>
            </a:r>
          </a:p>
          <a:p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{   if (</a:t>
            </a:r>
            <a:r>
              <a:rPr lang="en-US" altLang="zh-CN" sz="1800" dirty="0" err="1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i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==1)</a:t>
            </a:r>
          </a:p>
          <a:p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	return a[0];</a:t>
            </a:r>
          </a:p>
          <a:p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    else</a:t>
            </a:r>
          </a:p>
          <a:p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	return(</a:t>
            </a:r>
            <a:r>
              <a:rPr lang="en-US" altLang="zh-CN" sz="1800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fmax</a:t>
            </a:r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(a</a:t>
            </a:r>
            <a:r>
              <a:rPr lang="zh-CN" altLang="en-US" sz="18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i-1)</a:t>
            </a:r>
            <a:r>
              <a:rPr lang="zh-CN" altLang="en-US" sz="18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，</a:t>
            </a:r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a[i-1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]);</a:t>
            </a:r>
          </a:p>
          <a:p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7714" y="1391955"/>
            <a:ext cx="64770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由此得到递归模型如下：</a:t>
            </a:r>
          </a:p>
        </p:txBody>
      </p:sp>
      <p:sp>
        <p:nvSpPr>
          <p:cNvPr id="6" name="笑脸 5"/>
          <p:cNvSpPr/>
          <p:nvPr/>
        </p:nvSpPr>
        <p:spPr>
          <a:xfrm>
            <a:off x="7369521" y="6338547"/>
            <a:ext cx="362138" cy="351068"/>
          </a:xfrm>
          <a:prstGeom prst="smileyFace">
            <a:avLst/>
          </a:prstGeom>
          <a:solidFill>
            <a:srgbClr val="FFFF00"/>
          </a:solidFill>
          <a:ln>
            <a:solidFill>
              <a:srgbClr val="15295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83970" y="2208530"/>
            <a:ext cx="42545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1. 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递归数据结构的定义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774950"/>
            <a:ext cx="7961165" cy="1074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采用递归方式定义的数据结构称为递归数据结构。在递归数据结构定义中包含的递归运算称为基本递归运算。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71B3C201-A60B-5CE0-3CD9-80C1FAFF3F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0110" y="1290320"/>
            <a:ext cx="5929108" cy="523220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CN" sz="2800" dirty="0">
                <a:solidFill>
                  <a:srgbClr val="FF0000"/>
                </a:solidFill>
                <a:latin typeface="+mn-ea"/>
              </a:rPr>
              <a:t>2.2.3 </a:t>
            </a:r>
            <a:r>
              <a:rPr lang="zh-CN" altLang="zh-CN" sz="2800" dirty="0">
                <a:solidFill>
                  <a:srgbClr val="FF0000"/>
                </a:solidFill>
                <a:latin typeface="+mn-ea"/>
              </a:rPr>
              <a:t>递归数据结构</a:t>
            </a:r>
            <a:r>
              <a:rPr lang="zh-CN" altLang="en-US" sz="2800" dirty="0">
                <a:solidFill>
                  <a:srgbClr val="FF0000"/>
                </a:solidFill>
                <a:latin typeface="+mn-ea"/>
              </a:rPr>
              <a:t>及其</a:t>
            </a:r>
            <a:r>
              <a:rPr lang="zh-CN" altLang="zh-CN" sz="2800" dirty="0">
                <a:solidFill>
                  <a:srgbClr val="FF0000"/>
                </a:solidFill>
                <a:latin typeface="+mn-ea"/>
              </a:rPr>
              <a:t>递归算法设计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0021" y="1359680"/>
            <a:ext cx="8181459" cy="3567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归纳起来，递归数据结构定义为：</a:t>
            </a:r>
          </a:p>
          <a:p>
            <a:pPr>
              <a:lnSpc>
                <a:spcPct val="150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RD=(D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Op)</a:t>
            </a:r>
            <a:endParaRPr lang="zh-CN" altLang="zh-CN" sz="2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其中，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D={di}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（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≤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≤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，共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个元素）为构成该数据结构的所有元素的集合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。</a:t>
            </a:r>
            <a:endParaRPr lang="en-US" altLang="zh-CN" sz="2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Op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是基本递归运算的集合，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Op={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opj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}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（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≤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j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≤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m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，共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m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个基本递归运算），对于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sym typeface="Symbol" panose="05050102010706020507"/>
              </a:rPr>
              <a:t>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di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∈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D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，不妨设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opj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为一元运算符，则有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opj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(di)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∈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D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，也就是说，递归运算符具有封闭性。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5310" y="1071245"/>
            <a:ext cx="8065135" cy="3106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二叉树的定义中，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D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是给定二叉树及其子树的集合（对于一棵给定的二叉树，其子树的个数是有限的），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Op={op1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op2}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由基本递归运算符构成，它们的定义如下：</a:t>
            </a:r>
          </a:p>
          <a:p>
            <a:pPr>
              <a:lnSpc>
                <a:spcPct val="150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 op1(p) = p-&gt;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lchild</a:t>
            </a:r>
            <a:endParaRPr lang="zh-CN" altLang="zh-CN" sz="2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 op2(p) = p-&gt;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rchild</a:t>
            </a:r>
            <a:endParaRPr lang="zh-CN" altLang="zh-CN" sz="2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其中，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p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指向二叉树中的一个非空结点。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009754"/>
            <a:ext cx="5524539" cy="430887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）单链表的递归算法设计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6810" y="1226679"/>
            <a:ext cx="74295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2. 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基于递归数据结构的递归算法设计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515" y="2599802"/>
            <a:ext cx="8128516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00000"/>
              </a:lnSpc>
            </a:pP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在设计不带头结点的单链表的递归算法时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：</a:t>
            </a:r>
            <a:endParaRPr lang="en-US" altLang="zh-CN" sz="2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设求解以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L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为首结点指针的整个单链表的某功能为“大问题”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。</a:t>
            </a:r>
            <a:endParaRPr lang="en-US" altLang="zh-CN" sz="2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而求解除首结点外余下结点构成的单链表（由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L-&gt;next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标识，而该运算为递归运算）的相同功能为“小问题”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。</a:t>
            </a:r>
            <a:endParaRPr lang="en-US" altLang="zh-CN" sz="2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由大小问题之间的解关系得到递归体。</a:t>
            </a:r>
            <a:endParaRPr lang="en-US" altLang="zh-CN" sz="2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再考虑特殊情况，通常是单链表为空或者只有一个结点时，这时很容易求解，从而得到递归出口。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4679" y="1358133"/>
            <a:ext cx="7729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0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</a:t>
            </a:r>
            <a:r>
              <a:rPr lang="zh-CN" altLang="zh-CN" sz="22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【例</a:t>
            </a:r>
            <a:r>
              <a:rPr lang="en-US" altLang="zh-CN" sz="22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2.6</a:t>
            </a:r>
            <a:r>
              <a:rPr lang="zh-CN" altLang="zh-CN" sz="22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】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有一个不带头结点的单链表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L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，设计一个算法释放其中所有结点。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7060" y="2233163"/>
            <a:ext cx="80640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0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解：设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L={a1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a2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，…，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an}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f(L)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的功能是释放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a1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～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an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的所有结点，则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f(L-&gt;next)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的功能是释放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a2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～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an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的所有结点，前者是“大问题”，后者是“小问题”。</a:t>
            </a:r>
            <a:endParaRPr lang="en-US" altLang="zh-CN" sz="2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假设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f(L-&gt;next)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是已实现，则</a:t>
            </a:r>
            <a:r>
              <a:rPr lang="pt-BR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f(L)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就可以采用先调用</a:t>
            </a:r>
            <a:r>
              <a:rPr lang="pt-BR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f(L-&gt;next)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，然后释放</a:t>
            </a:r>
            <a:r>
              <a:rPr lang="pt-BR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L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所指结点来求解。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837175" y="5244349"/>
            <a:ext cx="719667" cy="4318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zh-CN" sz="20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altLang="zh-CN" sz="2000" baseline="-25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558959" y="5244349"/>
            <a:ext cx="719667" cy="4318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zh-CN" altLang="zh-CN" sz="2000" baseline="-2500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2754875" y="5244349"/>
            <a:ext cx="719667" cy="4318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zh-CN" sz="20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altLang="zh-CN" sz="2000" baseline="-25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3476659" y="5244349"/>
            <a:ext cx="719667" cy="4318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endParaRPr lang="zh-CN" altLang="zh-CN" sz="2000" baseline="-2500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6596625" y="5244349"/>
            <a:ext cx="719667" cy="4318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zh-CN" sz="20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altLang="zh-CN" sz="2000" i="1" baseline="-25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7318408" y="5244349"/>
            <a:ext cx="719667" cy="4318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∧</a:t>
            </a:r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4869426" y="5244349"/>
            <a:ext cx="768349" cy="369332"/>
          </a:xfrm>
          <a:prstGeom prst="rect">
            <a:avLst/>
          </a:prstGeom>
          <a:noFill/>
          <a:ln w="38100" algn="ctr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zh-CN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…</a:t>
            </a:r>
          </a:p>
        </p:txBody>
      </p:sp>
      <p:sp>
        <p:nvSpPr>
          <p:cNvPr id="12" name="Arc 9"/>
          <p:cNvSpPr/>
          <p:nvPr/>
        </p:nvSpPr>
        <p:spPr bwMode="auto">
          <a:xfrm>
            <a:off x="932425" y="4885575"/>
            <a:ext cx="480483" cy="358775"/>
          </a:xfrm>
          <a:custGeom>
            <a:avLst/>
            <a:gdLst>
              <a:gd name="T0" fmla="*/ 0 w 21600"/>
              <a:gd name="T1" fmla="*/ 0 h 21600"/>
              <a:gd name="T2" fmla="*/ 360362 w 21600"/>
              <a:gd name="T3" fmla="*/ 358775 h 21600"/>
              <a:gd name="T4" fmla="*/ 0 w 21600"/>
              <a:gd name="T5" fmla="*/ 358775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miter lim="800000"/>
            <a:tailEnd type="stealth" w="lg" len="lg"/>
          </a:ln>
        </p:spPr>
        <p:txBody>
          <a:bodyPr wrap="none" anchor="ctr"/>
          <a:lstStyle/>
          <a:p>
            <a:endParaRPr lang="zh-CN" altLang="en-US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451941" y="4525211"/>
            <a:ext cx="575733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</a:t>
            </a:r>
          </a:p>
        </p:txBody>
      </p:sp>
      <p:sp>
        <p:nvSpPr>
          <p:cNvPr id="14" name="Line 11"/>
          <p:cNvSpPr>
            <a:spLocks noChangeShapeType="1"/>
          </p:cNvSpPr>
          <p:nvPr/>
        </p:nvSpPr>
        <p:spPr bwMode="auto">
          <a:xfrm>
            <a:off x="1988642" y="5460249"/>
            <a:ext cx="768351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tailEnd type="triangle" w="med" len="med"/>
          </a:ln>
        </p:spPr>
        <p:txBody>
          <a:bodyPr wrap="none"/>
          <a:lstStyle/>
          <a:p>
            <a:endParaRPr lang="zh-CN" alt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Line 12"/>
          <p:cNvSpPr>
            <a:spLocks noChangeShapeType="1"/>
          </p:cNvSpPr>
          <p:nvPr/>
        </p:nvSpPr>
        <p:spPr bwMode="auto">
          <a:xfrm>
            <a:off x="3910575" y="5460249"/>
            <a:ext cx="768351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tailEnd type="triangle" w="med" len="med"/>
          </a:ln>
        </p:spPr>
        <p:txBody>
          <a:bodyPr wrap="none"/>
          <a:lstStyle/>
          <a:p>
            <a:endParaRPr lang="zh-CN" alt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6" name="Line 13"/>
          <p:cNvSpPr>
            <a:spLocks noChangeShapeType="1"/>
          </p:cNvSpPr>
          <p:nvPr/>
        </p:nvSpPr>
        <p:spPr bwMode="auto">
          <a:xfrm>
            <a:off x="5830392" y="5460249"/>
            <a:ext cx="768349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tailEnd type="triangle" w="med" len="med"/>
          </a:ln>
        </p:spPr>
        <p:txBody>
          <a:bodyPr wrap="none"/>
          <a:lstStyle/>
          <a:p>
            <a:endParaRPr lang="zh-CN" alt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17" name="Group 15"/>
          <p:cNvGrpSpPr/>
          <p:nvPr/>
        </p:nvGrpSpPr>
        <p:grpSpPr bwMode="auto">
          <a:xfrm>
            <a:off x="1626693" y="4334712"/>
            <a:ext cx="6987117" cy="2203450"/>
            <a:chOff x="1439" y="437"/>
            <a:chExt cx="3301" cy="1388"/>
          </a:xfrm>
        </p:grpSpPr>
        <p:sp>
          <p:nvSpPr>
            <p:cNvPr id="18" name="Text Box 16"/>
            <p:cNvSpPr txBox="1">
              <a:spLocks noChangeArrowheads="1"/>
            </p:cNvSpPr>
            <p:nvPr/>
          </p:nvSpPr>
          <p:spPr bwMode="auto">
            <a:xfrm>
              <a:off x="1687" y="437"/>
              <a:ext cx="2449" cy="27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释放以</a:t>
              </a:r>
              <a:r>
                <a:rPr lang="en-US" altLang="zh-CN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L</a:t>
              </a:r>
              <a:r>
                <a:rPr lang="zh-CN" altLang="en-US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为首结点指针的单链表</a:t>
              </a:r>
            </a:p>
          </p:txBody>
        </p:sp>
        <p:sp>
          <p:nvSpPr>
            <p:cNvPr id="19" name="AutoShape 17"/>
            <p:cNvSpPr/>
            <p:nvPr/>
          </p:nvSpPr>
          <p:spPr bwMode="auto">
            <a:xfrm rot="5400000">
              <a:off x="3130" y="323"/>
              <a:ext cx="136" cy="2267"/>
            </a:xfrm>
            <a:prstGeom prst="rightBrace">
              <a:avLst>
                <a:gd name="adj1" fmla="val 138909"/>
                <a:gd name="adj2" fmla="val 50000"/>
              </a:avLst>
            </a:prstGeom>
            <a:noFill/>
            <a:ln w="2857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 sz="200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20" name="AutoShape 18"/>
            <p:cNvSpPr/>
            <p:nvPr/>
          </p:nvSpPr>
          <p:spPr bwMode="auto">
            <a:xfrm rot="-5400000">
              <a:off x="2845" y="-637"/>
              <a:ext cx="136" cy="2947"/>
            </a:xfrm>
            <a:prstGeom prst="rightBrace">
              <a:avLst>
                <a:gd name="adj1" fmla="val 180576"/>
                <a:gd name="adj2" fmla="val 50000"/>
              </a:avLst>
            </a:prstGeom>
            <a:noFill/>
            <a:ln w="2857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 sz="200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21" name="Text Box 19"/>
            <p:cNvSpPr txBox="1">
              <a:spLocks noChangeArrowheads="1"/>
            </p:cNvSpPr>
            <p:nvPr/>
          </p:nvSpPr>
          <p:spPr bwMode="auto">
            <a:xfrm>
              <a:off x="1610" y="1554"/>
              <a:ext cx="3130" cy="27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释放以</a:t>
              </a:r>
              <a:r>
                <a:rPr lang="en-US" altLang="zh-CN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L-&gt;next</a:t>
              </a:r>
              <a:r>
                <a:rPr lang="zh-CN" altLang="en-US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为首结点指针的单链表</a:t>
              </a: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52500" y="1605915"/>
            <a:ext cx="6667500" cy="9679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180000" tIns="144000" bIns="144000" rtlCol="0">
            <a:spAutoFit/>
          </a:bodyPr>
          <a:lstStyle/>
          <a:p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f(L) 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≡不做任何事件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		    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当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L=NULL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时</a:t>
            </a:r>
          </a:p>
          <a:p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f(L) 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≡ 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f(L-&gt;next); 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释放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*L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结点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	    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其他情况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2453" y="3466786"/>
            <a:ext cx="6667547" cy="27697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80000" tIns="216000" bIns="180000" rtlCol="0">
            <a:spAutoFit/>
          </a:bodyPr>
          <a:lstStyle/>
          <a:p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void 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DestroyList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(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LinkNode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*&amp;L)</a:t>
            </a:r>
          </a:p>
          <a:p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//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释放单链表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L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中所有结点</a:t>
            </a:r>
          </a:p>
          <a:p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{  if (L!=NULL)</a:t>
            </a:r>
            <a:endParaRPr lang="zh-CN" altLang="zh-CN" sz="2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{	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DestroyList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(L-&gt;next);</a:t>
            </a:r>
            <a:endParaRPr lang="zh-CN" altLang="zh-CN" sz="2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	free(L);</a:t>
            </a:r>
            <a:endParaRPr lang="zh-CN" altLang="zh-CN" sz="2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}</a:t>
            </a:r>
            <a:endParaRPr lang="zh-CN" altLang="zh-CN" sz="2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}</a:t>
            </a:r>
            <a:endParaRPr lang="zh-CN" altLang="zh-CN" sz="2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4" name="下箭头 3"/>
          <p:cNvSpPr/>
          <p:nvPr/>
        </p:nvSpPr>
        <p:spPr>
          <a:xfrm>
            <a:off x="3989697" y="2748273"/>
            <a:ext cx="476253" cy="64294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001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903113" y="1088853"/>
            <a:ext cx="46672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对应的递归模型如下：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4655" y="2307808"/>
            <a:ext cx="8523605" cy="3614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00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二叉树是一种典型的递归数据结构，当一棵二叉树采用二叉链</a:t>
            </a:r>
            <a:r>
              <a:rPr lang="pt-BR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存储时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：</a:t>
            </a:r>
            <a:endParaRPr lang="en-US" altLang="zh-CN" sz="2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设求解以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为根结点的整个二叉树的某功能为“大问题”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。</a:t>
            </a:r>
            <a:endParaRPr lang="en-US" altLang="zh-CN" sz="2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求解其左、右子树的相同功能为“小问题”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。</a:t>
            </a:r>
            <a:endParaRPr lang="en-US" altLang="zh-CN" sz="2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由大小问题之间的解关系得到递归体。</a:t>
            </a:r>
            <a:endParaRPr lang="en-US" altLang="zh-CN" sz="2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再考虑特殊情况，通常是二叉树为空或者只有一个结点时，这时很容易求解，从而得到递归出口。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300204" y="1729937"/>
            <a:ext cx="5334037" cy="430887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2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）二叉树的递归算法设计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400" y="1018540"/>
            <a:ext cx="8029575" cy="1582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</a:t>
            </a:r>
            <a:r>
              <a:rPr lang="zh-CN" altLang="zh-CN" sz="22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【例</a:t>
            </a:r>
            <a:r>
              <a:rPr lang="en-US" altLang="zh-CN" sz="22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2.8</a:t>
            </a:r>
            <a:r>
              <a:rPr lang="zh-CN" altLang="zh-CN" sz="22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】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对于含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（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n&gt;0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）个结点的二叉树，所有结点值为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int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类型，设计一个算法由其先序序列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a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和中序序列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创建对应的二叉链存储结构。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7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Box 8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41515" y="2104376"/>
            <a:ext cx="1824567" cy="338455"/>
          </a:xfrm>
          <a:prstGeom prst="rect">
            <a:avLst/>
          </a:prstGeom>
          <a:noFill/>
          <a:ln w="9525" algn="ctr">
            <a:noFill/>
            <a:miter lim="800000"/>
            <a:tailEnd type="none" w="med" len="lg"/>
          </a:ln>
          <a:effectLst/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先序序列</a:t>
            </a:r>
            <a:r>
              <a:rPr lang="zh-CN" altLang="en-US" sz="2200" dirty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：</a:t>
            </a:r>
          </a:p>
        </p:txBody>
      </p:sp>
      <p:sp>
        <p:nvSpPr>
          <p:cNvPr id="33" name="Text Box 9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05072" y="2114219"/>
            <a:ext cx="4315885" cy="307777"/>
          </a:xfrm>
          <a:prstGeom prst="rect">
            <a:avLst/>
          </a:prstGeom>
          <a:noFill/>
          <a:ln w="9525" algn="ctr">
            <a:noFill/>
            <a:miter lim="800000"/>
            <a:tailEnd type="none" w="med" len="lg"/>
          </a:ln>
          <a:effectLst/>
        </p:spPr>
        <p:txBody>
          <a:bodyPr wrap="square" lIns="0" tIns="0" rIns="0" bIns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0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altLang="zh-CN" sz="2000" baseline="-25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altLang="zh-CN" sz="2000" baseline="-25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… </a:t>
            </a:r>
            <a:r>
              <a:rPr lang="en-US" altLang="zh-CN" sz="2000" i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altLang="zh-CN" sz="2000" i="1" baseline="-250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</a:t>
            </a:r>
            <a:r>
              <a:rPr lang="en-US" altLang="zh-CN" sz="2000" i="1" baseline="-25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altLang="zh-CN" sz="20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altLang="zh-CN" sz="2000" i="1" baseline="-25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</a:t>
            </a:r>
            <a:r>
              <a:rPr lang="en-US" altLang="zh-CN" sz="2000" baseline="-25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+1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…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altLang="zh-CN" sz="2000" i="1" baseline="-25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 altLang="zh-CN" sz="2000" baseline="-25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-1</a:t>
            </a:r>
          </a:p>
        </p:txBody>
      </p:sp>
      <p:grpSp>
        <p:nvGrpSpPr>
          <p:cNvPr id="34" name="组合 33"/>
          <p:cNvGrpSpPr/>
          <p:nvPr/>
        </p:nvGrpSpPr>
        <p:grpSpPr>
          <a:xfrm>
            <a:off x="1496025" y="2534915"/>
            <a:ext cx="1824567" cy="1257823"/>
            <a:chOff x="1500166" y="3141661"/>
            <a:chExt cx="1368425" cy="1257823"/>
          </a:xfrm>
        </p:grpSpPr>
        <p:sp>
          <p:nvSpPr>
            <p:cNvPr id="35" name="Text Box 6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1500166" y="3383821"/>
              <a:ext cx="1368425" cy="1015663"/>
            </a:xfrm>
            <a:prstGeom prst="rect">
              <a:avLst/>
            </a:prstGeom>
            <a:noFill/>
            <a:ln w="9525" algn="ctr">
              <a:noFill/>
              <a:miter lim="800000"/>
              <a:tailEnd type="none" w="med" len="lg"/>
            </a:ln>
            <a:effectLst/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左子树先序序列，有</a:t>
              </a:r>
              <a:r>
                <a:rPr lang="en-US" altLang="zh-CN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k</a:t>
              </a:r>
              <a:r>
                <a:rPr lang="zh-CN" altLang="en-US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个结点</a:t>
              </a:r>
            </a:p>
          </p:txBody>
        </p:sp>
        <p:sp>
          <p:nvSpPr>
            <p:cNvPr id="36" name="AutoShape 10"/>
            <p:cNvSpPr/>
            <p:nvPr>
              <p:custDataLst>
                <p:tags r:id="rId25"/>
              </p:custDataLst>
            </p:nvPr>
          </p:nvSpPr>
          <p:spPr bwMode="auto">
            <a:xfrm rot="16200000">
              <a:off x="2123282" y="2782092"/>
              <a:ext cx="144462" cy="863600"/>
            </a:xfrm>
            <a:prstGeom prst="leftBrace">
              <a:avLst>
                <a:gd name="adj1" fmla="val 49817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  <a:tailEnd type="none" w="med" len="lg"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3111041" y="2542535"/>
            <a:ext cx="1919816" cy="1257823"/>
            <a:chOff x="3143240" y="3141661"/>
            <a:chExt cx="1439862" cy="1257823"/>
          </a:xfrm>
        </p:grpSpPr>
        <p:sp>
          <p:nvSpPr>
            <p:cNvPr id="38" name="Text Box 7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3143240" y="3383821"/>
              <a:ext cx="1439862" cy="1015663"/>
            </a:xfrm>
            <a:prstGeom prst="rect">
              <a:avLst/>
            </a:prstGeom>
            <a:noFill/>
            <a:ln w="9525" algn="ctr">
              <a:noFill/>
              <a:miter lim="800000"/>
              <a:tailEnd type="none" w="med" len="lg"/>
            </a:ln>
            <a:effectLst/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右子树先序序列，有</a:t>
              </a:r>
              <a:r>
                <a:rPr lang="en-US" altLang="zh-CN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n-k-1</a:t>
              </a:r>
              <a:r>
                <a:rPr lang="zh-CN" altLang="en-US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个结点</a:t>
              </a:r>
            </a:p>
          </p:txBody>
        </p:sp>
        <p:sp>
          <p:nvSpPr>
            <p:cNvPr id="39" name="AutoShape 11"/>
            <p:cNvSpPr/>
            <p:nvPr>
              <p:custDataLst>
                <p:tags r:id="rId23"/>
              </p:custDataLst>
            </p:nvPr>
          </p:nvSpPr>
          <p:spPr bwMode="auto">
            <a:xfrm rot="16200000">
              <a:off x="3793318" y="2639217"/>
              <a:ext cx="73025" cy="1077914"/>
            </a:xfrm>
            <a:prstGeom prst="leftBrace">
              <a:avLst>
                <a:gd name="adj1" fmla="val 49817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  <a:tailEnd type="none" w="med" len="lg"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40" name="Text Box 14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9232781" y="3485262"/>
            <a:ext cx="1824567" cy="338455"/>
          </a:xfrm>
          <a:prstGeom prst="rect">
            <a:avLst/>
          </a:prstGeom>
          <a:noFill/>
          <a:ln w="9525" algn="ctr">
            <a:noFill/>
            <a:miter lim="800000"/>
            <a:tailEnd type="none" w="med" len="lg"/>
          </a:ln>
          <a:effectLst/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中序序列</a:t>
            </a:r>
            <a:r>
              <a:rPr lang="zh-CN" altLang="en-US" sz="2200" dirty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：</a:t>
            </a:r>
          </a:p>
        </p:txBody>
      </p:sp>
      <p:sp>
        <p:nvSpPr>
          <p:cNvPr id="41" name="Text Box 1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453782" y="3451212"/>
            <a:ext cx="4557184" cy="307777"/>
          </a:xfrm>
          <a:prstGeom prst="rect">
            <a:avLst/>
          </a:prstGeom>
          <a:noFill/>
          <a:ln w="9525" algn="ctr">
            <a:noFill/>
            <a:miter lim="800000"/>
            <a:tailEnd type="none" w="med" len="lg"/>
          </a:ln>
          <a:effectLst/>
        </p:spPr>
        <p:txBody>
          <a:bodyPr wrap="square" lIns="0" tIns="0" rIns="0" bIns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000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altLang="zh-CN" sz="2000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altLang="zh-CN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altLang="zh-CN" sz="2000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altLang="zh-CN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… </a:t>
            </a:r>
            <a:r>
              <a:rPr lang="en-US" altLang="zh-CN" sz="2000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b</a:t>
            </a:r>
            <a:r>
              <a:rPr lang="en-US" altLang="zh-CN" sz="2000" i="1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k</a:t>
            </a:r>
            <a:r>
              <a:rPr lang="en-US" altLang="zh-CN" sz="2000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-1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altLang="zh-CN" sz="2000" i="1" baseline="-25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altLang="zh-CN" sz="2000" i="1" baseline="-25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</a:t>
            </a:r>
            <a:r>
              <a:rPr lang="en-US" altLang="zh-CN" sz="2000" baseline="-25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+1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…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altLang="zh-CN" sz="2000" i="1" baseline="-25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 altLang="zh-CN" sz="2000" baseline="-25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-1</a:t>
            </a:r>
          </a:p>
        </p:txBody>
      </p:sp>
      <p:grpSp>
        <p:nvGrpSpPr>
          <p:cNvPr id="42" name="组合 41"/>
          <p:cNvGrpSpPr/>
          <p:nvPr/>
        </p:nvGrpSpPr>
        <p:grpSpPr>
          <a:xfrm>
            <a:off x="5267964" y="3862063"/>
            <a:ext cx="1824567" cy="1257824"/>
            <a:chOff x="5978554" y="3141660"/>
            <a:chExt cx="1368425" cy="1257824"/>
          </a:xfrm>
        </p:grpSpPr>
        <p:sp>
          <p:nvSpPr>
            <p:cNvPr id="43" name="Text Box 12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5978554" y="3383821"/>
              <a:ext cx="1368425" cy="1015663"/>
            </a:xfrm>
            <a:prstGeom prst="rect">
              <a:avLst/>
            </a:prstGeom>
            <a:noFill/>
            <a:ln w="9525" algn="ctr">
              <a:noFill/>
              <a:miter lim="800000"/>
              <a:tailEnd type="none" w="med" len="lg"/>
            </a:ln>
            <a:effectLst/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左子树中序序列，有</a:t>
              </a:r>
              <a:r>
                <a:rPr lang="en-US" altLang="zh-CN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k</a:t>
              </a:r>
              <a:r>
                <a:rPr lang="zh-CN" altLang="en-US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个结点</a:t>
              </a:r>
            </a:p>
          </p:txBody>
        </p:sp>
        <p:sp>
          <p:nvSpPr>
            <p:cNvPr id="44" name="AutoShape 16"/>
            <p:cNvSpPr/>
            <p:nvPr>
              <p:custDataLst>
                <p:tags r:id="rId21"/>
              </p:custDataLst>
            </p:nvPr>
          </p:nvSpPr>
          <p:spPr bwMode="auto">
            <a:xfrm rot="16200000">
              <a:off x="6607190" y="2546333"/>
              <a:ext cx="73025" cy="1263680"/>
            </a:xfrm>
            <a:prstGeom prst="leftBrace">
              <a:avLst>
                <a:gd name="adj1" fmla="val 49817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  <a:tailEnd type="none" w="med" len="lg"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7145874" y="3862153"/>
            <a:ext cx="1919816" cy="1250114"/>
            <a:chOff x="7654936" y="3149370"/>
            <a:chExt cx="1439862" cy="1250114"/>
          </a:xfrm>
        </p:grpSpPr>
        <p:sp>
          <p:nvSpPr>
            <p:cNvPr id="46" name="Text Box 13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7654936" y="3383821"/>
              <a:ext cx="1439862" cy="1015663"/>
            </a:xfrm>
            <a:prstGeom prst="rect">
              <a:avLst/>
            </a:prstGeom>
            <a:noFill/>
            <a:ln w="9525" algn="ctr">
              <a:noFill/>
              <a:miter lim="800000"/>
              <a:tailEnd type="none" w="med" len="lg"/>
            </a:ln>
            <a:effectLst/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右子树中序序列，有</a:t>
              </a:r>
              <a:r>
                <a:rPr lang="en-US" altLang="zh-CN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n-k-1</a:t>
              </a:r>
              <a:r>
                <a:rPr lang="zh-CN" altLang="en-US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个结点</a:t>
              </a:r>
            </a:p>
          </p:txBody>
        </p:sp>
        <p:sp>
          <p:nvSpPr>
            <p:cNvPr id="47" name="AutoShape 17"/>
            <p:cNvSpPr/>
            <p:nvPr>
              <p:custDataLst>
                <p:tags r:id="rId19"/>
              </p:custDataLst>
            </p:nvPr>
          </p:nvSpPr>
          <p:spPr bwMode="auto">
            <a:xfrm rot="16200000">
              <a:off x="8307770" y="2646131"/>
              <a:ext cx="71438" cy="1077916"/>
            </a:xfrm>
            <a:prstGeom prst="leftBrace">
              <a:avLst>
                <a:gd name="adj1" fmla="val 49817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  <a:tailEnd type="none" w="med" len="lg"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1900111" y="1412875"/>
            <a:ext cx="4972685" cy="2016125"/>
            <a:chOff x="1692275" y="2019925"/>
            <a:chExt cx="5523567" cy="2016125"/>
          </a:xfrm>
        </p:grpSpPr>
        <p:sp>
          <p:nvSpPr>
            <p:cNvPr id="49" name="Line 18"/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>
              <a:off x="1692275" y="2454265"/>
              <a:ext cx="0" cy="323850"/>
            </a:xfrm>
            <a:prstGeom prst="line">
              <a:avLst/>
            </a:prstGeom>
            <a:noFill/>
            <a:ln w="38100">
              <a:solidFill>
                <a:srgbClr val="CC00FF"/>
              </a:solidFill>
              <a:round/>
              <a:tailEnd type="stealth" w="med" len="lg"/>
            </a:ln>
            <a:effectLst/>
          </p:spPr>
          <p:txBody>
            <a:bodyPr wrap="none"/>
            <a:lstStyle/>
            <a:p>
              <a:endParaRPr lang="zh-CN" altLang="en-US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0" name="Line 19"/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 flipV="1">
              <a:off x="1692275" y="2433946"/>
              <a:ext cx="5522931" cy="0"/>
            </a:xfrm>
            <a:prstGeom prst="line">
              <a:avLst/>
            </a:prstGeom>
            <a:noFill/>
            <a:ln w="38100">
              <a:solidFill>
                <a:srgbClr val="CC00FF"/>
              </a:solidFill>
              <a:round/>
              <a:tailEnd type="none" w="med" len="lg"/>
            </a:ln>
            <a:effectLst/>
          </p:spPr>
          <p:txBody>
            <a:bodyPr wrap="none"/>
            <a:lstStyle/>
            <a:p>
              <a:endParaRPr lang="zh-CN" altLang="en-US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1" name="Line 20"/>
            <p:cNvSpPr>
              <a:spLocks noChangeShapeType="1"/>
            </p:cNvSpPr>
            <p:nvPr>
              <p:custDataLst>
                <p:tags r:id="rId16"/>
              </p:custDataLst>
            </p:nvPr>
          </p:nvSpPr>
          <p:spPr bwMode="auto">
            <a:xfrm>
              <a:off x="7215206" y="2444740"/>
              <a:ext cx="636" cy="1591310"/>
            </a:xfrm>
            <a:prstGeom prst="line">
              <a:avLst/>
            </a:prstGeom>
            <a:noFill/>
            <a:ln w="38100">
              <a:solidFill>
                <a:srgbClr val="CC00FF"/>
              </a:solidFill>
              <a:round/>
              <a:tailEnd type="stealth" w="med" len="lg"/>
            </a:ln>
            <a:effectLst/>
          </p:spPr>
          <p:txBody>
            <a:bodyPr wrap="none"/>
            <a:lstStyle/>
            <a:p>
              <a:endParaRPr lang="zh-CN" altLang="en-US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2" name="Text Box 22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2222695" y="2019925"/>
              <a:ext cx="4844318" cy="338554"/>
            </a:xfrm>
            <a:prstGeom prst="rect">
              <a:avLst/>
            </a:prstGeom>
            <a:noFill/>
            <a:ln w="9525" algn="ctr">
              <a:noFill/>
              <a:miter lim="800000"/>
              <a:tailEnd type="none" w="med" len="lg"/>
            </a:ln>
            <a:effectLst/>
          </p:spPr>
          <p:txBody>
            <a:bodyPr wrap="square" lIns="0" tIns="0" rIns="0" bIns="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通过根结点</a:t>
              </a:r>
              <a:r>
                <a:rPr lang="en-US" altLang="zh-CN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a0</a:t>
              </a:r>
              <a:r>
                <a:rPr lang="zh-CN" altLang="en-US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在中序序列中找到</a:t>
              </a:r>
              <a:r>
                <a:rPr lang="en-US" altLang="zh-CN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bk</a:t>
              </a: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568185" y="4915490"/>
            <a:ext cx="7636243" cy="1647570"/>
            <a:chOff x="2202409" y="4638950"/>
            <a:chExt cx="5727182" cy="1647570"/>
          </a:xfrm>
        </p:grpSpPr>
        <p:sp>
          <p:nvSpPr>
            <p:cNvPr id="54" name="椭圆 53"/>
            <p:cNvSpPr/>
            <p:nvPr>
              <p:custDataLst>
                <p:tags r:id="rId7"/>
              </p:custDataLst>
            </p:nvPr>
          </p:nvSpPr>
          <p:spPr>
            <a:xfrm>
              <a:off x="4567504" y="4638950"/>
              <a:ext cx="576000" cy="576000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i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r>
                <a:rPr lang="en-US" altLang="zh-CN" sz="2000" baseline="-2500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zh-CN" altLang="en-US" sz="2000" baseline="-250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5" name="TextBox 25"/>
            <p:cNvSpPr txBox="1"/>
            <p:nvPr>
              <p:custDataLst>
                <p:tags r:id="rId8"/>
              </p:custDataLst>
            </p:nvPr>
          </p:nvSpPr>
          <p:spPr>
            <a:xfrm>
              <a:off x="2571736" y="5507196"/>
              <a:ext cx="2000264" cy="646331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l"/>
              <a:r>
                <a:rPr lang="zh-CN" altLang="en-US" sz="1800">
                  <a:solidFill>
                    <a:srgbClr val="3333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先序：</a:t>
              </a:r>
              <a:r>
                <a:rPr lang="en-US" altLang="zh-CN" sz="1800" i="1">
                  <a:solidFill>
                    <a:srgbClr val="0066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r>
                <a:rPr lang="en-US" altLang="zh-CN" sz="1800" baseline="-25000">
                  <a:solidFill>
                    <a:srgbClr val="0066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r>
                <a:rPr lang="en-US" altLang="zh-CN" sz="1800">
                  <a:solidFill>
                    <a:srgbClr val="0066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</a:t>
              </a:r>
              <a:r>
                <a:rPr lang="en-US" altLang="zh-CN" sz="1800">
                  <a:solidFill>
                    <a:srgbClr val="006600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Consolas" panose="020B0609020204030204" pitchFamily="49" charset="0"/>
                </a:rPr>
                <a:t>… </a:t>
              </a:r>
              <a:r>
                <a:rPr lang="en-US" altLang="zh-CN" sz="1800">
                  <a:solidFill>
                    <a:srgbClr val="0066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altLang="zh-CN" sz="1800" i="1">
                  <a:solidFill>
                    <a:srgbClr val="0066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r>
                <a:rPr lang="en-US" altLang="zh-CN" sz="1800" i="1" baseline="-25000">
                  <a:solidFill>
                    <a:srgbClr val="0066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k</a:t>
              </a:r>
            </a:p>
            <a:p>
              <a:pPr algn="l"/>
              <a:r>
                <a:rPr lang="zh-CN" altLang="en-US" sz="1800">
                  <a:solidFill>
                    <a:srgbClr val="3333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中序：</a:t>
              </a:r>
              <a:r>
                <a:rPr lang="en-US" altLang="zh-CN" sz="1800" i="1">
                  <a:solidFill>
                    <a:srgbClr val="3333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altLang="zh-CN" sz="1800" i="1">
                  <a:solidFill>
                    <a:srgbClr val="0066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r>
                <a:rPr lang="en-US" altLang="zh-CN" sz="1800" baseline="-25000">
                  <a:solidFill>
                    <a:srgbClr val="0066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r>
                <a:rPr lang="en-US" altLang="zh-CN" sz="1800">
                  <a:solidFill>
                    <a:srgbClr val="0066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</a:t>
              </a:r>
              <a:r>
                <a:rPr lang="en-US" altLang="zh-CN" sz="1800">
                  <a:solidFill>
                    <a:srgbClr val="006600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Consolas" panose="020B0609020204030204" pitchFamily="49" charset="0"/>
                </a:rPr>
                <a:t>…</a:t>
              </a:r>
              <a:r>
                <a:rPr lang="en-US" altLang="zh-CN" sz="1800" i="1">
                  <a:solidFill>
                    <a:srgbClr val="006600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Consolas" panose="020B0609020204030204" pitchFamily="49" charset="0"/>
                </a:rPr>
                <a:t>b</a:t>
              </a:r>
              <a:r>
                <a:rPr lang="en-US" altLang="zh-CN" sz="1800" i="1" baseline="-25000">
                  <a:solidFill>
                    <a:srgbClr val="006600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Consolas" panose="020B0609020204030204" pitchFamily="49" charset="0"/>
                </a:rPr>
                <a:t>k</a:t>
              </a:r>
              <a:r>
                <a:rPr lang="en-US" altLang="zh-CN" sz="1800" baseline="-25000">
                  <a:solidFill>
                    <a:srgbClr val="006600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Consolas" panose="020B0609020204030204" pitchFamily="49" charset="0"/>
                </a:rPr>
                <a:t>-1</a:t>
              </a:r>
              <a:endParaRPr lang="zh-CN" altLang="en-US" sz="1800">
                <a:solidFill>
                  <a:srgbClr val="0066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6" name="TextBox 26"/>
            <p:cNvSpPr txBox="1"/>
            <p:nvPr>
              <p:custDataLst>
                <p:tags r:id="rId9"/>
              </p:custDataLst>
            </p:nvPr>
          </p:nvSpPr>
          <p:spPr>
            <a:xfrm>
              <a:off x="2202409" y="5357826"/>
              <a:ext cx="369332" cy="928694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zh-CN" altLang="en-US" sz="2000">
                  <a:solidFill>
                    <a:schemeClr val="bg1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左子树</a:t>
              </a:r>
            </a:p>
          </p:txBody>
        </p:sp>
        <p:sp>
          <p:nvSpPr>
            <p:cNvPr id="57" name="TextBox 27"/>
            <p:cNvSpPr txBox="1"/>
            <p:nvPr>
              <p:custDataLst>
                <p:tags r:id="rId10"/>
              </p:custDataLst>
            </p:nvPr>
          </p:nvSpPr>
          <p:spPr>
            <a:xfrm>
              <a:off x="5214942" y="5507196"/>
              <a:ext cx="2206955" cy="646331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l"/>
              <a:r>
                <a:rPr lang="zh-CN" altLang="en-US" sz="1800">
                  <a:solidFill>
                    <a:srgbClr val="3333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先序：</a:t>
              </a:r>
              <a:r>
                <a:rPr lang="en-US" altLang="zh-CN" sz="1800" i="1">
                  <a:solidFill>
                    <a:srgbClr val="0066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r>
                <a:rPr lang="en-US" altLang="zh-CN" sz="1800" i="1" baseline="-25000">
                  <a:solidFill>
                    <a:srgbClr val="0066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k</a:t>
              </a:r>
              <a:r>
                <a:rPr lang="en-US" altLang="zh-CN" sz="1800" baseline="-25000">
                  <a:solidFill>
                    <a:srgbClr val="0066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+1</a:t>
              </a:r>
              <a:r>
                <a:rPr lang="en-US" altLang="zh-CN" sz="1800">
                  <a:solidFill>
                    <a:srgbClr val="0066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altLang="zh-CN" sz="1800">
                  <a:solidFill>
                    <a:srgbClr val="006600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Consolas" panose="020B0609020204030204" pitchFamily="49" charset="0"/>
                </a:rPr>
                <a:t>…</a:t>
              </a:r>
              <a:r>
                <a:rPr lang="en-US" altLang="zh-CN" sz="1800">
                  <a:solidFill>
                    <a:srgbClr val="0066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altLang="zh-CN" sz="1800" i="1">
                  <a:solidFill>
                    <a:srgbClr val="0066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r>
                <a:rPr lang="en-US" altLang="zh-CN" sz="1800" i="1" baseline="-25000">
                  <a:solidFill>
                    <a:srgbClr val="0066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  <a:r>
                <a:rPr lang="en-US" altLang="zh-CN" sz="1800" baseline="-25000">
                  <a:solidFill>
                    <a:srgbClr val="0066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-1</a:t>
              </a:r>
              <a:endParaRPr lang="en-US" altLang="zh-CN" sz="1800" i="1" baseline="-25000">
                <a:solidFill>
                  <a:srgbClr val="0066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algn="l"/>
              <a:r>
                <a:rPr lang="zh-CN" altLang="en-US" sz="1800">
                  <a:solidFill>
                    <a:srgbClr val="3333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中序：</a:t>
              </a:r>
              <a:r>
                <a:rPr lang="en-US" altLang="zh-CN" sz="1800" i="1">
                  <a:solidFill>
                    <a:srgbClr val="3333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altLang="zh-CN" sz="1800" i="1">
                  <a:solidFill>
                    <a:srgbClr val="0066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r>
                <a:rPr lang="en-US" altLang="zh-CN" sz="1800" i="1" baseline="-25000">
                  <a:solidFill>
                    <a:srgbClr val="0066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k</a:t>
              </a:r>
              <a:r>
                <a:rPr lang="en-US" altLang="zh-CN" sz="1800" baseline="-25000">
                  <a:solidFill>
                    <a:srgbClr val="0066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+1</a:t>
              </a:r>
              <a:r>
                <a:rPr lang="en-US" altLang="zh-CN" sz="1800">
                  <a:solidFill>
                    <a:srgbClr val="0066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altLang="zh-CN" sz="1800">
                  <a:solidFill>
                    <a:srgbClr val="006600"/>
                  </a:solidFill>
                  <a:latin typeface="Consolas" panose="020B0609020204030204" pitchFamily="49" charset="0"/>
                  <a:ea typeface="宋体" panose="02010600030101010101" pitchFamily="2" charset="-122"/>
                  <a:cs typeface="Consolas" panose="020B0609020204030204" pitchFamily="49" charset="0"/>
                </a:rPr>
                <a:t>…</a:t>
              </a:r>
              <a:r>
                <a:rPr lang="en-US" altLang="zh-CN" sz="1800">
                  <a:solidFill>
                    <a:srgbClr val="0066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altLang="zh-CN" sz="1800" i="1">
                  <a:solidFill>
                    <a:srgbClr val="0066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r>
                <a:rPr lang="en-US" altLang="zh-CN" sz="1800" i="1" baseline="-25000">
                  <a:solidFill>
                    <a:srgbClr val="0066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  <a:r>
                <a:rPr lang="en-US" altLang="zh-CN" sz="1800" baseline="-25000">
                  <a:solidFill>
                    <a:srgbClr val="0066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-1</a:t>
              </a:r>
              <a:endParaRPr lang="en-US" altLang="en-US" sz="1800" baseline="-25000">
                <a:solidFill>
                  <a:srgbClr val="0066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8" name="TextBox 28"/>
            <p:cNvSpPr txBox="1"/>
            <p:nvPr>
              <p:custDataLst>
                <p:tags r:id="rId11"/>
              </p:custDataLst>
            </p:nvPr>
          </p:nvSpPr>
          <p:spPr>
            <a:xfrm>
              <a:off x="7560259" y="5357826"/>
              <a:ext cx="369332" cy="928694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zh-CN" altLang="en-US" sz="2000">
                  <a:solidFill>
                    <a:schemeClr val="bg1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右子树</a:t>
              </a:r>
            </a:p>
          </p:txBody>
        </p:sp>
        <p:cxnSp>
          <p:nvCxnSpPr>
            <p:cNvPr id="59" name="直接连接符 58"/>
            <p:cNvCxnSpPr>
              <a:stCxn id="54" idx="2"/>
              <a:endCxn id="55" idx="0"/>
            </p:cNvCxnSpPr>
            <p:nvPr>
              <p:custDataLst>
                <p:tags r:id="rId12"/>
              </p:custDataLst>
            </p:nvPr>
          </p:nvCxnSpPr>
          <p:spPr>
            <a:xfrm rot="10800000" flipV="1">
              <a:off x="3571868" y="4926950"/>
              <a:ext cx="995636" cy="580246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>
              <a:stCxn id="54" idx="6"/>
              <a:endCxn id="57" idx="0"/>
            </p:cNvCxnSpPr>
            <p:nvPr>
              <p:custDataLst>
                <p:tags r:id="rId13"/>
              </p:custDataLst>
            </p:nvPr>
          </p:nvCxnSpPr>
          <p:spPr>
            <a:xfrm>
              <a:off x="5143504" y="4926950"/>
              <a:ext cx="1174916" cy="580246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下箭头 60"/>
          <p:cNvSpPr/>
          <p:nvPr>
            <p:custDataLst>
              <p:tags r:id="rId6"/>
            </p:custDataLst>
          </p:nvPr>
        </p:nvSpPr>
        <p:spPr>
          <a:xfrm>
            <a:off x="3880041" y="4296411"/>
            <a:ext cx="381003" cy="500066"/>
          </a:xfrm>
          <a:prstGeom prst="down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bldLvl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2020" y="1102821"/>
            <a:ext cx="10635572" cy="575517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tIns="216000" bIns="180000" rtlCol="0">
            <a:spAutoFit/>
          </a:bodyPr>
          <a:lstStyle/>
          <a:p>
            <a:pPr>
              <a:lnSpc>
                <a:spcPts val="2600"/>
              </a:lnSpc>
            </a:pP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BTNode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*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CreateBTree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(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ElemType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a[],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ElemType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b[],int n) </a:t>
            </a:r>
            <a:endParaRPr lang="zh-CN" altLang="zh-CN" sz="2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>
              <a:lnSpc>
                <a:spcPts val="26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//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由先序序列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a[0..n-1]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和中序序列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b[0..n-1]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建立二叉链存储结构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bt</a:t>
            </a:r>
            <a:endParaRPr lang="zh-CN" altLang="zh-CN" sz="2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>
              <a:lnSpc>
                <a:spcPts val="26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{   int k;</a:t>
            </a:r>
            <a:endParaRPr lang="zh-CN" altLang="zh-CN" sz="2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>
              <a:lnSpc>
                <a:spcPts val="26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if (n&lt;=0) return NULL;</a:t>
            </a:r>
            <a:endParaRPr lang="zh-CN" altLang="zh-CN" sz="2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>
              <a:lnSpc>
                <a:spcPts val="26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ElemType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root=a[0];				//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根结点值</a:t>
            </a:r>
          </a:p>
          <a:p>
            <a:pPr>
              <a:lnSpc>
                <a:spcPts val="26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BTNode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*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bt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=(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BTNode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*)malloc(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sizeof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(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BTNode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));</a:t>
            </a:r>
            <a:endParaRPr lang="zh-CN" altLang="zh-CN" sz="2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>
              <a:lnSpc>
                <a:spcPts val="26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bt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-&gt;data=root;</a:t>
            </a:r>
            <a:endParaRPr lang="zh-CN" altLang="zh-CN" sz="2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>
              <a:lnSpc>
                <a:spcPts val="26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for (k=0;k&lt;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n;k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++)			//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在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中查找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b[k]=root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的根结点</a:t>
            </a:r>
          </a:p>
          <a:p>
            <a:pPr>
              <a:lnSpc>
                <a:spcPts val="26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   if (b[k]==root)</a:t>
            </a:r>
            <a:endParaRPr lang="zh-CN" altLang="zh-CN" sz="2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>
              <a:lnSpc>
                <a:spcPts val="26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	    break;</a:t>
            </a:r>
            <a:endParaRPr lang="zh-CN" altLang="zh-CN" sz="2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bt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-&gt;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lchild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=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CreateBTree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(a+1,b,k);		    //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递归创建左子树</a:t>
            </a:r>
          </a:p>
          <a:p>
            <a:pPr>
              <a:lnSpc>
                <a:spcPts val="26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bt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-&gt;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rchild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=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CreateBTree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(a+k+1,b+k+1,n-k-1);  //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递归创建右子树</a:t>
            </a:r>
          </a:p>
          <a:p>
            <a:pPr>
              <a:lnSpc>
                <a:spcPct val="200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return 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bt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;</a:t>
            </a:r>
            <a:endParaRPr lang="zh-CN" altLang="zh-CN" sz="2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>
              <a:lnSpc>
                <a:spcPts val="26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}</a:t>
            </a:r>
            <a:endParaRPr lang="zh-CN" altLang="zh-CN" sz="2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7374" y="1499870"/>
            <a:ext cx="7684135" cy="1074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00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</a:t>
            </a:r>
            <a:r>
              <a:rPr lang="zh-CN" altLang="zh-CN" sz="22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【例</a:t>
            </a:r>
            <a:r>
              <a:rPr lang="en-US" altLang="zh-CN" sz="22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2.10</a:t>
            </a:r>
            <a:r>
              <a:rPr lang="zh-CN" altLang="zh-CN" sz="22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】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假设二叉树采用二叉链存储结构，设计一个递归算法由二叉树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bt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复制产生另一棵二叉树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bt1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5522" y="1130829"/>
            <a:ext cx="8078470" cy="178371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indent="0" fontAlgn="auto">
              <a:lnSpc>
                <a:spcPct val="100000"/>
              </a:lnSpc>
            </a:pPr>
            <a:r>
              <a:rPr lang="en-US" altLang="zh-CN" sz="220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解：设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f(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bt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bt1)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的功能是由二叉树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bt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复制产生另一棵二叉树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bt1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，它是“大问题”，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则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f(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bt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-&gt;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lchild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bt1-&gt;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lchild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)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的功能就是由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bt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的左子树复制产生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bt1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的左子树，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f(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bt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-&gt;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rchild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bt1-&gt;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rchild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)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的功能就是由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bt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的右子树复制产生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bt1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的右子树，它们是“小问题”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。</a:t>
            </a:r>
          </a:p>
        </p:txBody>
      </p:sp>
      <p:sp>
        <p:nvSpPr>
          <p:cNvPr id="3" name="Oval 5"/>
          <p:cNvSpPr>
            <a:spLocks noChangeArrowheads="1"/>
          </p:cNvSpPr>
          <p:nvPr/>
        </p:nvSpPr>
        <p:spPr bwMode="auto">
          <a:xfrm>
            <a:off x="1801729" y="3653872"/>
            <a:ext cx="579755" cy="431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Line 6"/>
          <p:cNvSpPr>
            <a:spLocks noChangeShapeType="1"/>
          </p:cNvSpPr>
          <p:nvPr/>
        </p:nvSpPr>
        <p:spPr bwMode="auto">
          <a:xfrm flipH="1">
            <a:off x="2441174" y="3437972"/>
            <a:ext cx="361950" cy="28702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3006324" y="3364947"/>
            <a:ext cx="289560" cy="3073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bt</a:t>
            </a:r>
          </a:p>
        </p:txBody>
      </p:sp>
      <p:sp>
        <p:nvSpPr>
          <p:cNvPr id="6" name="AutoShape 8"/>
          <p:cNvSpPr>
            <a:spLocks noChangeArrowheads="1"/>
          </p:cNvSpPr>
          <p:nvPr/>
        </p:nvSpPr>
        <p:spPr bwMode="auto">
          <a:xfrm>
            <a:off x="386949" y="4373327"/>
            <a:ext cx="1301750" cy="10083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AutoShape 9"/>
          <p:cNvSpPr>
            <a:spLocks noChangeArrowheads="1"/>
          </p:cNvSpPr>
          <p:nvPr/>
        </p:nvSpPr>
        <p:spPr bwMode="auto">
          <a:xfrm>
            <a:off x="2490069" y="4373327"/>
            <a:ext cx="1301750" cy="100838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Line 10"/>
          <p:cNvSpPr>
            <a:spLocks noChangeShapeType="1"/>
          </p:cNvSpPr>
          <p:nvPr/>
        </p:nvSpPr>
        <p:spPr bwMode="auto">
          <a:xfrm flipH="1">
            <a:off x="1129899" y="4012647"/>
            <a:ext cx="578485" cy="43307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Line 11"/>
          <p:cNvSpPr>
            <a:spLocks noChangeShapeType="1"/>
          </p:cNvSpPr>
          <p:nvPr/>
        </p:nvSpPr>
        <p:spPr bwMode="auto">
          <a:xfrm>
            <a:off x="2463399" y="4012647"/>
            <a:ext cx="506730" cy="504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395839" y="5523947"/>
            <a:ext cx="1435100" cy="2768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bt</a:t>
            </a:r>
            <a:r>
              <a:rPr lang="en-US" altLang="zh-CN" sz="180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-</a:t>
            </a:r>
            <a:r>
              <a:rPr lang="en-US" altLang="zh-CN" sz="18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&gt;lchild</a:t>
            </a:r>
          </a:p>
        </p:txBody>
      </p:sp>
      <p:sp>
        <p:nvSpPr>
          <p:cNvPr id="11" name="Text Box 13"/>
          <p:cNvSpPr txBox="1">
            <a:spLocks noChangeArrowheads="1"/>
          </p:cNvSpPr>
          <p:nvPr/>
        </p:nvSpPr>
        <p:spPr bwMode="auto">
          <a:xfrm>
            <a:off x="2732004" y="5473147"/>
            <a:ext cx="1391920" cy="2768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bt</a:t>
            </a:r>
            <a:r>
              <a:rPr lang="en-US" altLang="zh-CN" sz="180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-</a:t>
            </a:r>
            <a:r>
              <a:rPr lang="en-US" altLang="zh-CN" sz="18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&gt;rchild</a:t>
            </a:r>
          </a:p>
        </p:txBody>
      </p:sp>
      <p:sp>
        <p:nvSpPr>
          <p:cNvPr id="12" name="Oval 5"/>
          <p:cNvSpPr>
            <a:spLocks noChangeArrowheads="1"/>
          </p:cNvSpPr>
          <p:nvPr/>
        </p:nvSpPr>
        <p:spPr bwMode="auto">
          <a:xfrm>
            <a:off x="6742029" y="3619582"/>
            <a:ext cx="579755" cy="431800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Line 6"/>
          <p:cNvSpPr>
            <a:spLocks noChangeShapeType="1"/>
          </p:cNvSpPr>
          <p:nvPr/>
        </p:nvSpPr>
        <p:spPr bwMode="auto">
          <a:xfrm flipH="1">
            <a:off x="7373854" y="3403682"/>
            <a:ext cx="361950" cy="28702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7850739" y="3330657"/>
            <a:ext cx="610235" cy="3073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bt1</a:t>
            </a:r>
          </a:p>
        </p:txBody>
      </p:sp>
      <p:sp>
        <p:nvSpPr>
          <p:cNvPr id="15" name="AutoShape 8"/>
          <p:cNvSpPr>
            <a:spLocks noChangeArrowheads="1"/>
          </p:cNvSpPr>
          <p:nvPr/>
        </p:nvSpPr>
        <p:spPr bwMode="auto">
          <a:xfrm>
            <a:off x="5281529" y="4338402"/>
            <a:ext cx="1301750" cy="1008380"/>
          </a:xfrm>
          <a:prstGeom prst="triangle">
            <a:avLst>
              <a:gd name="adj" fmla="val 50000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6" name="AutoShape 9"/>
          <p:cNvSpPr>
            <a:spLocks noChangeArrowheads="1"/>
          </p:cNvSpPr>
          <p:nvPr/>
        </p:nvSpPr>
        <p:spPr bwMode="auto">
          <a:xfrm>
            <a:off x="7369409" y="4338402"/>
            <a:ext cx="1301750" cy="1008380"/>
          </a:xfrm>
          <a:prstGeom prst="triangle">
            <a:avLst>
              <a:gd name="adj" fmla="val 50000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" name="Line 10"/>
          <p:cNvSpPr>
            <a:spLocks noChangeShapeType="1"/>
          </p:cNvSpPr>
          <p:nvPr/>
        </p:nvSpPr>
        <p:spPr bwMode="auto">
          <a:xfrm flipH="1">
            <a:off x="6131159" y="3978357"/>
            <a:ext cx="578485" cy="43307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8" name="Line 11"/>
          <p:cNvSpPr>
            <a:spLocks noChangeShapeType="1"/>
          </p:cNvSpPr>
          <p:nvPr/>
        </p:nvSpPr>
        <p:spPr bwMode="auto">
          <a:xfrm>
            <a:off x="7365599" y="3978357"/>
            <a:ext cx="506730" cy="504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9" name="Text Box 12"/>
          <p:cNvSpPr txBox="1">
            <a:spLocks noChangeArrowheads="1"/>
          </p:cNvSpPr>
          <p:nvPr/>
        </p:nvSpPr>
        <p:spPr bwMode="auto">
          <a:xfrm>
            <a:off x="5287244" y="5489657"/>
            <a:ext cx="1506855" cy="2768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bt1</a:t>
            </a:r>
            <a:r>
              <a:rPr lang="en-US" altLang="zh-CN" sz="180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-</a:t>
            </a:r>
            <a:r>
              <a:rPr lang="en-US" altLang="zh-CN" sz="18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&gt;lchild</a:t>
            </a:r>
          </a:p>
        </p:txBody>
      </p:sp>
      <p:sp>
        <p:nvSpPr>
          <p:cNvPr id="20" name="Text Box 13"/>
          <p:cNvSpPr txBox="1">
            <a:spLocks noChangeArrowheads="1"/>
          </p:cNvSpPr>
          <p:nvPr/>
        </p:nvSpPr>
        <p:spPr bwMode="auto">
          <a:xfrm>
            <a:off x="7344644" y="5461717"/>
            <a:ext cx="1588135" cy="2768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bt1</a:t>
            </a:r>
            <a:r>
              <a:rPr lang="en-US" altLang="zh-CN" sz="180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-</a:t>
            </a:r>
            <a:r>
              <a:rPr lang="en-US" altLang="zh-CN" sz="18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&gt;rchild</a:t>
            </a:r>
          </a:p>
        </p:txBody>
      </p:sp>
      <p:cxnSp>
        <p:nvCxnSpPr>
          <p:cNvPr id="22" name="直接箭头连接符 21"/>
          <p:cNvCxnSpPr/>
          <p:nvPr/>
        </p:nvCxnSpPr>
        <p:spPr>
          <a:xfrm>
            <a:off x="2471000" y="3843417"/>
            <a:ext cx="4248150" cy="62230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7" name="组合 26"/>
          <p:cNvGrpSpPr/>
          <p:nvPr/>
        </p:nvGrpSpPr>
        <p:grpSpPr>
          <a:xfrm>
            <a:off x="1229594" y="5272487"/>
            <a:ext cx="3968115" cy="1375222"/>
            <a:chOff x="1000100" y="4459266"/>
            <a:chExt cx="3759790" cy="1324793"/>
          </a:xfrm>
        </p:grpSpPr>
        <p:sp>
          <p:nvSpPr>
            <p:cNvPr id="23" name="任意多边形 22"/>
            <p:cNvSpPr/>
            <p:nvPr/>
          </p:nvSpPr>
          <p:spPr>
            <a:xfrm>
              <a:off x="1179534" y="4459266"/>
              <a:ext cx="3580356" cy="916488"/>
            </a:xfrm>
            <a:custGeom>
              <a:avLst/>
              <a:gdLst>
                <a:gd name="connsiteX0" fmla="*/ 73069 w 3580356"/>
                <a:gd name="connsiteY0" fmla="*/ 75156 h 916488"/>
                <a:gd name="connsiteX1" fmla="*/ 273485 w 3580356"/>
                <a:gd name="connsiteY1" fmla="*/ 613775 h 916488"/>
                <a:gd name="connsiteX2" fmla="*/ 1713978 w 3580356"/>
                <a:gd name="connsiteY2" fmla="*/ 814192 h 916488"/>
                <a:gd name="connsiteX3" fmla="*/ 3580356 w 3580356"/>
                <a:gd name="connsiteY3" fmla="*/ 0 h 916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80356" h="916488">
                  <a:moveTo>
                    <a:pt x="73069" y="75156"/>
                  </a:moveTo>
                  <a:cubicBezTo>
                    <a:pt x="36534" y="282879"/>
                    <a:pt x="0" y="490602"/>
                    <a:pt x="273485" y="613775"/>
                  </a:cubicBezTo>
                  <a:cubicBezTo>
                    <a:pt x="546970" y="736948"/>
                    <a:pt x="1162833" y="916488"/>
                    <a:pt x="1713978" y="814192"/>
                  </a:cubicBezTo>
                  <a:cubicBezTo>
                    <a:pt x="2265123" y="711896"/>
                    <a:pt x="2922739" y="355948"/>
                    <a:pt x="3580356" y="0"/>
                  </a:cubicBezTo>
                </a:path>
              </a:pathLst>
            </a:custGeom>
            <a:ln>
              <a:solidFill>
                <a:srgbClr val="FFFF00"/>
              </a:solidFill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00100" y="5429264"/>
              <a:ext cx="3500462" cy="3547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i="1">
                  <a:solidFill>
                    <a:srgbClr val="FF0000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f</a:t>
              </a:r>
              <a:r>
                <a:rPr lang="en-US" altLang="zh-CN" sz="1800">
                  <a:solidFill>
                    <a:srgbClr val="FF0000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(bt-&gt;lchild</a:t>
              </a:r>
              <a:r>
                <a:rPr lang="zh-CN" altLang="zh-CN" sz="1800">
                  <a:solidFill>
                    <a:srgbClr val="FF0000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，</a:t>
              </a:r>
              <a:r>
                <a:rPr lang="en-US" altLang="zh-CN" sz="1800">
                  <a:solidFill>
                    <a:srgbClr val="FF0000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bt1-&gt;lchild)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3558774" y="5374087"/>
            <a:ext cx="5370830" cy="1262219"/>
            <a:chOff x="3283907" y="4509370"/>
            <a:chExt cx="4918351" cy="1298896"/>
          </a:xfrm>
        </p:grpSpPr>
        <p:sp>
          <p:nvSpPr>
            <p:cNvPr id="25" name="TextBox 24"/>
            <p:cNvSpPr txBox="1"/>
            <p:nvPr/>
          </p:nvSpPr>
          <p:spPr>
            <a:xfrm>
              <a:off x="4773234" y="5429264"/>
              <a:ext cx="3429024" cy="3790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i="1">
                  <a:solidFill>
                    <a:srgbClr val="FF0000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f</a:t>
              </a:r>
              <a:r>
                <a:rPr lang="en-US" altLang="zh-CN" sz="1800">
                  <a:solidFill>
                    <a:srgbClr val="FF0000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(bt-&gt;rchild</a:t>
              </a:r>
              <a:r>
                <a:rPr lang="zh-CN" altLang="zh-CN" sz="1800">
                  <a:solidFill>
                    <a:srgbClr val="FF0000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，</a:t>
              </a:r>
              <a:r>
                <a:rPr lang="en-US" altLang="zh-CN" sz="1800">
                  <a:solidFill>
                    <a:srgbClr val="FF0000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bt1-&gt;rchild)</a:t>
              </a:r>
            </a:p>
          </p:txBody>
        </p:sp>
        <p:sp>
          <p:nvSpPr>
            <p:cNvPr id="26" name="任意多边形 25"/>
            <p:cNvSpPr/>
            <p:nvPr/>
          </p:nvSpPr>
          <p:spPr>
            <a:xfrm>
              <a:off x="3283907" y="4509370"/>
              <a:ext cx="4106449" cy="991644"/>
            </a:xfrm>
            <a:custGeom>
              <a:avLst/>
              <a:gdLst>
                <a:gd name="connsiteX0" fmla="*/ 85594 w 4106449"/>
                <a:gd name="connsiteY0" fmla="*/ 50104 h 991644"/>
                <a:gd name="connsiteX1" fmla="*/ 210855 w 4106449"/>
                <a:gd name="connsiteY1" fmla="*/ 175364 h 991644"/>
                <a:gd name="connsiteX2" fmla="*/ 1350723 w 4106449"/>
                <a:gd name="connsiteY2" fmla="*/ 688931 h 991644"/>
                <a:gd name="connsiteX3" fmla="*/ 3480148 w 4106449"/>
                <a:gd name="connsiteY3" fmla="*/ 876822 h 991644"/>
                <a:gd name="connsiteX4" fmla="*/ 4106449 w 4106449"/>
                <a:gd name="connsiteY4" fmla="*/ 0 h 991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06449" h="991644">
                  <a:moveTo>
                    <a:pt x="85594" y="50104"/>
                  </a:moveTo>
                  <a:cubicBezTo>
                    <a:pt x="42797" y="59498"/>
                    <a:pt x="0" y="68893"/>
                    <a:pt x="210855" y="175364"/>
                  </a:cubicBezTo>
                  <a:cubicBezTo>
                    <a:pt x="421710" y="281835"/>
                    <a:pt x="805841" y="572021"/>
                    <a:pt x="1350723" y="688931"/>
                  </a:cubicBezTo>
                  <a:cubicBezTo>
                    <a:pt x="1895605" y="805841"/>
                    <a:pt x="3020860" y="991644"/>
                    <a:pt x="3480148" y="876822"/>
                  </a:cubicBezTo>
                  <a:cubicBezTo>
                    <a:pt x="3939436" y="762000"/>
                    <a:pt x="4022942" y="381000"/>
                    <a:pt x="4106449" y="0"/>
                  </a:cubicBezTo>
                </a:path>
              </a:pathLst>
            </a:custGeom>
            <a:ln>
              <a:solidFill>
                <a:srgbClr val="FFFF00"/>
              </a:solidFill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7250" y="1027430"/>
            <a:ext cx="7704455" cy="13988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180000" tIns="144000" bIns="144000" rtlCol="0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f(</a:t>
            </a:r>
            <a:r>
              <a:rPr lang="en-US" altLang="zh-CN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bt</a:t>
            </a:r>
            <a:r>
              <a:rPr lang="zh-CN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bt1) 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sym typeface="Symbol" panose="05050102010706020507"/>
              </a:rPr>
              <a:t>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bt1=NULL				</a:t>
            </a:r>
            <a:r>
              <a:rPr lang="zh-CN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当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b=NULL</a:t>
            </a:r>
            <a:r>
              <a:rPr lang="zh-CN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时</a:t>
            </a:r>
          </a:p>
          <a:p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f(</a:t>
            </a:r>
            <a:r>
              <a:rPr lang="en-US" altLang="zh-CN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bt</a:t>
            </a:r>
            <a:r>
              <a:rPr lang="zh-CN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bt1) 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sym typeface="Symbol" panose="05050102010706020507"/>
              </a:rPr>
              <a:t>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</a:t>
            </a:r>
            <a:r>
              <a:rPr lang="zh-CN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由</a:t>
            </a:r>
            <a:r>
              <a:rPr lang="en-US" altLang="zh-CN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bt</a:t>
            </a:r>
            <a:r>
              <a:rPr lang="zh-CN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结点复制产生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bt1</a:t>
            </a:r>
            <a:r>
              <a:rPr lang="zh-CN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结点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;		</a:t>
            </a:r>
            <a:r>
              <a:rPr lang="zh-CN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其他情况</a:t>
            </a:r>
          </a:p>
          <a:p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		f(</a:t>
            </a:r>
            <a:r>
              <a:rPr lang="en-US" altLang="zh-CN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bt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-&gt;</a:t>
            </a:r>
            <a:r>
              <a:rPr lang="en-US" altLang="zh-CN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lchild</a:t>
            </a:r>
            <a:r>
              <a:rPr lang="zh-CN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bt1-&gt;</a:t>
            </a:r>
            <a:r>
              <a:rPr lang="en-US" altLang="zh-CN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lchild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);</a:t>
            </a:r>
          </a:p>
          <a:p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		f(</a:t>
            </a:r>
            <a:r>
              <a:rPr lang="en-US" altLang="zh-CN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bt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-&gt;</a:t>
            </a:r>
            <a:r>
              <a:rPr lang="en-US" altLang="zh-CN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rchild</a:t>
            </a:r>
            <a:r>
              <a:rPr lang="zh-CN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bt1-&gt;</a:t>
            </a:r>
            <a:r>
              <a:rPr lang="en-US" altLang="zh-CN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rchild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) </a:t>
            </a:r>
            <a:endParaRPr lang="zh-CN" altLang="zh-CN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57215" y="567351"/>
            <a:ext cx="46672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对应的递归模型如下：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250" y="2764888"/>
            <a:ext cx="7704455" cy="33337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216000" tIns="144000" bIns="144000" rtlCol="0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void </a:t>
            </a:r>
            <a:r>
              <a:rPr lang="en-US" altLang="zh-CN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CopyBTree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(</a:t>
            </a:r>
            <a:r>
              <a:rPr lang="en-US" altLang="zh-CN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BTNode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*</a:t>
            </a:r>
            <a:r>
              <a:rPr lang="en-US" altLang="zh-CN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bt,BTNode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*&amp;bt1)</a:t>
            </a:r>
          </a:p>
          <a:p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//</a:t>
            </a:r>
            <a:r>
              <a:rPr lang="zh-CN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由二叉树</a:t>
            </a:r>
            <a:r>
              <a:rPr lang="en-US" altLang="zh-CN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bt</a:t>
            </a:r>
            <a:r>
              <a:rPr lang="zh-CN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复制产生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bt1</a:t>
            </a:r>
            <a:endParaRPr lang="zh-CN" altLang="zh-CN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{  if (</a:t>
            </a:r>
            <a:r>
              <a:rPr lang="en-US" altLang="zh-CN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bt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==NULL)</a:t>
            </a:r>
            <a:endParaRPr lang="zh-CN" altLang="zh-CN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	bt1=NULL;</a:t>
            </a:r>
            <a:endParaRPr lang="zh-CN" altLang="zh-CN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else</a:t>
            </a:r>
            <a:endParaRPr lang="zh-CN" altLang="zh-CN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{	bt1=(</a:t>
            </a:r>
            <a:r>
              <a:rPr lang="en-US" altLang="zh-CN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BTNode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*)malloc(</a:t>
            </a:r>
            <a:r>
              <a:rPr lang="en-US" altLang="zh-CN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sizeof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(</a:t>
            </a:r>
            <a:r>
              <a:rPr lang="en-US" altLang="zh-CN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BTNode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));</a:t>
            </a:r>
            <a:endParaRPr lang="zh-CN" altLang="zh-CN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	bt1-&gt;data=</a:t>
            </a:r>
            <a:r>
              <a:rPr lang="en-US" altLang="zh-CN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bt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-&gt;data;</a:t>
            </a:r>
            <a:endParaRPr lang="zh-CN" altLang="zh-CN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	</a:t>
            </a:r>
            <a:r>
              <a:rPr lang="en-US" altLang="zh-CN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CopyBTree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(</a:t>
            </a:r>
            <a:r>
              <a:rPr lang="en-US" altLang="zh-CN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bt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-&gt;lchild,bt1-&gt;</a:t>
            </a:r>
            <a:r>
              <a:rPr lang="en-US" altLang="zh-CN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lchild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);</a:t>
            </a:r>
            <a:endParaRPr lang="zh-CN" altLang="zh-CN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	</a:t>
            </a:r>
            <a:r>
              <a:rPr lang="en-US" altLang="zh-CN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CopyBTree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(</a:t>
            </a:r>
            <a:r>
              <a:rPr lang="en-US" altLang="zh-CN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bt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-&gt;rchild,bt1-&gt;</a:t>
            </a:r>
            <a:r>
              <a:rPr lang="en-US" altLang="zh-CN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rchild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);</a:t>
            </a:r>
            <a:endParaRPr lang="zh-CN" altLang="zh-CN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}</a:t>
            </a:r>
            <a:endParaRPr lang="zh-CN" altLang="zh-CN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}</a:t>
            </a:r>
            <a:endParaRPr lang="zh-CN" altLang="zh-CN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5" name="下箭头 4"/>
          <p:cNvSpPr/>
          <p:nvPr/>
        </p:nvSpPr>
        <p:spPr>
          <a:xfrm>
            <a:off x="4363077" y="2452046"/>
            <a:ext cx="285752" cy="500066"/>
          </a:xfrm>
          <a:prstGeom prst="down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8485" y="1238885"/>
            <a:ext cx="8216265" cy="1582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</a:t>
            </a:r>
            <a:r>
              <a:rPr lang="zh-CN" altLang="zh-CN" sz="22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【例</a:t>
            </a:r>
            <a:r>
              <a:rPr lang="en-US" altLang="zh-CN" sz="22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2.11</a:t>
            </a:r>
            <a:r>
              <a:rPr lang="zh-CN" altLang="zh-CN" sz="22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】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假设二叉树采用二叉链存储结构，设计一个递归算法输出从根结点到值为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x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的结点的路径，假设二叉树中所有结点值不同。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3824" y="1197142"/>
            <a:ext cx="8178165" cy="347662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indent="0" fontAlgn="auto">
              <a:lnSpc>
                <a:spcPct val="100000"/>
              </a:lnSpc>
            </a:pPr>
            <a:r>
              <a:rPr lang="en-US" altLang="zh-CN" sz="2200" dirty="0"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    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解法：用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vector&lt;int&gt;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向量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path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存放从根结点到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x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结点的正向路径。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 f(b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x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path)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的求解过程是：</a:t>
            </a:r>
            <a:endParaRPr lang="en-US" altLang="zh-CN" sz="2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 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若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为空树，返回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false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；</a:t>
            </a:r>
            <a:endParaRPr lang="en-US" altLang="zh-CN" sz="2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 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否则将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结点值加入到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path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中，如果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b-&gt;data=x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，查找成功返回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true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；</a:t>
            </a:r>
            <a:endParaRPr lang="en-US" altLang="zh-CN" sz="2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 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如果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b-&gt;data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≠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x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，在左子树中查找，若在左子树找到值为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x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的结点，返回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true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，若在左子树没有找到值为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x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的结点，返回在右子树中的查找结果。</a:t>
            </a:r>
            <a:endParaRPr lang="en-US" altLang="zh-CN" sz="2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 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左、右子树中查找都是“小问题”。</a:t>
            </a:r>
            <a:endParaRPr lang="zh-CN" altLang="en-US" sz="2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97635" y="5210495"/>
            <a:ext cx="8178165" cy="14715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80000" tIns="180000" bIns="180000" rtlCol="0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f(b</a:t>
            </a:r>
            <a:r>
              <a:rPr lang="zh-CN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x</a:t>
            </a:r>
            <a:r>
              <a:rPr lang="zh-CN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path)=false				</a:t>
            </a:r>
            <a:r>
              <a:rPr lang="zh-CN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当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b=NULL</a:t>
            </a:r>
            <a:endParaRPr lang="zh-CN" altLang="zh-CN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f(b</a:t>
            </a:r>
            <a:r>
              <a:rPr lang="zh-CN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x</a:t>
            </a:r>
            <a:r>
              <a:rPr lang="zh-CN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path)=true</a:t>
            </a:r>
            <a:r>
              <a:rPr lang="zh-CN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（将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b-&gt;data</a:t>
            </a:r>
            <a:r>
              <a:rPr lang="zh-CN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加入到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path</a:t>
            </a:r>
            <a:r>
              <a:rPr lang="zh-CN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中）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	</a:t>
            </a:r>
            <a:r>
              <a:rPr lang="zh-CN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当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b-&gt;data=x</a:t>
            </a:r>
            <a:endParaRPr lang="zh-CN" altLang="zh-CN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f(b</a:t>
            </a:r>
            <a:r>
              <a:rPr lang="zh-CN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x</a:t>
            </a:r>
            <a:r>
              <a:rPr lang="zh-CN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path)=true			f(b-&gt;</a:t>
            </a:r>
            <a:r>
              <a:rPr lang="en-US" altLang="zh-CN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lchild</a:t>
            </a:r>
            <a:r>
              <a:rPr lang="zh-CN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x</a:t>
            </a:r>
            <a:r>
              <a:rPr lang="zh-CN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path)=true</a:t>
            </a:r>
            <a:endParaRPr lang="zh-CN" altLang="zh-CN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f(b</a:t>
            </a:r>
            <a:r>
              <a:rPr lang="zh-CN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x</a:t>
            </a:r>
            <a:r>
              <a:rPr lang="zh-CN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path)= f(b-&gt;</a:t>
            </a:r>
            <a:r>
              <a:rPr lang="en-US" altLang="zh-CN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rchild</a:t>
            </a:r>
            <a:r>
              <a:rPr lang="zh-CN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x</a:t>
            </a:r>
            <a:r>
              <a:rPr lang="zh-CN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path)		</a:t>
            </a:r>
            <a:r>
              <a:rPr lang="zh-CN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其他情况</a:t>
            </a:r>
            <a:endParaRPr lang="zh-CN" altLang="en-US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4" name="下箭头 3"/>
          <p:cNvSpPr/>
          <p:nvPr/>
        </p:nvSpPr>
        <p:spPr>
          <a:xfrm>
            <a:off x="4221904" y="4685988"/>
            <a:ext cx="381003" cy="50006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1538" y="1216554"/>
            <a:ext cx="9042511" cy="45184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tIns="180000" bIns="180000" rtlCol="0">
            <a:spAutoFit/>
          </a:bodyPr>
          <a:lstStyle/>
          <a:p>
            <a:pPr indent="0" fontAlgn="auto">
              <a:lnSpc>
                <a:spcPct val="100000"/>
              </a:lnSpc>
            </a:pP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bool Findxpath2(</a:t>
            </a:r>
            <a:r>
              <a:rPr lang="en-US" altLang="zh-CN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BTNode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*</a:t>
            </a:r>
            <a:r>
              <a:rPr lang="en-US" altLang="zh-CN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bt,int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</a:t>
            </a:r>
            <a:r>
              <a:rPr lang="en-US" altLang="zh-CN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x,vector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&lt;int&gt; </a:t>
            </a:r>
            <a:r>
              <a:rPr lang="en-US" altLang="zh-CN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tmppath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,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vector&lt;int&gt; &amp;path) 		//</a:t>
            </a:r>
            <a:r>
              <a:rPr lang="zh-CN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求根结点到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x</a:t>
            </a:r>
            <a:r>
              <a:rPr lang="zh-CN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结点的（正向）路径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{   if (</a:t>
            </a:r>
            <a:r>
              <a:rPr lang="en-US" altLang="zh-CN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bt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==NULL)			//</a:t>
            </a:r>
            <a:r>
              <a:rPr lang="zh-CN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空树返回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false</a:t>
            </a:r>
            <a:endParaRPr lang="zh-CN" altLang="zh-CN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	return false;</a:t>
            </a:r>
            <a:endParaRPr lang="zh-CN" altLang="zh-CN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</a:t>
            </a:r>
            <a:r>
              <a:rPr lang="en-US" altLang="zh-CN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tmppath.push_back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(</a:t>
            </a:r>
            <a:r>
              <a:rPr lang="en-US" altLang="zh-CN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bt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-&gt;data);	//</a:t>
            </a:r>
            <a:r>
              <a:rPr lang="zh-CN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当前结点加入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path</a:t>
            </a:r>
            <a:endParaRPr lang="zh-CN" altLang="zh-CN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if (</a:t>
            </a:r>
            <a:r>
              <a:rPr lang="en-US" altLang="zh-CN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bt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-&gt;data==x)			//</a:t>
            </a:r>
            <a:r>
              <a:rPr lang="zh-CN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当前结点值为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x</a:t>
            </a:r>
            <a:r>
              <a:rPr lang="zh-CN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，返回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true</a:t>
            </a:r>
            <a:endParaRPr lang="zh-CN" altLang="zh-CN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{	path=</a:t>
            </a:r>
            <a:r>
              <a:rPr lang="en-US" altLang="zh-CN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tmppath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;			//</a:t>
            </a:r>
            <a:r>
              <a:rPr lang="zh-CN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路径复制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	return true;</a:t>
            </a:r>
            <a:endParaRPr lang="zh-CN" altLang="zh-CN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}</a:t>
            </a:r>
            <a:endParaRPr lang="zh-CN" altLang="zh-CN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bool find=Findxpath2(</a:t>
            </a:r>
            <a:r>
              <a:rPr lang="en-US" altLang="zh-CN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bt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-&gt;</a:t>
            </a:r>
            <a:r>
              <a:rPr lang="en-US" altLang="zh-CN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lchild,x,tmppath,path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); //</a:t>
            </a:r>
            <a:r>
              <a:rPr lang="zh-CN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在左子树中查找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if (find)				//</a:t>
            </a:r>
            <a:r>
              <a:rPr lang="zh-CN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左子树中成功找到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	return true;</a:t>
            </a:r>
            <a:endParaRPr lang="zh-CN" altLang="zh-CN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else				//</a:t>
            </a:r>
            <a:r>
              <a:rPr lang="zh-CN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左子树中没有找到，在右子树中查找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	return Findxpath2(</a:t>
            </a:r>
            <a:r>
              <a:rPr lang="en-US" altLang="zh-CN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bt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-&gt;</a:t>
            </a:r>
            <a:r>
              <a:rPr lang="en-US" altLang="zh-CN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rchild,x,tmppath,path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);</a:t>
            </a:r>
            <a:endParaRPr lang="zh-CN" altLang="zh-CN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}</a:t>
            </a:r>
            <a:endParaRPr lang="zh-CN" altLang="zh-CN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6" name="Text Box 4"/>
          <p:cNvSpPr txBox="1">
            <a:spLocks noChangeArrowheads="1"/>
          </p:cNvSpPr>
          <p:nvPr/>
        </p:nvSpPr>
        <p:spPr bwMode="auto">
          <a:xfrm>
            <a:off x="540134" y="2132578"/>
            <a:ext cx="8204835" cy="107484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00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</a:t>
            </a:r>
            <a:r>
              <a:rPr lang="zh-CN" altLang="zh-CN" sz="22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【问题描述】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对于给定的含有</a:t>
            </a:r>
            <a:r>
              <a:rPr lang="pt-BR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个元素的数组</a:t>
            </a:r>
            <a:r>
              <a:rPr lang="pt-BR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a</a:t>
            </a:r>
            <a:r>
              <a:rPr lang="zh-CN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，分别采用简单选择排序和冒泡排序方法对其按元素值递增排序。</a:t>
            </a:r>
          </a:p>
        </p:txBody>
      </p:sp>
      <p:sp>
        <p:nvSpPr>
          <p:cNvPr id="3" name="基础扎实 / Strong Preparation">
            <a:extLst>
              <a:ext uri="{FF2B5EF4-FFF2-40B4-BE49-F238E27FC236}">
                <a16:creationId xmlns:a16="http://schemas.microsoft.com/office/drawing/2014/main" id="{B2211047-8223-0751-9F73-29D043D33584}"/>
              </a:ext>
            </a:extLst>
          </p:cNvPr>
          <p:cNvSpPr txBox="1"/>
          <p:nvPr/>
        </p:nvSpPr>
        <p:spPr>
          <a:xfrm>
            <a:off x="2603627" y="367980"/>
            <a:ext cx="5870237" cy="561660"/>
          </a:xfrm>
          <a:prstGeom prst="rect">
            <a:avLst/>
          </a:prstGeom>
          <a:noFill/>
          <a:ln>
            <a:noFill/>
          </a:ln>
        </p:spPr>
        <p:txBody>
          <a:bodyPr wrap="square" lIns="68549" tIns="34274" rIns="68549" bIns="34274" rtlCol="0">
            <a:spAutoFit/>
          </a:bodyPr>
          <a:lstStyle/>
          <a:p>
            <a:pPr algn="ctr" defTabSz="950595">
              <a:buClr>
                <a:prstClr val="white"/>
              </a:buClr>
              <a:buSzTx/>
              <a:buFontTx/>
              <a:defRPr/>
            </a:pPr>
            <a:r>
              <a:rPr lang="zh-CN" altLang="en-US" sz="3200" b="1" spc="50" dirty="0">
                <a:ln w="11430"/>
                <a:solidFill>
                  <a:srgbClr val="006600"/>
                </a:solidFill>
                <a:latin typeface="+mn-ea"/>
                <a:sym typeface="Arial" panose="020B0604020202020204" pitchFamily="34" charset="0"/>
              </a:rPr>
              <a:t>2.</a:t>
            </a:r>
            <a:r>
              <a:rPr lang="en-US" altLang="zh-CN" sz="3200" b="1" spc="50" dirty="0">
                <a:ln w="11430"/>
                <a:solidFill>
                  <a:srgbClr val="006600"/>
                </a:solidFill>
                <a:latin typeface="+mn-ea"/>
                <a:sym typeface="Arial" panose="020B0604020202020204" pitchFamily="34" charset="0"/>
              </a:rPr>
              <a:t>3</a:t>
            </a:r>
            <a:r>
              <a:rPr lang="zh-CN" altLang="en-US" sz="3200" b="1" spc="50" dirty="0">
                <a:ln w="11430"/>
                <a:solidFill>
                  <a:srgbClr val="006600"/>
                </a:solidFill>
                <a:latin typeface="+mn-ea"/>
                <a:sym typeface="Arial" panose="020B0604020202020204" pitchFamily="34" charset="0"/>
              </a:rPr>
              <a:t> 递归算法设计示例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22A90878-F303-5D7C-1017-8868C5AAB9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812" y="1231836"/>
            <a:ext cx="5929108" cy="523220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CN" sz="2800" dirty="0">
                <a:solidFill>
                  <a:srgbClr val="FF0000"/>
                </a:solidFill>
                <a:latin typeface="+mn-ea"/>
              </a:rPr>
              <a:t>2.3.1 </a:t>
            </a:r>
            <a:r>
              <a:rPr lang="zh-CN" altLang="en-US" sz="2800" dirty="0">
                <a:solidFill>
                  <a:srgbClr val="FF0000"/>
                </a:solidFill>
                <a:latin typeface="+mn-ea"/>
              </a:rPr>
              <a:t>简单选择排序和冒泡排序</a:t>
            </a:r>
            <a:endParaRPr lang="zh-CN" altLang="zh-CN" sz="28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6C1A508-615A-E5FC-BF3D-7E8F4994E5AE}"/>
              </a:ext>
            </a:extLst>
          </p:cNvPr>
          <p:cNvSpPr txBox="1"/>
          <p:nvPr/>
        </p:nvSpPr>
        <p:spPr>
          <a:xfrm>
            <a:off x="3050046" y="3245868"/>
            <a:ext cx="61000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80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charset="-122"/>
                <a:cs typeface="Consolas" panose="020B0609020204030204" pitchFamily="49" charset="0"/>
              </a:rPr>
              <a:t>2.3.1</a:t>
            </a:r>
            <a:endParaRPr lang="zh-CN" altLang="en-US" sz="1800" dirty="0">
              <a:solidFill>
                <a:schemeClr val="tx1"/>
              </a:solidFill>
              <a:latin typeface="Consolas" panose="020B0609020204030204" pitchFamily="49" charset="0"/>
              <a:ea typeface="微软雅黑" panose="020B0503020204020204" charset="-122"/>
              <a:cs typeface="Consolas" panose="020B0609020204030204" pitchFamily="49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 Box 2"/>
          <p:cNvSpPr txBox="1">
            <a:spLocks noChangeArrowheads="1"/>
          </p:cNvSpPr>
          <p:nvPr/>
        </p:nvSpPr>
        <p:spPr bwMode="auto">
          <a:xfrm>
            <a:off x="484091" y="1229245"/>
            <a:ext cx="3808730" cy="4308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1. 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简单选择排序</a:t>
            </a:r>
          </a:p>
        </p:txBody>
      </p:sp>
      <p:sp>
        <p:nvSpPr>
          <p:cNvPr id="70659" name="Text Box 3"/>
          <p:cNvSpPr txBox="1">
            <a:spLocks noChangeArrowheads="1"/>
          </p:cNvSpPr>
          <p:nvPr/>
        </p:nvSpPr>
        <p:spPr bwMode="auto">
          <a:xfrm>
            <a:off x="388841" y="1876945"/>
            <a:ext cx="8350250" cy="20148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400" dirty="0">
                <a:solidFill>
                  <a:srgbClr val="0000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　　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设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f(a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)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用于对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a[i..n-1]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元素序列（共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n-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个元素）进行简单选择排序，是“大问题”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.</a:t>
            </a:r>
          </a:p>
          <a:p>
            <a:pPr>
              <a:lnSpc>
                <a:spcPts val="3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f(a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i+1)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用于对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a[i+1..n-1]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元素序列（共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n-i-1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个元素）进行简单选择排序，是“小问题”。</a:t>
            </a:r>
            <a:endParaRPr lang="en-US" altLang="zh-CN" sz="2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>
              <a:lnSpc>
                <a:spcPts val="3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当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=n-1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时所有元素有序，算法结束。</a:t>
            </a:r>
          </a:p>
        </p:txBody>
      </p:sp>
      <p:sp>
        <p:nvSpPr>
          <p:cNvPr id="70660" name="Text Box 4"/>
          <p:cNvSpPr txBox="1">
            <a:spLocks noChangeArrowheads="1"/>
          </p:cNvSpPr>
          <p:nvPr/>
        </p:nvSpPr>
        <p:spPr bwMode="auto">
          <a:xfrm>
            <a:off x="484090" y="4180725"/>
            <a:ext cx="9469981" cy="14691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180000" tIns="180000" bIns="180000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f(a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) 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sym typeface="Symbol" panose="05050102010706020507" pitchFamily="18" charset="2"/>
              </a:rPr>
              <a:t>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不做任何事情，算法结束当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=n-1</a:t>
            </a:r>
          </a:p>
          <a:p>
            <a:pPr>
              <a:lnSpc>
                <a:spcPts val="3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f(a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) 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sym typeface="Symbol" panose="05050102010706020507" pitchFamily="18" charset="2"/>
              </a:rPr>
              <a:t>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通过简单比较挑选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a[i..n-1]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中的最小元素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a[k]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放在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a[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]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处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;    </a:t>
            </a:r>
          </a:p>
          <a:p>
            <a:pPr>
              <a:lnSpc>
                <a:spcPts val="3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否则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f(a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i+1);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Text Box 2"/>
          <p:cNvSpPr txBox="1">
            <a:spLocks noChangeArrowheads="1"/>
          </p:cNvSpPr>
          <p:nvPr/>
        </p:nvSpPr>
        <p:spPr bwMode="auto">
          <a:xfrm>
            <a:off x="668398" y="1208087"/>
            <a:ext cx="9604793" cy="53691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tIns="144000" bIns="144000">
            <a:spAutoFit/>
          </a:bodyPr>
          <a:lstStyle/>
          <a:p>
            <a:pPr>
              <a:defRPr/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void 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SelectSort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(int a[]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int n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int 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)</a:t>
            </a:r>
          </a:p>
          <a:p>
            <a:pPr>
              <a:defRPr/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{   int j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k;</a:t>
            </a:r>
          </a:p>
          <a:p>
            <a:pPr>
              <a:defRPr/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if (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==n-1) return;	//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满足递归出口条件</a:t>
            </a:r>
          </a:p>
          <a:p>
            <a:pPr>
              <a:lnSpc>
                <a:spcPct val="200000"/>
              </a:lnSpc>
              <a:defRPr/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else</a:t>
            </a:r>
          </a:p>
          <a:p>
            <a:pPr>
              <a:defRPr/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　　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{	k=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;			//k</a:t>
            </a:r>
            <a:r>
              <a:rPr lang="zh-CN" altLang="nb-NO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记录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a[i..n-1]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中最小元素的下标</a:t>
            </a:r>
          </a:p>
          <a:p>
            <a:pPr>
              <a:defRPr/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	</a:t>
            </a:r>
            <a:r>
              <a:rPr lang="nb-NO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for (j=i+1;j&lt;n;j++)  	//</a:t>
            </a:r>
            <a:r>
              <a:rPr lang="zh-CN" altLang="nb-NO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在</a:t>
            </a:r>
            <a:r>
              <a:rPr lang="nb-NO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a[i..n-1]</a:t>
            </a:r>
            <a:r>
              <a:rPr lang="zh-CN" altLang="nb-NO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中找最小元素</a:t>
            </a:r>
          </a:p>
          <a:p>
            <a:pPr>
              <a:defRPr/>
            </a:pPr>
            <a:r>
              <a:rPr lang="zh-CN" altLang="nb-NO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	　　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if (a[j]&lt;a[k])</a:t>
            </a:r>
          </a:p>
          <a:p>
            <a:pPr>
              <a:defRPr/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		k=j;</a:t>
            </a:r>
          </a:p>
          <a:p>
            <a:pPr>
              <a:defRPr/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	if (k!=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)		//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若最小元素不是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a[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]</a:t>
            </a:r>
          </a:p>
          <a:p>
            <a:pPr>
              <a:defRPr/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	    swap(a[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],a[k]);	//a[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]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a[k]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交换</a:t>
            </a:r>
          </a:p>
          <a:p>
            <a:pPr>
              <a:lnSpc>
                <a:spcPct val="200000"/>
              </a:lnSpc>
              <a:defRPr/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	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SelectSort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(a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i+1);</a:t>
            </a:r>
          </a:p>
          <a:p>
            <a:pPr>
              <a:defRPr/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　　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}</a:t>
            </a:r>
          </a:p>
          <a:p>
            <a:pPr>
              <a:defRPr/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}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ext Box 2"/>
          <p:cNvSpPr txBox="1">
            <a:spLocks noChangeArrowheads="1"/>
          </p:cNvSpPr>
          <p:nvPr/>
        </p:nvSpPr>
        <p:spPr bwMode="auto">
          <a:xfrm>
            <a:off x="138765" y="1141551"/>
            <a:ext cx="2808796" cy="4308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ClrTx/>
              <a:buSzTx/>
              <a:buFontTx/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2. 冒泡排序</a:t>
            </a:r>
          </a:p>
        </p:txBody>
      </p:sp>
      <p:sp>
        <p:nvSpPr>
          <p:cNvPr id="72707" name="Text Box 3"/>
          <p:cNvSpPr txBox="1">
            <a:spLocks noChangeArrowheads="1"/>
          </p:cNvSpPr>
          <p:nvPr/>
        </p:nvSpPr>
        <p:spPr bwMode="auto">
          <a:xfrm>
            <a:off x="648339" y="1696085"/>
            <a:ext cx="8033385" cy="17329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Bef>
                <a:spcPts val="0"/>
              </a:spcBef>
            </a:pPr>
            <a:r>
              <a:rPr lang="zh-CN" altLang="en-US" sz="24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　　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设</a:t>
            </a:r>
            <a:r>
              <a:rPr lang="pt-BR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f(a</a:t>
            </a:r>
            <a:r>
              <a:rPr lang="zh-CN" altLang="pt-BR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pt-BR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pt-BR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pt-BR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i)</a:t>
            </a:r>
            <a:r>
              <a:rPr lang="zh-CN" altLang="pt-BR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用于对</a:t>
            </a:r>
            <a:r>
              <a:rPr lang="pt-BR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a[i..n-1]</a:t>
            </a:r>
            <a:r>
              <a:rPr lang="zh-CN" altLang="pt-BR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元素序列（共</a:t>
            </a:r>
            <a:r>
              <a:rPr lang="pt-BR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n-i</a:t>
            </a:r>
            <a:r>
              <a:rPr lang="zh-CN" altLang="pt-BR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个元素）进行冒泡排序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zh-CN" altLang="pt-BR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是“大问题”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zh-CN" altLang="pt-BR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则</a:t>
            </a:r>
            <a:r>
              <a:rPr lang="pt-BR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f(a</a:t>
            </a:r>
            <a:r>
              <a:rPr lang="zh-CN" altLang="pt-BR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pt-BR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pt-BR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pt-BR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i+1)</a:t>
            </a:r>
            <a:r>
              <a:rPr lang="zh-CN" altLang="pt-BR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用于对</a:t>
            </a:r>
            <a:r>
              <a:rPr lang="pt-BR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a[i+1..n-1]</a:t>
            </a:r>
            <a:r>
              <a:rPr lang="zh-CN" altLang="pt-BR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元素序列（共</a:t>
            </a:r>
            <a:r>
              <a:rPr lang="pt-BR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n-i-1</a:t>
            </a:r>
            <a:r>
              <a:rPr lang="zh-CN" altLang="pt-BR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个元素）进行冒泡排序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zh-CN" altLang="pt-BR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是“小问题”。当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=n-1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时所有元素有序，算法结束。　</a:t>
            </a:r>
          </a:p>
        </p:txBody>
      </p:sp>
      <p:sp>
        <p:nvSpPr>
          <p:cNvPr id="72708" name="Text Box 4"/>
          <p:cNvSpPr txBox="1">
            <a:spLocks noChangeArrowheads="1"/>
          </p:cNvSpPr>
          <p:nvPr/>
        </p:nvSpPr>
        <p:spPr bwMode="auto">
          <a:xfrm>
            <a:off x="648339" y="3768090"/>
            <a:ext cx="8685905" cy="23409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180000" tIns="180000" bIns="18000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f(a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) 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sym typeface="Symbol" panose="05050102010706020507" pitchFamily="18" charset="2"/>
              </a:rPr>
              <a:t>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不做任何事情，算法结束			当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=n-1</a:t>
            </a:r>
          </a:p>
          <a:p>
            <a:pPr>
              <a:lnSpc>
                <a:spcPct val="120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f(a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) 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sym typeface="Symbol" panose="05050102010706020507" pitchFamily="18" charset="2"/>
              </a:rPr>
              <a:t>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对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a[i..n-1]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元素序列，从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a[n-1]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开始</a:t>
            </a:r>
            <a:endParaRPr lang="en-US" altLang="zh-CN" sz="2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	         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进行相邻元素比较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;			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否则</a:t>
            </a:r>
          </a:p>
          <a:p>
            <a:pPr>
              <a:lnSpc>
                <a:spcPct val="12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	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     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若相邻两元素反序则将两者交换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;</a:t>
            </a:r>
          </a:p>
          <a:p>
            <a:pPr>
              <a:lnSpc>
                <a:spcPct val="120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	         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若没有交换则返回，否则执行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f(a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i+1);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Text Box 2"/>
          <p:cNvSpPr txBox="1">
            <a:spLocks noChangeArrowheads="1"/>
          </p:cNvSpPr>
          <p:nvPr/>
        </p:nvSpPr>
        <p:spPr bwMode="auto">
          <a:xfrm>
            <a:off x="858444" y="1104516"/>
            <a:ext cx="9322694" cy="54095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80000" tIns="144000" bIns="180000">
            <a:noAutofit/>
          </a:bodyPr>
          <a:lstStyle/>
          <a:p>
            <a:pPr>
              <a:defRPr/>
            </a:pP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void </a:t>
            </a:r>
            <a:r>
              <a:rPr lang="en-US" altLang="zh-CN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BubbleSort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(int a[]</a:t>
            </a:r>
            <a:r>
              <a:rPr lang="zh-CN" altLang="en-US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int n</a:t>
            </a:r>
            <a:r>
              <a:rPr lang="zh-CN" altLang="en-US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int </a:t>
            </a:r>
            <a:r>
              <a:rPr lang="en-US" altLang="zh-CN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)</a:t>
            </a:r>
          </a:p>
          <a:p>
            <a:pPr>
              <a:defRPr/>
            </a:pP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{   int  j;</a:t>
            </a:r>
          </a:p>
          <a:p>
            <a:pPr>
              <a:defRPr/>
            </a:pPr>
            <a:r>
              <a:rPr lang="zh-CN" altLang="en-US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bool exchange;</a:t>
            </a:r>
          </a:p>
          <a:p>
            <a:pPr>
              <a:defRPr/>
            </a:pPr>
            <a:r>
              <a:rPr lang="zh-CN" altLang="en-US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if (</a:t>
            </a:r>
            <a:r>
              <a:rPr lang="en-US" altLang="zh-CN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==n-1) return;		//</a:t>
            </a:r>
            <a:r>
              <a:rPr lang="zh-CN" altLang="en-US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满足递归出口条件</a:t>
            </a:r>
          </a:p>
          <a:p>
            <a:pPr>
              <a:lnSpc>
                <a:spcPct val="200000"/>
              </a:lnSpc>
              <a:defRPr/>
            </a:pPr>
            <a:r>
              <a:rPr lang="zh-CN" altLang="en-US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　　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else</a:t>
            </a:r>
          </a:p>
          <a:p>
            <a:pPr>
              <a:defRPr/>
            </a:pPr>
            <a:r>
              <a:rPr lang="zh-CN" altLang="en-US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　　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{   exchange=false;		//</a:t>
            </a:r>
            <a:r>
              <a:rPr lang="zh-CN" altLang="en-US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置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exchange</a:t>
            </a:r>
            <a:r>
              <a:rPr lang="zh-CN" altLang="en-US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为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false</a:t>
            </a:r>
          </a:p>
          <a:p>
            <a:pPr>
              <a:defRPr/>
            </a:pPr>
            <a:r>
              <a:rPr lang="zh-CN" altLang="en-US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　　　  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for (j=n-1;j&gt;</a:t>
            </a:r>
            <a:r>
              <a:rPr lang="en-US" altLang="zh-CN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i;j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--)</a:t>
            </a:r>
          </a:p>
          <a:p>
            <a:pPr>
              <a:defRPr/>
            </a:pPr>
            <a:r>
              <a:rPr lang="zh-CN" altLang="en-US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　　　　　　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if (a[j]&lt;a[j-1])		//</a:t>
            </a:r>
            <a:r>
              <a:rPr lang="zh-CN" altLang="en-US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当相邻元素反序时</a:t>
            </a:r>
          </a:p>
          <a:p>
            <a:pPr>
              <a:defRPr/>
            </a:pPr>
            <a:r>
              <a:rPr lang="zh-CN" altLang="en-US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　　　　　　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{	</a:t>
            </a:r>
            <a:r>
              <a:rPr lang="zh-CN" altLang="en-US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　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swap(a[j],a[j-1]);</a:t>
            </a:r>
          </a:p>
          <a:p>
            <a:pPr>
              <a:defRPr/>
            </a:pP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		</a:t>
            </a:r>
            <a:r>
              <a:rPr lang="zh-CN" altLang="en-US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　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exchange=true;	//</a:t>
            </a:r>
            <a:r>
              <a:rPr lang="zh-CN" altLang="en-US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发生交换置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exchange</a:t>
            </a:r>
            <a:r>
              <a:rPr lang="zh-CN" altLang="en-US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为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true</a:t>
            </a:r>
          </a:p>
          <a:p>
            <a:pPr>
              <a:defRPr/>
            </a:pPr>
            <a:r>
              <a:rPr lang="zh-CN" altLang="en-US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　　　　　　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}</a:t>
            </a:r>
          </a:p>
          <a:p>
            <a:pPr>
              <a:defRPr/>
            </a:pPr>
            <a:r>
              <a:rPr lang="zh-CN" altLang="en-US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　　　　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if (exchange==false)		//</a:t>
            </a:r>
            <a:r>
              <a:rPr lang="zh-CN" altLang="en-US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未发生交换时直接返回　　　</a:t>
            </a:r>
          </a:p>
          <a:p>
            <a:pPr>
              <a:defRPr/>
            </a:pPr>
            <a:r>
              <a:rPr lang="zh-CN" altLang="en-US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　　　　　　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return;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　　　　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else				//</a:t>
            </a:r>
            <a:r>
              <a:rPr lang="zh-CN" altLang="en-US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发生交换时继续递归调用</a:t>
            </a:r>
          </a:p>
          <a:p>
            <a:pPr>
              <a:defRPr/>
            </a:pPr>
            <a:r>
              <a:rPr lang="zh-CN" altLang="en-US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　　　　　　</a:t>
            </a:r>
            <a:r>
              <a:rPr lang="en-US" altLang="zh-CN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BubbleSort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(a</a:t>
            </a:r>
            <a:r>
              <a:rPr lang="zh-CN" altLang="en-US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en-US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i+1);</a:t>
            </a:r>
          </a:p>
          <a:p>
            <a:pPr>
              <a:defRPr/>
            </a:pPr>
            <a:r>
              <a:rPr lang="zh-CN" altLang="en-US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　　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}</a:t>
            </a:r>
          </a:p>
          <a:p>
            <a:pPr>
              <a:defRPr/>
            </a:pP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}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Text Box 5"/>
          <p:cNvSpPr txBox="1">
            <a:spLocks noChangeArrowheads="1"/>
          </p:cNvSpPr>
          <p:nvPr/>
        </p:nvSpPr>
        <p:spPr bwMode="auto">
          <a:xfrm>
            <a:off x="624205" y="1829435"/>
            <a:ext cx="8098155" cy="126848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Bef>
                <a:spcPts val="0"/>
              </a:spcBef>
            </a:pPr>
            <a:r>
              <a:rPr lang="zh-CN" altLang="en-US" sz="22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　　</a:t>
            </a:r>
            <a:r>
              <a:rPr lang="en-US" altLang="zh-CN" sz="22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【</a:t>
            </a:r>
            <a:r>
              <a:rPr lang="zh-CN" altLang="en-US" sz="22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问题描述</a:t>
            </a:r>
            <a:r>
              <a:rPr lang="en-US" altLang="zh-CN" sz="22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】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在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n×n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的方格棋盘上，放置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个皇后，要求每个皇后不同行、不同列、不同左右对角线。如下图所示是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6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皇后问题的一个解。</a:t>
            </a:r>
          </a:p>
        </p:txBody>
      </p:sp>
      <p:sp>
        <p:nvSpPr>
          <p:cNvPr id="10245" name="Rectangle 7"/>
          <p:cNvSpPr>
            <a:spLocks noChangeArrowheads="1"/>
          </p:cNvSpPr>
          <p:nvPr/>
        </p:nvSpPr>
        <p:spPr bwMode="auto">
          <a:xfrm>
            <a:off x="1" y="2658548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197847" y="3074345"/>
            <a:ext cx="3644900" cy="277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3019404" y="5845505"/>
            <a:ext cx="5143536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i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</a:t>
            </a:r>
            <a:r>
              <a:rPr lang="en-US" altLang="zh-CN" sz="22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[1..6]={2</a:t>
            </a:r>
            <a:r>
              <a:rPr lang="zh-CN" altLang="zh-CN" sz="22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，</a:t>
            </a:r>
            <a:r>
              <a:rPr lang="en-US" altLang="zh-CN" sz="22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zh-CN" altLang="zh-CN" sz="22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，</a:t>
            </a:r>
            <a:r>
              <a:rPr lang="en-US" altLang="zh-CN" sz="22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  <a:r>
              <a:rPr lang="zh-CN" altLang="zh-CN" sz="22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，</a:t>
            </a:r>
            <a:r>
              <a:rPr lang="en-US" altLang="zh-CN" sz="22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zh-CN" altLang="zh-CN" sz="22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，</a:t>
            </a:r>
            <a:r>
              <a:rPr lang="en-US" altLang="zh-CN" sz="22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zh-CN" altLang="zh-CN" sz="22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，</a:t>
            </a:r>
            <a:r>
              <a:rPr lang="en-US" altLang="zh-CN" sz="22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5}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1A181470-92A3-9D53-8649-488239E9C5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051" y="1177335"/>
            <a:ext cx="3493663" cy="523220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CN" sz="2800" dirty="0">
                <a:solidFill>
                  <a:srgbClr val="FF0000"/>
                </a:solidFill>
                <a:latin typeface="+mn-ea"/>
              </a:rPr>
              <a:t>2.3.2 </a:t>
            </a:r>
            <a:r>
              <a:rPr lang="zh-CN" altLang="en-US" sz="2800" dirty="0">
                <a:solidFill>
                  <a:srgbClr val="FF0000"/>
                </a:solidFill>
                <a:latin typeface="+mn-ea"/>
              </a:rPr>
              <a:t>求解</a:t>
            </a:r>
            <a:r>
              <a:rPr lang="en-US" altLang="zh-CN" sz="2800" dirty="0">
                <a:solidFill>
                  <a:srgbClr val="FF0000"/>
                </a:solidFill>
                <a:latin typeface="+mn-ea"/>
              </a:rPr>
              <a:t>n</a:t>
            </a:r>
            <a:r>
              <a:rPr lang="zh-CN" altLang="en-US" sz="2800" dirty="0">
                <a:solidFill>
                  <a:srgbClr val="FF0000"/>
                </a:solidFill>
                <a:latin typeface="+mn-ea"/>
              </a:rPr>
              <a:t>皇后问题</a:t>
            </a:r>
            <a:endParaRPr lang="zh-CN" altLang="zh-CN" sz="2800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1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78139" y="650745"/>
            <a:ext cx="10969341" cy="11430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829" tIns="54414" rIns="108829" bIns="54414" anchor="ctr"/>
          <a:lstStyle/>
          <a:p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Example</a:t>
            </a:r>
          </a:p>
        </p:txBody>
      </p:sp>
      <p:sp>
        <p:nvSpPr>
          <p:cNvPr id="16388" name="Rectangle 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78139" y="1898265"/>
            <a:ext cx="10969341" cy="45261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829" tIns="54414" rIns="108829" bIns="54414"/>
          <a:lstStyle/>
          <a:p>
            <a:pPr marL="408305" indent="-408305">
              <a:spcBef>
                <a:spcPct val="20000"/>
              </a:spcBef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Four queens</a:t>
            </a:r>
          </a:p>
        </p:txBody>
      </p:sp>
      <p:pic>
        <p:nvPicPr>
          <p:cNvPr id="16389" name="Picture 4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88" r="75700" b="22943"/>
          <a:stretch>
            <a:fillRect/>
          </a:stretch>
        </p:blipFill>
        <p:spPr bwMode="auto">
          <a:xfrm>
            <a:off x="2673350" y="1063625"/>
            <a:ext cx="2941320" cy="216662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0" name="Picture 5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38" t="3732" r="50378" b="23735"/>
          <a:stretch>
            <a:fillRect/>
          </a:stretch>
        </p:blipFill>
        <p:spPr bwMode="auto">
          <a:xfrm>
            <a:off x="5829935" y="1056005"/>
            <a:ext cx="2952115" cy="2157095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1" name="Picture 6"/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81" t="2505" r="24615" b="22429"/>
          <a:stretch>
            <a:fillRect/>
          </a:stretch>
        </p:blipFill>
        <p:spPr bwMode="auto">
          <a:xfrm>
            <a:off x="2673350" y="3696970"/>
            <a:ext cx="2983865" cy="2221865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2" name="Picture 7"/>
          <p:cNvPicPr>
            <a:picLocks noChangeAspect="1" noChangeArrowheads="1"/>
          </p:cNvPicPr>
          <p:nvPr>
            <p:custDataLst>
              <p:tags r:id="rId7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003" t="2505" b="23735"/>
          <a:stretch>
            <a:fillRect/>
          </a:stretch>
        </p:blipFill>
        <p:spPr bwMode="auto">
          <a:xfrm>
            <a:off x="5852795" y="3696970"/>
            <a:ext cx="2955290" cy="222885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393" name="Text Box 8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478139" y="3191367"/>
            <a:ext cx="2645128" cy="78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829" tIns="54414" rIns="108829" bIns="54414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Dead end Solution</a:t>
            </a:r>
          </a:p>
          <a:p>
            <a:pPr eaLnBrk="1" hangingPunct="1"/>
            <a:endParaRPr lang="en-US" altLang="zh-CN" sz="2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" y="2941767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85709" y="644823"/>
            <a:ext cx="238126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lang="zh-CN" altLang="en-US" sz="24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问题求解</a:t>
            </a:r>
            <a:r>
              <a:rPr lang="en-US" altLang="zh-CN" sz="24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】</a:t>
            </a:r>
            <a:endParaRPr lang="zh-CN" altLang="en-US" sz="240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057083" y="890082"/>
            <a:ext cx="8780388" cy="2145386"/>
            <a:chOff x="857224" y="3429000"/>
            <a:chExt cx="7286676" cy="2145402"/>
          </a:xfrm>
        </p:grpSpPr>
        <p:sp>
          <p:nvSpPr>
            <p:cNvPr id="8" name="椭圆 7"/>
            <p:cNvSpPr/>
            <p:nvPr/>
          </p:nvSpPr>
          <p:spPr>
            <a:xfrm>
              <a:off x="1714480" y="4857760"/>
              <a:ext cx="142876" cy="1800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2714612" y="3820504"/>
              <a:ext cx="142876" cy="1800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cxnSp>
          <p:nvCxnSpPr>
            <p:cNvPr id="10" name="直接连接符 9"/>
            <p:cNvCxnSpPr>
              <a:stCxn id="8" idx="7"/>
              <a:endCxn id="9" idx="3"/>
            </p:cNvCxnSpPr>
            <p:nvPr/>
          </p:nvCxnSpPr>
          <p:spPr>
            <a:xfrm rot="5400000" flipH="1" flipV="1">
              <a:off x="1830996" y="3979580"/>
              <a:ext cx="909976" cy="899104"/>
            </a:xfrm>
            <a:prstGeom prst="line">
              <a:avLst/>
            </a:prstGeom>
            <a:ln>
              <a:solidFill>
                <a:srgbClr val="FF0000"/>
              </a:solidFill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 rot="16200000" flipH="1">
              <a:off x="2268582" y="4470105"/>
              <a:ext cx="0" cy="1021056"/>
            </a:xfrm>
            <a:prstGeom prst="line">
              <a:avLst/>
            </a:prstGeom>
            <a:ln>
              <a:prstDash val="dash"/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>
              <a:stCxn id="9" idx="4"/>
            </p:cNvCxnSpPr>
            <p:nvPr/>
          </p:nvCxnSpPr>
          <p:spPr>
            <a:xfrm rot="5400000">
              <a:off x="2285984" y="4500570"/>
              <a:ext cx="1000132" cy="1588"/>
            </a:xfrm>
            <a:prstGeom prst="line">
              <a:avLst/>
            </a:prstGeom>
            <a:ln>
              <a:prstDash val="dash"/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2643174" y="3429000"/>
              <a:ext cx="1285884" cy="4308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(</a:t>
              </a:r>
              <a:r>
                <a:rPr lang="en-US" altLang="zh-CN" sz="2200" b="1" dirty="0" err="1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k,q</a:t>
              </a:r>
              <a:r>
                <a:rPr lang="en-US" altLang="zh-CN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[k])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57224" y="4714884"/>
              <a:ext cx="857256" cy="4308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(</a:t>
              </a:r>
              <a:r>
                <a:rPr lang="en-US" altLang="zh-CN" sz="2200" b="1" dirty="0" err="1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i,j</a:t>
              </a:r>
              <a:r>
                <a:rPr lang="en-US" altLang="zh-CN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)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506934" y="5134272"/>
              <a:ext cx="1716796" cy="4308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长度：</a:t>
              </a:r>
              <a:r>
                <a:rPr lang="en-US" altLang="zh-CN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k-</a:t>
              </a:r>
              <a:r>
                <a:rPr lang="en-US" altLang="zh-CN" sz="2200" b="1" dirty="0" err="1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i</a:t>
              </a:r>
              <a:endPara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786050" y="4286256"/>
              <a:ext cx="1643074" cy="4308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长度：</a:t>
              </a:r>
              <a:r>
                <a:rPr lang="en-US" altLang="zh-CN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j-q[k]</a:t>
              </a:r>
            </a:p>
          </p:txBody>
        </p:sp>
        <p:sp>
          <p:nvSpPr>
            <p:cNvPr id="17" name="椭圆 16"/>
            <p:cNvSpPr/>
            <p:nvPr/>
          </p:nvSpPr>
          <p:spPr>
            <a:xfrm>
              <a:off x="7215206" y="4857760"/>
              <a:ext cx="142876" cy="1800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6143636" y="3820504"/>
              <a:ext cx="142876" cy="1800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cxnSp>
          <p:nvCxnSpPr>
            <p:cNvPr id="19" name="直接连接符 18"/>
            <p:cNvCxnSpPr>
              <a:stCxn id="17" idx="1"/>
              <a:endCxn id="18" idx="6"/>
            </p:cNvCxnSpPr>
            <p:nvPr/>
          </p:nvCxnSpPr>
          <p:spPr>
            <a:xfrm rot="16200000" flipV="1">
              <a:off x="6274513" y="3922503"/>
              <a:ext cx="973616" cy="949618"/>
            </a:xfrm>
            <a:prstGeom prst="line">
              <a:avLst/>
            </a:prstGeom>
            <a:ln>
              <a:solidFill>
                <a:srgbClr val="FF0000"/>
              </a:solidFill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rot="16200000" flipH="1">
              <a:off x="6725602" y="4490109"/>
              <a:ext cx="0" cy="1021056"/>
            </a:xfrm>
            <a:prstGeom prst="line">
              <a:avLst/>
            </a:prstGeom>
            <a:ln>
              <a:prstDash val="dash"/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rot="5400000">
              <a:off x="5702739" y="4500570"/>
              <a:ext cx="1000132" cy="1588"/>
            </a:xfrm>
            <a:prstGeom prst="line">
              <a:avLst/>
            </a:prstGeom>
            <a:ln>
              <a:prstDash val="dash"/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6143636" y="3429000"/>
              <a:ext cx="1285884" cy="4308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(</a:t>
              </a:r>
              <a:r>
                <a:rPr lang="en-US" altLang="zh-CN" sz="2200" b="1" dirty="0" err="1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k,q</a:t>
              </a:r>
              <a:r>
                <a:rPr lang="en-US" altLang="zh-CN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[k])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286644" y="4714884"/>
              <a:ext cx="857256" cy="3683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en-US" altLang="zh-CN" sz="1800" i="1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</a:t>
              </a:r>
              <a:r>
                <a:rPr lang="en-US" altLang="zh-CN" sz="180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,j)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143636" y="5143512"/>
              <a:ext cx="1564884" cy="4308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长度：</a:t>
              </a:r>
              <a:r>
                <a:rPr lang="en-US" altLang="zh-CN" sz="2200" b="1" dirty="0" err="1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i</a:t>
              </a:r>
              <a:r>
                <a:rPr lang="en-US" altLang="zh-CN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-k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440597" y="4286256"/>
              <a:ext cx="1845915" cy="4308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长度：</a:t>
              </a:r>
              <a:r>
                <a:rPr lang="en-US" altLang="zh-CN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q[k]-j</a:t>
              </a:r>
            </a:p>
          </p:txBody>
        </p:sp>
      </p:grpSp>
      <p:sp>
        <p:nvSpPr>
          <p:cNvPr id="26" name="Text Box 4"/>
          <p:cNvSpPr txBox="1">
            <a:spLocks noChangeArrowheads="1"/>
          </p:cNvSpPr>
          <p:nvPr/>
        </p:nvSpPr>
        <p:spPr bwMode="auto">
          <a:xfrm>
            <a:off x="640928" y="3311099"/>
            <a:ext cx="7924800" cy="8581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</a:pPr>
            <a:r>
              <a:rPr lang="zh-CN" altLang="en-US" sz="2400" dirty="0">
                <a:solidFill>
                  <a:srgbClr val="0000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对于</a:t>
            </a:r>
            <a:r>
              <a:rPr 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(</a:t>
            </a:r>
            <a:r>
              <a:rPr lang="en-US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j)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位置上的皇后，是否与已放好的皇后</a:t>
            </a:r>
            <a:r>
              <a:rPr 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(k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q[k])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（</a:t>
            </a:r>
            <a:r>
              <a:rPr 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≤</a:t>
            </a:r>
            <a:r>
              <a:rPr 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k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≤</a:t>
            </a:r>
            <a:r>
              <a:rPr 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i-1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）有冲突呢？ </a:t>
            </a:r>
            <a:endParaRPr lang="en-US" altLang="zh-CN" sz="2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27" name="Text Box 5"/>
          <p:cNvSpPr txBox="1">
            <a:spLocks noChangeArrowheads="1"/>
          </p:cNvSpPr>
          <p:nvPr/>
        </p:nvSpPr>
        <p:spPr bwMode="auto">
          <a:xfrm>
            <a:off x="640928" y="5969209"/>
            <a:ext cx="7924800" cy="6462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180000" tIns="144000" bIns="144000">
            <a:spAutoFit/>
          </a:bodyPr>
          <a:lstStyle/>
          <a:p>
            <a:pPr>
              <a:lnSpc>
                <a:spcPts val="3200"/>
              </a:lnSpc>
            </a:pPr>
            <a:r>
              <a:rPr lang="nb-NO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(q[k]==j) || (abs(q[k]-j)==abs(i-k))</a:t>
            </a:r>
            <a:endParaRPr lang="zh-CN" altLang="en-US" sz="2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0928" y="4366469"/>
            <a:ext cx="7924800" cy="148209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44000" tIns="108000" bIns="144000" rtlCol="0">
            <a:spAutoFit/>
          </a:bodyPr>
          <a:lstStyle/>
          <a:p>
            <a:pPr marL="342900" indent="-342900">
              <a:lnSpc>
                <a:spcPts val="3200"/>
              </a:lnSpc>
              <a:buBlip>
                <a:blip r:embed="rId4"/>
              </a:buBlip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显然它们不同列，若同列则有：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q[k]==j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；</a:t>
            </a:r>
            <a:endParaRPr lang="en-US" altLang="zh-CN" sz="2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 marL="342900" indent="-342900">
              <a:lnSpc>
                <a:spcPts val="3200"/>
              </a:lnSpc>
              <a:buBlip>
                <a:blip r:embed="rId4"/>
              </a:buBlip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对角线有两条，若它们在任一条对角线上，则构成一个等边直角三角形，即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|q[k]-j|==|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-k|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。</a:t>
            </a:r>
            <a:endParaRPr lang="en-US" altLang="zh-CN" sz="2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665480" y="1256999"/>
            <a:ext cx="7943850" cy="184665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00000"/>
              </a:lnSpc>
              <a:spcBef>
                <a:spcPts val="0"/>
              </a:spcBef>
            </a:pP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　　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设</a:t>
            </a:r>
            <a:r>
              <a:rPr lang="nb-NO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queen(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</a:t>
            </a:r>
            <a:r>
              <a:rPr lang="zh-CN" altLang="nb-NO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nb-NO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n)</a:t>
            </a:r>
            <a:r>
              <a:rPr lang="zh-CN" altLang="nb-NO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是在</a:t>
            </a:r>
            <a:r>
              <a:rPr lang="nb-NO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nb-NO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～</a:t>
            </a:r>
            <a:r>
              <a:rPr lang="nb-NO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i-1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行</a:t>
            </a:r>
            <a:r>
              <a:rPr lang="zh-CN" altLang="nb-NO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上已经放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好</a:t>
            </a:r>
            <a:r>
              <a:rPr lang="zh-CN" altLang="nb-NO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了</a:t>
            </a:r>
            <a:r>
              <a:rPr lang="nb-NO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i-1</a:t>
            </a:r>
            <a:r>
              <a:rPr lang="zh-CN" altLang="nb-NO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个皇后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zh-CN" altLang="nb-NO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用于在</a:t>
            </a:r>
            <a:r>
              <a:rPr lang="nb-NO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</a:t>
            </a:r>
            <a:r>
              <a:rPr lang="zh-CN" altLang="nb-NO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～</a:t>
            </a:r>
            <a:r>
              <a:rPr lang="nb-NO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nb-NO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行放置</a:t>
            </a:r>
            <a:r>
              <a:rPr lang="nb-NO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n-i+1</a:t>
            </a:r>
            <a:r>
              <a:rPr lang="zh-CN" altLang="nb-NO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个皇后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zh-CN" altLang="nb-NO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则</a:t>
            </a:r>
            <a:r>
              <a:rPr lang="nb-NO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queen(i+1</a:t>
            </a:r>
            <a:r>
              <a:rPr lang="zh-CN" altLang="nb-NO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nb-NO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n)</a:t>
            </a:r>
            <a:r>
              <a:rPr lang="zh-CN" altLang="nb-NO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表示在</a:t>
            </a:r>
            <a:r>
              <a:rPr lang="nb-NO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nb-NO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～</a:t>
            </a:r>
            <a:r>
              <a:rPr lang="nb-NO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</a:t>
            </a:r>
            <a:r>
              <a:rPr lang="zh-CN" altLang="nb-NO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行上已经放好了</a:t>
            </a:r>
            <a:r>
              <a:rPr lang="nb-NO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</a:t>
            </a:r>
            <a:r>
              <a:rPr lang="zh-CN" altLang="nb-NO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个皇后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zh-CN" altLang="nb-NO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用于在</a:t>
            </a:r>
            <a:r>
              <a:rPr lang="nb-NO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i+1</a:t>
            </a:r>
            <a:r>
              <a:rPr lang="zh-CN" altLang="nb-NO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～</a:t>
            </a:r>
            <a:r>
              <a:rPr lang="nb-NO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nb-NO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行放置</a:t>
            </a:r>
            <a:r>
              <a:rPr lang="nb-NO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n-i</a:t>
            </a:r>
            <a:r>
              <a:rPr lang="zh-CN" altLang="nb-NO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个皇后。</a:t>
            </a:r>
          </a:p>
          <a:p>
            <a:pPr indent="0" fontAlgn="auto">
              <a:lnSpc>
                <a:spcPct val="100000"/>
              </a:lnSpc>
              <a:spcBef>
                <a:spcPts val="0"/>
              </a:spcBef>
            </a:pPr>
            <a:r>
              <a:rPr lang="zh-CN" altLang="nb-NO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　　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queen(i+1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n)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比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queen(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n)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少放置一个皇后。所以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queen(i+1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n)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是“小问题”，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queen(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n)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是“大问题”</a:t>
            </a:r>
            <a:r>
              <a:rPr lang="zh-CN" altLang="en-US" sz="2400" dirty="0">
                <a:solidFill>
                  <a:srgbClr val="0000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lang="en-US" altLang="zh-CN" sz="2400" dirty="0">
              <a:solidFill>
                <a:srgbClr val="0000F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665480" y="3769360"/>
            <a:ext cx="7943850" cy="204597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lIns="180000" tIns="144000" bIns="14400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queen(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n) 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sym typeface="Symbol" panose="05050102010706020507" pitchFamily="18" charset="2"/>
              </a:rPr>
              <a:t>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n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个皇后放置完毕，输出一个解	若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k&gt;n</a:t>
            </a:r>
          </a:p>
          <a:p>
            <a:pPr>
              <a:lnSpc>
                <a:spcPct val="130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queen(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n) 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sym typeface="Symbol" panose="05050102010706020507" pitchFamily="18" charset="2"/>
              </a:rPr>
              <a:t>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在第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行的合适的位置（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i,j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）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	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其他情况</a:t>
            </a:r>
            <a:endParaRPr lang="en-US" altLang="zh-CN" sz="2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          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在其上放置一个皇后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;</a:t>
            </a:r>
            <a:endParaRPr lang="zh-CN" altLang="en-US" sz="2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queen(i+1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n);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9" name="Text Box 3"/>
          <p:cNvSpPr txBox="1">
            <a:spLocks noChangeArrowheads="1"/>
          </p:cNvSpPr>
          <p:nvPr/>
        </p:nvSpPr>
        <p:spPr bwMode="auto">
          <a:xfrm>
            <a:off x="691447" y="1194950"/>
            <a:ext cx="8421370" cy="554037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tIns="144000">
            <a:noAutofit/>
          </a:bodyPr>
          <a:lstStyle/>
          <a:p>
            <a:pPr indent="0" fontAlgn="auto">
              <a:lnSpc>
                <a:spcPts val="2000"/>
              </a:lnSpc>
            </a:pP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bool place(int </a:t>
            </a:r>
            <a:r>
              <a:rPr lang="en-US" altLang="zh-CN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i,int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j)		//</a:t>
            </a:r>
            <a:r>
              <a:rPr lang="zh-CN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测试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(</a:t>
            </a:r>
            <a:r>
              <a:rPr lang="en-US" altLang="zh-CN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i,j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)</a:t>
            </a:r>
            <a:r>
              <a:rPr lang="zh-CN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位置能否摆放皇后</a:t>
            </a:r>
          </a:p>
          <a:p>
            <a:pPr indent="0" fontAlgn="auto">
              <a:lnSpc>
                <a:spcPts val="2000"/>
              </a:lnSpc>
            </a:pP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{   if (</a:t>
            </a:r>
            <a:r>
              <a:rPr lang="en-US" altLang="zh-CN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==1) return true;		//</a:t>
            </a:r>
            <a:r>
              <a:rPr lang="zh-CN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第一个皇后总是可以放置</a:t>
            </a:r>
          </a:p>
          <a:p>
            <a:pPr indent="0" fontAlgn="auto">
              <a:lnSpc>
                <a:spcPts val="2000"/>
              </a:lnSpc>
            </a:pP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int k=1;</a:t>
            </a:r>
            <a:endParaRPr lang="zh-CN" altLang="zh-CN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 indent="0" fontAlgn="auto">
              <a:lnSpc>
                <a:spcPts val="2000"/>
              </a:lnSpc>
            </a:pP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while (k&lt;</a:t>
            </a:r>
            <a:r>
              <a:rPr lang="en-US" altLang="zh-CN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)			//k=1</a:t>
            </a:r>
            <a:r>
              <a:rPr lang="zh-CN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～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i-1</a:t>
            </a:r>
            <a:r>
              <a:rPr lang="zh-CN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是已放置了皇后的行</a:t>
            </a:r>
          </a:p>
          <a:p>
            <a:pPr indent="0" fontAlgn="auto">
              <a:lnSpc>
                <a:spcPts val="2000"/>
              </a:lnSpc>
            </a:pP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{	if ((q[k]==j) || (abs(q[k]-j)==abs(</a:t>
            </a:r>
            <a:r>
              <a:rPr lang="en-US" altLang="zh-CN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-k)))</a:t>
            </a:r>
            <a:endParaRPr lang="zh-CN" altLang="zh-CN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 indent="0" fontAlgn="auto">
              <a:lnSpc>
                <a:spcPts val="2000"/>
              </a:lnSpc>
            </a:pP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	    return false;</a:t>
            </a:r>
            <a:endParaRPr lang="zh-CN" altLang="zh-CN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 indent="0" fontAlgn="auto">
              <a:lnSpc>
                <a:spcPts val="2000"/>
              </a:lnSpc>
            </a:pP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	k++;</a:t>
            </a:r>
            <a:endParaRPr lang="zh-CN" altLang="zh-CN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 indent="0" fontAlgn="auto">
              <a:lnSpc>
                <a:spcPts val="2000"/>
              </a:lnSpc>
            </a:pP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}</a:t>
            </a:r>
            <a:endParaRPr lang="zh-CN" altLang="zh-CN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 indent="0" fontAlgn="auto">
              <a:lnSpc>
                <a:spcPts val="2000"/>
              </a:lnSpc>
            </a:pP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return true;</a:t>
            </a:r>
            <a:endParaRPr lang="zh-CN" altLang="zh-CN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 indent="0" fontAlgn="auto">
              <a:lnSpc>
                <a:spcPts val="2000"/>
              </a:lnSpc>
            </a:pP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}</a:t>
            </a:r>
            <a:endParaRPr lang="zh-CN" altLang="zh-CN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 indent="0" fontAlgn="auto">
              <a:lnSpc>
                <a:spcPts val="2000"/>
              </a:lnSpc>
            </a:pP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void queen(int </a:t>
            </a:r>
            <a:r>
              <a:rPr lang="en-US" altLang="zh-CN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i,int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n)		//</a:t>
            </a:r>
            <a:r>
              <a:rPr lang="zh-CN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放置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～</a:t>
            </a:r>
            <a:r>
              <a:rPr lang="en-US" altLang="zh-CN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</a:t>
            </a:r>
            <a:r>
              <a:rPr lang="zh-CN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的皇后</a:t>
            </a:r>
          </a:p>
          <a:p>
            <a:pPr indent="0" fontAlgn="auto">
              <a:lnSpc>
                <a:spcPts val="2000"/>
              </a:lnSpc>
            </a:pP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{   if (</a:t>
            </a:r>
            <a:r>
              <a:rPr lang="en-US" altLang="zh-CN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&gt;n) </a:t>
            </a:r>
            <a:endParaRPr lang="zh-CN" altLang="zh-CN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 indent="0" fontAlgn="auto">
              <a:lnSpc>
                <a:spcPts val="2000"/>
              </a:lnSpc>
            </a:pP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	</a:t>
            </a:r>
            <a:r>
              <a:rPr lang="en-US" altLang="zh-CN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dispasolution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(n);		//</a:t>
            </a:r>
            <a:r>
              <a:rPr lang="zh-CN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所有皇后放置结束</a:t>
            </a:r>
          </a:p>
          <a:p>
            <a:pPr indent="0" fontAlgn="auto">
              <a:lnSpc>
                <a:spcPts val="2000"/>
              </a:lnSpc>
            </a:pP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else</a:t>
            </a:r>
            <a:endParaRPr lang="zh-CN" altLang="zh-CN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 indent="0" fontAlgn="auto">
              <a:lnSpc>
                <a:spcPts val="2000"/>
              </a:lnSpc>
            </a:pP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{	for (int j=1;j&lt;=</a:t>
            </a:r>
            <a:r>
              <a:rPr lang="en-US" altLang="zh-CN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n;j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++)	//</a:t>
            </a:r>
            <a:r>
              <a:rPr lang="zh-CN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在第</a:t>
            </a:r>
            <a:r>
              <a:rPr lang="en-US" altLang="zh-CN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</a:t>
            </a:r>
            <a:r>
              <a:rPr lang="zh-CN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行上试探每一个列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j</a:t>
            </a:r>
            <a:endParaRPr lang="zh-CN" altLang="zh-CN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 indent="0" fontAlgn="auto">
              <a:lnSpc>
                <a:spcPts val="2000"/>
              </a:lnSpc>
            </a:pP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	    if (place(</a:t>
            </a:r>
            <a:r>
              <a:rPr lang="en-US" altLang="zh-CN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i,j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))		//</a:t>
            </a:r>
            <a:r>
              <a:rPr lang="zh-CN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在第</a:t>
            </a:r>
            <a:r>
              <a:rPr lang="en-US" altLang="zh-CN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</a:t>
            </a:r>
            <a:r>
              <a:rPr lang="zh-CN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行上找到一个合适位置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(</a:t>
            </a:r>
            <a:r>
              <a:rPr lang="en-US" altLang="zh-CN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i,j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)</a:t>
            </a:r>
            <a:endParaRPr lang="zh-CN" altLang="zh-CN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 indent="0" fontAlgn="auto">
              <a:lnSpc>
                <a:spcPts val="2000"/>
              </a:lnSpc>
            </a:pP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	    {	q[</a:t>
            </a:r>
            <a:r>
              <a:rPr lang="en-US" altLang="zh-CN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</a:t>
            </a: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]=j;</a:t>
            </a:r>
            <a:endParaRPr lang="zh-CN" altLang="zh-CN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 indent="0" fontAlgn="auto">
              <a:lnSpc>
                <a:spcPts val="2000"/>
              </a:lnSpc>
            </a:pP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		queen(i+1,n);</a:t>
            </a:r>
            <a:endParaRPr lang="zh-CN" altLang="zh-CN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 indent="0" fontAlgn="auto">
              <a:lnSpc>
                <a:spcPts val="2000"/>
              </a:lnSpc>
            </a:pP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	    }</a:t>
            </a:r>
            <a:endParaRPr lang="zh-CN" altLang="zh-CN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 indent="0" fontAlgn="auto">
              <a:lnSpc>
                <a:spcPts val="2000"/>
              </a:lnSpc>
            </a:pP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}</a:t>
            </a:r>
            <a:endParaRPr lang="zh-CN" altLang="zh-CN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 indent="0" fontAlgn="auto">
              <a:lnSpc>
                <a:spcPts val="2000"/>
              </a:lnSpc>
            </a:pPr>
            <a:r>
              <a:rPr lang="en-US" altLang="zh-CN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}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7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99384" y="1122106"/>
            <a:ext cx="9405616" cy="448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829" tIns="54414" rIns="108829" bIns="54414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本程序一次执行结果如下：</a:t>
            </a:r>
          </a:p>
        </p:txBody>
      </p:sp>
      <p:sp>
        <p:nvSpPr>
          <p:cNvPr id="13316" name="Text Box 3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92660" y="1610360"/>
            <a:ext cx="8152765" cy="170033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 lIns="214232" tIns="171386" rIns="214232" bIns="171386">
            <a:spAutoFit/>
          </a:bodyPr>
          <a:lstStyle/>
          <a:p>
            <a:pPr>
              <a:defRPr/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皇后问题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(n&lt;20) n=6↙</a:t>
            </a:r>
          </a:p>
          <a:p>
            <a:pPr>
              <a:defRPr/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6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皇后问题求解如下：</a:t>
            </a:r>
          </a:p>
          <a:p>
            <a:pPr>
              <a:defRPr/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第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个解：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(1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2) (2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4) (3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6) (4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1) (5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3) (6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5)</a:t>
            </a:r>
          </a:p>
          <a:p>
            <a:pPr>
              <a:defRPr/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第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2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个解：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(1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3) (2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6) (3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2) (4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5) (5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1) (6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4)</a:t>
            </a:r>
          </a:p>
        </p:txBody>
      </p:sp>
      <p:sp>
        <p:nvSpPr>
          <p:cNvPr id="13318" name="AutoShape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164940" y="3508618"/>
            <a:ext cx="380879" cy="360379"/>
          </a:xfrm>
          <a:prstGeom prst="downArrow">
            <a:avLst>
              <a:gd name="adj1" fmla="val 50000"/>
              <a:gd name="adj2" fmla="val 2500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lIns="108829" tIns="54414" rIns="108829" bIns="54414" anchor="ctr"/>
          <a:lstStyle/>
          <a:p>
            <a:pPr>
              <a:defRPr/>
            </a:pPr>
            <a:endParaRPr lang="zh-CN" altLang="en-US" sz="2300">
              <a:latin typeface="微软雅黑" panose="020B0503020204020204" charset="-122"/>
              <a:ea typeface="微软雅黑" panose="020B0503020204020204" charset="-122"/>
              <a:cs typeface="Consolas" panose="020B0609020204030204" pitchFamily="49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437005" y="4034790"/>
            <a:ext cx="5463540" cy="233172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6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308735" y="3633470"/>
            <a:ext cx="5387340" cy="2331720"/>
          </a:xfrm>
          <a:prstGeom prst="rect">
            <a:avLst/>
          </a:prstGeom>
        </p:spPr>
      </p:pic>
      <p:sp>
        <p:nvSpPr>
          <p:cNvPr id="3" name="Text Box 3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61010" y="1233170"/>
            <a:ext cx="8152765" cy="108013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 lIns="214232" tIns="171386" rIns="214232" bIns="171386">
            <a:spAutoFit/>
          </a:bodyPr>
          <a:lstStyle/>
          <a:p>
            <a:pPr>
              <a:defRPr/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 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第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3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个解：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(1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4) (2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1) (3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5) (4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2) (5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6) (6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3)</a:t>
            </a:r>
          </a:p>
          <a:p>
            <a:pPr>
              <a:defRPr/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第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4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个解：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(1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5) (2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3) (3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1) (4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6) (5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4) (6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2)</a:t>
            </a:r>
          </a:p>
        </p:txBody>
      </p:sp>
      <p:sp>
        <p:nvSpPr>
          <p:cNvPr id="4" name="AutoShape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811880" y="2831073"/>
            <a:ext cx="380879" cy="360379"/>
          </a:xfrm>
          <a:prstGeom prst="downArrow">
            <a:avLst>
              <a:gd name="adj1" fmla="val 50000"/>
              <a:gd name="adj2" fmla="val 2500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lIns="108829" tIns="54414" rIns="108829" bIns="54414" anchor="ctr"/>
          <a:lstStyle/>
          <a:p>
            <a:pPr>
              <a:defRPr/>
            </a:pPr>
            <a:endParaRPr lang="zh-CN" altLang="en-US" sz="2300">
              <a:latin typeface="微软雅黑" panose="020B0503020204020204" charset="-122"/>
              <a:ea typeface="微软雅黑" panose="020B0503020204020204" charset="-122"/>
              <a:cs typeface="Consolas" panose="020B0609020204030204" pitchFamily="49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Rectangle 3"/>
          <p:cNvSpPr>
            <a:spLocks noGrp="1" noChangeArrowheads="1"/>
          </p:cNvSpPr>
          <p:nvPr>
            <p:ph idx="1"/>
          </p:nvPr>
        </p:nvSpPr>
        <p:spPr>
          <a:xfrm>
            <a:off x="360637" y="1712563"/>
            <a:ext cx="8634095" cy="2992120"/>
          </a:xfrm>
        </p:spPr>
        <p:txBody>
          <a:bodyPr>
            <a:normAutofit/>
          </a:bodyPr>
          <a:lstStyle/>
          <a:p>
            <a:pPr marL="0" indent="0" fontAlgn="auto">
              <a:lnSpc>
                <a:spcPct val="100000"/>
              </a:lnSpc>
              <a:buFontTx/>
              <a:buNone/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设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a,b,c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是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3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个塔座。开始时，在塔座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a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上有一叠共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个圆盘，这些圆盘自下而上，由大到小地叠在一起。各圆盘从小到大编号为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1,2,…,n,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现要求将塔座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a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上的这一叠圆盘移到塔座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上，并仍按同样顺序叠置。在移动圆盘时应遵守以下移动规则：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规则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：每次只能移动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个圆盘；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规则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2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：任何时刻都不允许将较大的圆盘压在较小的圆盘之上；</a:t>
            </a:r>
          </a:p>
          <a:p>
            <a:pPr marL="0" indent="0" fontAlgn="auto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规则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3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：在满足移动规则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2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的前提下，可将圆盘移至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a,b,c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中任一塔座上。</a:t>
            </a:r>
          </a:p>
        </p:txBody>
      </p:sp>
      <p:pic>
        <p:nvPicPr>
          <p:cNvPr id="43013" name="Picture 4" descr="t2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307451" y="4704683"/>
            <a:ext cx="4168775" cy="1864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 Box 3">
            <a:extLst>
              <a:ext uri="{FF2B5EF4-FFF2-40B4-BE49-F238E27FC236}">
                <a16:creationId xmlns:a16="http://schemas.microsoft.com/office/drawing/2014/main" id="{9CBAC06A-B889-CD6E-1E7A-2DC9A4745C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742" y="1140513"/>
            <a:ext cx="2910656" cy="523220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CN" sz="2800" dirty="0">
                <a:solidFill>
                  <a:srgbClr val="FF0000"/>
                </a:solidFill>
                <a:latin typeface="+mn-ea"/>
              </a:rPr>
              <a:t>2.3.2 </a:t>
            </a:r>
            <a:r>
              <a:rPr lang="zh-CN" altLang="en-US" sz="2800" dirty="0">
                <a:solidFill>
                  <a:srgbClr val="FF0000"/>
                </a:solidFill>
                <a:latin typeface="+mn-ea"/>
              </a:rPr>
              <a:t>汉诺塔问题</a:t>
            </a:r>
            <a:endParaRPr lang="zh-CN" altLang="zh-CN" sz="2800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/>
          <p:nvPr/>
        </p:nvGrpSpPr>
        <p:grpSpPr bwMode="auto">
          <a:xfrm>
            <a:off x="624025" y="1511416"/>
            <a:ext cx="5471975" cy="1417702"/>
            <a:chOff x="249" y="1539"/>
            <a:chExt cx="2586" cy="893"/>
          </a:xfrm>
        </p:grpSpPr>
        <p:sp>
          <p:nvSpPr>
            <p:cNvPr id="87044" name="Line 4"/>
            <p:cNvSpPr>
              <a:spLocks noChangeShapeType="1"/>
            </p:cNvSpPr>
            <p:nvPr/>
          </p:nvSpPr>
          <p:spPr bwMode="auto">
            <a:xfrm>
              <a:off x="249" y="2432"/>
              <a:ext cx="258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045" name="Line 5"/>
            <p:cNvSpPr>
              <a:spLocks noChangeShapeType="1"/>
            </p:cNvSpPr>
            <p:nvPr/>
          </p:nvSpPr>
          <p:spPr bwMode="auto">
            <a:xfrm>
              <a:off x="747" y="1748"/>
              <a:ext cx="0" cy="684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046" name="Line 6"/>
            <p:cNvSpPr>
              <a:spLocks noChangeShapeType="1"/>
            </p:cNvSpPr>
            <p:nvPr/>
          </p:nvSpPr>
          <p:spPr bwMode="auto">
            <a:xfrm>
              <a:off x="1555" y="1748"/>
              <a:ext cx="0" cy="684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047" name="Line 7"/>
            <p:cNvSpPr>
              <a:spLocks noChangeShapeType="1"/>
            </p:cNvSpPr>
            <p:nvPr/>
          </p:nvSpPr>
          <p:spPr bwMode="auto">
            <a:xfrm>
              <a:off x="2335" y="1748"/>
              <a:ext cx="0" cy="684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048" name="Text Box 8"/>
            <p:cNvSpPr txBox="1">
              <a:spLocks noChangeArrowheads="1"/>
            </p:cNvSpPr>
            <p:nvPr/>
          </p:nvSpPr>
          <p:spPr bwMode="auto">
            <a:xfrm>
              <a:off x="643" y="1539"/>
              <a:ext cx="158" cy="22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700" b="1">
                  <a:latin typeface="微软雅黑" panose="020B0503020204020204" charset="-122"/>
                  <a:ea typeface="微软雅黑" panose="020B0503020204020204" charset="-122"/>
                </a:rPr>
                <a:t>X</a:t>
              </a:r>
            </a:p>
          </p:txBody>
        </p:sp>
        <p:sp>
          <p:nvSpPr>
            <p:cNvPr id="87049" name="Text Box 9"/>
            <p:cNvSpPr txBox="1">
              <a:spLocks noChangeArrowheads="1"/>
            </p:cNvSpPr>
            <p:nvPr/>
          </p:nvSpPr>
          <p:spPr bwMode="auto">
            <a:xfrm>
              <a:off x="1451" y="1539"/>
              <a:ext cx="152" cy="22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700" b="1">
                  <a:latin typeface="微软雅黑" panose="020B0503020204020204" charset="-122"/>
                  <a:ea typeface="微软雅黑" panose="020B0503020204020204" charset="-122"/>
                </a:rPr>
                <a:t>Y</a:t>
              </a:r>
            </a:p>
          </p:txBody>
        </p:sp>
        <p:sp>
          <p:nvSpPr>
            <p:cNvPr id="87050" name="Text Box 10"/>
            <p:cNvSpPr txBox="1">
              <a:spLocks noChangeArrowheads="1"/>
            </p:cNvSpPr>
            <p:nvPr/>
          </p:nvSpPr>
          <p:spPr bwMode="auto">
            <a:xfrm>
              <a:off x="2232" y="1540"/>
              <a:ext cx="153" cy="22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700" b="1">
                  <a:latin typeface="微软雅黑" panose="020B0503020204020204" charset="-122"/>
                  <a:ea typeface="微软雅黑" panose="020B0503020204020204" charset="-122"/>
                </a:rPr>
                <a:t>Z</a:t>
              </a:r>
            </a:p>
          </p:txBody>
        </p:sp>
        <p:sp>
          <p:nvSpPr>
            <p:cNvPr id="87051" name="Rectangle 11"/>
            <p:cNvSpPr>
              <a:spLocks noChangeArrowheads="1"/>
            </p:cNvSpPr>
            <p:nvPr/>
          </p:nvSpPr>
          <p:spPr bwMode="auto">
            <a:xfrm>
              <a:off x="539" y="2084"/>
              <a:ext cx="414" cy="91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lang="en-US" altLang="zh-CN" sz="1700" b="1"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</a:p>
          </p:txBody>
        </p:sp>
        <p:sp>
          <p:nvSpPr>
            <p:cNvPr id="87052" name="Rectangle 12"/>
            <p:cNvSpPr>
              <a:spLocks noChangeArrowheads="1"/>
            </p:cNvSpPr>
            <p:nvPr/>
          </p:nvSpPr>
          <p:spPr bwMode="auto">
            <a:xfrm>
              <a:off x="602" y="1993"/>
              <a:ext cx="288" cy="91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lang="en-US" altLang="zh-CN" sz="1700" b="1">
                  <a:latin typeface="微软雅黑" panose="020B0503020204020204" charset="-122"/>
                  <a:ea typeface="微软雅黑" panose="020B0503020204020204" charset="-122"/>
                </a:rPr>
                <a:t>2</a:t>
              </a:r>
            </a:p>
          </p:txBody>
        </p:sp>
        <p:sp>
          <p:nvSpPr>
            <p:cNvPr id="87053" name="Rectangle 13"/>
            <p:cNvSpPr>
              <a:spLocks noChangeArrowheads="1"/>
            </p:cNvSpPr>
            <p:nvPr/>
          </p:nvSpPr>
          <p:spPr bwMode="auto">
            <a:xfrm>
              <a:off x="650" y="1897"/>
              <a:ext cx="192" cy="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lang="en-US" altLang="zh-CN" sz="1700" b="1" dirty="0">
                  <a:latin typeface="微软雅黑" panose="020B0503020204020204" charset="-122"/>
                  <a:ea typeface="微软雅黑" panose="020B0503020204020204" charset="-122"/>
                </a:rPr>
                <a:t>1</a:t>
              </a:r>
            </a:p>
          </p:txBody>
        </p:sp>
        <p:sp>
          <p:nvSpPr>
            <p:cNvPr id="87054" name="Rectangle 14"/>
            <p:cNvSpPr>
              <a:spLocks noChangeArrowheads="1"/>
            </p:cNvSpPr>
            <p:nvPr/>
          </p:nvSpPr>
          <p:spPr bwMode="auto">
            <a:xfrm>
              <a:off x="492" y="2174"/>
              <a:ext cx="505" cy="91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zh-CN" sz="17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7055" name="Rectangle 15"/>
            <p:cNvSpPr>
              <a:spLocks noChangeArrowheads="1"/>
            </p:cNvSpPr>
            <p:nvPr/>
          </p:nvSpPr>
          <p:spPr bwMode="auto">
            <a:xfrm>
              <a:off x="453" y="2250"/>
              <a:ext cx="590" cy="91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lang="en-US" altLang="zh-CN" sz="1700" b="1">
                  <a:latin typeface="微软雅黑" panose="020B0503020204020204" charset="-122"/>
                  <a:ea typeface="微软雅黑" panose="020B0503020204020204" charset="-122"/>
                </a:rPr>
                <a:t>n-1</a:t>
              </a:r>
            </a:p>
          </p:txBody>
        </p:sp>
        <p:sp>
          <p:nvSpPr>
            <p:cNvPr id="87056" name="Rectangle 16"/>
            <p:cNvSpPr>
              <a:spLocks noChangeArrowheads="1"/>
            </p:cNvSpPr>
            <p:nvPr/>
          </p:nvSpPr>
          <p:spPr bwMode="auto">
            <a:xfrm>
              <a:off x="408" y="2330"/>
              <a:ext cx="680" cy="91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lang="en-US" altLang="zh-CN" sz="1700" b="1">
                  <a:latin typeface="微软雅黑" panose="020B0503020204020204" charset="-122"/>
                  <a:ea typeface="微软雅黑" panose="020B0503020204020204" charset="-122"/>
                </a:rPr>
                <a:t>n</a:t>
              </a:r>
            </a:p>
          </p:txBody>
        </p:sp>
      </p:grpSp>
      <p:grpSp>
        <p:nvGrpSpPr>
          <p:cNvPr id="5" name="Group 17">
            <a:extLst>
              <a:ext uri="{FF2B5EF4-FFF2-40B4-BE49-F238E27FC236}">
                <a16:creationId xmlns:a16="http://schemas.microsoft.com/office/drawing/2014/main" id="{473F6FF3-E1AC-90AB-9051-04343DB437CE}"/>
              </a:ext>
            </a:extLst>
          </p:cNvPr>
          <p:cNvGrpSpPr/>
          <p:nvPr/>
        </p:nvGrpSpPr>
        <p:grpSpPr bwMode="auto">
          <a:xfrm>
            <a:off x="6842089" y="1288265"/>
            <a:ext cx="4992370" cy="1351915"/>
            <a:chOff x="3016" y="314"/>
            <a:chExt cx="2744" cy="893"/>
          </a:xfrm>
        </p:grpSpPr>
        <p:sp>
          <p:nvSpPr>
            <p:cNvPr id="6" name="Line 18">
              <a:extLst>
                <a:ext uri="{FF2B5EF4-FFF2-40B4-BE49-F238E27FC236}">
                  <a16:creationId xmlns:a16="http://schemas.microsoft.com/office/drawing/2014/main" id="{B1E0DF1D-CFA9-20FF-6BDB-5FD5E10F9C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6" y="1207"/>
              <a:ext cx="27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Line 19">
              <a:extLst>
                <a:ext uri="{FF2B5EF4-FFF2-40B4-BE49-F238E27FC236}">
                  <a16:creationId xmlns:a16="http://schemas.microsoft.com/office/drawing/2014/main" id="{77E55745-3CAE-6C18-9370-D7ED87AC04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14" y="523"/>
              <a:ext cx="0" cy="684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Line 20">
              <a:extLst>
                <a:ext uri="{FF2B5EF4-FFF2-40B4-BE49-F238E27FC236}">
                  <a16:creationId xmlns:a16="http://schemas.microsoft.com/office/drawing/2014/main" id="{B8098E9F-30EC-6FF0-C356-E39E51DF6B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2" y="523"/>
              <a:ext cx="0" cy="684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21">
              <a:extLst>
                <a:ext uri="{FF2B5EF4-FFF2-40B4-BE49-F238E27FC236}">
                  <a16:creationId xmlns:a16="http://schemas.microsoft.com/office/drawing/2014/main" id="{EA9FA473-3683-A5C4-0073-BB0785EDF5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2" y="523"/>
              <a:ext cx="0" cy="684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Text Box 22">
              <a:extLst>
                <a:ext uri="{FF2B5EF4-FFF2-40B4-BE49-F238E27FC236}">
                  <a16:creationId xmlns:a16="http://schemas.microsoft.com/office/drawing/2014/main" id="{A4BC0162-1A87-01D5-4A34-5403831717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0" y="314"/>
              <a:ext cx="158" cy="23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algn="l"/>
              <a:r>
                <a:rPr kumimoji="1" lang="en-US" altLang="zh-CN" sz="1700" b="1">
                  <a:latin typeface="微软雅黑" panose="020B0503020204020204" charset="-122"/>
                  <a:ea typeface="微软雅黑" panose="020B0503020204020204" charset="-122"/>
                </a:rPr>
                <a:t>X</a:t>
              </a:r>
            </a:p>
          </p:txBody>
        </p:sp>
        <p:sp>
          <p:nvSpPr>
            <p:cNvPr id="11" name="Text Box 23">
              <a:extLst>
                <a:ext uri="{FF2B5EF4-FFF2-40B4-BE49-F238E27FC236}">
                  <a16:creationId xmlns:a16="http://schemas.microsoft.com/office/drawing/2014/main" id="{1BB1C811-21C7-C5EC-2222-355F2FD54B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18" y="314"/>
              <a:ext cx="152" cy="23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algn="l"/>
              <a:r>
                <a:rPr kumimoji="1" lang="en-US" altLang="zh-CN" sz="1700" b="1">
                  <a:latin typeface="微软雅黑" panose="020B0503020204020204" charset="-122"/>
                  <a:ea typeface="微软雅黑" panose="020B0503020204020204" charset="-122"/>
                </a:rPr>
                <a:t>Y</a:t>
              </a:r>
            </a:p>
          </p:txBody>
        </p:sp>
        <p:sp>
          <p:nvSpPr>
            <p:cNvPr id="12" name="Text Box 24">
              <a:extLst>
                <a:ext uri="{FF2B5EF4-FFF2-40B4-BE49-F238E27FC236}">
                  <a16:creationId xmlns:a16="http://schemas.microsoft.com/office/drawing/2014/main" id="{4D9E0739-F8CF-F0D8-B94E-0A440584D3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9" y="315"/>
              <a:ext cx="153" cy="23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algn="l"/>
              <a:r>
                <a:rPr kumimoji="1" lang="en-US" altLang="zh-CN" sz="1700" b="1">
                  <a:latin typeface="微软雅黑" panose="020B0503020204020204" charset="-122"/>
                  <a:ea typeface="微软雅黑" panose="020B0503020204020204" charset="-122"/>
                </a:rPr>
                <a:t>Z</a:t>
              </a:r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A632F792-B850-D16A-069B-76ED0FEDD1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9" y="941"/>
              <a:ext cx="414" cy="91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lang="en-US" altLang="zh-CN" sz="1700" b="1"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</a:p>
          </p:txBody>
        </p:sp>
        <p:sp>
          <p:nvSpPr>
            <p:cNvPr id="14" name="Rectangle 26">
              <a:extLst>
                <a:ext uri="{FF2B5EF4-FFF2-40B4-BE49-F238E27FC236}">
                  <a16:creationId xmlns:a16="http://schemas.microsoft.com/office/drawing/2014/main" id="{FA3BD638-A818-DDE9-FBB1-C5EAE44A31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2" y="850"/>
              <a:ext cx="288" cy="91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lang="en-US" altLang="zh-CN" sz="1700" b="1">
                  <a:latin typeface="微软雅黑" panose="020B0503020204020204" charset="-122"/>
                  <a:ea typeface="微软雅黑" panose="020B0503020204020204" charset="-122"/>
                </a:rPr>
                <a:t>2</a:t>
              </a:r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37712E7E-85F4-816E-172E-4DE2DCC496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754"/>
              <a:ext cx="192" cy="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lang="en-US" altLang="zh-CN" sz="1700" b="1">
                  <a:latin typeface="微软雅黑" panose="020B0503020204020204" charset="-122"/>
                  <a:ea typeface="微软雅黑" panose="020B0503020204020204" charset="-122"/>
                </a:rPr>
                <a:t>1</a:t>
              </a:r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E9F32E68-6543-10CE-7AE3-E4BDA78829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2" y="1031"/>
              <a:ext cx="505" cy="91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zh-CN" sz="17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5EED379D-8C56-3709-8AEB-064AEE06AD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3" y="1107"/>
              <a:ext cx="590" cy="91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lang="en-US" altLang="zh-CN" sz="1700" b="1">
                  <a:latin typeface="微软雅黑" panose="020B0503020204020204" charset="-122"/>
                  <a:ea typeface="微软雅黑" panose="020B0503020204020204" charset="-122"/>
                </a:rPr>
                <a:t>n-1</a:t>
              </a:r>
            </a:p>
          </p:txBody>
        </p:sp>
        <p:sp>
          <p:nvSpPr>
            <p:cNvPr id="18" name="Rectangle 30">
              <a:extLst>
                <a:ext uri="{FF2B5EF4-FFF2-40B4-BE49-F238E27FC236}">
                  <a16:creationId xmlns:a16="http://schemas.microsoft.com/office/drawing/2014/main" id="{4CCBA935-09F2-167F-63A9-34D29FD2F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5" y="1105"/>
              <a:ext cx="680" cy="91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lang="en-US" altLang="zh-CN" sz="1700" b="1">
                  <a:latin typeface="微软雅黑" panose="020B0503020204020204" charset="-122"/>
                  <a:ea typeface="微软雅黑" panose="020B0503020204020204" charset="-122"/>
                </a:rPr>
                <a:t>n</a:t>
              </a:r>
            </a:p>
          </p:txBody>
        </p:sp>
      </p:grpSp>
      <p:grpSp>
        <p:nvGrpSpPr>
          <p:cNvPr id="19" name="Group 31">
            <a:extLst>
              <a:ext uri="{FF2B5EF4-FFF2-40B4-BE49-F238E27FC236}">
                <a16:creationId xmlns:a16="http://schemas.microsoft.com/office/drawing/2014/main" id="{180618FD-F9C4-2B32-9516-507E12C75655}"/>
              </a:ext>
            </a:extLst>
          </p:cNvPr>
          <p:cNvGrpSpPr/>
          <p:nvPr/>
        </p:nvGrpSpPr>
        <p:grpSpPr bwMode="auto">
          <a:xfrm>
            <a:off x="6842724" y="2769085"/>
            <a:ext cx="4992370" cy="1411605"/>
            <a:chOff x="3016" y="1525"/>
            <a:chExt cx="2744" cy="893"/>
          </a:xfrm>
        </p:grpSpPr>
        <p:sp>
          <p:nvSpPr>
            <p:cNvPr id="20" name="Line 32">
              <a:extLst>
                <a:ext uri="{FF2B5EF4-FFF2-40B4-BE49-F238E27FC236}">
                  <a16:creationId xmlns:a16="http://schemas.microsoft.com/office/drawing/2014/main" id="{4F1A79DE-ADF5-0949-57C3-D29618C75B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6" y="2418"/>
              <a:ext cx="27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Line 33">
              <a:extLst>
                <a:ext uri="{FF2B5EF4-FFF2-40B4-BE49-F238E27FC236}">
                  <a16:creationId xmlns:a16="http://schemas.microsoft.com/office/drawing/2014/main" id="{8C61386C-AC89-05D3-8A06-6E595DB2F6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14" y="1734"/>
              <a:ext cx="0" cy="684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Line 34">
              <a:extLst>
                <a:ext uri="{FF2B5EF4-FFF2-40B4-BE49-F238E27FC236}">
                  <a16:creationId xmlns:a16="http://schemas.microsoft.com/office/drawing/2014/main" id="{FBF3C111-6C2D-7311-C46C-A406590F43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2" y="1734"/>
              <a:ext cx="0" cy="684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Line 35">
              <a:extLst>
                <a:ext uri="{FF2B5EF4-FFF2-40B4-BE49-F238E27FC236}">
                  <a16:creationId xmlns:a16="http://schemas.microsoft.com/office/drawing/2014/main" id="{2D6E03CE-7885-4ADC-1DA0-21CBAB9E18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2" y="1734"/>
              <a:ext cx="0" cy="684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Text Box 36">
              <a:extLst>
                <a:ext uri="{FF2B5EF4-FFF2-40B4-BE49-F238E27FC236}">
                  <a16:creationId xmlns:a16="http://schemas.microsoft.com/office/drawing/2014/main" id="{0CD8C3FE-2AC2-6694-778E-C4A468DFBC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0" y="1525"/>
              <a:ext cx="158" cy="22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algn="l"/>
              <a:r>
                <a:rPr kumimoji="1" lang="en-US" altLang="zh-CN" sz="1700" b="1">
                  <a:latin typeface="微软雅黑" panose="020B0503020204020204" charset="-122"/>
                  <a:ea typeface="微软雅黑" panose="020B0503020204020204" charset="-122"/>
                </a:rPr>
                <a:t>X</a:t>
              </a:r>
            </a:p>
          </p:txBody>
        </p:sp>
        <p:sp>
          <p:nvSpPr>
            <p:cNvPr id="25" name="Text Box 37">
              <a:extLst>
                <a:ext uri="{FF2B5EF4-FFF2-40B4-BE49-F238E27FC236}">
                  <a16:creationId xmlns:a16="http://schemas.microsoft.com/office/drawing/2014/main" id="{3867F32E-C252-0C0A-10B6-E66D83B2F9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18" y="1525"/>
              <a:ext cx="152" cy="22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algn="l"/>
              <a:r>
                <a:rPr kumimoji="1" lang="en-US" altLang="zh-CN" sz="1700" b="1">
                  <a:latin typeface="微软雅黑" panose="020B0503020204020204" charset="-122"/>
                  <a:ea typeface="微软雅黑" panose="020B0503020204020204" charset="-122"/>
                </a:rPr>
                <a:t>Y</a:t>
              </a:r>
            </a:p>
          </p:txBody>
        </p:sp>
        <p:sp>
          <p:nvSpPr>
            <p:cNvPr id="26" name="Text Box 38">
              <a:extLst>
                <a:ext uri="{FF2B5EF4-FFF2-40B4-BE49-F238E27FC236}">
                  <a16:creationId xmlns:a16="http://schemas.microsoft.com/office/drawing/2014/main" id="{D65BE4A5-BB05-907E-A758-E41FCFF10D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9" y="1526"/>
              <a:ext cx="153" cy="22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algn="l"/>
              <a:r>
                <a:rPr kumimoji="1" lang="en-US" altLang="zh-CN" sz="1700" b="1">
                  <a:latin typeface="微软雅黑" panose="020B0503020204020204" charset="-122"/>
                  <a:ea typeface="微软雅黑" panose="020B0503020204020204" charset="-122"/>
                </a:rPr>
                <a:t>Z</a:t>
              </a:r>
            </a:p>
          </p:txBody>
        </p:sp>
        <p:sp>
          <p:nvSpPr>
            <p:cNvPr id="27" name="Rectangle 39">
              <a:extLst>
                <a:ext uri="{FF2B5EF4-FFF2-40B4-BE49-F238E27FC236}">
                  <a16:creationId xmlns:a16="http://schemas.microsoft.com/office/drawing/2014/main" id="{BEA6D666-F714-99B6-2120-AFAB572369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9" y="2152"/>
              <a:ext cx="414" cy="91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lang="en-US" altLang="zh-CN" sz="1700" b="1"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</a:p>
          </p:txBody>
        </p:sp>
        <p:sp>
          <p:nvSpPr>
            <p:cNvPr id="28" name="Rectangle 40">
              <a:extLst>
                <a:ext uri="{FF2B5EF4-FFF2-40B4-BE49-F238E27FC236}">
                  <a16:creationId xmlns:a16="http://schemas.microsoft.com/office/drawing/2014/main" id="{05056A0C-0769-B224-DDEC-EEB8764A0C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2" y="2061"/>
              <a:ext cx="288" cy="91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lang="en-US" altLang="zh-CN" sz="1700" b="1">
                  <a:latin typeface="微软雅黑" panose="020B0503020204020204" charset="-122"/>
                  <a:ea typeface="微软雅黑" panose="020B0503020204020204" charset="-122"/>
                </a:rPr>
                <a:t>2</a:t>
              </a:r>
            </a:p>
          </p:txBody>
        </p:sp>
        <p:sp>
          <p:nvSpPr>
            <p:cNvPr id="29" name="Rectangle 41">
              <a:extLst>
                <a:ext uri="{FF2B5EF4-FFF2-40B4-BE49-F238E27FC236}">
                  <a16:creationId xmlns:a16="http://schemas.microsoft.com/office/drawing/2014/main" id="{8FE62981-BBF6-CECE-0CA2-5BEFDCE809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1965"/>
              <a:ext cx="192" cy="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lang="en-US" altLang="zh-CN" sz="1700" b="1">
                  <a:latin typeface="微软雅黑" panose="020B0503020204020204" charset="-122"/>
                  <a:ea typeface="微软雅黑" panose="020B0503020204020204" charset="-122"/>
                </a:rPr>
                <a:t>1</a:t>
              </a:r>
            </a:p>
          </p:txBody>
        </p:sp>
        <p:sp>
          <p:nvSpPr>
            <p:cNvPr id="30" name="Rectangle 42">
              <a:extLst>
                <a:ext uri="{FF2B5EF4-FFF2-40B4-BE49-F238E27FC236}">
                  <a16:creationId xmlns:a16="http://schemas.microsoft.com/office/drawing/2014/main" id="{FA4B04BE-9657-6B20-5FB0-901BBD5F4D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2" y="2242"/>
              <a:ext cx="505" cy="91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zh-CN" sz="17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" name="Rectangle 43">
              <a:extLst>
                <a:ext uri="{FF2B5EF4-FFF2-40B4-BE49-F238E27FC236}">
                  <a16:creationId xmlns:a16="http://schemas.microsoft.com/office/drawing/2014/main" id="{D8C02C95-F7F0-1A81-3073-167B6F12A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3" y="2318"/>
              <a:ext cx="590" cy="91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lang="en-US" altLang="zh-CN" sz="1700" b="1">
                  <a:latin typeface="微软雅黑" panose="020B0503020204020204" charset="-122"/>
                  <a:ea typeface="微软雅黑" panose="020B0503020204020204" charset="-122"/>
                </a:rPr>
                <a:t>n-1</a:t>
              </a:r>
            </a:p>
          </p:txBody>
        </p:sp>
        <p:sp>
          <p:nvSpPr>
            <p:cNvPr id="32" name="Rectangle 44">
              <a:extLst>
                <a:ext uri="{FF2B5EF4-FFF2-40B4-BE49-F238E27FC236}">
                  <a16:creationId xmlns:a16="http://schemas.microsoft.com/office/drawing/2014/main" id="{6EFFB5A1-D10C-2F0E-2D65-DC5D7D4BF4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0" y="2316"/>
              <a:ext cx="680" cy="91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lang="en-US" altLang="zh-CN" sz="1700" b="1">
                  <a:latin typeface="微软雅黑" panose="020B0503020204020204" charset="-122"/>
                  <a:ea typeface="微软雅黑" panose="020B0503020204020204" charset="-122"/>
                </a:rPr>
                <a:t>n</a:t>
              </a:r>
            </a:p>
          </p:txBody>
        </p:sp>
      </p:grpSp>
      <p:grpSp>
        <p:nvGrpSpPr>
          <p:cNvPr id="33" name="Group 45">
            <a:extLst>
              <a:ext uri="{FF2B5EF4-FFF2-40B4-BE49-F238E27FC236}">
                <a16:creationId xmlns:a16="http://schemas.microsoft.com/office/drawing/2014/main" id="{4B269065-6EA6-A293-B925-7B22ED9EF230}"/>
              </a:ext>
            </a:extLst>
          </p:cNvPr>
          <p:cNvGrpSpPr/>
          <p:nvPr/>
        </p:nvGrpSpPr>
        <p:grpSpPr bwMode="auto">
          <a:xfrm>
            <a:off x="6842089" y="4509620"/>
            <a:ext cx="4937125" cy="1272540"/>
            <a:chOff x="3016" y="2795"/>
            <a:chExt cx="2744" cy="893"/>
          </a:xfrm>
        </p:grpSpPr>
        <p:sp>
          <p:nvSpPr>
            <p:cNvPr id="34" name="Line 46">
              <a:extLst>
                <a:ext uri="{FF2B5EF4-FFF2-40B4-BE49-F238E27FC236}">
                  <a16:creationId xmlns:a16="http://schemas.microsoft.com/office/drawing/2014/main" id="{A63838FA-EA7A-A5BC-3ABD-F3D4ABB143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6" y="3688"/>
              <a:ext cx="27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Line 47">
              <a:extLst>
                <a:ext uri="{FF2B5EF4-FFF2-40B4-BE49-F238E27FC236}">
                  <a16:creationId xmlns:a16="http://schemas.microsoft.com/office/drawing/2014/main" id="{A6334202-CD76-6421-DFCE-A880EE8D00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14" y="3004"/>
              <a:ext cx="0" cy="684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Line 48">
              <a:extLst>
                <a:ext uri="{FF2B5EF4-FFF2-40B4-BE49-F238E27FC236}">
                  <a16:creationId xmlns:a16="http://schemas.microsoft.com/office/drawing/2014/main" id="{16707EF2-F107-0389-8365-6935D26632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2" y="3004"/>
              <a:ext cx="0" cy="684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Line 49">
              <a:extLst>
                <a:ext uri="{FF2B5EF4-FFF2-40B4-BE49-F238E27FC236}">
                  <a16:creationId xmlns:a16="http://schemas.microsoft.com/office/drawing/2014/main" id="{56DC1B36-5C81-0A00-321E-9D4212173E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2" y="3004"/>
              <a:ext cx="0" cy="684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Text Box 50">
              <a:extLst>
                <a:ext uri="{FF2B5EF4-FFF2-40B4-BE49-F238E27FC236}">
                  <a16:creationId xmlns:a16="http://schemas.microsoft.com/office/drawing/2014/main" id="{A234ED5A-B9CC-48D9-8FA7-D69A3C241C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0" y="2795"/>
              <a:ext cx="158" cy="24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algn="l"/>
              <a:r>
                <a:rPr kumimoji="1" lang="en-US" altLang="zh-CN" sz="1700" b="1">
                  <a:latin typeface="微软雅黑" panose="020B0503020204020204" charset="-122"/>
                  <a:ea typeface="微软雅黑" panose="020B0503020204020204" charset="-122"/>
                </a:rPr>
                <a:t>X</a:t>
              </a:r>
            </a:p>
          </p:txBody>
        </p:sp>
        <p:sp>
          <p:nvSpPr>
            <p:cNvPr id="39" name="Text Box 51">
              <a:extLst>
                <a:ext uri="{FF2B5EF4-FFF2-40B4-BE49-F238E27FC236}">
                  <a16:creationId xmlns:a16="http://schemas.microsoft.com/office/drawing/2014/main" id="{EBEDB049-27C4-559B-D331-370537014B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18" y="2795"/>
              <a:ext cx="152" cy="24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algn="l"/>
              <a:r>
                <a:rPr kumimoji="1" lang="en-US" altLang="zh-CN" sz="1700" b="1">
                  <a:latin typeface="微软雅黑" panose="020B0503020204020204" charset="-122"/>
                  <a:ea typeface="微软雅黑" panose="020B0503020204020204" charset="-122"/>
                </a:rPr>
                <a:t>Y</a:t>
              </a:r>
            </a:p>
          </p:txBody>
        </p:sp>
        <p:sp>
          <p:nvSpPr>
            <p:cNvPr id="40" name="Text Box 52">
              <a:extLst>
                <a:ext uri="{FF2B5EF4-FFF2-40B4-BE49-F238E27FC236}">
                  <a16:creationId xmlns:a16="http://schemas.microsoft.com/office/drawing/2014/main" id="{307DE5BA-B26F-0747-E1FE-D96EC90637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9" y="2796"/>
              <a:ext cx="153" cy="24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algn="l"/>
              <a:r>
                <a:rPr kumimoji="1" lang="en-US" altLang="zh-CN" sz="1700" b="1">
                  <a:latin typeface="微软雅黑" panose="020B0503020204020204" charset="-122"/>
                  <a:ea typeface="微软雅黑" panose="020B0503020204020204" charset="-122"/>
                </a:rPr>
                <a:t>Z</a:t>
              </a:r>
            </a:p>
          </p:txBody>
        </p:sp>
        <p:sp>
          <p:nvSpPr>
            <p:cNvPr id="41" name="Rectangle 53">
              <a:extLst>
                <a:ext uri="{FF2B5EF4-FFF2-40B4-BE49-F238E27FC236}">
                  <a16:creationId xmlns:a16="http://schemas.microsoft.com/office/drawing/2014/main" id="{4B5BF60D-FCFD-9F57-E4B5-1034B9A27D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1" y="3318"/>
              <a:ext cx="414" cy="91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lang="en-US" altLang="zh-CN" sz="1700"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</a:p>
          </p:txBody>
        </p:sp>
        <p:sp>
          <p:nvSpPr>
            <p:cNvPr id="42" name="Rectangle 54">
              <a:extLst>
                <a:ext uri="{FF2B5EF4-FFF2-40B4-BE49-F238E27FC236}">
                  <a16:creationId xmlns:a16="http://schemas.microsoft.com/office/drawing/2014/main" id="{B3D0E1F6-ED55-7367-14FF-A7EA026A04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4" y="3227"/>
              <a:ext cx="288" cy="91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lang="en-US" altLang="zh-CN" sz="1700">
                  <a:latin typeface="微软雅黑" panose="020B0503020204020204" charset="-122"/>
                  <a:ea typeface="微软雅黑" panose="020B0503020204020204" charset="-122"/>
                </a:rPr>
                <a:t>2</a:t>
              </a:r>
            </a:p>
          </p:txBody>
        </p:sp>
        <p:sp>
          <p:nvSpPr>
            <p:cNvPr id="43" name="Rectangle 55">
              <a:extLst>
                <a:ext uri="{FF2B5EF4-FFF2-40B4-BE49-F238E27FC236}">
                  <a16:creationId xmlns:a16="http://schemas.microsoft.com/office/drawing/2014/main" id="{EF8A0F11-F1F1-868C-440C-CBDEBFCCF8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2" y="3131"/>
              <a:ext cx="192" cy="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lang="en-US" altLang="zh-CN" sz="1700">
                  <a:latin typeface="微软雅黑" panose="020B0503020204020204" charset="-122"/>
                  <a:ea typeface="微软雅黑" panose="020B0503020204020204" charset="-122"/>
                </a:rPr>
                <a:t>1</a:t>
              </a:r>
            </a:p>
          </p:txBody>
        </p:sp>
        <p:sp>
          <p:nvSpPr>
            <p:cNvPr id="44" name="Rectangle 56">
              <a:extLst>
                <a:ext uri="{FF2B5EF4-FFF2-40B4-BE49-F238E27FC236}">
                  <a16:creationId xmlns:a16="http://schemas.microsoft.com/office/drawing/2014/main" id="{ED9A3A8A-8358-DA00-D9A3-903A6467E5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4" y="3408"/>
              <a:ext cx="505" cy="91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zh-CN" sz="17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Rectangle 57">
              <a:extLst>
                <a:ext uri="{FF2B5EF4-FFF2-40B4-BE49-F238E27FC236}">
                  <a16:creationId xmlns:a16="http://schemas.microsoft.com/office/drawing/2014/main" id="{9897FE2C-E6C4-AA35-8655-1100E0A3FF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5" y="3484"/>
              <a:ext cx="590" cy="91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lang="en-US" altLang="zh-CN" sz="1700">
                  <a:latin typeface="微软雅黑" panose="020B0503020204020204" charset="-122"/>
                  <a:ea typeface="微软雅黑" panose="020B0503020204020204" charset="-122"/>
                </a:rPr>
                <a:t>n-1</a:t>
              </a:r>
            </a:p>
          </p:txBody>
        </p:sp>
        <p:sp>
          <p:nvSpPr>
            <p:cNvPr id="46" name="Rectangle 58">
              <a:extLst>
                <a:ext uri="{FF2B5EF4-FFF2-40B4-BE49-F238E27FC236}">
                  <a16:creationId xmlns:a16="http://schemas.microsoft.com/office/drawing/2014/main" id="{3AED3907-2F03-9105-F02A-3FB697ADE0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0" y="3586"/>
              <a:ext cx="680" cy="91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lang="en-US" altLang="zh-CN" sz="1700">
                  <a:latin typeface="微软雅黑" panose="020B0503020204020204" charset="-122"/>
                  <a:ea typeface="微软雅黑" panose="020B0503020204020204" charset="-122"/>
                </a:rPr>
                <a:t>n</a:t>
              </a:r>
            </a:p>
          </p:txBody>
        </p:sp>
      </p:grpSp>
      <p:sp>
        <p:nvSpPr>
          <p:cNvPr id="47" name="AutoShape 59">
            <a:hlinkClick r:id="rId5" action="ppaction://program" highlightClick="1"/>
            <a:extLst>
              <a:ext uri="{FF2B5EF4-FFF2-40B4-BE49-F238E27FC236}">
                <a16:creationId xmlns:a16="http://schemas.microsoft.com/office/drawing/2014/main" id="{FB81C20A-CF51-A3BE-FA3C-4A3C468E88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1044" y="5898754"/>
            <a:ext cx="2016548" cy="647730"/>
          </a:xfrm>
          <a:prstGeom prst="actionButtonBlank">
            <a:avLst/>
          </a:prstGeom>
          <a:solidFill>
            <a:schemeClr val="accent1"/>
          </a:solidFill>
          <a:ln w="9525">
            <a:noFill/>
            <a:miter lim="800000"/>
          </a:ln>
          <a:effectLst/>
        </p:spPr>
        <p:txBody>
          <a:bodyPr wrap="none" lIns="110045" tIns="55022" rIns="110045" bIns="55022" anchor="ctr"/>
          <a:lstStyle/>
          <a:p>
            <a:r>
              <a:rPr lang="en-US" altLang="zh-CN" sz="1700" b="1">
                <a:latin typeface="微软雅黑" panose="020B0503020204020204" charset="-122"/>
                <a:ea typeface="微软雅黑" panose="020B0503020204020204" charset="-122"/>
              </a:rPr>
              <a:t>Demo</a:t>
            </a:r>
          </a:p>
        </p:txBody>
      </p:sp>
      <p:grpSp>
        <p:nvGrpSpPr>
          <p:cNvPr id="48" name="Group 60">
            <a:extLst>
              <a:ext uri="{FF2B5EF4-FFF2-40B4-BE49-F238E27FC236}">
                <a16:creationId xmlns:a16="http://schemas.microsoft.com/office/drawing/2014/main" id="{A6327768-0FB7-FEFA-261F-FF8A048A6C71}"/>
              </a:ext>
            </a:extLst>
          </p:cNvPr>
          <p:cNvGrpSpPr/>
          <p:nvPr/>
        </p:nvGrpSpPr>
        <p:grpSpPr bwMode="auto">
          <a:xfrm>
            <a:off x="6230702" y="1199532"/>
            <a:ext cx="1056722" cy="1463743"/>
            <a:chOff x="2472" y="436"/>
            <a:chExt cx="500" cy="922"/>
          </a:xfrm>
        </p:grpSpPr>
        <p:sp>
          <p:nvSpPr>
            <p:cNvPr id="49" name="AutoShape 61">
              <a:extLst>
                <a:ext uri="{FF2B5EF4-FFF2-40B4-BE49-F238E27FC236}">
                  <a16:creationId xmlns:a16="http://schemas.microsoft.com/office/drawing/2014/main" id="{66A2301A-22F9-0C3E-6A5C-DC76F222068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V="1">
              <a:off x="2442" y="828"/>
              <a:ext cx="651" cy="409"/>
            </a:xfrm>
            <a:custGeom>
              <a:avLst/>
              <a:gdLst>
                <a:gd name="G0" fmla="+- 9257 0 0"/>
                <a:gd name="G1" fmla="+- 18514 0 0"/>
                <a:gd name="G2" fmla="+- 7200 0 0"/>
                <a:gd name="G3" fmla="*/ 9257 1 2"/>
                <a:gd name="G4" fmla="+- G3 10800 0"/>
                <a:gd name="G5" fmla="+- 21600 9257 18514"/>
                <a:gd name="G6" fmla="+- 18514 7200 0"/>
                <a:gd name="G7" fmla="*/ G6 1 2"/>
                <a:gd name="G8" fmla="*/ 18514 2 1"/>
                <a:gd name="G9" fmla="+- G8 0 21600"/>
                <a:gd name="G10" fmla="*/ 21600 G0 G1"/>
                <a:gd name="G11" fmla="*/ 21600 G4 G1"/>
                <a:gd name="G12" fmla="*/ 21600 G5 G1"/>
                <a:gd name="G13" fmla="*/ 21600 G7 G1"/>
                <a:gd name="G14" fmla="*/ 18514 1 2"/>
                <a:gd name="G15" fmla="+- G5 0 G4"/>
                <a:gd name="G16" fmla="+- G0 0 G4"/>
                <a:gd name="G17" fmla="*/ G2 G15 G16"/>
                <a:gd name="T0" fmla="*/ 15429 w 21600"/>
                <a:gd name="T1" fmla="*/ 0 h 21600"/>
                <a:gd name="T2" fmla="*/ 9257 w 21600"/>
                <a:gd name="T3" fmla="*/ 7200 h 21600"/>
                <a:gd name="T4" fmla="*/ 0 w 21600"/>
                <a:gd name="T5" fmla="*/ 18001 h 21600"/>
                <a:gd name="T6" fmla="*/ 9257 w 21600"/>
                <a:gd name="T7" fmla="*/ 21600 h 21600"/>
                <a:gd name="T8" fmla="*/ 18514 w 21600"/>
                <a:gd name="T9" fmla="*/ 15000 h 21600"/>
                <a:gd name="T10" fmla="*/ 21600 w 21600"/>
                <a:gd name="T11" fmla="*/ 7200 h 21600"/>
                <a:gd name="T12" fmla="*/ 17694720 60000 65536"/>
                <a:gd name="T13" fmla="*/ 11796480 60000 65536"/>
                <a:gd name="T14" fmla="*/ 11796480 60000 65536"/>
                <a:gd name="T15" fmla="*/ 5898240 60000 65536"/>
                <a:gd name="T16" fmla="*/ 0 60000 65536"/>
                <a:gd name="T17" fmla="*/ 0 60000 65536"/>
                <a:gd name="T18" fmla="*/ 0 w 21600"/>
                <a:gd name="T19" fmla="*/ G12 h 21600"/>
                <a:gd name="T20" fmla="*/ G1 w 21600"/>
                <a:gd name="T21" fmla="*/ 2160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5429" y="0"/>
                  </a:moveTo>
                  <a:lnTo>
                    <a:pt x="9257" y="7200"/>
                  </a:lnTo>
                  <a:lnTo>
                    <a:pt x="12343" y="7200"/>
                  </a:lnTo>
                  <a:lnTo>
                    <a:pt x="12343" y="14400"/>
                  </a:lnTo>
                  <a:lnTo>
                    <a:pt x="0" y="14400"/>
                  </a:lnTo>
                  <a:lnTo>
                    <a:pt x="0" y="21600"/>
                  </a:lnTo>
                  <a:lnTo>
                    <a:pt x="18514" y="21600"/>
                  </a:lnTo>
                  <a:lnTo>
                    <a:pt x="18514" y="7200"/>
                  </a:lnTo>
                  <a:lnTo>
                    <a:pt x="21600" y="720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rot="10800000" vert="eaVert" wrap="none" anchor="ctr"/>
            <a:lstStyle/>
            <a:p>
              <a:endParaRPr lang="zh-CN" altLang="zh-CN">
                <a:solidFill>
                  <a:schemeClr val="tx1"/>
                </a:solidFill>
                <a:ea typeface="幼圆" panose="02010509060101010101" pitchFamily="49" charset="-122"/>
              </a:endParaRPr>
            </a:p>
          </p:txBody>
        </p:sp>
        <p:sp>
          <p:nvSpPr>
            <p:cNvPr id="50" name="Rectangle 62">
              <a:extLst>
                <a:ext uri="{FF2B5EF4-FFF2-40B4-BE49-F238E27FC236}">
                  <a16:creationId xmlns:a16="http://schemas.microsoft.com/office/drawing/2014/main" id="{B8277B61-62AA-59F7-885A-41C7F9866F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2" y="436"/>
              <a:ext cx="362" cy="22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700">
                  <a:latin typeface="微软雅黑" panose="020B0503020204020204" charset="-122"/>
                  <a:ea typeface="微软雅黑" panose="020B0503020204020204" charset="-122"/>
                </a:rPr>
                <a:t>Step1</a:t>
              </a:r>
            </a:p>
          </p:txBody>
        </p:sp>
      </p:grpSp>
      <p:grpSp>
        <p:nvGrpSpPr>
          <p:cNvPr id="51" name="Group 63">
            <a:extLst>
              <a:ext uri="{FF2B5EF4-FFF2-40B4-BE49-F238E27FC236}">
                <a16:creationId xmlns:a16="http://schemas.microsoft.com/office/drawing/2014/main" id="{940CF496-7076-72E3-B963-453485EFF920}"/>
              </a:ext>
            </a:extLst>
          </p:cNvPr>
          <p:cNvGrpSpPr/>
          <p:nvPr/>
        </p:nvGrpSpPr>
        <p:grpSpPr bwMode="auto">
          <a:xfrm>
            <a:off x="6230702" y="2967780"/>
            <a:ext cx="1246323" cy="792199"/>
            <a:chOff x="245" y="1653"/>
            <a:chExt cx="589" cy="499"/>
          </a:xfrm>
        </p:grpSpPr>
        <p:sp>
          <p:nvSpPr>
            <p:cNvPr id="52" name="AutoShape 64">
              <a:extLst>
                <a:ext uri="{FF2B5EF4-FFF2-40B4-BE49-F238E27FC236}">
                  <a16:creationId xmlns:a16="http://schemas.microsoft.com/office/drawing/2014/main" id="{44BA7755-1F27-E865-318E-A205432602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7" y="1653"/>
              <a:ext cx="227" cy="499"/>
            </a:xfrm>
            <a:prstGeom prst="downArrow">
              <a:avLst>
                <a:gd name="adj1" fmla="val 50000"/>
                <a:gd name="adj2" fmla="val 54956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vert="eaVert" wrap="none" anchor="ctr"/>
            <a:lstStyle/>
            <a:p>
              <a:endParaRPr lang="zh-CN" altLang="en-US" sz="17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3" name="Rectangle 65">
              <a:extLst>
                <a:ext uri="{FF2B5EF4-FFF2-40B4-BE49-F238E27FC236}">
                  <a16:creationId xmlns:a16="http://schemas.microsoft.com/office/drawing/2014/main" id="{AB5A1E57-A370-18E1-6D31-49D3120B49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" y="1743"/>
              <a:ext cx="362" cy="22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700">
                  <a:latin typeface="微软雅黑" panose="020B0503020204020204" charset="-122"/>
                  <a:ea typeface="微软雅黑" panose="020B0503020204020204" charset="-122"/>
                </a:rPr>
                <a:t>Step2</a:t>
              </a:r>
            </a:p>
          </p:txBody>
        </p:sp>
      </p:grpSp>
      <p:grpSp>
        <p:nvGrpSpPr>
          <p:cNvPr id="54" name="Group 66">
            <a:extLst>
              <a:ext uri="{FF2B5EF4-FFF2-40B4-BE49-F238E27FC236}">
                <a16:creationId xmlns:a16="http://schemas.microsoft.com/office/drawing/2014/main" id="{73CE9246-1D43-DF6E-D31C-0917D9069C5E}"/>
              </a:ext>
            </a:extLst>
          </p:cNvPr>
          <p:cNvGrpSpPr/>
          <p:nvPr/>
        </p:nvGrpSpPr>
        <p:grpSpPr bwMode="auto">
          <a:xfrm>
            <a:off x="6229308" y="4655060"/>
            <a:ext cx="1246323" cy="808075"/>
            <a:chOff x="2649" y="2825"/>
            <a:chExt cx="589" cy="509"/>
          </a:xfrm>
        </p:grpSpPr>
        <p:sp>
          <p:nvSpPr>
            <p:cNvPr id="55" name="AutoShape 67">
              <a:extLst>
                <a:ext uri="{FF2B5EF4-FFF2-40B4-BE49-F238E27FC236}">
                  <a16:creationId xmlns:a16="http://schemas.microsoft.com/office/drawing/2014/main" id="{92E02455-701E-D97C-0CAE-64EAD6B0BE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1" y="2835"/>
              <a:ext cx="227" cy="499"/>
            </a:xfrm>
            <a:prstGeom prst="downArrow">
              <a:avLst>
                <a:gd name="adj1" fmla="val 50000"/>
                <a:gd name="adj2" fmla="val 54956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vert="eaVert" wrap="none" anchor="ctr"/>
            <a:lstStyle/>
            <a:p>
              <a:endParaRPr lang="zh-CN" altLang="en-US" sz="17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6" name="Rectangle 68">
              <a:extLst>
                <a:ext uri="{FF2B5EF4-FFF2-40B4-BE49-F238E27FC236}">
                  <a16:creationId xmlns:a16="http://schemas.microsoft.com/office/drawing/2014/main" id="{D5B23DA7-5FB9-F9DE-5DC1-3AE4904CCB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9" y="2825"/>
              <a:ext cx="364" cy="22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1700">
                  <a:latin typeface="微软雅黑" panose="020B0503020204020204" charset="-122"/>
                  <a:ea typeface="微软雅黑" panose="020B0503020204020204" charset="-122"/>
                </a:rPr>
                <a:t>Step3</a:t>
              </a: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627937" y="1170237"/>
            <a:ext cx="8196613" cy="619189"/>
          </a:xfrm>
        </p:spPr>
        <p:txBody>
          <a:bodyPr/>
          <a:lstStyle/>
          <a:p>
            <a:r>
              <a:rPr lang="en-US" altLang="zh-CN" sz="2600" dirty="0">
                <a:latin typeface="微软雅黑" panose="020B0503020204020204" charset="-122"/>
                <a:ea typeface="微软雅黑" panose="020B0503020204020204" charset="-122"/>
              </a:rPr>
              <a:t>Method specification</a:t>
            </a:r>
          </a:p>
        </p:txBody>
      </p:sp>
      <p:pic>
        <p:nvPicPr>
          <p:cNvPr id="8909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5"/>
          <a:srcRect/>
          <a:stretch>
            <a:fillRect/>
          </a:stretch>
        </p:blipFill>
        <p:spPr>
          <a:xfrm>
            <a:off x="522605" y="2020570"/>
            <a:ext cx="8196580" cy="3014980"/>
          </a:xfrm>
          <a:noFill/>
          <a:ln>
            <a:solidFill>
              <a:schemeClr val="bg2"/>
            </a:solidFill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</p:pic>
      <p:sp>
        <p:nvSpPr>
          <p:cNvPr id="89092" name="Rectangle 4"/>
          <p:cNvSpPr>
            <a:spLocks noChangeArrowheads="1"/>
          </p:cNvSpPr>
          <p:nvPr/>
        </p:nvSpPr>
        <p:spPr bwMode="auto">
          <a:xfrm>
            <a:off x="11087804" y="5877198"/>
            <a:ext cx="556260" cy="5397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110045" tIns="55022" rIns="110045" bIns="55022">
            <a:spAutoFit/>
          </a:bodyPr>
          <a:lstStyle/>
          <a:p>
            <a:pPr algn="l"/>
            <a:r>
              <a:rPr lang="en-US" altLang="zh-CN" sz="2800" b="1">
                <a:solidFill>
                  <a:srgbClr val="CC0000"/>
                </a:solidFill>
                <a:latin typeface="微软雅黑" panose="020B0503020204020204" charset="-122"/>
                <a:ea typeface="微软雅黑" panose="020B0503020204020204" charset="-122"/>
              </a:rPr>
              <a:t>®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>
          <a:xfrm>
            <a:off x="514260" y="922024"/>
            <a:ext cx="8196613" cy="619189"/>
          </a:xfrm>
        </p:spPr>
        <p:txBody>
          <a:bodyPr/>
          <a:lstStyle/>
          <a:p>
            <a:r>
              <a:rPr lang="en-US" altLang="zh-CN" sz="2600">
                <a:latin typeface="微软雅黑" panose="020B0503020204020204" charset="-122"/>
                <a:ea typeface="微软雅黑" panose="020B0503020204020204" charset="-122"/>
              </a:rPr>
              <a:t>Program for Hanoi</a:t>
            </a:r>
          </a:p>
        </p:txBody>
      </p:sp>
      <p:sp>
        <p:nvSpPr>
          <p:cNvPr id="91139" name="Rectangle 3"/>
          <p:cNvSpPr>
            <a:spLocks noChangeArrowheads="1"/>
          </p:cNvSpPr>
          <p:nvPr/>
        </p:nvSpPr>
        <p:spPr bwMode="auto">
          <a:xfrm>
            <a:off x="414196" y="1630630"/>
            <a:ext cx="8469753" cy="454310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10045" tIns="55022" rIns="110045" bIns="55022">
            <a:spAutoFit/>
          </a:bodyPr>
          <a:lstStyle/>
          <a:p>
            <a:pPr algn="l"/>
            <a:r>
              <a:rPr lang="en-US" altLang="zh-CN" sz="2400" dirty="0" err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const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400" dirty="0" err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int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 disks = 64;</a:t>
            </a:r>
          </a:p>
          <a:p>
            <a:pPr algn="l"/>
            <a:r>
              <a:rPr lang="en-US" altLang="zh-CN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 // Make this constant much smaller to run program.</a:t>
            </a:r>
          </a:p>
          <a:p>
            <a:pPr algn="l"/>
            <a:r>
              <a:rPr lang="en-US" altLang="zh-CN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void move(</a:t>
            </a:r>
            <a:r>
              <a:rPr lang="en-US" altLang="zh-CN" sz="2400" dirty="0" err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int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 count, </a:t>
            </a:r>
            <a:r>
              <a:rPr lang="en-US" altLang="zh-CN" sz="2400" dirty="0" err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int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 start, </a:t>
            </a:r>
            <a:r>
              <a:rPr lang="en-US" altLang="zh-CN" sz="2400" dirty="0" err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int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 finish, </a:t>
            </a:r>
            <a:r>
              <a:rPr lang="en-US" altLang="zh-CN" sz="2400" dirty="0" err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int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 temp);</a:t>
            </a:r>
          </a:p>
          <a:p>
            <a:pPr algn="l"/>
            <a:r>
              <a:rPr lang="en-US" altLang="zh-CN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/*</a:t>
            </a:r>
          </a:p>
          <a:p>
            <a:pPr algn="l"/>
            <a:r>
              <a:rPr lang="en-US" altLang="zh-CN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Pre:  None.</a:t>
            </a:r>
          </a:p>
          <a:p>
            <a:pPr algn="l"/>
            <a:r>
              <a:rPr lang="en-US" altLang="zh-CN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Post: The simulation of the Towers of Hanoi has terminated.</a:t>
            </a:r>
          </a:p>
          <a:p>
            <a:pPr algn="l"/>
            <a:r>
              <a:rPr lang="en-US" altLang="zh-CN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*/</a:t>
            </a:r>
          </a:p>
          <a:p>
            <a:pPr algn="l"/>
            <a:r>
              <a:rPr lang="en-US" altLang="zh-CN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main()</a:t>
            </a:r>
          </a:p>
          <a:p>
            <a:pPr algn="l"/>
            <a:r>
              <a:rPr lang="en-US" altLang="zh-CN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{</a:t>
            </a:r>
          </a:p>
          <a:p>
            <a:pPr algn="l"/>
            <a:r>
              <a:rPr lang="en-US" altLang="zh-CN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   move(disks, 1, 3, 2);</a:t>
            </a:r>
          </a:p>
          <a:p>
            <a:pPr algn="l"/>
            <a:r>
              <a:rPr lang="en-US" altLang="zh-CN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}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476373" y="1452079"/>
            <a:ext cx="8196613" cy="619189"/>
          </a:xfrm>
        </p:spPr>
        <p:txBody>
          <a:bodyPr/>
          <a:lstStyle/>
          <a:p>
            <a:r>
              <a:rPr lang="en-US" altLang="zh-CN" sz="2600" dirty="0">
                <a:latin typeface="微软雅黑" panose="020B0503020204020204" charset="-122"/>
                <a:ea typeface="微软雅黑" panose="020B0503020204020204" charset="-122"/>
              </a:rPr>
              <a:t>Hanoi recursive function</a:t>
            </a:r>
          </a:p>
        </p:txBody>
      </p:sp>
      <p:sp>
        <p:nvSpPr>
          <p:cNvPr id="93187" name="Rectangle 3"/>
          <p:cNvSpPr>
            <a:spLocks noChangeArrowheads="1"/>
          </p:cNvSpPr>
          <p:nvPr/>
        </p:nvSpPr>
        <p:spPr bwMode="auto">
          <a:xfrm>
            <a:off x="399015" y="2427992"/>
            <a:ext cx="7886304" cy="376750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10045" tIns="55022" rIns="110045" bIns="55022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void move(</a:t>
            </a:r>
            <a:r>
              <a:rPr lang="en-US" altLang="zh-CN" sz="2400" dirty="0" err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int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 count, </a:t>
            </a:r>
            <a:r>
              <a:rPr lang="en-US" altLang="zh-CN" sz="2400" dirty="0" err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int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 start, </a:t>
            </a:r>
            <a:r>
              <a:rPr lang="en-US" altLang="zh-CN" sz="2400" dirty="0" err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int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 finish, </a:t>
            </a:r>
            <a:r>
              <a:rPr lang="en-US" altLang="zh-CN" sz="2400" dirty="0" err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int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 temp)</a:t>
            </a:r>
          </a:p>
          <a:p>
            <a:pPr algn="l">
              <a:lnSpc>
                <a:spcPct val="110000"/>
              </a:lnSpc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1:{</a:t>
            </a:r>
          </a:p>
          <a:p>
            <a:pPr algn="l">
              <a:lnSpc>
                <a:spcPct val="110000"/>
              </a:lnSpc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2:    if (count &gt; 0) {</a:t>
            </a:r>
          </a:p>
          <a:p>
            <a:pPr algn="l">
              <a:lnSpc>
                <a:spcPct val="110000"/>
              </a:lnSpc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3:      move(count - 1, start, temp, finish);</a:t>
            </a:r>
          </a:p>
          <a:p>
            <a:pPr>
              <a:lnSpc>
                <a:spcPct val="110000"/>
              </a:lnSpc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4:      </a:t>
            </a:r>
            <a:r>
              <a:rPr lang="en-US" altLang="zh-CN" sz="2400" dirty="0" err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cout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 &lt;&lt; "Move disk " &lt;&lt; count &lt;&lt; " from " &lt;&lt; start &lt;&lt; " to " &lt;&lt; finish &lt;&lt; "." &lt;&lt; </a:t>
            </a:r>
            <a:r>
              <a:rPr lang="en-US" altLang="zh-CN" sz="2400" dirty="0" err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endl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;</a:t>
            </a:r>
          </a:p>
          <a:p>
            <a:pPr algn="l">
              <a:lnSpc>
                <a:spcPct val="110000"/>
              </a:lnSpc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5:      move(count - 1, temp, finish, start);</a:t>
            </a:r>
          </a:p>
          <a:p>
            <a:pPr algn="l">
              <a:lnSpc>
                <a:spcPct val="110000"/>
              </a:lnSpc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6:    }</a:t>
            </a:r>
          </a:p>
          <a:p>
            <a:pPr algn="l">
              <a:lnSpc>
                <a:spcPct val="110000"/>
              </a:lnSpc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7:}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235" name="Picture 3"/>
          <p:cNvPicPr>
            <a:picLocks noGrp="1" noChangeAspect="1" noChangeArrowheads="1"/>
          </p:cNvPicPr>
          <p:nvPr>
            <p:ph type="title"/>
          </p:nvPr>
        </p:nvPicPr>
        <p:blipFill>
          <a:blip r:embed="rId5"/>
          <a:stretch>
            <a:fillRect/>
          </a:stretch>
        </p:blipFill>
        <p:spPr>
          <a:xfrm>
            <a:off x="4680442" y="1086235"/>
            <a:ext cx="5964723" cy="5719602"/>
          </a:xfrm>
          <a:noFill/>
          <a:ln>
            <a:solidFill>
              <a:schemeClr val="bg2"/>
            </a:solidFill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</p:pic>
      <p:sp>
        <p:nvSpPr>
          <p:cNvPr id="95234" name="Rectangle 2"/>
          <p:cNvSpPr>
            <a:spLocks noGrp="1" noChangeArrowheads="1"/>
          </p:cNvSpPr>
          <p:nvPr>
            <p:ph idx="1"/>
          </p:nvPr>
        </p:nvSpPr>
        <p:spPr>
          <a:xfrm>
            <a:off x="438696" y="984365"/>
            <a:ext cx="8196612" cy="4932219"/>
          </a:xfrm>
        </p:spPr>
        <p:txBody>
          <a:bodyPr/>
          <a:lstStyle/>
          <a:p>
            <a:pPr>
              <a:buFontTx/>
              <a:buNone/>
            </a:pP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buFontTx/>
              <a:buNone/>
            </a:pPr>
            <a:r>
              <a:rPr lang="en-US" altLang="zh-CN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Example:</a:t>
            </a:r>
          </a:p>
          <a:p>
            <a:pPr>
              <a:buFontTx/>
              <a:buNone/>
            </a:pPr>
            <a:endParaRPr lang="en-US" altLang="zh-CN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buFontTx/>
              <a:buNone/>
            </a:pPr>
            <a:r>
              <a:rPr lang="en-US" altLang="zh-CN" b="1" u="sng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move(2, 1, 3, 2)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ChangeArrowheads="1"/>
          </p:cNvSpPr>
          <p:nvPr/>
        </p:nvSpPr>
        <p:spPr bwMode="auto">
          <a:xfrm>
            <a:off x="448515" y="1019231"/>
            <a:ext cx="10969341" cy="73748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10045" tIns="55022" rIns="110045" bIns="55022" anchor="ctr"/>
          <a:lstStyle/>
          <a:p>
            <a:r>
              <a:rPr kumimoji="1" lang="en-US" altLang="zh-CN" sz="2800" b="1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</a:rPr>
              <a:t>Recursion tree of Hanoi</a:t>
            </a:r>
          </a:p>
        </p:txBody>
      </p:sp>
      <p:pic>
        <p:nvPicPr>
          <p:cNvPr id="97283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518302" y="3349186"/>
            <a:ext cx="7846060" cy="293370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</p:pic>
      <p:sp>
        <p:nvSpPr>
          <p:cNvPr id="97284" name="Rectangle 4"/>
          <p:cNvSpPr>
            <a:spLocks noChangeArrowheads="1"/>
          </p:cNvSpPr>
          <p:nvPr/>
        </p:nvSpPr>
        <p:spPr bwMode="auto">
          <a:xfrm>
            <a:off x="526817" y="1811296"/>
            <a:ext cx="10969341" cy="452617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10045" tIns="55022" rIns="110045" bIns="55022"/>
          <a:lstStyle/>
          <a:p>
            <a:pPr marL="412750" indent="-412750">
              <a:spcBef>
                <a:spcPct val="20000"/>
              </a:spcBef>
            </a:pPr>
            <a:r>
              <a:rPr kumimoji="1" lang="en-US" altLang="zh-CN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Example:</a:t>
            </a:r>
          </a:p>
          <a:p>
            <a:pPr marL="412750" indent="-412750">
              <a:spcBef>
                <a:spcPct val="20000"/>
              </a:spcBef>
            </a:pPr>
            <a:r>
              <a:rPr kumimoji="1" lang="en-US" altLang="zh-CN" sz="2800" b="1" u="sng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move(2, 1, 3, 2)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ChangeArrowheads="1"/>
          </p:cNvSpPr>
          <p:nvPr/>
        </p:nvSpPr>
        <p:spPr bwMode="auto">
          <a:xfrm>
            <a:off x="444267" y="972861"/>
            <a:ext cx="7708900" cy="8585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10045" tIns="55022" rIns="110045" bIns="55022" anchor="ctr"/>
          <a:lstStyle/>
          <a:p>
            <a:r>
              <a:rPr kumimoji="1" lang="en-US" altLang="zh-CN" sz="2800" b="1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</a:rPr>
              <a:t>Recursion tree of Hanoi</a:t>
            </a:r>
          </a:p>
        </p:txBody>
      </p:sp>
      <p:pic>
        <p:nvPicPr>
          <p:cNvPr id="105475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78392" y="3027019"/>
            <a:ext cx="8166100" cy="368173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</p:pic>
      <p:sp>
        <p:nvSpPr>
          <p:cNvPr id="105476" name="Rectangle 4"/>
          <p:cNvSpPr>
            <a:spLocks noChangeArrowheads="1"/>
          </p:cNvSpPr>
          <p:nvPr/>
        </p:nvSpPr>
        <p:spPr bwMode="auto">
          <a:xfrm>
            <a:off x="444267" y="1831381"/>
            <a:ext cx="10969341" cy="452617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10045" tIns="55022" rIns="110045" bIns="55022"/>
          <a:lstStyle/>
          <a:p>
            <a:pPr marL="412750" indent="-412750">
              <a:spcBef>
                <a:spcPct val="20000"/>
              </a:spcBef>
            </a:pPr>
            <a:r>
              <a:rPr kumimoji="1" lang="en-US" altLang="zh-CN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Example:</a:t>
            </a:r>
          </a:p>
          <a:p>
            <a:pPr marL="412750" indent="-412750">
              <a:spcBef>
                <a:spcPct val="20000"/>
              </a:spcBef>
            </a:pPr>
            <a:r>
              <a:rPr kumimoji="1" lang="en-US" altLang="zh-CN" sz="2800" b="1" u="sng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move(3, 1, 3, 2)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3"/>
          <p:cNvSpPr>
            <a:spLocks noGrp="1" noChangeArrowheads="1"/>
          </p:cNvSpPr>
          <p:nvPr>
            <p:ph idx="1"/>
          </p:nvPr>
        </p:nvSpPr>
        <p:spPr>
          <a:xfrm>
            <a:off x="787255" y="2139157"/>
            <a:ext cx="8196580" cy="3503930"/>
          </a:xfrm>
        </p:spPr>
        <p:txBody>
          <a:bodyPr/>
          <a:lstStyle/>
          <a:p>
            <a:pPr fontAlgn="auto">
              <a:lnSpc>
                <a:spcPct val="150000"/>
              </a:lnSpc>
              <a:buFontTx/>
              <a:buNone/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递归算法的优缺点：</a:t>
            </a:r>
            <a:endParaRPr lang="en-US" altLang="zh-CN" sz="2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 fontAlgn="auto">
              <a:lnSpc>
                <a:spcPct val="150000"/>
              </a:lnSpc>
              <a:buFontTx/>
              <a:buNone/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优点：结构清晰，可读性强，而且容易用数学归纳法来证明算法的正确性，因此它为设计算法、调试程序带来很大方便。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zh-CN" altLang="en-US" sz="2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 fontAlgn="auto">
              <a:lnSpc>
                <a:spcPct val="150000"/>
              </a:lnSpc>
              <a:buFontTx/>
              <a:buNone/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缺点：递归算法的运行效率较低，无论是耗费的计算时间还是占用的存储空间都比非递归算法要多。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zh-CN" altLang="en-US" sz="2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 eaLnBrk="1" hangingPunct="1"/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标题"/>
          <p:cNvGrpSpPr/>
          <p:nvPr/>
        </p:nvGrpSpPr>
        <p:grpSpPr>
          <a:xfrm>
            <a:off x="614241" y="1386273"/>
            <a:ext cx="6347460" cy="513080"/>
            <a:chOff x="334963" y="114271"/>
            <a:chExt cx="8886240" cy="686455"/>
          </a:xfrm>
        </p:grpSpPr>
        <p:sp>
          <p:nvSpPr>
            <p:cNvPr id="19" name="基础扎实 / Strong Preparation"/>
            <p:cNvSpPr txBox="1"/>
            <p:nvPr/>
          </p:nvSpPr>
          <p:spPr>
            <a:xfrm>
              <a:off x="1003300" y="114271"/>
              <a:ext cx="8217903" cy="686455"/>
            </a:xfrm>
            <a:prstGeom prst="rect">
              <a:avLst/>
            </a:prstGeom>
            <a:noFill/>
          </p:spPr>
          <p:txBody>
            <a:bodyPr wrap="square" lIns="68549" tIns="34274" rIns="68549" bIns="34274" rtlCol="0">
              <a:spAutoFit/>
            </a:bodyPr>
            <a:lstStyle/>
            <a:p>
              <a:pPr algn="just" defTabSz="914400">
                <a:buClr>
                  <a:prstClr val="white"/>
                </a:buClr>
              </a:pPr>
              <a:r>
                <a:rPr lang="zh-CN" altLang="en-US" sz="2900" b="1" dirty="0">
                  <a:solidFill>
                    <a:srgbClr val="0000FF"/>
                  </a:solidFill>
                  <a:sym typeface="Arial" panose="020B0604020202020204" pitchFamily="34" charset="0"/>
                </a:rPr>
                <a:t>小结</a:t>
              </a:r>
            </a:p>
          </p:txBody>
        </p:sp>
        <p:sp>
          <p:nvSpPr>
            <p:cNvPr id="26" name="齿轮"/>
            <p:cNvSpPr>
              <a:spLocks noChangeAspect="1"/>
            </p:cNvSpPr>
            <p:nvPr/>
          </p:nvSpPr>
          <p:spPr bwMode="auto">
            <a:xfrm>
              <a:off x="334963" y="121637"/>
              <a:ext cx="484428" cy="485386"/>
            </a:xfrm>
            <a:custGeom>
              <a:avLst/>
              <a:gdLst>
                <a:gd name="T0" fmla="*/ 3717 w 3906"/>
                <a:gd name="T1" fmla="*/ 1560 h 3920"/>
                <a:gd name="T2" fmla="*/ 3475 w 3906"/>
                <a:gd name="T3" fmla="*/ 1560 h 3920"/>
                <a:gd name="T4" fmla="*/ 3313 w 3906"/>
                <a:gd name="T5" fmla="*/ 1170 h 3920"/>
                <a:gd name="T6" fmla="*/ 3491 w 3906"/>
                <a:gd name="T7" fmla="*/ 992 h 3920"/>
                <a:gd name="T8" fmla="*/ 3491 w 3906"/>
                <a:gd name="T9" fmla="*/ 709 h 3920"/>
                <a:gd name="T10" fmla="*/ 3215 w 3906"/>
                <a:gd name="T11" fmla="*/ 433 h 3920"/>
                <a:gd name="T12" fmla="*/ 3074 w 3906"/>
                <a:gd name="T13" fmla="*/ 374 h 3920"/>
                <a:gd name="T14" fmla="*/ 2932 w 3906"/>
                <a:gd name="T15" fmla="*/ 433 h 3920"/>
                <a:gd name="T16" fmla="*/ 2752 w 3906"/>
                <a:gd name="T17" fmla="*/ 609 h 3920"/>
                <a:gd name="T18" fmla="*/ 2346 w 3906"/>
                <a:gd name="T19" fmla="*/ 442 h 3920"/>
                <a:gd name="T20" fmla="*/ 2346 w 3906"/>
                <a:gd name="T21" fmla="*/ 200 h 3920"/>
                <a:gd name="T22" fmla="*/ 2153 w 3906"/>
                <a:gd name="T23" fmla="*/ 0 h 3920"/>
                <a:gd name="T24" fmla="*/ 1762 w 3906"/>
                <a:gd name="T25" fmla="*/ 0 h 3920"/>
                <a:gd name="T26" fmla="*/ 1560 w 3906"/>
                <a:gd name="T27" fmla="*/ 200 h 3920"/>
                <a:gd name="T28" fmla="*/ 1560 w 3906"/>
                <a:gd name="T29" fmla="*/ 442 h 3920"/>
                <a:gd name="T30" fmla="*/ 1174 w 3906"/>
                <a:gd name="T31" fmla="*/ 601 h 3920"/>
                <a:gd name="T32" fmla="*/ 1009 w 3906"/>
                <a:gd name="T33" fmla="*/ 435 h 3920"/>
                <a:gd name="T34" fmla="*/ 726 w 3906"/>
                <a:gd name="T35" fmla="*/ 435 h 3920"/>
                <a:gd name="T36" fmla="*/ 450 w 3906"/>
                <a:gd name="T37" fmla="*/ 711 h 3920"/>
                <a:gd name="T38" fmla="*/ 450 w 3906"/>
                <a:gd name="T39" fmla="*/ 994 h 3920"/>
                <a:gd name="T40" fmla="*/ 611 w 3906"/>
                <a:gd name="T41" fmla="*/ 1155 h 3920"/>
                <a:gd name="T42" fmla="*/ 441 w 3906"/>
                <a:gd name="T43" fmla="*/ 1560 h 3920"/>
                <a:gd name="T44" fmla="*/ 204 w 3906"/>
                <a:gd name="T45" fmla="*/ 1560 h 3920"/>
                <a:gd name="T46" fmla="*/ 0 w 3906"/>
                <a:gd name="T47" fmla="*/ 1761 h 3920"/>
                <a:gd name="T48" fmla="*/ 0 w 3906"/>
                <a:gd name="T49" fmla="*/ 2152 h 3920"/>
                <a:gd name="T50" fmla="*/ 204 w 3906"/>
                <a:gd name="T51" fmla="*/ 2347 h 3920"/>
                <a:gd name="T52" fmla="*/ 439 w 3906"/>
                <a:gd name="T53" fmla="*/ 2347 h 3920"/>
                <a:gd name="T54" fmla="*/ 608 w 3906"/>
                <a:gd name="T55" fmla="*/ 2754 h 3920"/>
                <a:gd name="T56" fmla="*/ 448 w 3906"/>
                <a:gd name="T57" fmla="*/ 2916 h 3920"/>
                <a:gd name="T58" fmla="*/ 448 w 3906"/>
                <a:gd name="T59" fmla="*/ 3199 h 3920"/>
                <a:gd name="T60" fmla="*/ 724 w 3906"/>
                <a:gd name="T61" fmla="*/ 3476 h 3920"/>
                <a:gd name="T62" fmla="*/ 866 w 3906"/>
                <a:gd name="T63" fmla="*/ 3535 h 3920"/>
                <a:gd name="T64" fmla="*/ 1007 w 3906"/>
                <a:gd name="T65" fmla="*/ 3476 h 3920"/>
                <a:gd name="T66" fmla="*/ 1167 w 3906"/>
                <a:gd name="T67" fmla="*/ 3315 h 3920"/>
                <a:gd name="T68" fmla="*/ 1560 w 3906"/>
                <a:gd name="T69" fmla="*/ 3478 h 3920"/>
                <a:gd name="T70" fmla="*/ 1560 w 3906"/>
                <a:gd name="T71" fmla="*/ 3713 h 3920"/>
                <a:gd name="T72" fmla="*/ 1762 w 3906"/>
                <a:gd name="T73" fmla="*/ 3920 h 3920"/>
                <a:gd name="T74" fmla="*/ 2153 w 3906"/>
                <a:gd name="T75" fmla="*/ 3920 h 3920"/>
                <a:gd name="T76" fmla="*/ 2346 w 3906"/>
                <a:gd name="T77" fmla="*/ 3713 h 3920"/>
                <a:gd name="T78" fmla="*/ 2346 w 3906"/>
                <a:gd name="T79" fmla="*/ 3478 h 3920"/>
                <a:gd name="T80" fmla="*/ 2758 w 3906"/>
                <a:gd name="T81" fmla="*/ 3306 h 3920"/>
                <a:gd name="T82" fmla="*/ 2932 w 3906"/>
                <a:gd name="T83" fmla="*/ 3478 h 3920"/>
                <a:gd name="T84" fmla="*/ 3075 w 3906"/>
                <a:gd name="T85" fmla="*/ 3537 h 3920"/>
                <a:gd name="T86" fmla="*/ 3217 w 3906"/>
                <a:gd name="T87" fmla="*/ 3478 h 3920"/>
                <a:gd name="T88" fmla="*/ 3493 w 3906"/>
                <a:gd name="T89" fmla="*/ 3202 h 3920"/>
                <a:gd name="T90" fmla="*/ 3493 w 3906"/>
                <a:gd name="T91" fmla="*/ 2919 h 3920"/>
                <a:gd name="T92" fmla="*/ 3317 w 3906"/>
                <a:gd name="T93" fmla="*/ 2740 h 3920"/>
                <a:gd name="T94" fmla="*/ 3477 w 3906"/>
                <a:gd name="T95" fmla="*/ 2347 h 3920"/>
                <a:gd name="T96" fmla="*/ 3717 w 3906"/>
                <a:gd name="T97" fmla="*/ 2347 h 3920"/>
                <a:gd name="T98" fmla="*/ 3906 w 3906"/>
                <a:gd name="T99" fmla="*/ 2152 h 3920"/>
                <a:gd name="T100" fmla="*/ 3906 w 3906"/>
                <a:gd name="T101" fmla="*/ 1761 h 3920"/>
                <a:gd name="T102" fmla="*/ 3717 w 3906"/>
                <a:gd name="T103" fmla="*/ 1560 h 3920"/>
                <a:gd name="T104" fmla="*/ 2540 w 3906"/>
                <a:gd name="T105" fmla="*/ 1960 h 3920"/>
                <a:gd name="T106" fmla="*/ 1958 w 3906"/>
                <a:gd name="T107" fmla="*/ 2542 h 3920"/>
                <a:gd name="T108" fmla="*/ 1376 w 3906"/>
                <a:gd name="T109" fmla="*/ 1960 h 3920"/>
                <a:gd name="T110" fmla="*/ 1958 w 3906"/>
                <a:gd name="T111" fmla="*/ 1378 h 3920"/>
                <a:gd name="T112" fmla="*/ 2540 w 3906"/>
                <a:gd name="T113" fmla="*/ 1960 h 39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906" h="3920">
                  <a:moveTo>
                    <a:pt x="3717" y="1560"/>
                  </a:moveTo>
                  <a:lnTo>
                    <a:pt x="3475" y="1560"/>
                  </a:lnTo>
                  <a:cubicBezTo>
                    <a:pt x="3439" y="1427"/>
                    <a:pt x="3384" y="1291"/>
                    <a:pt x="3313" y="1170"/>
                  </a:cubicBezTo>
                  <a:lnTo>
                    <a:pt x="3491" y="992"/>
                  </a:lnTo>
                  <a:cubicBezTo>
                    <a:pt x="3570" y="914"/>
                    <a:pt x="3570" y="787"/>
                    <a:pt x="3491" y="709"/>
                  </a:cubicBezTo>
                  <a:lnTo>
                    <a:pt x="3215" y="433"/>
                  </a:lnTo>
                  <a:cubicBezTo>
                    <a:pt x="3177" y="395"/>
                    <a:pt x="3127" y="374"/>
                    <a:pt x="3074" y="374"/>
                  </a:cubicBezTo>
                  <a:cubicBezTo>
                    <a:pt x="3020" y="374"/>
                    <a:pt x="2970" y="395"/>
                    <a:pt x="2932" y="433"/>
                  </a:cubicBezTo>
                  <a:lnTo>
                    <a:pt x="2752" y="609"/>
                  </a:lnTo>
                  <a:cubicBezTo>
                    <a:pt x="2628" y="536"/>
                    <a:pt x="2493" y="479"/>
                    <a:pt x="2346" y="442"/>
                  </a:cubicBezTo>
                  <a:lnTo>
                    <a:pt x="2346" y="200"/>
                  </a:lnTo>
                  <a:cubicBezTo>
                    <a:pt x="2346" y="90"/>
                    <a:pt x="2264" y="0"/>
                    <a:pt x="2153" y="0"/>
                  </a:cubicBezTo>
                  <a:lnTo>
                    <a:pt x="1762" y="0"/>
                  </a:lnTo>
                  <a:cubicBezTo>
                    <a:pt x="1652" y="0"/>
                    <a:pt x="1560" y="90"/>
                    <a:pt x="1560" y="200"/>
                  </a:cubicBezTo>
                  <a:lnTo>
                    <a:pt x="1560" y="442"/>
                  </a:lnTo>
                  <a:cubicBezTo>
                    <a:pt x="1426" y="477"/>
                    <a:pt x="1294" y="531"/>
                    <a:pt x="1174" y="601"/>
                  </a:cubicBezTo>
                  <a:lnTo>
                    <a:pt x="1009" y="435"/>
                  </a:lnTo>
                  <a:cubicBezTo>
                    <a:pt x="930" y="357"/>
                    <a:pt x="804" y="357"/>
                    <a:pt x="726" y="435"/>
                  </a:cubicBezTo>
                  <a:lnTo>
                    <a:pt x="450" y="711"/>
                  </a:lnTo>
                  <a:cubicBezTo>
                    <a:pt x="372" y="789"/>
                    <a:pt x="372" y="916"/>
                    <a:pt x="450" y="994"/>
                  </a:cubicBezTo>
                  <a:lnTo>
                    <a:pt x="611" y="1155"/>
                  </a:lnTo>
                  <a:cubicBezTo>
                    <a:pt x="536" y="1280"/>
                    <a:pt x="478" y="1413"/>
                    <a:pt x="441" y="1560"/>
                  </a:cubicBezTo>
                  <a:lnTo>
                    <a:pt x="204" y="1560"/>
                  </a:lnTo>
                  <a:cubicBezTo>
                    <a:pt x="94" y="1560"/>
                    <a:pt x="0" y="1651"/>
                    <a:pt x="0" y="1761"/>
                  </a:cubicBezTo>
                  <a:lnTo>
                    <a:pt x="0" y="2152"/>
                  </a:lnTo>
                  <a:cubicBezTo>
                    <a:pt x="0" y="2263"/>
                    <a:pt x="94" y="2347"/>
                    <a:pt x="204" y="2347"/>
                  </a:cubicBezTo>
                  <a:lnTo>
                    <a:pt x="439" y="2347"/>
                  </a:lnTo>
                  <a:cubicBezTo>
                    <a:pt x="476" y="2493"/>
                    <a:pt x="534" y="2629"/>
                    <a:pt x="608" y="2754"/>
                  </a:cubicBezTo>
                  <a:lnTo>
                    <a:pt x="448" y="2916"/>
                  </a:lnTo>
                  <a:cubicBezTo>
                    <a:pt x="370" y="2994"/>
                    <a:pt x="370" y="3121"/>
                    <a:pt x="448" y="3199"/>
                  </a:cubicBezTo>
                  <a:lnTo>
                    <a:pt x="724" y="3476"/>
                  </a:lnTo>
                  <a:cubicBezTo>
                    <a:pt x="763" y="3515"/>
                    <a:pt x="815" y="3535"/>
                    <a:pt x="866" y="3535"/>
                  </a:cubicBezTo>
                  <a:cubicBezTo>
                    <a:pt x="917" y="3535"/>
                    <a:pt x="968" y="3515"/>
                    <a:pt x="1007" y="3476"/>
                  </a:cubicBezTo>
                  <a:lnTo>
                    <a:pt x="1167" y="3315"/>
                  </a:lnTo>
                  <a:cubicBezTo>
                    <a:pt x="1289" y="3386"/>
                    <a:pt x="1413" y="3441"/>
                    <a:pt x="1560" y="3478"/>
                  </a:cubicBezTo>
                  <a:lnTo>
                    <a:pt x="1560" y="3713"/>
                  </a:lnTo>
                  <a:cubicBezTo>
                    <a:pt x="1560" y="3824"/>
                    <a:pt x="1652" y="3920"/>
                    <a:pt x="1762" y="3920"/>
                  </a:cubicBezTo>
                  <a:lnTo>
                    <a:pt x="2153" y="3920"/>
                  </a:lnTo>
                  <a:cubicBezTo>
                    <a:pt x="2264" y="3920"/>
                    <a:pt x="2346" y="3824"/>
                    <a:pt x="2346" y="3713"/>
                  </a:cubicBezTo>
                  <a:lnTo>
                    <a:pt x="2346" y="3478"/>
                  </a:lnTo>
                  <a:cubicBezTo>
                    <a:pt x="2493" y="3440"/>
                    <a:pt x="2632" y="3381"/>
                    <a:pt x="2758" y="3306"/>
                  </a:cubicBezTo>
                  <a:lnTo>
                    <a:pt x="2932" y="3478"/>
                  </a:lnTo>
                  <a:cubicBezTo>
                    <a:pt x="2971" y="3518"/>
                    <a:pt x="3024" y="3537"/>
                    <a:pt x="3075" y="3537"/>
                  </a:cubicBezTo>
                  <a:cubicBezTo>
                    <a:pt x="3126" y="3537"/>
                    <a:pt x="3178" y="3518"/>
                    <a:pt x="3217" y="3478"/>
                  </a:cubicBezTo>
                  <a:lnTo>
                    <a:pt x="3493" y="3202"/>
                  </a:lnTo>
                  <a:cubicBezTo>
                    <a:pt x="3571" y="3124"/>
                    <a:pt x="3572" y="2997"/>
                    <a:pt x="3493" y="2919"/>
                  </a:cubicBezTo>
                  <a:lnTo>
                    <a:pt x="3317" y="2740"/>
                  </a:lnTo>
                  <a:cubicBezTo>
                    <a:pt x="3387" y="2619"/>
                    <a:pt x="3441" y="2493"/>
                    <a:pt x="3477" y="2347"/>
                  </a:cubicBezTo>
                  <a:lnTo>
                    <a:pt x="3717" y="2347"/>
                  </a:lnTo>
                  <a:cubicBezTo>
                    <a:pt x="3828" y="2347"/>
                    <a:pt x="3906" y="2263"/>
                    <a:pt x="3906" y="2152"/>
                  </a:cubicBezTo>
                  <a:lnTo>
                    <a:pt x="3906" y="1761"/>
                  </a:lnTo>
                  <a:cubicBezTo>
                    <a:pt x="3906" y="1651"/>
                    <a:pt x="3828" y="1560"/>
                    <a:pt x="3717" y="1560"/>
                  </a:cubicBezTo>
                  <a:close/>
                  <a:moveTo>
                    <a:pt x="2540" y="1960"/>
                  </a:moveTo>
                  <a:cubicBezTo>
                    <a:pt x="2540" y="2281"/>
                    <a:pt x="2279" y="2542"/>
                    <a:pt x="1958" y="2542"/>
                  </a:cubicBezTo>
                  <a:cubicBezTo>
                    <a:pt x="1637" y="2542"/>
                    <a:pt x="1376" y="2281"/>
                    <a:pt x="1376" y="1960"/>
                  </a:cubicBezTo>
                  <a:cubicBezTo>
                    <a:pt x="1376" y="1639"/>
                    <a:pt x="1637" y="1378"/>
                    <a:pt x="1958" y="1378"/>
                  </a:cubicBezTo>
                  <a:cubicBezTo>
                    <a:pt x="2279" y="1378"/>
                    <a:pt x="2540" y="1639"/>
                    <a:pt x="2540" y="1960"/>
                  </a:cubicBez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 defTabSz="914400"/>
              <a:endParaRPr lang="zh-CN" altLang="en-US">
                <a:solidFill>
                  <a:srgbClr val="1C666E"/>
                </a:solidFill>
                <a:sym typeface="Arial" panose="020B0604020202020204" pitchFamily="34" charset="0"/>
              </a:endParaRP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Text Box 7"/>
          <p:cNvSpPr txBox="1">
            <a:spLocks noChangeArrowheads="1"/>
          </p:cNvSpPr>
          <p:nvPr/>
        </p:nvSpPr>
        <p:spPr bwMode="auto">
          <a:xfrm>
            <a:off x="672192" y="1436792"/>
            <a:ext cx="8301990" cy="25271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10045" tIns="55022" rIns="110045" bIns="55022">
            <a:spAutoFit/>
          </a:bodyPr>
          <a:lstStyle/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　　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对于一个规模为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 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的问题：若该问题可以容易地解决（比如说规模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 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较小）则直接解决，否则将其分解为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k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个规模较小的子问题，这些子问题互相独立且与原问题形式相同，递归地解这些子问题，然后将各子问题的解合并得到原问题的解。</a:t>
            </a:r>
          </a:p>
          <a:p>
            <a:pPr indent="0" fontAlgn="auto">
              <a:lnSpc>
                <a:spcPct val="100000"/>
              </a:lnSpc>
              <a:spcBef>
                <a:spcPts val="0"/>
              </a:spcBef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　　这种算法设计策略叫做分治法。</a:t>
            </a:r>
          </a:p>
        </p:txBody>
      </p:sp>
      <p:sp>
        <p:nvSpPr>
          <p:cNvPr id="2" name="基础扎实 / Strong Preparation">
            <a:extLst>
              <a:ext uri="{FF2B5EF4-FFF2-40B4-BE49-F238E27FC236}">
                <a16:creationId xmlns:a16="http://schemas.microsoft.com/office/drawing/2014/main" id="{6F79266C-622D-59DB-AF79-3103A46222F1}"/>
              </a:ext>
            </a:extLst>
          </p:cNvPr>
          <p:cNvSpPr txBox="1"/>
          <p:nvPr/>
        </p:nvSpPr>
        <p:spPr>
          <a:xfrm>
            <a:off x="2603627" y="367980"/>
            <a:ext cx="5870237" cy="561660"/>
          </a:xfrm>
          <a:prstGeom prst="rect">
            <a:avLst/>
          </a:prstGeom>
          <a:noFill/>
          <a:ln>
            <a:noFill/>
          </a:ln>
        </p:spPr>
        <p:txBody>
          <a:bodyPr wrap="square" lIns="68549" tIns="34274" rIns="68549" bIns="34274" rtlCol="0">
            <a:spAutoFit/>
          </a:bodyPr>
          <a:lstStyle/>
          <a:p>
            <a:pPr algn="ctr" defTabSz="950595">
              <a:buClr>
                <a:prstClr val="white"/>
              </a:buClr>
              <a:buSzTx/>
              <a:buFontTx/>
              <a:defRPr/>
            </a:pPr>
            <a:r>
              <a:rPr lang="zh-CN" altLang="en-US" sz="3200" b="1" spc="50" dirty="0">
                <a:ln w="11430"/>
                <a:solidFill>
                  <a:srgbClr val="006600"/>
                </a:solidFill>
                <a:latin typeface="+mn-ea"/>
                <a:sym typeface="Arial" panose="020B0604020202020204" pitchFamily="34" charset="0"/>
              </a:rPr>
              <a:t>2.</a:t>
            </a:r>
            <a:r>
              <a:rPr lang="en-US" altLang="zh-CN" sz="3200" b="1" spc="50" dirty="0">
                <a:ln w="11430"/>
                <a:solidFill>
                  <a:srgbClr val="006600"/>
                </a:solidFill>
                <a:latin typeface="+mn-ea"/>
                <a:sym typeface="Arial" panose="020B0604020202020204" pitchFamily="34" charset="0"/>
              </a:rPr>
              <a:t>4</a:t>
            </a:r>
            <a:r>
              <a:rPr lang="zh-CN" altLang="en-US" sz="3200" b="1" spc="50" dirty="0">
                <a:ln w="11430"/>
                <a:solidFill>
                  <a:srgbClr val="006600"/>
                </a:solidFill>
                <a:latin typeface="+mn-ea"/>
                <a:sym typeface="Arial" panose="020B0604020202020204" pitchFamily="34" charset="0"/>
              </a:rPr>
              <a:t> 分治法的设计思想</a:t>
            </a:r>
          </a:p>
        </p:txBody>
      </p:sp>
    </p:spTree>
    <p:extLst>
      <p:ext uri="{BB962C8B-B14F-4D97-AF65-F5344CB8AC3E}">
        <p14:creationId xmlns:p14="http://schemas.microsoft.com/office/powerpoint/2010/main" val="10982090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3" name="Text Box 5"/>
          <p:cNvSpPr txBox="1">
            <a:spLocks noChangeArrowheads="1"/>
          </p:cNvSpPr>
          <p:nvPr/>
        </p:nvSpPr>
        <p:spPr bwMode="auto">
          <a:xfrm>
            <a:off x="718748" y="1102727"/>
            <a:ext cx="10461501" cy="59984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10045" tIns="55022" rIns="110045" bIns="55022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分治法所能解决的问题一般具有以下几个特征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150534" name="Text Box 6"/>
          <p:cNvSpPr txBox="1">
            <a:spLocks noChangeArrowheads="1"/>
          </p:cNvSpPr>
          <p:nvPr/>
        </p:nvSpPr>
        <p:spPr bwMode="auto">
          <a:xfrm>
            <a:off x="587215" y="1859915"/>
            <a:ext cx="8062120" cy="294348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73300" tIns="216625" rIns="110045" bIns="216625">
            <a:spAutoFit/>
          </a:bodyPr>
          <a:lstStyle/>
          <a:p>
            <a:pPr indent="-412750">
              <a:lnSpc>
                <a:spcPct val="150000"/>
              </a:lnSpc>
            </a:pPr>
            <a:r>
              <a:rPr lang="zh-CN" altLang="en-US" sz="2400" dirty="0">
                <a:solidFill>
                  <a:srgbClr val="0066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　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（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）该问题的规模缩小到一定的程度就可以容易地解决。</a:t>
            </a:r>
          </a:p>
          <a:p>
            <a:pPr indent="-412750">
              <a:lnSpc>
                <a:spcPct val="15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　（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2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）该问题可以分解为若干个规模较小的相同问题。</a:t>
            </a:r>
          </a:p>
          <a:p>
            <a:pPr indent="-412750">
              <a:lnSpc>
                <a:spcPct val="15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　（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3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）利用该问题分解出的子问题的解可以合并为该问题的解。</a:t>
            </a:r>
          </a:p>
          <a:p>
            <a:pPr indent="-412750">
              <a:lnSpc>
                <a:spcPct val="15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　（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4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）该问题所分解出的各个子问题是相互独立的，即子问题之间不包含公共的子问题。</a:t>
            </a:r>
          </a:p>
        </p:txBody>
      </p:sp>
    </p:spTree>
    <p:extLst>
      <p:ext uri="{BB962C8B-B14F-4D97-AF65-F5344CB8AC3E}">
        <p14:creationId xmlns:p14="http://schemas.microsoft.com/office/powerpoint/2010/main" val="27590624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1" name="Text Box 3"/>
          <p:cNvSpPr txBox="1">
            <a:spLocks noChangeArrowheads="1"/>
          </p:cNvSpPr>
          <p:nvPr/>
        </p:nvSpPr>
        <p:spPr bwMode="auto">
          <a:xfrm>
            <a:off x="478155" y="1357630"/>
            <a:ext cx="8232140" cy="44967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10045" tIns="55022" rIns="110045" bIns="55022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分治法通常采用递归算法设计技术，在每一层递归上都有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3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个步骤：</a:t>
            </a:r>
          </a:p>
        </p:txBody>
      </p:sp>
      <p:sp>
        <p:nvSpPr>
          <p:cNvPr id="206852" name="Text Box 4"/>
          <p:cNvSpPr txBox="1">
            <a:spLocks noChangeArrowheads="1"/>
          </p:cNvSpPr>
          <p:nvPr/>
        </p:nvSpPr>
        <p:spPr bwMode="auto">
          <a:xfrm>
            <a:off x="599440" y="2263140"/>
            <a:ext cx="7990205" cy="294348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73300" tIns="216625" rIns="110045" bIns="216625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　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　① 分解：将原问题分解为若干个规模较小，相互独立，与原问题形式相同的子问题。</a:t>
            </a:r>
          </a:p>
          <a:p>
            <a:pPr>
              <a:lnSpc>
                <a:spcPct val="15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　　② 求解子问题：若子问题规模较小而容易被解决则直接求解，否则递归地求解各个子问题。</a:t>
            </a:r>
          </a:p>
          <a:p>
            <a:pPr>
              <a:lnSpc>
                <a:spcPct val="15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　　③ 合并：将各个子问题的解合并为原问题的解。 </a:t>
            </a:r>
          </a:p>
        </p:txBody>
      </p:sp>
    </p:spTree>
    <p:extLst>
      <p:ext uri="{BB962C8B-B14F-4D97-AF65-F5344CB8AC3E}">
        <p14:creationId xmlns:p14="http://schemas.microsoft.com/office/powerpoint/2010/main" val="18320253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Text Box 2"/>
          <p:cNvSpPr txBox="1">
            <a:spLocks noChangeArrowheads="1"/>
          </p:cNvSpPr>
          <p:nvPr/>
        </p:nvSpPr>
        <p:spPr bwMode="auto">
          <a:xfrm>
            <a:off x="513242" y="1189022"/>
            <a:ext cx="6326843" cy="44967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10045" tIns="55022" rIns="110045" bIns="55022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分治法的一般的算法设计框架如下：</a:t>
            </a:r>
          </a:p>
        </p:txBody>
      </p:sp>
      <p:sp>
        <p:nvSpPr>
          <p:cNvPr id="205827" name="Text Box 3"/>
          <p:cNvSpPr txBox="1">
            <a:spLocks noChangeArrowheads="1"/>
          </p:cNvSpPr>
          <p:nvPr/>
        </p:nvSpPr>
        <p:spPr bwMode="auto">
          <a:xfrm>
            <a:off x="513080" y="1816100"/>
            <a:ext cx="7967980" cy="39129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216625" tIns="216625" rIns="110045" bIns="216625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divide-and-conquer(P)</a:t>
            </a:r>
          </a:p>
          <a:p>
            <a:pPr>
              <a:lnSpc>
                <a:spcPct val="150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{  if |P|≤n0 return 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adhoc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(P);</a:t>
            </a:r>
          </a:p>
          <a:p>
            <a:pPr>
              <a:lnSpc>
                <a:spcPct val="150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将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P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分解为较小的子问题 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P1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P2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…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Pk;</a:t>
            </a:r>
          </a:p>
          <a:p>
            <a:pPr>
              <a:lnSpc>
                <a:spcPct val="150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for(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=1;i&lt;=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k;i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++)			//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循环处理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k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次</a:t>
            </a:r>
          </a:p>
          <a:p>
            <a:pPr>
              <a:lnSpc>
                <a:spcPct val="15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  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yi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=divide-and-conquer(Pi);	//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递归解决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Pi</a:t>
            </a:r>
          </a:p>
          <a:p>
            <a:pPr>
              <a:lnSpc>
                <a:spcPct val="15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　　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return merge(y1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y2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…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yk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);	//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合并子问题</a:t>
            </a:r>
          </a:p>
          <a:p>
            <a:pPr>
              <a:lnSpc>
                <a:spcPct val="150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90240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Text Box 2"/>
          <p:cNvSpPr txBox="1">
            <a:spLocks noChangeArrowheads="1"/>
          </p:cNvSpPr>
          <p:nvPr/>
        </p:nvSpPr>
        <p:spPr bwMode="auto">
          <a:xfrm>
            <a:off x="414195" y="1216172"/>
            <a:ext cx="7965141" cy="372512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10045" tIns="55022" rIns="110045" bIns="55022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　</a:t>
            </a:r>
            <a:r>
              <a:rPr lang="zh-CN" altLang="en-US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　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根据分治法的分割原则，原问题应该分为多少个子问题才较适宜？各个子问题的规模应该怎样才为适当？</a:t>
            </a:r>
          </a:p>
          <a:p>
            <a:pPr>
              <a:lnSpc>
                <a:spcPct val="15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　　这些问题很难予以肯定的回答。但人们从大量实践中发现，在用分治法设计算法时，最好使子问题的规模大致相同。换句话说，将一个问题分成大小相等的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k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个子问题的处理方法是行之有效的。</a:t>
            </a:r>
          </a:p>
          <a:p>
            <a:pPr>
              <a:lnSpc>
                <a:spcPct val="15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　　当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k=1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时称为减治法。 </a:t>
            </a:r>
          </a:p>
        </p:txBody>
      </p:sp>
    </p:spTree>
    <p:extLst>
      <p:ext uri="{BB962C8B-B14F-4D97-AF65-F5344CB8AC3E}">
        <p14:creationId xmlns:p14="http://schemas.microsoft.com/office/powerpoint/2010/main" val="550873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Text Box 2"/>
          <p:cNvSpPr txBox="1">
            <a:spLocks noChangeArrowheads="1"/>
          </p:cNvSpPr>
          <p:nvPr/>
        </p:nvSpPr>
        <p:spPr bwMode="auto">
          <a:xfrm>
            <a:off x="461010" y="1234440"/>
            <a:ext cx="8304530" cy="160146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noFill/>
            <a:miter lim="800000"/>
          </a:ln>
          <a:effectLst/>
        </p:spPr>
        <p:txBody>
          <a:bodyPr wrap="square" lIns="110045" tIns="55022" rIns="110045" bIns="55022">
            <a:spAutoFit/>
          </a:bodyPr>
          <a:lstStyle/>
          <a:p>
            <a:pPr indent="0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　　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许多问题可以取 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k=2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，称为二分法，如图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4.1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所示，这种使子问题规模大致相等的做法是出自一种平衡子问题的思想，它几乎总是比子问题规模不等的做法要好。</a:t>
            </a:r>
          </a:p>
        </p:txBody>
      </p:sp>
      <p:grpSp>
        <p:nvGrpSpPr>
          <p:cNvPr id="29" name="组合 28"/>
          <p:cNvGrpSpPr/>
          <p:nvPr/>
        </p:nvGrpSpPr>
        <p:grpSpPr>
          <a:xfrm>
            <a:off x="785648" y="3061508"/>
            <a:ext cx="7141921" cy="3269748"/>
            <a:chOff x="1285852" y="2000240"/>
            <a:chExt cx="5358130" cy="3269597"/>
          </a:xfrm>
        </p:grpSpPr>
        <p:sp>
          <p:nvSpPr>
            <p:cNvPr id="5" name="矩形 4"/>
            <p:cNvSpPr/>
            <p:nvPr/>
          </p:nvSpPr>
          <p:spPr>
            <a:xfrm>
              <a:off x="3571852" y="2000240"/>
              <a:ext cx="941705" cy="5003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3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P(</a:t>
              </a:r>
              <a:r>
                <a:rPr lang="en-US" altLang="zh-CN" sz="2300" i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n</a:t>
              </a:r>
              <a:r>
                <a:rPr lang="en-US" altLang="zh-CN" sz="23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)</a:t>
              </a:r>
              <a:endParaRPr lang="zh-CN" altLang="en-US" sz="23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2143102" y="3072120"/>
              <a:ext cx="1031240" cy="5003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3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P(</a:t>
              </a:r>
              <a:r>
                <a:rPr lang="en-US" altLang="zh-CN" sz="2300" i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n</a:t>
              </a:r>
              <a:r>
                <a:rPr lang="en-US" altLang="zh-CN" sz="23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/2)</a:t>
              </a:r>
              <a:endParaRPr lang="zh-CN" altLang="en-US" sz="23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357607" y="4143365"/>
              <a:ext cx="1000125" cy="5003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3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P(</a:t>
              </a:r>
              <a:r>
                <a:rPr lang="en-US" altLang="zh-CN" sz="2300" i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n</a:t>
              </a:r>
              <a:r>
                <a:rPr lang="en-US" altLang="zh-CN" sz="23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/4)</a:t>
              </a:r>
              <a:endParaRPr lang="zh-CN" altLang="en-US" sz="23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2786357" y="4143365"/>
              <a:ext cx="975995" cy="5003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3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P(</a:t>
              </a:r>
              <a:r>
                <a:rPr lang="en-US" altLang="zh-CN" sz="2300" i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n</a:t>
              </a:r>
              <a:r>
                <a:rPr lang="en-US" altLang="zh-CN" sz="23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/4)</a:t>
              </a:r>
              <a:endParaRPr lang="zh-CN" altLang="en-US" sz="23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285852" y="4824723"/>
              <a:ext cx="642942" cy="4451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3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…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857488" y="4824723"/>
              <a:ext cx="642942" cy="4451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3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…</a:t>
              </a:r>
            </a:p>
          </p:txBody>
        </p:sp>
        <p:cxnSp>
          <p:nvCxnSpPr>
            <p:cNvPr id="12" name="直接箭头连接符 11"/>
            <p:cNvCxnSpPr/>
            <p:nvPr/>
          </p:nvCxnSpPr>
          <p:spPr>
            <a:xfrm rot="5400000">
              <a:off x="1857356" y="3643314"/>
              <a:ext cx="571504" cy="42862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直接箭头连接符 14"/>
            <p:cNvCxnSpPr>
              <a:endCxn id="8" idx="0"/>
            </p:cNvCxnSpPr>
            <p:nvPr/>
          </p:nvCxnSpPr>
          <p:spPr>
            <a:xfrm rot="16200000" flipH="1">
              <a:off x="2738583" y="3607595"/>
              <a:ext cx="571504" cy="500066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矩形 17"/>
            <p:cNvSpPr/>
            <p:nvPr/>
          </p:nvSpPr>
          <p:spPr>
            <a:xfrm>
              <a:off x="5143477" y="3072120"/>
              <a:ext cx="968375" cy="5003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3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P(</a:t>
              </a:r>
              <a:r>
                <a:rPr lang="en-US" altLang="zh-CN" sz="2300" i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n</a:t>
              </a:r>
              <a:r>
                <a:rPr lang="en-US" altLang="zh-CN" sz="23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/2)</a:t>
              </a:r>
              <a:endParaRPr lang="zh-CN" altLang="en-US" sz="23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4357982" y="4143365"/>
              <a:ext cx="1025525" cy="5003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3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P(</a:t>
              </a:r>
              <a:r>
                <a:rPr lang="en-US" altLang="zh-CN" sz="2300" i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n</a:t>
              </a:r>
              <a:r>
                <a:rPr lang="en-US" altLang="zh-CN" sz="23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/4)</a:t>
              </a:r>
              <a:endParaRPr lang="zh-CN" altLang="en-US" sz="23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5648302" y="4143365"/>
              <a:ext cx="995680" cy="50038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3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P(</a:t>
              </a:r>
              <a:r>
                <a:rPr lang="en-US" altLang="zh-CN" sz="2300" i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n</a:t>
              </a:r>
              <a:r>
                <a:rPr lang="en-US" altLang="zh-CN" sz="23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/4)</a:t>
              </a:r>
              <a:endParaRPr lang="zh-CN" altLang="en-US" sz="23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286248" y="4824723"/>
              <a:ext cx="642942" cy="4451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3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…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857884" y="4824723"/>
              <a:ext cx="642942" cy="4451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3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…</a:t>
              </a:r>
            </a:p>
          </p:txBody>
        </p:sp>
        <p:cxnSp>
          <p:nvCxnSpPr>
            <p:cNvPr id="23" name="直接箭头连接符 22"/>
            <p:cNvCxnSpPr/>
            <p:nvPr/>
          </p:nvCxnSpPr>
          <p:spPr>
            <a:xfrm rot="5400000">
              <a:off x="4857752" y="3643314"/>
              <a:ext cx="571504" cy="42862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接箭头连接符 23"/>
            <p:cNvCxnSpPr>
              <a:endCxn id="20" idx="0"/>
            </p:cNvCxnSpPr>
            <p:nvPr/>
          </p:nvCxnSpPr>
          <p:spPr>
            <a:xfrm rot="16200000" flipH="1">
              <a:off x="5610074" y="3607595"/>
              <a:ext cx="571504" cy="500066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/>
            <p:nvPr/>
          </p:nvCxnSpPr>
          <p:spPr>
            <a:xfrm rot="10800000" flipV="1">
              <a:off x="3000364" y="2500306"/>
              <a:ext cx="714380" cy="57150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接箭头连接符 27"/>
            <p:cNvCxnSpPr/>
            <p:nvPr/>
          </p:nvCxnSpPr>
          <p:spPr>
            <a:xfrm>
              <a:off x="4286248" y="2500306"/>
              <a:ext cx="857256" cy="57150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080704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6" name="Text Box 4"/>
          <p:cNvSpPr txBox="1">
            <a:spLocks noChangeArrowheads="1"/>
          </p:cNvSpPr>
          <p:nvPr/>
        </p:nvSpPr>
        <p:spPr bwMode="auto">
          <a:xfrm>
            <a:off x="367665" y="1269365"/>
            <a:ext cx="8342630" cy="36327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10045" tIns="55022" rIns="110045" bIns="55022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　　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基本思想：在待排序的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个元素中任取一个元素（通常取第一个元素）作为基准，把该元素放入最终位置后，整个数据序列被基准分割成两个子序列，所有小于基准的元素放置在前子序列中，所有大于基准的元素放置在后子序列中，并把基准排在这两个子序列的中间，这个过程称作划分。</a:t>
            </a:r>
          </a:p>
          <a:p>
            <a:pPr algn="just">
              <a:lnSpc>
                <a:spcPct val="15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　　然后对两个子序列分别重复上述过程，直至每个子序列内只有一个记录或空为止。</a:t>
            </a:r>
          </a:p>
        </p:txBody>
      </p:sp>
      <p:sp>
        <p:nvSpPr>
          <p:cNvPr id="2" name="基础扎实 / Strong Preparation">
            <a:extLst>
              <a:ext uri="{FF2B5EF4-FFF2-40B4-BE49-F238E27FC236}">
                <a16:creationId xmlns:a16="http://schemas.microsoft.com/office/drawing/2014/main" id="{B03439D0-237F-5B91-E0E2-3876C848C663}"/>
              </a:ext>
            </a:extLst>
          </p:cNvPr>
          <p:cNvSpPr txBox="1"/>
          <p:nvPr/>
        </p:nvSpPr>
        <p:spPr>
          <a:xfrm>
            <a:off x="2603627" y="367980"/>
            <a:ext cx="5870237" cy="561660"/>
          </a:xfrm>
          <a:prstGeom prst="rect">
            <a:avLst/>
          </a:prstGeom>
          <a:noFill/>
          <a:ln>
            <a:noFill/>
          </a:ln>
        </p:spPr>
        <p:txBody>
          <a:bodyPr wrap="square" lIns="68549" tIns="34274" rIns="68549" bIns="34274" rtlCol="0">
            <a:spAutoFit/>
          </a:bodyPr>
          <a:lstStyle/>
          <a:p>
            <a:pPr algn="ctr" defTabSz="950595">
              <a:buClr>
                <a:prstClr val="white"/>
              </a:buClr>
              <a:buSzTx/>
              <a:buFontTx/>
              <a:defRPr/>
            </a:pPr>
            <a:r>
              <a:rPr lang="zh-CN" altLang="en-US" sz="3200" b="1" spc="50" dirty="0">
                <a:ln w="11430"/>
                <a:solidFill>
                  <a:srgbClr val="006600"/>
                </a:solidFill>
                <a:latin typeface="+mn-ea"/>
                <a:sym typeface="Arial" panose="020B0604020202020204" pitchFamily="34" charset="0"/>
              </a:rPr>
              <a:t>2.</a:t>
            </a:r>
            <a:r>
              <a:rPr lang="en-US" altLang="zh-CN" sz="3200" b="1" spc="50" dirty="0">
                <a:ln w="11430"/>
                <a:solidFill>
                  <a:srgbClr val="006600"/>
                </a:solidFill>
                <a:latin typeface="+mn-ea"/>
                <a:sym typeface="Arial" panose="020B0604020202020204" pitchFamily="34" charset="0"/>
              </a:rPr>
              <a:t>5</a:t>
            </a:r>
            <a:r>
              <a:rPr lang="zh-CN" altLang="en-US" sz="3200" b="1" spc="50" dirty="0">
                <a:ln w="11430"/>
                <a:solidFill>
                  <a:srgbClr val="006600"/>
                </a:solidFill>
                <a:latin typeface="+mn-ea"/>
                <a:sym typeface="Arial" panose="020B0604020202020204" pitchFamily="34" charset="0"/>
              </a:rPr>
              <a:t> 快速排序</a:t>
            </a:r>
          </a:p>
        </p:txBody>
      </p:sp>
    </p:spTree>
    <p:extLst>
      <p:ext uri="{BB962C8B-B14F-4D97-AF65-F5344CB8AC3E}">
        <p14:creationId xmlns:p14="http://schemas.microsoft.com/office/powerpoint/2010/main" val="12809427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1" name="Rectangle 3"/>
          <p:cNvSpPr>
            <a:spLocks noChangeArrowheads="1"/>
          </p:cNvSpPr>
          <p:nvPr/>
        </p:nvSpPr>
        <p:spPr bwMode="auto">
          <a:xfrm>
            <a:off x="2082" y="2492503"/>
            <a:ext cx="346710" cy="5397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110045" tIns="55022" rIns="110045" bIns="55022" anchor="ctr">
            <a:spAutoFit/>
          </a:bodyPr>
          <a:lstStyle/>
          <a:p>
            <a:endParaRPr lang="zh-CN" altLang="en-US" sz="28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2082" y="-269874"/>
            <a:ext cx="346710" cy="5397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110045" tIns="55022" rIns="110045" bIns="55022" numCol="1" anchor="ctr" anchorCtr="0" compatLnSpc="1">
            <a:spAutoFit/>
          </a:bodyPr>
          <a:lstStyle/>
          <a:p>
            <a:endParaRPr lang="zh-CN" altLang="en-US" sz="280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1337769" y="1189338"/>
            <a:ext cx="6641699" cy="2512589"/>
            <a:chOff x="1285852" y="130710"/>
            <a:chExt cx="4982845" cy="2512472"/>
          </a:xfrm>
        </p:grpSpPr>
        <p:sp>
          <p:nvSpPr>
            <p:cNvPr id="6" name="矩形 5"/>
            <p:cNvSpPr/>
            <p:nvPr/>
          </p:nvSpPr>
          <p:spPr>
            <a:xfrm>
              <a:off x="1285852" y="571480"/>
              <a:ext cx="4857784" cy="57150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300" i="1" dirty="0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a</a:t>
              </a:r>
              <a:r>
                <a:rPr lang="en-US" altLang="zh-CN" sz="2300" dirty="0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[</a:t>
              </a:r>
              <a:r>
                <a:rPr lang="en-US" altLang="zh-CN" sz="2300" i="1" dirty="0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s</a:t>
              </a:r>
              <a:r>
                <a:rPr lang="en-US" altLang="zh-CN" sz="2300" dirty="0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]   </a:t>
              </a:r>
              <a:r>
                <a:rPr lang="en-US" altLang="zh-CN" sz="2300" i="1" dirty="0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a</a:t>
              </a:r>
              <a:r>
                <a:rPr lang="en-US" altLang="zh-CN" sz="2300" dirty="0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[</a:t>
              </a:r>
              <a:r>
                <a:rPr lang="en-US" altLang="zh-CN" sz="2300" i="1" dirty="0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s</a:t>
              </a:r>
              <a:r>
                <a:rPr lang="en-US" altLang="zh-CN" sz="2300" dirty="0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+1]   … … …    </a:t>
              </a:r>
              <a:r>
                <a:rPr lang="en-US" altLang="zh-CN" sz="2300" i="1" dirty="0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a</a:t>
              </a:r>
              <a:r>
                <a:rPr lang="en-US" altLang="zh-CN" sz="2300" dirty="0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[</a:t>
              </a:r>
              <a:r>
                <a:rPr lang="en-US" altLang="zh-CN" sz="2300" i="1" dirty="0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t </a:t>
              </a:r>
              <a:r>
                <a:rPr lang="en-US" altLang="zh-CN" sz="2300" dirty="0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]</a:t>
              </a:r>
              <a:endParaRPr lang="zh-CN" altLang="en-US" sz="23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500482" y="130710"/>
              <a:ext cx="1459230" cy="4451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无序区</a:t>
              </a:r>
            </a:p>
          </p:txBody>
        </p:sp>
        <p:sp>
          <p:nvSpPr>
            <p:cNvPr id="8" name="下箭头 7"/>
            <p:cNvSpPr/>
            <p:nvPr/>
          </p:nvSpPr>
          <p:spPr>
            <a:xfrm>
              <a:off x="3500430" y="1285860"/>
              <a:ext cx="285752" cy="571504"/>
            </a:xfrm>
            <a:prstGeom prst="down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1285852" y="2071678"/>
              <a:ext cx="2071702" cy="57150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300" i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a</a:t>
              </a:r>
              <a:r>
                <a:rPr lang="en-US" altLang="zh-CN" sz="23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[</a:t>
              </a:r>
              <a:r>
                <a:rPr lang="en-US" altLang="zh-CN" sz="2300" i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s</a:t>
              </a:r>
              <a:r>
                <a:rPr lang="en-US" altLang="zh-CN" sz="23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]</a:t>
              </a:r>
              <a:r>
                <a:rPr lang="en-US" altLang="zh-CN" sz="2300" dirty="0"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 … </a:t>
              </a:r>
              <a:r>
                <a:rPr lang="en-US" altLang="zh-CN" sz="2300" i="1" dirty="0"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a</a:t>
              </a:r>
              <a:r>
                <a:rPr lang="en-US" altLang="zh-CN" sz="2300" dirty="0"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[</a:t>
              </a:r>
              <a:r>
                <a:rPr lang="en-US" altLang="zh-CN" sz="2300" i="1" dirty="0"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i-</a:t>
              </a:r>
              <a:r>
                <a:rPr lang="en-US" altLang="zh-CN" sz="2300" dirty="0"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1]</a:t>
              </a:r>
              <a:endParaRPr lang="zh-CN" altLang="en-US" sz="23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3428992" y="2000240"/>
              <a:ext cx="571504" cy="64294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300" i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a</a:t>
              </a:r>
              <a:r>
                <a:rPr lang="en-US" altLang="zh-CN" sz="230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[</a:t>
              </a:r>
              <a:r>
                <a:rPr lang="en-US" altLang="zh-CN" sz="2300" i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s</a:t>
              </a:r>
              <a:r>
                <a:rPr lang="en-US" altLang="zh-CN" sz="230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]</a:t>
              </a:r>
              <a:endParaRPr lang="zh-CN" altLang="en-US" sz="23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4071934" y="2071678"/>
              <a:ext cx="2071702" cy="57150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300" i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a</a:t>
              </a:r>
              <a:r>
                <a:rPr lang="en-US" altLang="zh-CN" sz="23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[</a:t>
              </a:r>
              <a:r>
                <a:rPr lang="en-US" altLang="zh-CN" sz="2300" i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i</a:t>
              </a:r>
              <a:r>
                <a:rPr lang="en-US" altLang="zh-CN" sz="23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+1] … </a:t>
              </a:r>
              <a:r>
                <a:rPr lang="en-US" altLang="zh-CN" sz="2300" i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a</a:t>
              </a:r>
              <a:r>
                <a:rPr lang="en-US" altLang="zh-CN" sz="23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[</a:t>
              </a:r>
              <a:r>
                <a:rPr lang="en-US" altLang="zh-CN" sz="2300" i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t </a:t>
              </a:r>
              <a:r>
                <a:rPr lang="en-US" altLang="zh-CN" sz="23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]</a:t>
              </a:r>
              <a:endParaRPr lang="zh-CN" altLang="en-US" sz="23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500482" y="1631215"/>
              <a:ext cx="1381125" cy="4451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无序区</a:t>
              </a:r>
              <a:r>
                <a:rPr lang="en-US" altLang="zh-CN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1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787242" y="1643280"/>
              <a:ext cx="1481455" cy="4451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无序区</a:t>
              </a:r>
              <a:r>
                <a:rPr lang="en-US" altLang="zh-CN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2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786182" y="1314378"/>
              <a:ext cx="785818" cy="4451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划分</a:t>
              </a: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817245" y="3298193"/>
            <a:ext cx="8418809" cy="3188524"/>
            <a:chOff x="714348" y="2543168"/>
            <a:chExt cx="7640938" cy="3188439"/>
          </a:xfrm>
        </p:grpSpPr>
        <p:sp>
          <p:nvSpPr>
            <p:cNvPr id="15" name="TextBox 14"/>
            <p:cNvSpPr txBox="1"/>
            <p:nvPr/>
          </p:nvSpPr>
          <p:spPr>
            <a:xfrm>
              <a:off x="848056" y="3508342"/>
              <a:ext cx="7507230" cy="2223265"/>
            </a:xfrm>
            <a:prstGeom prst="rect">
              <a:avLst/>
            </a:prstGeom>
            <a:solidFill>
              <a:schemeClr val="bg1"/>
            </a:solidFill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251953" tIns="179966" bIns="179966" rtlCol="0">
              <a:noAutofit/>
            </a:bodyPr>
            <a:lstStyle/>
            <a:p>
              <a:r>
                <a:rPr lang="en-US" altLang="zh-CN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f (</a:t>
              </a:r>
              <a:r>
                <a:rPr lang="en-US" altLang="zh-CN" sz="2200" b="1" dirty="0" err="1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a,s,t</a:t>
              </a:r>
              <a:r>
                <a:rPr lang="en-US" altLang="zh-CN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 ) ≡ </a:t>
              </a:r>
              <a:r>
                <a:rPr lang="zh-CN" altLang="en-US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不做任何事情</a:t>
              </a:r>
              <a:r>
                <a:rPr lang="en-US" altLang="zh-CN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	</a:t>
              </a:r>
              <a:r>
                <a:rPr lang="zh-CN" altLang="en-US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当</a:t>
              </a:r>
              <a:r>
                <a:rPr lang="en-US" altLang="zh-CN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a[</a:t>
              </a:r>
              <a:r>
                <a:rPr lang="en-US" altLang="zh-CN" sz="2200" b="1" dirty="0" err="1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s..t</a:t>
              </a:r>
              <a:r>
                <a:rPr lang="en-US" altLang="zh-CN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 ]</a:t>
              </a:r>
              <a:r>
                <a:rPr lang="zh-CN" altLang="en-US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中长度小于</a:t>
              </a:r>
              <a:r>
                <a:rPr lang="en-US" altLang="zh-CN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2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f (</a:t>
              </a:r>
              <a:r>
                <a:rPr lang="en-US" altLang="zh-CN" sz="2200" b="1" dirty="0" err="1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a,s,t</a:t>
              </a:r>
              <a:r>
                <a:rPr lang="en-US" altLang="zh-CN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 ) ≡ </a:t>
              </a:r>
              <a:r>
                <a:rPr lang="en-US" altLang="zh-CN" sz="2200" b="1" dirty="0" err="1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i</a:t>
              </a:r>
              <a:r>
                <a:rPr lang="en-US" altLang="zh-CN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=Partition(</a:t>
              </a:r>
              <a:r>
                <a:rPr lang="en-US" altLang="zh-CN" sz="2200" b="1" dirty="0" err="1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a,s,t</a:t>
              </a:r>
              <a:r>
                <a:rPr lang="en-US" altLang="zh-CN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 );</a:t>
              </a:r>
              <a:r>
                <a:rPr lang="zh-CN" altLang="en-US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其他情况</a:t>
              </a:r>
              <a:endPara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endParaRPr>
            </a:p>
            <a:p>
              <a:r>
                <a:rPr lang="en-US" altLang="zh-CN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           f (a,s,i-1);</a:t>
              </a:r>
            </a:p>
            <a:p>
              <a:r>
                <a:rPr lang="en-US" altLang="zh-CN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           f (</a:t>
              </a:r>
              <a:r>
                <a:rPr lang="en-US" altLang="zh-CN" sz="2200" b="1" dirty="0" err="1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a,i,t</a:t>
              </a:r>
              <a:r>
                <a:rPr lang="en-US" altLang="zh-CN" sz="2200" b="1" dirty="0">
                  <a:solidFill>
                    <a:srgbClr val="0000FF"/>
                  </a:solidFill>
                  <a:latin typeface="楷体" pitchFamily="49" charset="-122"/>
                  <a:ea typeface="楷体" pitchFamily="49" charset="-122"/>
                </a:rPr>
                <a:t> ); </a:t>
              </a:r>
              <a:endPara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endParaRPr>
            </a:p>
          </p:txBody>
        </p:sp>
        <p:sp>
          <p:nvSpPr>
            <p:cNvPr id="16" name="左弧形箭头 15"/>
            <p:cNvSpPr/>
            <p:nvPr/>
          </p:nvSpPr>
          <p:spPr>
            <a:xfrm>
              <a:off x="714348" y="2543168"/>
              <a:ext cx="428628" cy="1000132"/>
            </a:xfrm>
            <a:prstGeom prst="curved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466201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7" name="Text Box 3"/>
          <p:cNvSpPr txBox="1">
            <a:spLocks noChangeArrowheads="1"/>
          </p:cNvSpPr>
          <p:nvPr/>
        </p:nvSpPr>
        <p:spPr bwMode="auto">
          <a:xfrm>
            <a:off x="479833" y="1341120"/>
            <a:ext cx="8230461" cy="312495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10045" tIns="55022" rIns="110045" bIns="55022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　　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① 分解：将原序列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a[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s..t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]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分解成两个子序列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a[s..i-1]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a[i+1..t ]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，其中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为划分的基准位置。</a:t>
            </a:r>
          </a:p>
          <a:p>
            <a:pPr>
              <a:lnSpc>
                <a:spcPct val="15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　　② 求解子问题：若子序列的长度为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0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或为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，则它是有序的，直接返回；否则递归地求解各个子问题。</a:t>
            </a:r>
          </a:p>
          <a:p>
            <a:pPr>
              <a:lnSpc>
                <a:spcPct val="15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　　③ 合并：由于整个序列存放在数组中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a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中，排序过程是就地进行的，合并步骤不需要执行任何操作。 </a:t>
            </a:r>
          </a:p>
        </p:txBody>
      </p:sp>
    </p:spTree>
    <p:extLst>
      <p:ext uri="{BB962C8B-B14F-4D97-AF65-F5344CB8AC3E}">
        <p14:creationId xmlns:p14="http://schemas.microsoft.com/office/powerpoint/2010/main" val="11592954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Text Box 2"/>
          <p:cNvSpPr txBox="1">
            <a:spLocks noChangeArrowheads="1"/>
          </p:cNvSpPr>
          <p:nvPr/>
        </p:nvSpPr>
        <p:spPr bwMode="auto">
          <a:xfrm>
            <a:off x="553708" y="1199875"/>
            <a:ext cx="7560945" cy="8477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wrap="square" lIns="110045" tIns="55022" rIns="110045" bIns="55022">
            <a:spAutoFit/>
          </a:bodyPr>
          <a:lstStyle/>
          <a:p>
            <a:pPr indent="0" fontAlgn="auto">
              <a:lnSpc>
                <a:spcPct val="100000"/>
              </a:lnSpc>
              <a:spcBef>
                <a:spcPts val="0"/>
              </a:spcBef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　　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例如，对于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{2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5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7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10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6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9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4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3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8}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序列，其快速排序过程如下图所示。</a:t>
            </a:r>
          </a:p>
        </p:txBody>
      </p:sp>
      <p:sp>
        <p:nvSpPr>
          <p:cNvPr id="6" name="矩形 5"/>
          <p:cNvSpPr/>
          <p:nvPr/>
        </p:nvSpPr>
        <p:spPr>
          <a:xfrm>
            <a:off x="746960" y="2217765"/>
            <a:ext cx="4775835" cy="3619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0045" tIns="55022" rIns="110045" bIns="55022" rtlCol="0" anchor="ctr"/>
          <a:lstStyle/>
          <a:p>
            <a:pPr algn="ctr"/>
            <a:r>
              <a:rPr lang="en-US" altLang="zh-CN" sz="2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2, 5, 1, 7, 10, 6, 9, 4, 3, 8</a:t>
            </a:r>
          </a:p>
        </p:txBody>
      </p:sp>
      <p:grpSp>
        <p:nvGrpSpPr>
          <p:cNvPr id="71" name="组合 70"/>
          <p:cNvGrpSpPr/>
          <p:nvPr/>
        </p:nvGrpSpPr>
        <p:grpSpPr>
          <a:xfrm>
            <a:off x="746960" y="2625435"/>
            <a:ext cx="4946015" cy="645160"/>
            <a:chOff x="1500166" y="2000240"/>
            <a:chExt cx="4143404" cy="891844"/>
          </a:xfrm>
        </p:grpSpPr>
        <p:sp>
          <p:nvSpPr>
            <p:cNvPr id="7" name="矩形 6"/>
            <p:cNvSpPr/>
            <p:nvPr/>
          </p:nvSpPr>
          <p:spPr>
            <a:xfrm>
              <a:off x="1500166" y="2392018"/>
              <a:ext cx="428628" cy="50006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6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8" name="椭圆 7"/>
            <p:cNvSpPr/>
            <p:nvPr/>
          </p:nvSpPr>
          <p:spPr>
            <a:xfrm>
              <a:off x="2214546" y="2392018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2</a:t>
              </a:r>
            </a:p>
          </p:txBody>
        </p:sp>
        <p:sp>
          <p:nvSpPr>
            <p:cNvPr id="9" name="矩形 8"/>
            <p:cNvSpPr/>
            <p:nvPr/>
          </p:nvSpPr>
          <p:spPr>
            <a:xfrm>
              <a:off x="3000364" y="2392018"/>
              <a:ext cx="2643206" cy="50006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5,7,10,6,9,4,3,8</a:t>
              </a:r>
            </a:p>
          </p:txBody>
        </p:sp>
        <p:cxnSp>
          <p:nvCxnSpPr>
            <p:cNvPr id="11" name="直接连接符 10"/>
            <p:cNvCxnSpPr>
              <a:endCxn id="7" idx="0"/>
            </p:cNvCxnSpPr>
            <p:nvPr/>
          </p:nvCxnSpPr>
          <p:spPr>
            <a:xfrm rot="10800000" flipV="1">
              <a:off x="1714480" y="2000240"/>
              <a:ext cx="500066" cy="39177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>
              <a:endCxn id="8" idx="7"/>
            </p:cNvCxnSpPr>
            <p:nvPr/>
          </p:nvCxnSpPr>
          <p:spPr>
            <a:xfrm rot="5400000">
              <a:off x="2522160" y="2058484"/>
              <a:ext cx="465011" cy="348523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>
              <a:endCxn id="9" idx="0"/>
            </p:cNvCxnSpPr>
            <p:nvPr/>
          </p:nvCxnSpPr>
          <p:spPr>
            <a:xfrm>
              <a:off x="3857620" y="2000240"/>
              <a:ext cx="464347" cy="39177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2" name="组合 71"/>
          <p:cNvGrpSpPr/>
          <p:nvPr/>
        </p:nvGrpSpPr>
        <p:grpSpPr>
          <a:xfrm>
            <a:off x="1889325" y="3348182"/>
            <a:ext cx="4669155" cy="782838"/>
            <a:chOff x="2357422" y="2892084"/>
            <a:chExt cx="3911231" cy="881406"/>
          </a:xfrm>
        </p:grpSpPr>
        <p:sp>
          <p:nvSpPr>
            <p:cNvPr id="16" name="矩形 15"/>
            <p:cNvSpPr/>
            <p:nvPr/>
          </p:nvSpPr>
          <p:spPr>
            <a:xfrm>
              <a:off x="2357422" y="3260552"/>
              <a:ext cx="785818" cy="50006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6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3,4</a:t>
              </a:r>
            </a:p>
          </p:txBody>
        </p:sp>
        <p:sp>
          <p:nvSpPr>
            <p:cNvPr id="17" name="椭圆 16"/>
            <p:cNvSpPr/>
            <p:nvPr/>
          </p:nvSpPr>
          <p:spPr>
            <a:xfrm>
              <a:off x="3428992" y="3260552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5</a:t>
              </a:r>
            </a:p>
          </p:txBody>
        </p:sp>
        <p:sp>
          <p:nvSpPr>
            <p:cNvPr id="18" name="矩形 17"/>
            <p:cNvSpPr/>
            <p:nvPr/>
          </p:nvSpPr>
          <p:spPr>
            <a:xfrm>
              <a:off x="4196951" y="3273424"/>
              <a:ext cx="2071702" cy="50006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6,9,10,7,8</a:t>
              </a:r>
            </a:p>
          </p:txBody>
        </p:sp>
        <p:cxnSp>
          <p:nvCxnSpPr>
            <p:cNvPr id="22" name="直接连接符 21"/>
            <p:cNvCxnSpPr/>
            <p:nvPr/>
          </p:nvCxnSpPr>
          <p:spPr>
            <a:xfrm rot="10800000" flipV="1">
              <a:off x="2928926" y="2892084"/>
              <a:ext cx="642942" cy="39404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>
              <a:endCxn id="17" idx="7"/>
            </p:cNvCxnSpPr>
            <p:nvPr/>
          </p:nvCxnSpPr>
          <p:spPr>
            <a:xfrm flipH="1">
              <a:off x="3794739" y="2927702"/>
              <a:ext cx="241493" cy="40609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>
              <a:endCxn id="18" idx="0"/>
            </p:cNvCxnSpPr>
            <p:nvPr/>
          </p:nvCxnSpPr>
          <p:spPr>
            <a:xfrm>
              <a:off x="4860532" y="2921170"/>
              <a:ext cx="372270" cy="35225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3" name="组合 72"/>
          <p:cNvGrpSpPr/>
          <p:nvPr/>
        </p:nvGrpSpPr>
        <p:grpSpPr>
          <a:xfrm>
            <a:off x="1508325" y="4173565"/>
            <a:ext cx="1705610" cy="575945"/>
            <a:chOff x="2071670" y="3761140"/>
            <a:chExt cx="1428760" cy="796574"/>
          </a:xfrm>
        </p:grpSpPr>
        <p:sp>
          <p:nvSpPr>
            <p:cNvPr id="28" name="矩形 27"/>
            <p:cNvSpPr/>
            <p:nvPr/>
          </p:nvSpPr>
          <p:spPr>
            <a:xfrm>
              <a:off x="2714612" y="4057648"/>
              <a:ext cx="785818" cy="50006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6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4</a:t>
              </a:r>
            </a:p>
          </p:txBody>
        </p:sp>
        <p:sp>
          <p:nvSpPr>
            <p:cNvPr id="29" name="椭圆 28"/>
            <p:cNvSpPr/>
            <p:nvPr/>
          </p:nvSpPr>
          <p:spPr>
            <a:xfrm>
              <a:off x="2071670" y="4057648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3</a:t>
              </a:r>
            </a:p>
          </p:txBody>
        </p:sp>
        <p:cxnSp>
          <p:nvCxnSpPr>
            <p:cNvPr id="31" name="直接连接符 30"/>
            <p:cNvCxnSpPr/>
            <p:nvPr/>
          </p:nvCxnSpPr>
          <p:spPr>
            <a:xfrm rot="5400000">
              <a:off x="2355481" y="3830661"/>
              <a:ext cx="344689" cy="20564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>
              <a:endCxn id="28" idx="0"/>
            </p:cNvCxnSpPr>
            <p:nvPr/>
          </p:nvCxnSpPr>
          <p:spPr>
            <a:xfrm rot="16200000" flipH="1">
              <a:off x="2863444" y="3813571"/>
              <a:ext cx="284158" cy="20399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4" name="组合 73"/>
          <p:cNvGrpSpPr/>
          <p:nvPr/>
        </p:nvGrpSpPr>
        <p:grpSpPr>
          <a:xfrm>
            <a:off x="4841440" y="4173943"/>
            <a:ext cx="2559050" cy="765432"/>
            <a:chOff x="4572000" y="3765552"/>
            <a:chExt cx="2143140" cy="792162"/>
          </a:xfrm>
        </p:grpSpPr>
        <p:sp>
          <p:nvSpPr>
            <p:cNvPr id="34" name="矩形 33"/>
            <p:cNvSpPr/>
            <p:nvPr/>
          </p:nvSpPr>
          <p:spPr>
            <a:xfrm>
              <a:off x="5214942" y="4057648"/>
              <a:ext cx="1500198" cy="50006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9,10,7,8</a:t>
              </a:r>
            </a:p>
          </p:txBody>
        </p:sp>
        <p:sp>
          <p:nvSpPr>
            <p:cNvPr id="35" name="椭圆 34"/>
            <p:cNvSpPr/>
            <p:nvPr/>
          </p:nvSpPr>
          <p:spPr>
            <a:xfrm>
              <a:off x="4572000" y="4057648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6</a:t>
              </a:r>
            </a:p>
          </p:txBody>
        </p:sp>
        <p:cxnSp>
          <p:nvCxnSpPr>
            <p:cNvPr id="37" name="直接连接符 36"/>
            <p:cNvCxnSpPr>
              <a:endCxn id="35" idx="7"/>
            </p:cNvCxnSpPr>
            <p:nvPr/>
          </p:nvCxnSpPr>
          <p:spPr>
            <a:xfrm flipH="1">
              <a:off x="4937755" y="3805248"/>
              <a:ext cx="27122" cy="32595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>
              <a:endCxn id="34" idx="0"/>
            </p:cNvCxnSpPr>
            <p:nvPr/>
          </p:nvCxnSpPr>
          <p:spPr>
            <a:xfrm>
              <a:off x="5643569" y="3765552"/>
              <a:ext cx="321472" cy="29209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5" name="组合 74"/>
          <p:cNvGrpSpPr/>
          <p:nvPr/>
        </p:nvGrpSpPr>
        <p:grpSpPr>
          <a:xfrm>
            <a:off x="4936690" y="4939375"/>
            <a:ext cx="3070225" cy="790659"/>
            <a:chOff x="4643438" y="4572008"/>
            <a:chExt cx="2571768" cy="830176"/>
          </a:xfrm>
        </p:grpSpPr>
        <p:sp>
          <p:nvSpPr>
            <p:cNvPr id="40" name="矩形 39"/>
            <p:cNvSpPr/>
            <p:nvPr/>
          </p:nvSpPr>
          <p:spPr>
            <a:xfrm>
              <a:off x="4643438" y="4902118"/>
              <a:ext cx="785818" cy="50006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6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7,8</a:t>
              </a:r>
            </a:p>
          </p:txBody>
        </p:sp>
        <p:sp>
          <p:nvSpPr>
            <p:cNvPr id="41" name="椭圆 40"/>
            <p:cNvSpPr/>
            <p:nvPr/>
          </p:nvSpPr>
          <p:spPr>
            <a:xfrm>
              <a:off x="5715008" y="4902118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9</a:t>
              </a:r>
            </a:p>
          </p:txBody>
        </p:sp>
        <p:sp>
          <p:nvSpPr>
            <p:cNvPr id="42" name="矩形 41"/>
            <p:cNvSpPr/>
            <p:nvPr/>
          </p:nvSpPr>
          <p:spPr>
            <a:xfrm>
              <a:off x="6500826" y="4902118"/>
              <a:ext cx="714380" cy="50006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6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10</a:t>
              </a:r>
            </a:p>
          </p:txBody>
        </p:sp>
        <p:cxnSp>
          <p:nvCxnSpPr>
            <p:cNvPr id="44" name="直接连接符 43"/>
            <p:cNvCxnSpPr>
              <a:endCxn id="40" idx="0"/>
            </p:cNvCxnSpPr>
            <p:nvPr/>
          </p:nvCxnSpPr>
          <p:spPr>
            <a:xfrm rot="10800000" flipV="1">
              <a:off x="5036348" y="4572010"/>
              <a:ext cx="392909" cy="33010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>
              <a:stCxn id="34" idx="2"/>
              <a:endCxn id="41" idx="0"/>
            </p:cNvCxnSpPr>
            <p:nvPr/>
          </p:nvCxnSpPr>
          <p:spPr>
            <a:xfrm flipH="1">
              <a:off x="5929322" y="4897160"/>
              <a:ext cx="68784" cy="495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>
              <a:endCxn id="42" idx="0"/>
            </p:cNvCxnSpPr>
            <p:nvPr/>
          </p:nvCxnSpPr>
          <p:spPr>
            <a:xfrm>
              <a:off x="6429388" y="4572008"/>
              <a:ext cx="428628" cy="33011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6" name="组合 75"/>
          <p:cNvGrpSpPr/>
          <p:nvPr/>
        </p:nvGrpSpPr>
        <p:grpSpPr>
          <a:xfrm>
            <a:off x="4460440" y="5785195"/>
            <a:ext cx="1791335" cy="577215"/>
            <a:chOff x="4286248" y="5403864"/>
            <a:chExt cx="1500198" cy="798432"/>
          </a:xfrm>
        </p:grpSpPr>
        <p:sp>
          <p:nvSpPr>
            <p:cNvPr id="52" name="椭圆 51"/>
            <p:cNvSpPr/>
            <p:nvPr/>
          </p:nvSpPr>
          <p:spPr>
            <a:xfrm>
              <a:off x="4286248" y="5702230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7</a:t>
              </a:r>
            </a:p>
          </p:txBody>
        </p:sp>
        <p:sp>
          <p:nvSpPr>
            <p:cNvPr id="53" name="矩形 52"/>
            <p:cNvSpPr/>
            <p:nvPr/>
          </p:nvSpPr>
          <p:spPr>
            <a:xfrm>
              <a:off x="5072066" y="5702230"/>
              <a:ext cx="714380" cy="50006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6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8</a:t>
              </a:r>
            </a:p>
          </p:txBody>
        </p:sp>
        <p:cxnSp>
          <p:nvCxnSpPr>
            <p:cNvPr id="55" name="直接连接符 54"/>
            <p:cNvCxnSpPr>
              <a:endCxn id="52" idx="7"/>
            </p:cNvCxnSpPr>
            <p:nvPr/>
          </p:nvCxnSpPr>
          <p:spPr>
            <a:xfrm rot="5400000">
              <a:off x="4563783" y="5493523"/>
              <a:ext cx="370263" cy="19361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>
              <a:endCxn id="53" idx="0"/>
            </p:cNvCxnSpPr>
            <p:nvPr/>
          </p:nvCxnSpPr>
          <p:spPr>
            <a:xfrm rot="16200000" flipH="1">
              <a:off x="5189585" y="5462559"/>
              <a:ext cx="298366" cy="18097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547419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Text Box 15"/>
          <p:cNvSpPr txBox="1">
            <a:spLocks noChangeArrowheads="1"/>
          </p:cNvSpPr>
          <p:nvPr/>
        </p:nvSpPr>
        <p:spPr bwMode="auto">
          <a:xfrm>
            <a:off x="783809" y="559756"/>
            <a:ext cx="1471930" cy="480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333" tIns="56333" rIns="108333" bIns="56333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9pPr>
          </a:lstStyle>
          <a:p>
            <a:pPr defTabSz="550545" eaLnBrk="1" hangingPunct="1"/>
            <a:r>
              <a:rPr lang="en-US" altLang="zh-CN" sz="2400" dirty="0" err="1">
                <a:latin typeface="微软雅黑" panose="020B0503020204020204" charset="-122"/>
                <a:ea typeface="微软雅黑" panose="020B0503020204020204" charset="-122"/>
              </a:rPr>
              <a:t>PivotKey</a:t>
            </a:r>
          </a:p>
        </p:txBody>
      </p:sp>
      <p:grpSp>
        <p:nvGrpSpPr>
          <p:cNvPr id="44036" name="Group 76"/>
          <p:cNvGrpSpPr/>
          <p:nvPr/>
        </p:nvGrpSpPr>
        <p:grpSpPr bwMode="auto">
          <a:xfrm>
            <a:off x="929009" y="1041082"/>
            <a:ext cx="6739466" cy="942975"/>
            <a:chOff x="534" y="471"/>
            <a:chExt cx="3184" cy="594"/>
          </a:xfrm>
        </p:grpSpPr>
        <p:sp>
          <p:nvSpPr>
            <p:cNvPr id="44094" name="Rectangle 4"/>
            <p:cNvSpPr>
              <a:spLocks noChangeArrowheads="1"/>
            </p:cNvSpPr>
            <p:nvPr/>
          </p:nvSpPr>
          <p:spPr bwMode="auto">
            <a:xfrm>
              <a:off x="534" y="471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3300"/>
                  </a:solidFill>
                  <a:latin typeface="微软雅黑" panose="020B0503020204020204" charset="-122"/>
                </a:rPr>
                <a:t>49</a:t>
              </a:r>
            </a:p>
          </p:txBody>
        </p:sp>
        <p:sp>
          <p:nvSpPr>
            <p:cNvPr id="44095" name="Rectangle 5"/>
            <p:cNvSpPr>
              <a:spLocks noChangeArrowheads="1"/>
            </p:cNvSpPr>
            <p:nvPr/>
          </p:nvSpPr>
          <p:spPr bwMode="auto">
            <a:xfrm>
              <a:off x="950" y="471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38</a:t>
              </a:r>
            </a:p>
          </p:txBody>
        </p:sp>
        <p:sp>
          <p:nvSpPr>
            <p:cNvPr id="44096" name="Rectangle 6"/>
            <p:cNvSpPr>
              <a:spLocks noChangeArrowheads="1"/>
            </p:cNvSpPr>
            <p:nvPr/>
          </p:nvSpPr>
          <p:spPr bwMode="auto">
            <a:xfrm>
              <a:off x="1363" y="477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65</a:t>
              </a:r>
            </a:p>
          </p:txBody>
        </p:sp>
        <p:sp>
          <p:nvSpPr>
            <p:cNvPr id="44097" name="Rectangle 7"/>
            <p:cNvSpPr>
              <a:spLocks noChangeArrowheads="1"/>
            </p:cNvSpPr>
            <p:nvPr/>
          </p:nvSpPr>
          <p:spPr bwMode="auto">
            <a:xfrm>
              <a:off x="1768" y="477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97</a:t>
              </a:r>
            </a:p>
          </p:txBody>
        </p:sp>
        <p:sp>
          <p:nvSpPr>
            <p:cNvPr id="44098" name="Rectangle 8"/>
            <p:cNvSpPr>
              <a:spLocks noChangeArrowheads="1"/>
            </p:cNvSpPr>
            <p:nvPr/>
          </p:nvSpPr>
          <p:spPr bwMode="auto">
            <a:xfrm>
              <a:off x="2178" y="477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76</a:t>
              </a:r>
            </a:p>
          </p:txBody>
        </p:sp>
        <p:sp>
          <p:nvSpPr>
            <p:cNvPr id="44099" name="Rectangle 9"/>
            <p:cNvSpPr>
              <a:spLocks noChangeArrowheads="1"/>
            </p:cNvSpPr>
            <p:nvPr/>
          </p:nvSpPr>
          <p:spPr bwMode="auto">
            <a:xfrm>
              <a:off x="2583" y="477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13</a:t>
              </a:r>
            </a:p>
          </p:txBody>
        </p:sp>
        <p:sp>
          <p:nvSpPr>
            <p:cNvPr id="44100" name="Rectangle 10"/>
            <p:cNvSpPr>
              <a:spLocks noChangeArrowheads="1"/>
            </p:cNvSpPr>
            <p:nvPr/>
          </p:nvSpPr>
          <p:spPr bwMode="auto">
            <a:xfrm>
              <a:off x="2978" y="477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27</a:t>
              </a:r>
            </a:p>
          </p:txBody>
        </p:sp>
        <p:sp>
          <p:nvSpPr>
            <p:cNvPr id="44101" name="Rectangle 11"/>
            <p:cNvSpPr>
              <a:spLocks noChangeArrowheads="1"/>
            </p:cNvSpPr>
            <p:nvPr/>
          </p:nvSpPr>
          <p:spPr bwMode="auto">
            <a:xfrm>
              <a:off x="3386" y="477"/>
              <a:ext cx="33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49*</a:t>
              </a:r>
            </a:p>
          </p:txBody>
        </p:sp>
        <p:sp>
          <p:nvSpPr>
            <p:cNvPr id="44102" name="Line 13"/>
            <p:cNvSpPr>
              <a:spLocks noChangeShapeType="1"/>
            </p:cNvSpPr>
            <p:nvPr/>
          </p:nvSpPr>
          <p:spPr bwMode="auto">
            <a:xfrm flipV="1">
              <a:off x="3640" y="799"/>
              <a:ext cx="0" cy="226"/>
            </a:xfrm>
            <a:prstGeom prst="line">
              <a:avLst/>
            </a:prstGeom>
            <a:noFill/>
            <a:ln w="38100">
              <a:solidFill>
                <a:srgbClr val="152958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defTabSz="550545"/>
              <a:endParaRPr lang="zh-CN" altLang="en-US" sz="2200">
                <a:solidFill>
                  <a:prstClr val="black"/>
                </a:solidFill>
              </a:endParaRPr>
            </a:p>
          </p:txBody>
        </p:sp>
        <p:sp>
          <p:nvSpPr>
            <p:cNvPr id="44103" name="Line 14"/>
            <p:cNvSpPr>
              <a:spLocks noChangeShapeType="1"/>
            </p:cNvSpPr>
            <p:nvPr/>
          </p:nvSpPr>
          <p:spPr bwMode="auto">
            <a:xfrm flipV="1">
              <a:off x="670" y="799"/>
              <a:ext cx="0" cy="2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defTabSz="550545"/>
              <a:endParaRPr lang="zh-CN" altLang="en-US" sz="2200">
                <a:solidFill>
                  <a:prstClr val="black"/>
                </a:solidFill>
              </a:endParaRPr>
            </a:p>
          </p:txBody>
        </p:sp>
        <p:sp>
          <p:nvSpPr>
            <p:cNvPr id="44104" name="Line 16"/>
            <p:cNvSpPr>
              <a:spLocks noChangeShapeType="1"/>
            </p:cNvSpPr>
            <p:nvPr/>
          </p:nvSpPr>
          <p:spPr bwMode="auto">
            <a:xfrm flipV="1">
              <a:off x="3103" y="799"/>
              <a:ext cx="0" cy="2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defTabSz="550545"/>
              <a:endParaRPr lang="zh-CN" altLang="en-US" sz="2200" dirty="0">
                <a:solidFill>
                  <a:prstClr val="black"/>
                </a:solidFill>
              </a:endParaRPr>
            </a:p>
          </p:txBody>
        </p:sp>
        <p:sp>
          <p:nvSpPr>
            <p:cNvPr id="44105" name="Line 17"/>
            <p:cNvSpPr>
              <a:spLocks noChangeShapeType="1"/>
            </p:cNvSpPr>
            <p:nvPr/>
          </p:nvSpPr>
          <p:spPr bwMode="auto">
            <a:xfrm flipH="1">
              <a:off x="3204" y="1065"/>
              <a:ext cx="363" cy="0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defTabSz="550545"/>
              <a:endParaRPr lang="zh-CN" altLang="en-US" sz="2200">
                <a:solidFill>
                  <a:prstClr val="black"/>
                </a:solidFill>
              </a:endParaRPr>
            </a:p>
          </p:txBody>
        </p:sp>
      </p:grpSp>
      <p:grpSp>
        <p:nvGrpSpPr>
          <p:cNvPr id="3" name="Group 77"/>
          <p:cNvGrpSpPr/>
          <p:nvPr/>
        </p:nvGrpSpPr>
        <p:grpSpPr bwMode="auto">
          <a:xfrm>
            <a:off x="937691" y="2104390"/>
            <a:ext cx="6730999" cy="881063"/>
            <a:chOff x="473" y="1234"/>
            <a:chExt cx="3180" cy="555"/>
          </a:xfrm>
        </p:grpSpPr>
        <p:sp>
          <p:nvSpPr>
            <p:cNvPr id="44082" name="Rectangle 18"/>
            <p:cNvSpPr>
              <a:spLocks noChangeArrowheads="1"/>
            </p:cNvSpPr>
            <p:nvPr/>
          </p:nvSpPr>
          <p:spPr bwMode="auto">
            <a:xfrm>
              <a:off x="473" y="1234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27</a:t>
              </a:r>
            </a:p>
          </p:txBody>
        </p:sp>
        <p:sp>
          <p:nvSpPr>
            <p:cNvPr id="44083" name="Rectangle 19"/>
            <p:cNvSpPr>
              <a:spLocks noChangeArrowheads="1"/>
            </p:cNvSpPr>
            <p:nvPr/>
          </p:nvSpPr>
          <p:spPr bwMode="auto">
            <a:xfrm>
              <a:off x="885" y="1234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38</a:t>
              </a:r>
            </a:p>
          </p:txBody>
        </p:sp>
        <p:sp>
          <p:nvSpPr>
            <p:cNvPr id="44084" name="Rectangle 20"/>
            <p:cNvSpPr>
              <a:spLocks noChangeArrowheads="1"/>
            </p:cNvSpPr>
            <p:nvPr/>
          </p:nvSpPr>
          <p:spPr bwMode="auto">
            <a:xfrm>
              <a:off x="1298" y="1234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65</a:t>
              </a:r>
            </a:p>
          </p:txBody>
        </p:sp>
        <p:sp>
          <p:nvSpPr>
            <p:cNvPr id="44085" name="Rectangle 21"/>
            <p:cNvSpPr>
              <a:spLocks noChangeArrowheads="1"/>
            </p:cNvSpPr>
            <p:nvPr/>
          </p:nvSpPr>
          <p:spPr bwMode="auto">
            <a:xfrm>
              <a:off x="1703" y="1234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97</a:t>
              </a:r>
            </a:p>
          </p:txBody>
        </p:sp>
        <p:sp>
          <p:nvSpPr>
            <p:cNvPr id="44086" name="Rectangle 22"/>
            <p:cNvSpPr>
              <a:spLocks noChangeArrowheads="1"/>
            </p:cNvSpPr>
            <p:nvPr/>
          </p:nvSpPr>
          <p:spPr bwMode="auto">
            <a:xfrm>
              <a:off x="2113" y="1234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76</a:t>
              </a:r>
            </a:p>
          </p:txBody>
        </p:sp>
        <p:sp>
          <p:nvSpPr>
            <p:cNvPr id="44087" name="Rectangle 23"/>
            <p:cNvSpPr>
              <a:spLocks noChangeArrowheads="1"/>
            </p:cNvSpPr>
            <p:nvPr/>
          </p:nvSpPr>
          <p:spPr bwMode="auto">
            <a:xfrm>
              <a:off x="2518" y="1234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13</a:t>
              </a:r>
            </a:p>
          </p:txBody>
        </p:sp>
        <p:sp>
          <p:nvSpPr>
            <p:cNvPr id="44088" name="Rectangle 24"/>
            <p:cNvSpPr>
              <a:spLocks noChangeArrowheads="1"/>
            </p:cNvSpPr>
            <p:nvPr/>
          </p:nvSpPr>
          <p:spPr bwMode="auto">
            <a:xfrm>
              <a:off x="2913" y="1234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3300"/>
                  </a:solidFill>
                  <a:latin typeface="微软雅黑" panose="020B0503020204020204" charset="-122"/>
                </a:rPr>
                <a:t>49</a:t>
              </a:r>
            </a:p>
          </p:txBody>
        </p:sp>
        <p:sp>
          <p:nvSpPr>
            <p:cNvPr id="44089" name="Rectangle 25"/>
            <p:cNvSpPr>
              <a:spLocks noChangeArrowheads="1"/>
            </p:cNvSpPr>
            <p:nvPr/>
          </p:nvSpPr>
          <p:spPr bwMode="auto">
            <a:xfrm>
              <a:off x="3321" y="1234"/>
              <a:ext cx="33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49*</a:t>
              </a:r>
            </a:p>
          </p:txBody>
        </p:sp>
        <p:sp>
          <p:nvSpPr>
            <p:cNvPr id="44090" name="Line 27"/>
            <p:cNvSpPr>
              <a:spLocks noChangeShapeType="1"/>
            </p:cNvSpPr>
            <p:nvPr/>
          </p:nvSpPr>
          <p:spPr bwMode="auto">
            <a:xfrm flipV="1">
              <a:off x="605" y="1562"/>
              <a:ext cx="0" cy="2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defTabSz="550545"/>
              <a:endParaRPr lang="zh-CN" altLang="en-US" sz="2200">
                <a:solidFill>
                  <a:prstClr val="black"/>
                </a:solidFill>
              </a:endParaRPr>
            </a:p>
          </p:txBody>
        </p:sp>
        <p:sp>
          <p:nvSpPr>
            <p:cNvPr id="44091" name="Line 28"/>
            <p:cNvSpPr>
              <a:spLocks noChangeShapeType="1"/>
            </p:cNvSpPr>
            <p:nvPr/>
          </p:nvSpPr>
          <p:spPr bwMode="auto">
            <a:xfrm flipV="1">
              <a:off x="3038" y="1562"/>
              <a:ext cx="0" cy="22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defTabSz="550545"/>
              <a:endParaRPr lang="zh-CN" altLang="en-US" sz="2200">
                <a:solidFill>
                  <a:prstClr val="black"/>
                </a:solidFill>
              </a:endParaRPr>
            </a:p>
          </p:txBody>
        </p:sp>
        <p:sp>
          <p:nvSpPr>
            <p:cNvPr id="44092" name="Line 30"/>
            <p:cNvSpPr>
              <a:spLocks noChangeShapeType="1"/>
            </p:cNvSpPr>
            <p:nvPr/>
          </p:nvSpPr>
          <p:spPr bwMode="auto">
            <a:xfrm>
              <a:off x="655" y="1787"/>
              <a:ext cx="686" cy="1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noAutofit/>
            </a:bodyPr>
            <a:lstStyle/>
            <a:p>
              <a:pPr defTabSz="550545"/>
              <a:endParaRPr lang="zh-CN" altLang="en-US" sz="2200">
                <a:solidFill>
                  <a:prstClr val="black"/>
                </a:solidFill>
              </a:endParaRPr>
            </a:p>
          </p:txBody>
        </p:sp>
        <p:sp>
          <p:nvSpPr>
            <p:cNvPr id="44093" name="Line 31"/>
            <p:cNvSpPr>
              <a:spLocks noChangeShapeType="1"/>
            </p:cNvSpPr>
            <p:nvPr/>
          </p:nvSpPr>
          <p:spPr bwMode="auto">
            <a:xfrm flipV="1">
              <a:off x="1429" y="1561"/>
              <a:ext cx="0" cy="2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defTabSz="550545"/>
              <a:endParaRPr lang="zh-CN" altLang="en-US" sz="2200">
                <a:solidFill>
                  <a:prstClr val="black"/>
                </a:solidFill>
              </a:endParaRPr>
            </a:p>
          </p:txBody>
        </p:sp>
      </p:grpSp>
      <p:grpSp>
        <p:nvGrpSpPr>
          <p:cNvPr id="4" name="Group 78"/>
          <p:cNvGrpSpPr/>
          <p:nvPr/>
        </p:nvGrpSpPr>
        <p:grpSpPr bwMode="auto">
          <a:xfrm>
            <a:off x="941926" y="3117530"/>
            <a:ext cx="6682316" cy="879475"/>
            <a:chOff x="475" y="2005"/>
            <a:chExt cx="3157" cy="554"/>
          </a:xfrm>
        </p:grpSpPr>
        <p:sp>
          <p:nvSpPr>
            <p:cNvPr id="44070" name="Rectangle 32"/>
            <p:cNvSpPr>
              <a:spLocks noChangeArrowheads="1"/>
            </p:cNvSpPr>
            <p:nvPr/>
          </p:nvSpPr>
          <p:spPr bwMode="auto">
            <a:xfrm>
              <a:off x="475" y="2005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27</a:t>
              </a:r>
            </a:p>
          </p:txBody>
        </p:sp>
        <p:sp>
          <p:nvSpPr>
            <p:cNvPr id="44071" name="Rectangle 33"/>
            <p:cNvSpPr>
              <a:spLocks noChangeArrowheads="1"/>
            </p:cNvSpPr>
            <p:nvPr/>
          </p:nvSpPr>
          <p:spPr bwMode="auto">
            <a:xfrm>
              <a:off x="885" y="2005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38</a:t>
              </a:r>
            </a:p>
          </p:txBody>
        </p:sp>
        <p:sp>
          <p:nvSpPr>
            <p:cNvPr id="44072" name="Rectangle 34"/>
            <p:cNvSpPr>
              <a:spLocks noChangeArrowheads="1"/>
            </p:cNvSpPr>
            <p:nvPr/>
          </p:nvSpPr>
          <p:spPr bwMode="auto">
            <a:xfrm>
              <a:off x="1298" y="2005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3300"/>
                  </a:solidFill>
                  <a:latin typeface="微软雅黑" panose="020B0503020204020204" charset="-122"/>
                </a:rPr>
                <a:t>49</a:t>
              </a:r>
            </a:p>
          </p:txBody>
        </p:sp>
        <p:sp>
          <p:nvSpPr>
            <p:cNvPr id="44073" name="Rectangle 35"/>
            <p:cNvSpPr>
              <a:spLocks noChangeArrowheads="1"/>
            </p:cNvSpPr>
            <p:nvPr/>
          </p:nvSpPr>
          <p:spPr bwMode="auto">
            <a:xfrm>
              <a:off x="1703" y="2005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97</a:t>
              </a:r>
            </a:p>
          </p:txBody>
        </p:sp>
        <p:sp>
          <p:nvSpPr>
            <p:cNvPr id="44074" name="Rectangle 36"/>
            <p:cNvSpPr>
              <a:spLocks noChangeArrowheads="1"/>
            </p:cNvSpPr>
            <p:nvPr/>
          </p:nvSpPr>
          <p:spPr bwMode="auto">
            <a:xfrm>
              <a:off x="2113" y="2005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76</a:t>
              </a:r>
            </a:p>
          </p:txBody>
        </p:sp>
        <p:sp>
          <p:nvSpPr>
            <p:cNvPr id="44075" name="Rectangle 37"/>
            <p:cNvSpPr>
              <a:spLocks noChangeArrowheads="1"/>
            </p:cNvSpPr>
            <p:nvPr/>
          </p:nvSpPr>
          <p:spPr bwMode="auto">
            <a:xfrm>
              <a:off x="2518" y="2005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13</a:t>
              </a:r>
            </a:p>
          </p:txBody>
        </p:sp>
        <p:sp>
          <p:nvSpPr>
            <p:cNvPr id="44076" name="Rectangle 38"/>
            <p:cNvSpPr>
              <a:spLocks noChangeArrowheads="1"/>
            </p:cNvSpPr>
            <p:nvPr/>
          </p:nvSpPr>
          <p:spPr bwMode="auto">
            <a:xfrm>
              <a:off x="2913" y="2005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65</a:t>
              </a:r>
            </a:p>
          </p:txBody>
        </p:sp>
        <p:sp>
          <p:nvSpPr>
            <p:cNvPr id="44077" name="Rectangle 39"/>
            <p:cNvSpPr>
              <a:spLocks noChangeArrowheads="1"/>
            </p:cNvSpPr>
            <p:nvPr/>
          </p:nvSpPr>
          <p:spPr bwMode="auto">
            <a:xfrm>
              <a:off x="3300" y="2005"/>
              <a:ext cx="33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49*</a:t>
              </a:r>
            </a:p>
          </p:txBody>
        </p:sp>
        <p:sp>
          <p:nvSpPr>
            <p:cNvPr id="44078" name="Line 42"/>
            <p:cNvSpPr>
              <a:spLocks noChangeShapeType="1"/>
            </p:cNvSpPr>
            <p:nvPr/>
          </p:nvSpPr>
          <p:spPr bwMode="auto">
            <a:xfrm flipV="1">
              <a:off x="3067" y="2315"/>
              <a:ext cx="0" cy="2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defTabSz="550545"/>
              <a:endParaRPr lang="zh-CN" altLang="en-US" sz="2200">
                <a:solidFill>
                  <a:prstClr val="black"/>
                </a:solidFill>
              </a:endParaRPr>
            </a:p>
          </p:txBody>
        </p:sp>
        <p:sp>
          <p:nvSpPr>
            <p:cNvPr id="44079" name="Line 45"/>
            <p:cNvSpPr>
              <a:spLocks noChangeShapeType="1"/>
            </p:cNvSpPr>
            <p:nvPr/>
          </p:nvSpPr>
          <p:spPr bwMode="auto">
            <a:xfrm flipV="1">
              <a:off x="1429" y="2333"/>
              <a:ext cx="0" cy="2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defTabSz="550545"/>
              <a:endParaRPr lang="zh-CN" altLang="en-US" sz="2200">
                <a:solidFill>
                  <a:prstClr val="black"/>
                </a:solidFill>
              </a:endParaRPr>
            </a:p>
          </p:txBody>
        </p:sp>
        <p:sp>
          <p:nvSpPr>
            <p:cNvPr id="44080" name="Line 46"/>
            <p:cNvSpPr>
              <a:spLocks noChangeShapeType="1"/>
            </p:cNvSpPr>
            <p:nvPr/>
          </p:nvSpPr>
          <p:spPr bwMode="auto">
            <a:xfrm flipV="1">
              <a:off x="2656" y="2315"/>
              <a:ext cx="0" cy="2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defTabSz="550545"/>
              <a:endParaRPr lang="zh-CN" altLang="en-US" sz="2200">
                <a:solidFill>
                  <a:prstClr val="black"/>
                </a:solidFill>
              </a:endParaRPr>
            </a:p>
          </p:txBody>
        </p:sp>
        <p:sp>
          <p:nvSpPr>
            <p:cNvPr id="44081" name="Line 47"/>
            <p:cNvSpPr>
              <a:spLocks noChangeShapeType="1"/>
            </p:cNvSpPr>
            <p:nvPr/>
          </p:nvSpPr>
          <p:spPr bwMode="auto">
            <a:xfrm flipH="1">
              <a:off x="2730" y="2558"/>
              <a:ext cx="249" cy="1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noAutofit/>
            </a:bodyPr>
            <a:lstStyle/>
            <a:p>
              <a:pPr defTabSz="550545"/>
              <a:endParaRPr lang="zh-CN" altLang="en-US" sz="2200">
                <a:solidFill>
                  <a:prstClr val="black"/>
                </a:solidFill>
              </a:endParaRPr>
            </a:p>
          </p:txBody>
        </p:sp>
      </p:grpSp>
      <p:grpSp>
        <p:nvGrpSpPr>
          <p:cNvPr id="5" name="Group 79"/>
          <p:cNvGrpSpPr/>
          <p:nvPr/>
        </p:nvGrpSpPr>
        <p:grpSpPr bwMode="auto">
          <a:xfrm>
            <a:off x="929226" y="4070348"/>
            <a:ext cx="6695016" cy="879475"/>
            <a:chOff x="475" y="2768"/>
            <a:chExt cx="3163" cy="554"/>
          </a:xfrm>
        </p:grpSpPr>
        <p:sp>
          <p:nvSpPr>
            <p:cNvPr id="44058" name="Rectangle 48"/>
            <p:cNvSpPr>
              <a:spLocks noChangeArrowheads="1"/>
            </p:cNvSpPr>
            <p:nvPr/>
          </p:nvSpPr>
          <p:spPr bwMode="auto">
            <a:xfrm>
              <a:off x="475" y="2768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27</a:t>
              </a:r>
            </a:p>
          </p:txBody>
        </p:sp>
        <p:sp>
          <p:nvSpPr>
            <p:cNvPr id="44059" name="Rectangle 49"/>
            <p:cNvSpPr>
              <a:spLocks noChangeArrowheads="1"/>
            </p:cNvSpPr>
            <p:nvPr/>
          </p:nvSpPr>
          <p:spPr bwMode="auto">
            <a:xfrm>
              <a:off x="891" y="2768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38</a:t>
              </a:r>
            </a:p>
          </p:txBody>
        </p:sp>
        <p:sp>
          <p:nvSpPr>
            <p:cNvPr id="44060" name="Rectangle 50"/>
            <p:cNvSpPr>
              <a:spLocks noChangeArrowheads="1"/>
            </p:cNvSpPr>
            <p:nvPr/>
          </p:nvSpPr>
          <p:spPr bwMode="auto">
            <a:xfrm>
              <a:off x="1304" y="2768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13</a:t>
              </a:r>
            </a:p>
          </p:txBody>
        </p:sp>
        <p:sp>
          <p:nvSpPr>
            <p:cNvPr id="44061" name="Rectangle 51"/>
            <p:cNvSpPr>
              <a:spLocks noChangeArrowheads="1"/>
            </p:cNvSpPr>
            <p:nvPr/>
          </p:nvSpPr>
          <p:spPr bwMode="auto">
            <a:xfrm>
              <a:off x="1709" y="2768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97</a:t>
              </a:r>
            </a:p>
          </p:txBody>
        </p:sp>
        <p:sp>
          <p:nvSpPr>
            <p:cNvPr id="44062" name="Rectangle 52"/>
            <p:cNvSpPr>
              <a:spLocks noChangeArrowheads="1"/>
            </p:cNvSpPr>
            <p:nvPr/>
          </p:nvSpPr>
          <p:spPr bwMode="auto">
            <a:xfrm>
              <a:off x="2119" y="2768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76</a:t>
              </a:r>
            </a:p>
          </p:txBody>
        </p:sp>
        <p:sp>
          <p:nvSpPr>
            <p:cNvPr id="44063" name="Rectangle 53"/>
            <p:cNvSpPr>
              <a:spLocks noChangeArrowheads="1"/>
            </p:cNvSpPr>
            <p:nvPr/>
          </p:nvSpPr>
          <p:spPr bwMode="auto">
            <a:xfrm>
              <a:off x="2524" y="2768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3300"/>
                  </a:solidFill>
                  <a:latin typeface="微软雅黑" panose="020B0503020204020204" charset="-122"/>
                </a:rPr>
                <a:t>49</a:t>
              </a:r>
            </a:p>
          </p:txBody>
        </p:sp>
        <p:sp>
          <p:nvSpPr>
            <p:cNvPr id="44064" name="Rectangle 54"/>
            <p:cNvSpPr>
              <a:spLocks noChangeArrowheads="1"/>
            </p:cNvSpPr>
            <p:nvPr/>
          </p:nvSpPr>
          <p:spPr bwMode="auto">
            <a:xfrm>
              <a:off x="2919" y="2768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65</a:t>
              </a:r>
            </a:p>
          </p:txBody>
        </p:sp>
        <p:sp>
          <p:nvSpPr>
            <p:cNvPr id="44065" name="Rectangle 55"/>
            <p:cNvSpPr>
              <a:spLocks noChangeArrowheads="1"/>
            </p:cNvSpPr>
            <p:nvPr/>
          </p:nvSpPr>
          <p:spPr bwMode="auto">
            <a:xfrm>
              <a:off x="3306" y="2768"/>
              <a:ext cx="33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49*</a:t>
              </a:r>
            </a:p>
          </p:txBody>
        </p:sp>
        <p:sp>
          <p:nvSpPr>
            <p:cNvPr id="44066" name="Line 56"/>
            <p:cNvSpPr>
              <a:spLocks noChangeShapeType="1"/>
            </p:cNvSpPr>
            <p:nvPr/>
          </p:nvSpPr>
          <p:spPr bwMode="auto">
            <a:xfrm flipV="1">
              <a:off x="1849" y="3096"/>
              <a:ext cx="0" cy="2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defTabSz="550545"/>
              <a:endParaRPr lang="zh-CN" altLang="en-US" sz="2200">
                <a:solidFill>
                  <a:prstClr val="black"/>
                </a:solidFill>
              </a:endParaRPr>
            </a:p>
          </p:txBody>
        </p:sp>
        <p:sp>
          <p:nvSpPr>
            <p:cNvPr id="44067" name="Line 58"/>
            <p:cNvSpPr>
              <a:spLocks noChangeShapeType="1"/>
            </p:cNvSpPr>
            <p:nvPr/>
          </p:nvSpPr>
          <p:spPr bwMode="auto">
            <a:xfrm>
              <a:off x="1499" y="3322"/>
              <a:ext cx="271" cy="0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noAutofit/>
            </a:bodyPr>
            <a:lstStyle/>
            <a:p>
              <a:pPr defTabSz="550545"/>
              <a:endParaRPr lang="zh-CN" altLang="en-US" sz="2200">
                <a:solidFill>
                  <a:prstClr val="black"/>
                </a:solidFill>
              </a:endParaRPr>
            </a:p>
          </p:txBody>
        </p:sp>
        <p:sp>
          <p:nvSpPr>
            <p:cNvPr id="44068" name="Line 59"/>
            <p:cNvSpPr>
              <a:spLocks noChangeShapeType="1"/>
            </p:cNvSpPr>
            <p:nvPr/>
          </p:nvSpPr>
          <p:spPr bwMode="auto">
            <a:xfrm flipV="1">
              <a:off x="1430" y="3095"/>
              <a:ext cx="0" cy="2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defTabSz="550545"/>
              <a:endParaRPr lang="zh-CN" altLang="en-US" sz="2200">
                <a:solidFill>
                  <a:prstClr val="black"/>
                </a:solidFill>
              </a:endParaRPr>
            </a:p>
          </p:txBody>
        </p:sp>
        <p:sp>
          <p:nvSpPr>
            <p:cNvPr id="44069" name="Line 60"/>
            <p:cNvSpPr>
              <a:spLocks noChangeShapeType="1"/>
            </p:cNvSpPr>
            <p:nvPr/>
          </p:nvSpPr>
          <p:spPr bwMode="auto">
            <a:xfrm flipV="1">
              <a:off x="2662" y="3095"/>
              <a:ext cx="0" cy="2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defTabSz="550545"/>
              <a:endParaRPr lang="zh-CN" altLang="en-US" sz="2200">
                <a:solidFill>
                  <a:prstClr val="black"/>
                </a:solidFill>
              </a:endParaRPr>
            </a:p>
          </p:txBody>
        </p:sp>
      </p:grpSp>
      <p:grpSp>
        <p:nvGrpSpPr>
          <p:cNvPr id="6" name="Group 80"/>
          <p:cNvGrpSpPr/>
          <p:nvPr/>
        </p:nvGrpSpPr>
        <p:grpSpPr bwMode="auto">
          <a:xfrm>
            <a:off x="941925" y="5094600"/>
            <a:ext cx="6682316" cy="877888"/>
            <a:chOff x="469" y="3466"/>
            <a:chExt cx="3157" cy="553"/>
          </a:xfrm>
        </p:grpSpPr>
        <p:sp>
          <p:nvSpPr>
            <p:cNvPr id="44046" name="Rectangle 64"/>
            <p:cNvSpPr>
              <a:spLocks noChangeArrowheads="1"/>
            </p:cNvSpPr>
            <p:nvPr/>
          </p:nvSpPr>
          <p:spPr bwMode="auto">
            <a:xfrm>
              <a:off x="469" y="3466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27</a:t>
              </a:r>
            </a:p>
          </p:txBody>
        </p:sp>
        <p:sp>
          <p:nvSpPr>
            <p:cNvPr id="44047" name="Rectangle 65"/>
            <p:cNvSpPr>
              <a:spLocks noChangeArrowheads="1"/>
            </p:cNvSpPr>
            <p:nvPr/>
          </p:nvSpPr>
          <p:spPr bwMode="auto">
            <a:xfrm>
              <a:off x="879" y="3466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38</a:t>
              </a:r>
            </a:p>
          </p:txBody>
        </p:sp>
        <p:sp>
          <p:nvSpPr>
            <p:cNvPr id="44048" name="Rectangle 66"/>
            <p:cNvSpPr>
              <a:spLocks noChangeArrowheads="1"/>
            </p:cNvSpPr>
            <p:nvPr/>
          </p:nvSpPr>
          <p:spPr bwMode="auto">
            <a:xfrm>
              <a:off x="1292" y="3466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13</a:t>
              </a:r>
            </a:p>
          </p:txBody>
        </p:sp>
        <p:sp>
          <p:nvSpPr>
            <p:cNvPr id="44049" name="Rectangle 67"/>
            <p:cNvSpPr>
              <a:spLocks noChangeArrowheads="1"/>
            </p:cNvSpPr>
            <p:nvPr/>
          </p:nvSpPr>
          <p:spPr bwMode="auto">
            <a:xfrm>
              <a:off x="1697" y="3466"/>
              <a:ext cx="213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   </a:t>
              </a:r>
            </a:p>
          </p:txBody>
        </p:sp>
        <p:sp>
          <p:nvSpPr>
            <p:cNvPr id="44050" name="Rectangle 68"/>
            <p:cNvSpPr>
              <a:spLocks noChangeArrowheads="1"/>
            </p:cNvSpPr>
            <p:nvPr/>
          </p:nvSpPr>
          <p:spPr bwMode="auto">
            <a:xfrm>
              <a:off x="2107" y="3466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76</a:t>
              </a:r>
            </a:p>
          </p:txBody>
        </p:sp>
        <p:sp>
          <p:nvSpPr>
            <p:cNvPr id="44051" name="Rectangle 69"/>
            <p:cNvSpPr>
              <a:spLocks noChangeArrowheads="1"/>
            </p:cNvSpPr>
            <p:nvPr/>
          </p:nvSpPr>
          <p:spPr bwMode="auto">
            <a:xfrm>
              <a:off x="2512" y="3466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97</a:t>
              </a:r>
            </a:p>
          </p:txBody>
        </p:sp>
        <p:sp>
          <p:nvSpPr>
            <p:cNvPr id="44052" name="Rectangle 70"/>
            <p:cNvSpPr>
              <a:spLocks noChangeArrowheads="1"/>
            </p:cNvSpPr>
            <p:nvPr/>
          </p:nvSpPr>
          <p:spPr bwMode="auto">
            <a:xfrm>
              <a:off x="2907" y="3466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65</a:t>
              </a:r>
            </a:p>
          </p:txBody>
        </p:sp>
        <p:sp>
          <p:nvSpPr>
            <p:cNvPr id="44053" name="Rectangle 71"/>
            <p:cNvSpPr>
              <a:spLocks noChangeArrowheads="1"/>
            </p:cNvSpPr>
            <p:nvPr/>
          </p:nvSpPr>
          <p:spPr bwMode="auto">
            <a:xfrm>
              <a:off x="3294" y="3466"/>
              <a:ext cx="33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49*</a:t>
              </a:r>
            </a:p>
          </p:txBody>
        </p:sp>
        <p:sp>
          <p:nvSpPr>
            <p:cNvPr id="44054" name="Line 72"/>
            <p:cNvSpPr>
              <a:spLocks noChangeShapeType="1"/>
            </p:cNvSpPr>
            <p:nvPr/>
          </p:nvSpPr>
          <p:spPr bwMode="auto">
            <a:xfrm flipV="1">
              <a:off x="2650" y="3793"/>
              <a:ext cx="0" cy="2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defTabSz="550545"/>
              <a:endParaRPr lang="zh-CN" altLang="en-US" sz="2200">
                <a:solidFill>
                  <a:prstClr val="black"/>
                </a:solidFill>
              </a:endParaRPr>
            </a:p>
          </p:txBody>
        </p:sp>
        <p:sp>
          <p:nvSpPr>
            <p:cNvPr id="44055" name="Line 73"/>
            <p:cNvSpPr>
              <a:spLocks noChangeShapeType="1"/>
            </p:cNvSpPr>
            <p:nvPr/>
          </p:nvSpPr>
          <p:spPr bwMode="auto">
            <a:xfrm rot="10800000">
              <a:off x="2047" y="4019"/>
              <a:ext cx="274" cy="0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noAutofit/>
            </a:bodyPr>
            <a:lstStyle/>
            <a:p>
              <a:pPr defTabSz="550545"/>
              <a:endParaRPr lang="zh-CN" altLang="en-US" sz="2200">
                <a:solidFill>
                  <a:prstClr val="black"/>
                </a:solidFill>
              </a:endParaRPr>
            </a:p>
          </p:txBody>
        </p:sp>
        <p:sp>
          <p:nvSpPr>
            <p:cNvPr id="44056" name="Line 74"/>
            <p:cNvSpPr>
              <a:spLocks noChangeShapeType="1"/>
            </p:cNvSpPr>
            <p:nvPr/>
          </p:nvSpPr>
          <p:spPr bwMode="auto">
            <a:xfrm flipV="1">
              <a:off x="1837" y="3757"/>
              <a:ext cx="0" cy="2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defTabSz="550545"/>
              <a:endParaRPr lang="zh-CN" altLang="en-US" sz="2200">
                <a:solidFill>
                  <a:prstClr val="black"/>
                </a:solidFill>
              </a:endParaRPr>
            </a:p>
          </p:txBody>
        </p:sp>
        <p:sp>
          <p:nvSpPr>
            <p:cNvPr id="44057" name="Line 75"/>
            <p:cNvSpPr>
              <a:spLocks noChangeShapeType="1"/>
            </p:cNvSpPr>
            <p:nvPr/>
          </p:nvSpPr>
          <p:spPr bwMode="auto">
            <a:xfrm flipV="1">
              <a:off x="1418" y="3793"/>
              <a:ext cx="0" cy="2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defTabSz="550545"/>
              <a:endParaRPr lang="zh-CN" altLang="en-US" sz="2200">
                <a:solidFill>
                  <a:prstClr val="black"/>
                </a:solidFill>
              </a:endParaRPr>
            </a:p>
          </p:txBody>
        </p:sp>
      </p:grpSp>
      <p:sp>
        <p:nvSpPr>
          <p:cNvPr id="208977" name="Rectangle 81"/>
          <p:cNvSpPr>
            <a:spLocks noChangeArrowheads="1"/>
          </p:cNvSpPr>
          <p:nvPr/>
        </p:nvSpPr>
        <p:spPr bwMode="auto">
          <a:xfrm>
            <a:off x="3541189" y="5787076"/>
            <a:ext cx="673100" cy="480695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</a:ln>
        </p:spPr>
        <p:txBody>
          <a:bodyPr lIns="108333" tIns="56333" rIns="108333" bIns="56333" anchor="ctr">
            <a:spAutoFit/>
          </a:bodyPr>
          <a:lstStyle/>
          <a:p>
            <a:pPr algn="ctr" defTabSz="550545"/>
            <a:r>
              <a:rPr lang="en-US" altLang="zh-CN" sz="2400" b="1">
                <a:solidFill>
                  <a:srgbClr val="FF3300"/>
                </a:solidFill>
                <a:latin typeface="微软雅黑" panose="020B0503020204020204" charset="-122"/>
              </a:rPr>
              <a:t>49</a:t>
            </a:r>
          </a:p>
        </p:txBody>
      </p:sp>
      <p:sp>
        <p:nvSpPr>
          <p:cNvPr id="44043" name="Text Box 83"/>
          <p:cNvSpPr txBox="1">
            <a:spLocks noChangeArrowheads="1"/>
          </p:cNvSpPr>
          <p:nvPr/>
        </p:nvSpPr>
        <p:spPr bwMode="auto">
          <a:xfrm>
            <a:off x="1397006" y="1561469"/>
            <a:ext cx="731520" cy="480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333" tIns="56333" rIns="108333" bIns="56333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9pPr>
          </a:lstStyle>
          <a:p>
            <a:pPr defTabSz="550545" eaLnBrk="1" hangingPunct="1"/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low</a:t>
            </a:r>
          </a:p>
        </p:txBody>
      </p:sp>
      <p:sp>
        <p:nvSpPr>
          <p:cNvPr id="44044" name="Text Box 84"/>
          <p:cNvSpPr txBox="1">
            <a:spLocks noChangeArrowheads="1"/>
          </p:cNvSpPr>
          <p:nvPr/>
        </p:nvSpPr>
        <p:spPr bwMode="auto">
          <a:xfrm>
            <a:off x="6580338" y="1513413"/>
            <a:ext cx="868045" cy="480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333" tIns="56333" rIns="108333" bIns="56333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9pPr>
          </a:lstStyle>
          <a:p>
            <a:pPr defTabSz="550545" eaLnBrk="1" hangingPunct="1"/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high</a:t>
            </a:r>
          </a:p>
        </p:txBody>
      </p:sp>
    </p:spTree>
    <p:extLst>
      <p:ext uri="{BB962C8B-B14F-4D97-AF65-F5344CB8AC3E}">
        <p14:creationId xmlns:p14="http://schemas.microsoft.com/office/powerpoint/2010/main" val="17246476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089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089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7" dur="1000"/>
                                        <p:tgtEl>
                                          <p:spTgt spid="208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977" grpId="0" bldLvl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9" name="Text Box 3"/>
          <p:cNvSpPr txBox="1">
            <a:spLocks noChangeArrowheads="1"/>
          </p:cNvSpPr>
          <p:nvPr/>
        </p:nvSpPr>
        <p:spPr bwMode="auto">
          <a:xfrm>
            <a:off x="813826" y="1344904"/>
            <a:ext cx="9355037" cy="54057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lIns="216625" tIns="173300" rIns="110045" bIns="173300">
            <a:noAutofit/>
          </a:bodyPr>
          <a:lstStyle/>
          <a:p>
            <a:pPr indent="0" fontAlgn="auto">
              <a:lnSpc>
                <a:spcPct val="100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int Partition(int a[]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int s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int t)	//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划分算法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{   int i=s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j=t;</a:t>
            </a:r>
          </a:p>
          <a:p>
            <a:pPr indent="0" fontAlgn="auto">
              <a:lnSpc>
                <a:spcPct val="10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int 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tmp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=a[s];	//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用序列的第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个记录作为基准</a:t>
            </a:r>
          </a:p>
          <a:p>
            <a:pPr indent="0" fontAlgn="auto">
              <a:lnSpc>
                <a:spcPct val="10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while (i!=j)	//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从序列两端交替向中间扫描，直至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=j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为止     </a:t>
            </a:r>
            <a:endParaRPr lang="en-US" altLang="zh-CN" sz="2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{   while (j&gt;i &amp;&amp; a[j]&gt;=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tmp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) </a:t>
            </a:r>
          </a:p>
          <a:p>
            <a:pPr indent="0" fontAlgn="auto">
              <a:lnSpc>
                <a:spcPct val="10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　　　  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j--;//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从右向左扫描，找第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个关键字小于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tmp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的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a[j]</a:t>
            </a:r>
          </a:p>
          <a:p>
            <a:pPr indent="0" fontAlgn="auto">
              <a:lnSpc>
                <a:spcPct val="10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    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a[i]=a[j];	//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将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a[j]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前移到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a[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]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的位置</a:t>
            </a:r>
          </a:p>
          <a:p>
            <a:pPr indent="0" fontAlgn="auto">
              <a:lnSpc>
                <a:spcPct val="10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    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while (i&lt;j &amp;&amp; a[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]&lt;=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tmp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) </a:t>
            </a:r>
          </a:p>
          <a:p>
            <a:pPr indent="0" fontAlgn="auto">
              <a:lnSpc>
                <a:spcPct val="10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　　　  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++;//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从左向右扫描，找第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个关键字大于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tmp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的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a[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]</a:t>
            </a:r>
          </a:p>
          <a:p>
            <a:pPr indent="0" fontAlgn="auto">
              <a:lnSpc>
                <a:spcPct val="10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    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a[j]=a[i];	//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将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a[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]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后移到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a[j]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的位置</a:t>
            </a:r>
          </a:p>
          <a:p>
            <a:pPr indent="0" fontAlgn="auto">
              <a:lnSpc>
                <a:spcPct val="10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　　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}</a:t>
            </a:r>
          </a:p>
          <a:p>
            <a:pPr indent="0" fontAlgn="auto">
              <a:lnSpc>
                <a:spcPct val="10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　　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a[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]=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tmp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;</a:t>
            </a:r>
          </a:p>
          <a:p>
            <a:pPr indent="0" fontAlgn="auto">
              <a:lnSpc>
                <a:spcPct val="10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　　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return 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;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22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294747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Text Box 2"/>
          <p:cNvSpPr txBox="1">
            <a:spLocks noChangeArrowheads="1"/>
          </p:cNvSpPr>
          <p:nvPr/>
        </p:nvSpPr>
        <p:spPr bwMode="auto">
          <a:xfrm>
            <a:off x="491360" y="1361438"/>
            <a:ext cx="3284013" cy="4629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10045" tIns="55022" rIns="110045" bIns="55022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快速排序算法</a:t>
            </a:r>
            <a:r>
              <a:rPr lang="zh-CN" altLang="en-US" sz="23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</a:p>
        </p:txBody>
      </p:sp>
      <p:sp>
        <p:nvSpPr>
          <p:cNvPr id="198659" name="Text Box 3"/>
          <p:cNvSpPr txBox="1">
            <a:spLocks noChangeArrowheads="1"/>
          </p:cNvSpPr>
          <p:nvPr/>
        </p:nvSpPr>
        <p:spPr bwMode="auto">
          <a:xfrm>
            <a:off x="562906" y="2066565"/>
            <a:ext cx="7917180" cy="317690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lIns="216625" tIns="173300" rIns="110045" bIns="173300">
            <a:spAutoFit/>
          </a:bodyPr>
          <a:lstStyle/>
          <a:p>
            <a:pPr indent="0" fontAlgn="auto">
              <a:lnSpc>
                <a:spcPct val="100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void 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QuickSort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(int a[ ]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int s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int t)	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//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对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a[s..t]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元素序列进行递增排序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{  if (s&lt;t) 	//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序列内至少存在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2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个元素的情况</a:t>
            </a:r>
          </a:p>
          <a:p>
            <a:pPr indent="0" fontAlgn="auto">
              <a:lnSpc>
                <a:spcPct val="10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{   int 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=Partition(a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s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t);</a:t>
            </a:r>
          </a:p>
          <a:p>
            <a:pPr indent="0" fontAlgn="auto">
              <a:lnSpc>
                <a:spcPct val="10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   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QuickSort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(a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s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i-1);	//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对左子序列递归排序</a:t>
            </a:r>
          </a:p>
          <a:p>
            <a:pPr indent="0" fontAlgn="auto">
              <a:lnSpc>
                <a:spcPct val="10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   </a:t>
            </a:r>
            <a:r>
              <a:rPr lang="en-US" altLang="zh-CN" sz="2200" b="1" dirty="0" err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QuickSort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(a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i+1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t);	//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对右子序列递归排序</a:t>
            </a:r>
          </a:p>
          <a:p>
            <a:pPr indent="0" fontAlgn="auto">
              <a:lnSpc>
                <a:spcPct val="10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}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474056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Text Box 2"/>
          <p:cNvSpPr txBox="1">
            <a:spLocks noChangeArrowheads="1"/>
          </p:cNvSpPr>
          <p:nvPr/>
        </p:nvSpPr>
        <p:spPr bwMode="auto">
          <a:xfrm>
            <a:off x="513255" y="1380531"/>
            <a:ext cx="8385267" cy="293798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wrap="square" lIns="110045" tIns="55022" rIns="110045" bIns="55022">
            <a:spAutoFit/>
          </a:bodyPr>
          <a:lstStyle/>
          <a:p>
            <a:pPr indent="0" fontAlgn="auto">
              <a:lnSpc>
                <a:spcPct val="120000"/>
              </a:lnSpc>
              <a:spcBef>
                <a:spcPts val="0"/>
              </a:spcBef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　　</a:t>
            </a:r>
            <a:r>
              <a:rPr lang="en-US" altLang="zh-CN" sz="22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【</a:t>
            </a:r>
            <a:r>
              <a:rPr lang="zh-CN" altLang="en-US" sz="22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算法分析</a:t>
            </a:r>
            <a:r>
              <a:rPr lang="en-US" altLang="zh-CN" sz="22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】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快速排序的时间主要耗费在划分操作上，对长度为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的区间进行划分，共需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n-1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次关键字的比较，时间复杂度为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O(n)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。</a:t>
            </a:r>
          </a:p>
          <a:p>
            <a:pPr indent="0" fontAlgn="auto">
              <a:lnSpc>
                <a:spcPct val="120000"/>
              </a:lnSpc>
              <a:spcBef>
                <a:spcPts val="0"/>
              </a:spcBef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　　对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个记录进行快速排序的过程构成一棵递归树，在这样的递归树中，每一层至多对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个记录进行划分，所花时间为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O(n)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。</a:t>
            </a:r>
          </a:p>
          <a:p>
            <a:pPr indent="0" fontAlgn="auto">
              <a:lnSpc>
                <a:spcPct val="120000"/>
              </a:lnSpc>
              <a:spcBef>
                <a:spcPts val="0"/>
              </a:spcBef>
            </a:pP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　　当初始排序数据正序或反序时，此时的递归树高度为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，快速排序呈现最坏情况，即最坏情况下的时间复杂度为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O(n</a:t>
            </a:r>
            <a:r>
              <a:rPr lang="en-US" altLang="zh-CN" sz="2200" b="1" baseline="30000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2</a:t>
            </a:r>
            <a:r>
              <a:rPr lang="en-US" altLang="zh-CN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)</a:t>
            </a:r>
            <a:r>
              <a:rPr lang="zh-CN" altLang="en-US" sz="2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；　　</a:t>
            </a:r>
          </a:p>
        </p:txBody>
      </p:sp>
    </p:spTree>
    <p:extLst>
      <p:ext uri="{BB962C8B-B14F-4D97-AF65-F5344CB8AC3E}">
        <p14:creationId xmlns:p14="http://schemas.microsoft.com/office/powerpoint/2010/main" val="37917292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Text Box 2"/>
          <p:cNvSpPr txBox="1">
            <a:spLocks noChangeArrowheads="1"/>
          </p:cNvSpPr>
          <p:nvPr/>
        </p:nvSpPr>
        <p:spPr bwMode="auto">
          <a:xfrm>
            <a:off x="414196" y="1687195"/>
            <a:ext cx="8096061" cy="348361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wrap="square" lIns="110045" tIns="55022" rIns="110045" bIns="55022">
            <a:no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　　</a:t>
            </a:r>
            <a:r>
              <a:rPr lang="en-US" altLang="zh-CN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【</a:t>
            </a:r>
            <a:r>
              <a:rPr lang="zh-CN" altLang="en-US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算法分析</a:t>
            </a:r>
            <a:r>
              <a:rPr lang="en-US" altLang="zh-CN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】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当初始排序数据随机分布，使每次分成的两个子区间中的记录个数大致相等，此时的递归树高度为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log</a:t>
            </a:r>
            <a:r>
              <a:rPr lang="en-US" altLang="zh-CN" sz="2400" b="1" baseline="-250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2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，快速排序呈现最好情况，即最好情况下的时间复杂度为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O(</a:t>
            </a:r>
            <a:r>
              <a:rPr lang="en-US" altLang="zh-CN" sz="2400" b="1" i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4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log</a:t>
            </a:r>
            <a:r>
              <a:rPr lang="en-US" altLang="zh-CN" sz="2400" b="1" baseline="-25000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2</a:t>
            </a:r>
            <a:r>
              <a:rPr lang="en-US" altLang="zh-CN" sz="2400" b="1" i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)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。快速排序算法的平均时间复杂度也是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O(</a:t>
            </a:r>
            <a:r>
              <a:rPr lang="en-US" altLang="zh-CN" sz="2400" b="1" i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4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log</a:t>
            </a:r>
            <a:r>
              <a:rPr lang="en-US" altLang="zh-CN" sz="2400" b="1" baseline="-25000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2</a:t>
            </a:r>
            <a:r>
              <a:rPr lang="en-US" altLang="zh-CN" sz="2400" b="1" i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)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。</a:t>
            </a:r>
          </a:p>
        </p:txBody>
      </p:sp>
      <p:sp>
        <p:nvSpPr>
          <p:cNvPr id="8" name="笑脸 7"/>
          <p:cNvSpPr/>
          <p:nvPr/>
        </p:nvSpPr>
        <p:spPr>
          <a:xfrm>
            <a:off x="7369521" y="6338547"/>
            <a:ext cx="362138" cy="351068"/>
          </a:xfrm>
          <a:prstGeom prst="smileyFace">
            <a:avLst/>
          </a:prstGeom>
          <a:solidFill>
            <a:srgbClr val="FFFF00"/>
          </a:solidFill>
          <a:ln>
            <a:solidFill>
              <a:srgbClr val="15295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4965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66750" y="1214120"/>
            <a:ext cx="8075295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en-US" altLang="zh-CN" sz="2400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主方法（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master method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）提供了解如下形式递归方程的一般方法：</a:t>
            </a:r>
          </a:p>
          <a:p>
            <a:pPr indent="0" fontAlgn="auto">
              <a:lnSpc>
                <a:spcPct val="150000"/>
              </a:lnSpc>
            </a:pP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         T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(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)=</a:t>
            </a:r>
            <a:r>
              <a:rPr lang="en-US" altLang="zh-CN" sz="2400" b="1" i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aT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(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/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b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)+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f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(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)		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（</a:t>
            </a:r>
            <a:r>
              <a:rPr lang="pt-BR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2.11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）</a:t>
            </a:r>
          </a:p>
          <a:p>
            <a:pPr indent="0" fontAlgn="auto">
              <a:lnSpc>
                <a:spcPct val="150000"/>
              </a:lnSpc>
            </a:pP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    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其中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a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≥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1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，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b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&gt;1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为常数，该方程描述了算法的执行时间，算法将规模为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n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的问题分解成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a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个子问题，每个子问题的大小为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/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b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。</a:t>
            </a:r>
            <a:endParaRPr lang="en-US" altLang="zh-CN" sz="24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     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例如，对于递归方程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T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(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)=3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T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(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/4)+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n</a:t>
            </a:r>
            <a:r>
              <a:rPr lang="en-US" altLang="zh-CN" sz="2400" b="1" baseline="300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2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，有：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a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=3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，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b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=4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，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f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(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)=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n</a:t>
            </a:r>
            <a:r>
              <a:rPr lang="en-US" altLang="zh-CN" sz="2400" b="1" baseline="300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2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。</a:t>
            </a:r>
          </a:p>
        </p:txBody>
      </p:sp>
      <p:sp>
        <p:nvSpPr>
          <p:cNvPr id="2" name="基础扎实 / Strong Preparation">
            <a:extLst>
              <a:ext uri="{FF2B5EF4-FFF2-40B4-BE49-F238E27FC236}">
                <a16:creationId xmlns:a16="http://schemas.microsoft.com/office/drawing/2014/main" id="{08EC30DC-8853-DC9B-9296-CF99F75BE6B8}"/>
              </a:ext>
            </a:extLst>
          </p:cNvPr>
          <p:cNvSpPr txBox="1"/>
          <p:nvPr/>
        </p:nvSpPr>
        <p:spPr>
          <a:xfrm>
            <a:off x="2603627" y="367980"/>
            <a:ext cx="5870237" cy="561660"/>
          </a:xfrm>
          <a:prstGeom prst="rect">
            <a:avLst/>
          </a:prstGeom>
          <a:noFill/>
          <a:ln>
            <a:noFill/>
          </a:ln>
        </p:spPr>
        <p:txBody>
          <a:bodyPr wrap="square" lIns="68549" tIns="34274" rIns="68549" bIns="34274" rtlCol="0">
            <a:spAutoFit/>
          </a:bodyPr>
          <a:lstStyle/>
          <a:p>
            <a:pPr algn="ctr" defTabSz="950595">
              <a:buClr>
                <a:prstClr val="white"/>
              </a:buClr>
              <a:buSzTx/>
              <a:buFontTx/>
              <a:defRPr/>
            </a:pPr>
            <a:r>
              <a:rPr lang="zh-CN" altLang="en-US" sz="3200" b="1" spc="50" dirty="0">
                <a:ln w="11430"/>
                <a:solidFill>
                  <a:srgbClr val="006600"/>
                </a:solidFill>
                <a:latin typeface="+mn-ea"/>
                <a:sym typeface="Arial" panose="020B0604020202020204" pitchFamily="34" charset="0"/>
              </a:rPr>
              <a:t>2.</a:t>
            </a:r>
            <a:r>
              <a:rPr lang="en-US" altLang="zh-CN" sz="3200" b="1" spc="50" dirty="0">
                <a:ln w="11430"/>
                <a:solidFill>
                  <a:srgbClr val="006600"/>
                </a:solidFill>
                <a:latin typeface="+mn-ea"/>
                <a:sym typeface="Arial" panose="020B0604020202020204" pitchFamily="34" charset="0"/>
              </a:rPr>
              <a:t>6</a:t>
            </a:r>
            <a:r>
              <a:rPr lang="zh-CN" altLang="en-US" sz="3200" b="1" spc="50" dirty="0">
                <a:ln w="11430"/>
                <a:solidFill>
                  <a:srgbClr val="006600"/>
                </a:solidFill>
                <a:latin typeface="+mn-ea"/>
                <a:sym typeface="Arial" panose="020B0604020202020204" pitchFamily="34" charset="0"/>
              </a:rPr>
              <a:t> 主方法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4330" y="1077595"/>
            <a:ext cx="8547100" cy="396938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主定理：设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a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≥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1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，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b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&gt;1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为常数，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f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(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)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为一个函数，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T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(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)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由（</a:t>
            </a:r>
            <a:r>
              <a:rPr lang="pt-BR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2.11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）的递归方程定义，其中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n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为非负整数，则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T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(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)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计算如下：</a:t>
            </a:r>
          </a:p>
          <a:p>
            <a:pPr indent="0" fontAlgn="auto">
              <a:lnSpc>
                <a:spcPct val="150000"/>
              </a:lnSpc>
            </a:pP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    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（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1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）若对某些常数ε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&gt;0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，有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f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(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)=               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，</a:t>
            </a:r>
          </a:p>
          <a:p>
            <a:pPr indent="0" fontAlgn="auto">
              <a:lnSpc>
                <a:spcPct val="150000"/>
              </a:lnSpc>
            </a:pP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那么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T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(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)=               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。</a:t>
            </a:r>
          </a:p>
          <a:p>
            <a:pPr indent="0" fontAlgn="auto">
              <a:lnSpc>
                <a:spcPct val="150000"/>
              </a:lnSpc>
            </a:pP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    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（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2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）若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f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(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)=          	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，那么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T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(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)=              	      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。</a:t>
            </a:r>
          </a:p>
          <a:p>
            <a:pPr indent="0" fontAlgn="auto">
              <a:lnSpc>
                <a:spcPct val="150000"/>
              </a:lnSpc>
            </a:pP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    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（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3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）若对某些常数ε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&gt;0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，有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f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(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)=            	 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，并且对常数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c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&lt;1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与所有足够大的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n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，有</a:t>
            </a:r>
            <a:r>
              <a:rPr lang="en-US" altLang="zh-CN" sz="2400" b="1" i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af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(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/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b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)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≤</a:t>
            </a:r>
            <a:r>
              <a:rPr lang="en-US" altLang="zh-CN" sz="2400" b="1" i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cf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(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)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，那么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T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(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)=O(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f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(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))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。</a:t>
            </a:r>
          </a:p>
        </p:txBody>
      </p:sp>
      <p:pic>
        <p:nvPicPr>
          <p:cNvPr id="148481" name="Picture 1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341620" y="2374265"/>
            <a:ext cx="1292225" cy="330835"/>
          </a:xfrm>
          <a:prstGeom prst="rect">
            <a:avLst/>
          </a:prstGeom>
          <a:solidFill>
            <a:srgbClr val="E6E6E6"/>
          </a:solidFill>
        </p:spPr>
      </p:pic>
      <p:pic>
        <p:nvPicPr>
          <p:cNvPr id="148485" name="Picture 5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922780" y="2945765"/>
            <a:ext cx="1148715" cy="357505"/>
          </a:xfrm>
          <a:prstGeom prst="rect">
            <a:avLst/>
          </a:prstGeom>
          <a:solidFill>
            <a:srgbClr val="E6E6E6"/>
          </a:solidFill>
        </p:spPr>
      </p:pic>
      <p:pic>
        <p:nvPicPr>
          <p:cNvPr id="148487" name="Picture 7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875020" y="3429000"/>
            <a:ext cx="1460500" cy="357505"/>
          </a:xfrm>
          <a:prstGeom prst="rect">
            <a:avLst/>
          </a:prstGeom>
          <a:solidFill>
            <a:srgbClr val="E6E6E6"/>
          </a:solidFill>
        </p:spPr>
      </p:pic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680970" y="3429000"/>
            <a:ext cx="1148715" cy="357505"/>
          </a:xfrm>
          <a:prstGeom prst="rect">
            <a:avLst/>
          </a:prstGeom>
          <a:solidFill>
            <a:srgbClr val="E6E6E6"/>
          </a:solidFill>
        </p:spPr>
      </p:pic>
      <p:pic>
        <p:nvPicPr>
          <p:cNvPr id="148489" name="Picture 9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177472" y="3974466"/>
            <a:ext cx="1395095" cy="356870"/>
          </a:xfrm>
          <a:prstGeom prst="rect">
            <a:avLst/>
          </a:prstGeom>
          <a:solidFill>
            <a:srgbClr val="E6E6E6"/>
          </a:solidFill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500" y="1356995"/>
            <a:ext cx="867283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lang="zh-CN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应用该定理的过程是，首先把函数</a:t>
            </a:r>
            <a:r>
              <a:rPr lang="en-US" altLang="zh-CN" sz="2400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f</a:t>
            </a:r>
            <a:r>
              <a:rPr lang="en-US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(</a:t>
            </a:r>
            <a:r>
              <a:rPr lang="en-US" altLang="zh-CN" sz="2400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n</a:t>
            </a:r>
            <a:r>
              <a:rPr lang="en-US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)</a:t>
            </a:r>
            <a:r>
              <a:rPr lang="zh-CN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与函数进行比较，递归方程的解由这两个函数中较大的一个决定：</a:t>
            </a:r>
          </a:p>
          <a:p>
            <a:pPr marL="457200" indent="0" fontAlgn="auto">
              <a:lnSpc>
                <a:spcPct val="150000"/>
              </a:lnSpc>
              <a:extLst>
                <a:ext uri="{35155182-B16C-46BC-9424-99874614C6A1}">
                  <wpsdc:marlchars xmlns:wpsdc="http://www.wps.cn/officeDocument/2017/drawingmlCustomData" xmlns="" val="200" checksum="2975741746"/>
                </a:ext>
              </a:extLst>
            </a:pPr>
            <a:r>
              <a:rPr lang="zh-CN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情况（</a:t>
            </a:r>
            <a:r>
              <a:rPr lang="en-US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1</a:t>
            </a:r>
            <a:r>
              <a:rPr lang="zh-CN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），函数</a:t>
            </a:r>
            <a:r>
              <a:rPr lang="en-US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             </a:t>
            </a:r>
            <a:r>
              <a:rPr lang="zh-CN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比函数</a:t>
            </a:r>
            <a:r>
              <a:rPr lang="en-US" altLang="zh-CN" sz="2400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f</a:t>
            </a:r>
            <a:r>
              <a:rPr lang="en-US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(</a:t>
            </a:r>
            <a:r>
              <a:rPr lang="en-US" altLang="zh-CN" sz="2400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n</a:t>
            </a:r>
            <a:r>
              <a:rPr lang="en-US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)</a:t>
            </a:r>
            <a:r>
              <a:rPr lang="zh-CN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更大，则</a:t>
            </a:r>
            <a:r>
              <a:rPr lang="en-US" altLang="zh-CN" sz="2400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T</a:t>
            </a:r>
            <a:r>
              <a:rPr lang="en-US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(</a:t>
            </a:r>
            <a:r>
              <a:rPr lang="en-US" altLang="zh-CN" sz="2400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n</a:t>
            </a:r>
            <a:r>
              <a:rPr lang="en-US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)=           	  </a:t>
            </a:r>
            <a:r>
              <a:rPr lang="zh-CN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。</a:t>
            </a:r>
          </a:p>
          <a:p>
            <a:pPr marL="457200" indent="0" fontAlgn="auto">
              <a:lnSpc>
                <a:spcPct val="150000"/>
              </a:lnSpc>
              <a:extLst>
                <a:ext uri="{35155182-B16C-46BC-9424-99874614C6A1}">
                  <wpsdc:marlchars xmlns:wpsdc="http://www.wps.cn/officeDocument/2017/drawingmlCustomData" xmlns="" val="200" checksum="2975741746"/>
                </a:ext>
              </a:extLst>
            </a:pPr>
            <a:r>
              <a:rPr lang="zh-CN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情况（</a:t>
            </a:r>
            <a:r>
              <a:rPr lang="en-US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2</a:t>
            </a:r>
            <a:r>
              <a:rPr lang="zh-CN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），函数</a:t>
            </a:r>
            <a:r>
              <a:rPr lang="en-US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             </a:t>
            </a:r>
            <a:r>
              <a:rPr lang="zh-CN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和函数</a:t>
            </a:r>
            <a:r>
              <a:rPr lang="en-US" altLang="zh-CN" sz="2400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f</a:t>
            </a:r>
            <a:r>
              <a:rPr lang="en-US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(</a:t>
            </a:r>
            <a:r>
              <a:rPr lang="en-US" altLang="zh-CN" sz="2400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n</a:t>
            </a:r>
            <a:r>
              <a:rPr lang="en-US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)</a:t>
            </a:r>
            <a:r>
              <a:rPr lang="zh-CN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一样大，则</a:t>
            </a:r>
            <a:r>
              <a:rPr lang="en-US" altLang="zh-CN" sz="2400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T</a:t>
            </a:r>
            <a:r>
              <a:rPr lang="en-US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(</a:t>
            </a:r>
            <a:r>
              <a:rPr lang="en-US" altLang="zh-CN" sz="2400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n</a:t>
            </a:r>
            <a:r>
              <a:rPr lang="en-US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)=                        </a:t>
            </a:r>
            <a:r>
              <a:rPr lang="zh-CN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。</a:t>
            </a:r>
          </a:p>
          <a:p>
            <a:pPr marL="457200" indent="0" fontAlgn="auto">
              <a:lnSpc>
                <a:spcPct val="150000"/>
              </a:lnSpc>
              <a:extLst>
                <a:ext uri="{35155182-B16C-46BC-9424-99874614C6A1}">
                  <wpsdc:marlchars xmlns:wpsdc="http://www.wps.cn/officeDocument/2017/drawingmlCustomData" xmlns="" val="200" checksum="2975741746"/>
                </a:ext>
              </a:extLst>
            </a:pPr>
            <a:r>
              <a:rPr lang="zh-CN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情况（</a:t>
            </a:r>
            <a:r>
              <a:rPr lang="en-US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3</a:t>
            </a:r>
            <a:r>
              <a:rPr lang="zh-CN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），函数</a:t>
            </a:r>
            <a:r>
              <a:rPr lang="en-US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               </a:t>
            </a:r>
            <a:r>
              <a:rPr lang="zh-CN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比函数</a:t>
            </a:r>
            <a:r>
              <a:rPr lang="en-US" altLang="zh-CN" sz="2400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f</a:t>
            </a:r>
            <a:r>
              <a:rPr lang="en-US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(</a:t>
            </a:r>
            <a:r>
              <a:rPr lang="en-US" altLang="zh-CN" sz="2400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n</a:t>
            </a:r>
            <a:r>
              <a:rPr lang="en-US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)</a:t>
            </a:r>
            <a:r>
              <a:rPr lang="zh-CN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小，则</a:t>
            </a:r>
            <a:r>
              <a:rPr lang="en-US" altLang="zh-CN" sz="2400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T</a:t>
            </a:r>
            <a:r>
              <a:rPr lang="en-US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(</a:t>
            </a:r>
            <a:r>
              <a:rPr lang="en-US" altLang="zh-CN" sz="2400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n</a:t>
            </a:r>
            <a:r>
              <a:rPr lang="en-US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)=O(</a:t>
            </a:r>
            <a:r>
              <a:rPr lang="en-US" altLang="zh-CN" sz="2400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f</a:t>
            </a:r>
            <a:r>
              <a:rPr lang="en-US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(</a:t>
            </a:r>
            <a:r>
              <a:rPr lang="en-US" altLang="zh-CN" sz="2400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n</a:t>
            </a:r>
            <a:r>
              <a:rPr lang="en-US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))</a:t>
            </a:r>
            <a:r>
              <a:rPr lang="zh-CN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。</a:t>
            </a:r>
          </a:p>
        </p:txBody>
      </p:sp>
      <p:sp>
        <p:nvSpPr>
          <p:cNvPr id="147458" name="Rectangle 2"/>
          <p:cNvSpPr>
            <a:spLocks noChangeArrowheads="1"/>
          </p:cNvSpPr>
          <p:nvPr/>
        </p:nvSpPr>
        <p:spPr bwMode="auto">
          <a:xfrm>
            <a:off x="1" y="46167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147457" name="Picture 1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078465" y="2625085"/>
            <a:ext cx="857256" cy="385765"/>
          </a:xfrm>
          <a:prstGeom prst="rect">
            <a:avLst/>
          </a:prstGeom>
          <a:solidFill>
            <a:srgbClr val="E6E6E6"/>
          </a:solidFill>
        </p:spPr>
      </p:pic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078465" y="3205797"/>
            <a:ext cx="857256" cy="385765"/>
          </a:xfrm>
          <a:prstGeom prst="rect">
            <a:avLst/>
          </a:prstGeom>
          <a:solidFill>
            <a:srgbClr val="E6E6E6"/>
          </a:solidFill>
        </p:spPr>
      </p:pic>
      <p:sp>
        <p:nvSpPr>
          <p:cNvPr id="147460" name="Rectangle 4"/>
          <p:cNvSpPr>
            <a:spLocks noChangeArrowheads="1"/>
          </p:cNvSpPr>
          <p:nvPr/>
        </p:nvSpPr>
        <p:spPr bwMode="auto">
          <a:xfrm>
            <a:off x="1" y="46167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147459" name="Picture 3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405392" y="2625084"/>
            <a:ext cx="1270009" cy="357190"/>
          </a:xfrm>
          <a:prstGeom prst="rect">
            <a:avLst/>
          </a:prstGeom>
          <a:solidFill>
            <a:srgbClr val="E6E6E6"/>
          </a:solidFill>
        </p:spPr>
      </p:pic>
      <p:sp>
        <p:nvSpPr>
          <p:cNvPr id="147462" name="Rectangle 6"/>
          <p:cNvSpPr>
            <a:spLocks noChangeArrowheads="1"/>
          </p:cNvSpPr>
          <p:nvPr/>
        </p:nvSpPr>
        <p:spPr bwMode="auto">
          <a:xfrm>
            <a:off x="1" y="46167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147461" name="Picture 5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678940" y="3718560"/>
            <a:ext cx="1714500" cy="371475"/>
          </a:xfrm>
          <a:prstGeom prst="rect">
            <a:avLst/>
          </a:prstGeom>
          <a:solidFill>
            <a:srgbClr val="E6E6E6"/>
          </a:solidFill>
        </p:spPr>
      </p:pic>
      <p:pic>
        <p:nvPicPr>
          <p:cNvPr id="10" name="Picture 1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173715" y="4284666"/>
            <a:ext cx="857256" cy="385765"/>
          </a:xfrm>
          <a:prstGeom prst="rect">
            <a:avLst/>
          </a:prstGeom>
          <a:solidFill>
            <a:srgbClr val="E6E6E6"/>
          </a:solidFill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83884" y="1071546"/>
            <a:ext cx="8096307" cy="590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【例</a:t>
            </a:r>
            <a:r>
              <a:rPr lang="en-US" altLang="zh-CN" sz="2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2.17</a:t>
            </a:r>
            <a:r>
              <a:rPr lang="zh-CN" altLang="zh-CN" sz="2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】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分析以下递归方程的时间复杂度：</a:t>
            </a:r>
          </a:p>
        </p:txBody>
      </p:sp>
      <p:sp>
        <p:nvSpPr>
          <p:cNvPr id="146434" name="Rectangle 2"/>
          <p:cNvSpPr>
            <a:spLocks noChangeArrowheads="1"/>
          </p:cNvSpPr>
          <p:nvPr/>
        </p:nvSpPr>
        <p:spPr bwMode="auto">
          <a:xfrm>
            <a:off x="1" y="46167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46436" name="Rectangle 4"/>
          <p:cNvSpPr>
            <a:spLocks noChangeArrowheads="1"/>
          </p:cNvSpPr>
          <p:nvPr/>
        </p:nvSpPr>
        <p:spPr bwMode="auto">
          <a:xfrm>
            <a:off x="1" y="46167"/>
            <a:ext cx="184731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952464" y="3296982"/>
            <a:ext cx="8286808" cy="2306955"/>
            <a:chOff x="928662" y="3357562"/>
            <a:chExt cx="8072494" cy="2306955"/>
          </a:xfrm>
        </p:grpSpPr>
        <p:sp>
          <p:nvSpPr>
            <p:cNvPr id="3" name="TextBox 2"/>
            <p:cNvSpPr txBox="1"/>
            <p:nvPr/>
          </p:nvSpPr>
          <p:spPr>
            <a:xfrm>
              <a:off x="928662" y="3357562"/>
              <a:ext cx="8072494" cy="23069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 fontAlgn="auto">
                <a:lnSpc>
                  <a:spcPct val="150000"/>
                </a:lnSpc>
              </a:pPr>
              <a:r>
                <a:rPr lang="zh-CN" altLang="zh-CN" sz="2400" b="1" dirty="0">
                  <a:solidFill>
                    <a:srgbClr val="0000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微软雅黑" panose="020B0503020204020204" charset="-122"/>
                </a:rPr>
                <a:t>解：这里</a:t>
              </a:r>
              <a:r>
                <a:rPr lang="en-US" altLang="zh-CN" sz="2400" b="1" i="1" dirty="0">
                  <a:solidFill>
                    <a:srgbClr val="0000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微软雅黑" panose="020B0503020204020204" charset="-122"/>
                </a:rPr>
                <a:t>a</a:t>
              </a:r>
              <a:r>
                <a:rPr lang="en-US" altLang="zh-CN" sz="2400" b="1" dirty="0">
                  <a:solidFill>
                    <a:srgbClr val="0000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微软雅黑" panose="020B0503020204020204" charset="-122"/>
                </a:rPr>
                <a:t>=4</a:t>
              </a:r>
              <a:r>
                <a:rPr lang="zh-CN" altLang="zh-CN" sz="2400" b="1" dirty="0">
                  <a:solidFill>
                    <a:srgbClr val="0000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微软雅黑" panose="020B0503020204020204" charset="-122"/>
                </a:rPr>
                <a:t>，</a:t>
              </a:r>
              <a:r>
                <a:rPr lang="en-US" altLang="zh-CN" sz="2400" b="1" i="1" dirty="0">
                  <a:solidFill>
                    <a:srgbClr val="0000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微软雅黑" panose="020B0503020204020204" charset="-122"/>
                </a:rPr>
                <a:t>b</a:t>
              </a:r>
              <a:r>
                <a:rPr lang="en-US" altLang="zh-CN" sz="2400" b="1" dirty="0">
                  <a:solidFill>
                    <a:srgbClr val="0000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微软雅黑" panose="020B0503020204020204" charset="-122"/>
                </a:rPr>
                <a:t>=2</a:t>
              </a:r>
              <a:r>
                <a:rPr lang="zh-CN" altLang="zh-CN" sz="2400" b="1" dirty="0">
                  <a:solidFill>
                    <a:srgbClr val="0000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微软雅黑" panose="020B0503020204020204" charset="-122"/>
                </a:rPr>
                <a:t>，</a:t>
              </a:r>
              <a:r>
                <a:rPr lang="en-US" altLang="zh-CN" sz="2400" b="1" i="1" dirty="0">
                  <a:solidFill>
                    <a:srgbClr val="0000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微软雅黑" panose="020B0503020204020204" charset="-122"/>
                </a:rPr>
                <a:t>f</a:t>
              </a:r>
              <a:r>
                <a:rPr lang="en-US" altLang="zh-CN" sz="2400" b="1" dirty="0">
                  <a:solidFill>
                    <a:srgbClr val="0000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微软雅黑" panose="020B0503020204020204" charset="-122"/>
                </a:rPr>
                <a:t>(</a:t>
              </a:r>
              <a:r>
                <a:rPr lang="en-US" altLang="zh-CN" sz="2400" b="1" i="1" dirty="0">
                  <a:solidFill>
                    <a:srgbClr val="0000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微软雅黑" panose="020B0503020204020204" charset="-122"/>
                </a:rPr>
                <a:t>n</a:t>
              </a:r>
              <a:r>
                <a:rPr lang="en-US" altLang="zh-CN" sz="2400" b="1" dirty="0">
                  <a:solidFill>
                    <a:srgbClr val="0000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微软雅黑" panose="020B0503020204020204" charset="-122"/>
                </a:rPr>
                <a:t>)=</a:t>
              </a:r>
              <a:r>
                <a:rPr lang="en-US" altLang="zh-CN" sz="2400" b="1" i="1" dirty="0">
                  <a:solidFill>
                    <a:srgbClr val="0000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微软雅黑" panose="020B0503020204020204" charset="-122"/>
                </a:rPr>
                <a:t>n</a:t>
              </a:r>
              <a:r>
                <a:rPr lang="zh-CN" altLang="zh-CN" sz="2400" b="1" dirty="0">
                  <a:solidFill>
                    <a:srgbClr val="0000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微软雅黑" panose="020B0503020204020204" charset="-122"/>
                </a:rPr>
                <a:t>。</a:t>
              </a:r>
              <a:endPara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endParaRPr>
            </a:p>
            <a:p>
              <a:pPr indent="0" fontAlgn="auto">
                <a:lnSpc>
                  <a:spcPct val="150000"/>
                </a:lnSpc>
              </a:pPr>
              <a:r>
                <a:rPr lang="zh-CN" altLang="zh-CN" sz="2400" b="1" dirty="0">
                  <a:solidFill>
                    <a:srgbClr val="0000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微软雅黑" panose="020B0503020204020204" charset="-122"/>
                </a:rPr>
                <a:t>因此，</a:t>
              </a:r>
              <a:r>
                <a:rPr lang="en-US" altLang="zh-CN" sz="2400" b="1" dirty="0">
                  <a:solidFill>
                    <a:srgbClr val="0000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微软雅黑" panose="020B0503020204020204" charset="-122"/>
                </a:rPr>
                <a:t>          =</a:t>
              </a:r>
              <a:r>
                <a:rPr lang="en-US" altLang="zh-CN" sz="2400" b="1" i="1" dirty="0">
                  <a:solidFill>
                    <a:srgbClr val="0000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微软雅黑" panose="020B0503020204020204" charset="-122"/>
                </a:rPr>
                <a:t>n</a:t>
              </a:r>
              <a:r>
                <a:rPr lang="en-US" altLang="zh-CN" sz="2400" b="1" baseline="30000" dirty="0">
                  <a:solidFill>
                    <a:srgbClr val="0000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微软雅黑" panose="020B0503020204020204" charset="-122"/>
                </a:rPr>
                <a:t>2</a:t>
              </a:r>
              <a:r>
                <a:rPr lang="zh-CN" altLang="zh-CN" sz="2400" b="1" dirty="0">
                  <a:solidFill>
                    <a:srgbClr val="0000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微软雅黑" panose="020B0503020204020204" charset="-122"/>
                </a:rPr>
                <a:t>，比</a:t>
              </a:r>
              <a:r>
                <a:rPr lang="en-US" altLang="zh-CN" sz="2400" b="1" i="1" dirty="0">
                  <a:solidFill>
                    <a:srgbClr val="0000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微软雅黑" panose="020B0503020204020204" charset="-122"/>
                </a:rPr>
                <a:t>f</a:t>
              </a:r>
              <a:r>
                <a:rPr lang="en-US" altLang="zh-CN" sz="2400" b="1" dirty="0">
                  <a:solidFill>
                    <a:srgbClr val="0000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微软雅黑" panose="020B0503020204020204" charset="-122"/>
                </a:rPr>
                <a:t>(</a:t>
              </a:r>
              <a:r>
                <a:rPr lang="en-US" altLang="zh-CN" sz="2400" b="1" i="1" dirty="0">
                  <a:solidFill>
                    <a:srgbClr val="0000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微软雅黑" panose="020B0503020204020204" charset="-122"/>
                </a:rPr>
                <a:t>n</a:t>
              </a:r>
              <a:r>
                <a:rPr lang="en-US" altLang="zh-CN" sz="2400" b="1" dirty="0">
                  <a:solidFill>
                    <a:srgbClr val="0000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微软雅黑" panose="020B0503020204020204" charset="-122"/>
                </a:rPr>
                <a:t>)</a:t>
              </a:r>
              <a:r>
                <a:rPr lang="zh-CN" altLang="zh-CN" sz="2400" b="1" dirty="0">
                  <a:solidFill>
                    <a:srgbClr val="0000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微软雅黑" panose="020B0503020204020204" charset="-122"/>
                </a:rPr>
                <a:t>大，满足情况（</a:t>
              </a:r>
              <a:r>
                <a:rPr lang="en-US" altLang="zh-CN" sz="2400" b="1" dirty="0">
                  <a:solidFill>
                    <a:srgbClr val="0000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微软雅黑" panose="020B0503020204020204" charset="-122"/>
                </a:rPr>
                <a:t>1</a:t>
              </a:r>
              <a:r>
                <a:rPr lang="zh-CN" altLang="zh-CN" sz="2400" b="1" dirty="0">
                  <a:solidFill>
                    <a:srgbClr val="0000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微软雅黑" panose="020B0503020204020204" charset="-122"/>
                </a:rPr>
                <a:t>），</a:t>
              </a:r>
              <a:endPara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endParaRPr>
            </a:p>
            <a:p>
              <a:pPr indent="0" fontAlgn="auto">
                <a:lnSpc>
                  <a:spcPct val="150000"/>
                </a:lnSpc>
              </a:pPr>
              <a:r>
                <a:rPr lang="zh-CN" altLang="zh-CN" sz="2400" b="1" dirty="0">
                  <a:solidFill>
                    <a:srgbClr val="0000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微软雅黑" panose="020B0503020204020204" charset="-122"/>
                </a:rPr>
                <a:t>所以</a:t>
              </a:r>
              <a:r>
                <a:rPr lang="en-US" altLang="zh-CN" sz="2400" b="1" i="1" dirty="0">
                  <a:solidFill>
                    <a:srgbClr val="0000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微软雅黑" panose="020B0503020204020204" charset="-122"/>
                </a:rPr>
                <a:t>T</a:t>
              </a:r>
              <a:r>
                <a:rPr lang="en-US" altLang="zh-CN" sz="2400" b="1" dirty="0">
                  <a:solidFill>
                    <a:srgbClr val="0000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微软雅黑" panose="020B0503020204020204" charset="-122"/>
                </a:rPr>
                <a:t>(</a:t>
              </a:r>
              <a:r>
                <a:rPr lang="en-US" altLang="zh-CN" sz="2400" b="1" i="1" dirty="0">
                  <a:solidFill>
                    <a:srgbClr val="0000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微软雅黑" panose="020B0503020204020204" charset="-122"/>
                </a:rPr>
                <a:t>n</a:t>
              </a:r>
              <a:r>
                <a:rPr lang="en-US" altLang="zh-CN" sz="2400" b="1" dirty="0">
                  <a:solidFill>
                    <a:srgbClr val="0000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微软雅黑" panose="020B0503020204020204" charset="-122"/>
                </a:rPr>
                <a:t>)=</a:t>
              </a:r>
            </a:p>
            <a:p>
              <a:pPr indent="0" fontAlgn="auto">
                <a:lnSpc>
                  <a:spcPct val="150000"/>
                </a:lnSpc>
              </a:pPr>
              <a:r>
                <a:rPr lang="en-US" altLang="zh-CN" sz="2400" b="1" dirty="0">
                  <a:solidFill>
                    <a:srgbClr val="0000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微软雅黑" panose="020B0503020204020204" charset="-122"/>
                </a:rPr>
                <a:t>        =O(</a:t>
              </a:r>
              <a:r>
                <a:rPr lang="en-US" altLang="zh-CN" sz="2400" b="1" i="1" dirty="0">
                  <a:solidFill>
                    <a:srgbClr val="0000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微软雅黑" panose="020B0503020204020204" charset="-122"/>
                </a:rPr>
                <a:t>n</a:t>
              </a:r>
              <a:r>
                <a:rPr lang="en-US" altLang="zh-CN" sz="2400" b="1" baseline="30000" dirty="0">
                  <a:solidFill>
                    <a:srgbClr val="0000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微软雅黑" panose="020B0503020204020204" charset="-122"/>
                </a:rPr>
                <a:t>2</a:t>
              </a:r>
              <a:r>
                <a:rPr lang="en-US" altLang="zh-CN" sz="2400" b="1" dirty="0">
                  <a:solidFill>
                    <a:srgbClr val="0000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微软雅黑" panose="020B0503020204020204" charset="-122"/>
                </a:rPr>
                <a:t>)</a:t>
              </a:r>
              <a:r>
                <a:rPr lang="zh-CN" altLang="zh-CN" sz="2400" b="1" dirty="0">
                  <a:solidFill>
                    <a:srgbClr val="0000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微软雅黑" panose="020B0503020204020204" charset="-122"/>
                </a:rPr>
                <a:t>。</a:t>
              </a: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1812819" y="4111569"/>
              <a:ext cx="1669351" cy="858685"/>
              <a:chOff x="1812819" y="4111569"/>
              <a:chExt cx="1669351" cy="858685"/>
            </a:xfrm>
          </p:grpSpPr>
          <p:pic>
            <p:nvPicPr>
              <p:cNvPr id="146433" name="Picture 1"/>
              <p:cNvPicPr>
                <a:picLocks noChangeAspect="1" noChangeArrowheads="1"/>
              </p:cNvPicPr>
              <p:nvPr/>
            </p:nvPicPr>
            <p:blipFill>
              <a:blip r:embed="rId4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/>
              <a:stretch>
                <a:fillRect/>
              </a:stretch>
            </p:blipFill>
            <p:spPr bwMode="auto">
              <a:xfrm>
                <a:off x="1812819" y="4111569"/>
                <a:ext cx="741478" cy="342902"/>
              </a:xfrm>
              <a:prstGeom prst="rect">
                <a:avLst/>
              </a:prstGeom>
              <a:solidFill>
                <a:srgbClr val="E6E6E6"/>
              </a:solidFill>
            </p:spPr>
          </p:pic>
          <p:pic>
            <p:nvPicPr>
              <p:cNvPr id="146435" name="Picture 3"/>
              <p:cNvPicPr>
                <a:picLocks noChangeAspect="1" noChangeArrowheads="1"/>
              </p:cNvPicPr>
              <p:nvPr/>
            </p:nvPicPr>
            <p:blipFill>
              <a:blip r:embed="rId5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/>
              <a:stretch>
                <a:fillRect/>
              </a:stretch>
            </p:blipFill>
            <p:spPr bwMode="auto">
              <a:xfrm>
                <a:off x="2427023" y="4648783"/>
                <a:ext cx="1055147" cy="321471"/>
              </a:xfrm>
              <a:prstGeom prst="rect">
                <a:avLst/>
              </a:prstGeom>
              <a:solidFill>
                <a:srgbClr val="E6E6E6"/>
              </a:solidFill>
            </p:spPr>
          </p:pic>
        </p:grpSp>
      </p:grpSp>
      <p:sp>
        <p:nvSpPr>
          <p:cNvPr id="10" name="TextBox 9"/>
          <p:cNvSpPr txBox="1"/>
          <p:nvPr/>
        </p:nvSpPr>
        <p:spPr>
          <a:xfrm>
            <a:off x="1074385" y="1857364"/>
            <a:ext cx="5524539" cy="119451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180000" tIns="180000" bIns="18000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i="1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T</a:t>
            </a:r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(</a:t>
            </a:r>
            <a:r>
              <a:rPr lang="en-US" altLang="zh-CN" sz="1800" i="1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n</a:t>
            </a:r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)=1			</a:t>
            </a:r>
            <a:r>
              <a:rPr lang="zh-CN" altLang="zh-CN" sz="18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当</a:t>
            </a:r>
            <a:r>
              <a:rPr lang="en-US" altLang="zh-CN" sz="1800" i="1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n</a:t>
            </a:r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=1</a:t>
            </a:r>
            <a:endParaRPr lang="zh-CN" altLang="zh-CN" sz="1800">
              <a:solidFill>
                <a:srgbClr val="0000FF"/>
              </a:solidFill>
              <a:latin typeface="Consolas" panose="020B0609020204030204" pitchFamily="49" charset="0"/>
              <a:ea typeface="楷体" panose="02010609060101010101" pitchFamily="49" charset="-122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 i="1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T</a:t>
            </a:r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(</a:t>
            </a:r>
            <a:r>
              <a:rPr lang="en-US" altLang="zh-CN" sz="1800" i="1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n</a:t>
            </a:r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)=4</a:t>
            </a:r>
            <a:r>
              <a:rPr lang="en-US" altLang="zh-CN" sz="1800" i="1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T</a:t>
            </a:r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(</a:t>
            </a:r>
            <a:r>
              <a:rPr lang="en-US" altLang="zh-CN" sz="1800" i="1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n</a:t>
            </a:r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/2)+</a:t>
            </a:r>
            <a:r>
              <a:rPr lang="en-US" altLang="zh-CN" sz="1800" i="1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n</a:t>
            </a:r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		</a:t>
            </a:r>
            <a:r>
              <a:rPr lang="zh-CN" altLang="zh-CN" sz="18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当</a:t>
            </a:r>
            <a:r>
              <a:rPr lang="en-US" altLang="zh-CN" sz="1800" i="1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n</a:t>
            </a:r>
            <a:r>
              <a:rPr lang="en-US" altLang="zh-CN" sz="18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&gt;1</a:t>
            </a:r>
            <a:endParaRPr lang="zh-CN" altLang="en-US" sz="1800">
              <a:solidFill>
                <a:srgbClr val="0000FF"/>
              </a:solidFill>
              <a:latin typeface="Consolas" panose="020B0609020204030204" pitchFamily="49" charset="0"/>
              <a:ea typeface="楷体" panose="02010609060101010101" pitchFamily="49" charset="-122"/>
              <a:cs typeface="Consolas" panose="020B0609020204030204" pitchFamily="49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1701" y="1293773"/>
            <a:ext cx="10001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【例</a:t>
            </a:r>
            <a:r>
              <a:rPr lang="en-US" altLang="zh-CN" sz="2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2.18</a:t>
            </a:r>
            <a:r>
              <a:rPr lang="zh-CN" altLang="zh-CN" sz="2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】</a:t>
            </a:r>
            <a:r>
              <a:rPr lang="zh-CN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采用主方法求例</a:t>
            </a:r>
            <a:r>
              <a:rPr lang="en-US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2.15</a:t>
            </a:r>
            <a:r>
              <a:rPr lang="zh-CN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递归方程的时间复杂度。</a:t>
            </a: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1068917" y="2079590"/>
            <a:ext cx="6572295" cy="119451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180000" tIns="180000" bIns="18000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T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(</a:t>
            </a:r>
            <a:r>
              <a:rPr lang="en-US" altLang="zh-CN" sz="1800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n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)=1				</a:t>
            </a:r>
            <a:r>
              <a:rPr lang="zh-CN" altLang="en-US" sz="18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当</a:t>
            </a:r>
            <a:r>
              <a:rPr lang="en-US" altLang="zh-CN" sz="1800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n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=1</a:t>
            </a:r>
            <a:endParaRPr lang="en-US" altLang="zh-CN" sz="1800" i="1" dirty="0">
              <a:solidFill>
                <a:srgbClr val="0000FF"/>
              </a:solidFill>
              <a:latin typeface="Consolas" panose="020B0609020204030204" pitchFamily="49" charset="0"/>
              <a:ea typeface="楷体" panose="02010609060101010101" pitchFamily="49" charset="-122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T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(</a:t>
            </a:r>
            <a:r>
              <a:rPr lang="en-US" altLang="zh-CN" sz="1800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n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)=</a:t>
            </a:r>
            <a:r>
              <a:rPr lang="en-US" altLang="zh-CN" sz="1800" dirty="0" err="1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2</a:t>
            </a:r>
            <a:r>
              <a:rPr lang="en-US" altLang="zh-CN" sz="1800" i="1" dirty="0" err="1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T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(</a:t>
            </a:r>
            <a:r>
              <a:rPr lang="en-US" altLang="zh-CN" sz="1800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n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/2)+</a:t>
            </a:r>
            <a:r>
              <a:rPr lang="en-US" altLang="zh-CN" sz="1800" i="1" dirty="0" err="1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n</a:t>
            </a:r>
            <a:r>
              <a:rPr lang="en-US" altLang="zh-CN" sz="1800" baseline="30000" dirty="0" err="1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2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		</a:t>
            </a:r>
            <a:r>
              <a:rPr lang="zh-CN" altLang="en-US" sz="18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当</a:t>
            </a:r>
            <a:r>
              <a:rPr lang="en-US" altLang="zh-CN" sz="1800" i="1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n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&gt;1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531700" y="3436913"/>
            <a:ext cx="8288020" cy="1753235"/>
            <a:chOff x="500034" y="2571744"/>
            <a:chExt cx="6216015" cy="1753235"/>
          </a:xfrm>
        </p:grpSpPr>
        <p:sp>
          <p:nvSpPr>
            <p:cNvPr id="4" name="TextBox 3"/>
            <p:cNvSpPr txBox="1"/>
            <p:nvPr/>
          </p:nvSpPr>
          <p:spPr>
            <a:xfrm>
              <a:off x="500034" y="2571744"/>
              <a:ext cx="6216015" cy="17532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 algn="l" fontAlgn="auto">
                <a:lnSpc>
                  <a:spcPct val="150000"/>
                </a:lnSpc>
                <a:buClrTx/>
                <a:buSzTx/>
                <a:buFontTx/>
              </a:pPr>
              <a:r>
                <a:rPr lang="en-US" altLang="zh-CN" sz="24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</a:t>
              </a:r>
              <a:r>
                <a:rPr lang="zh-CN" altLang="zh-CN" sz="2400" b="1" dirty="0">
                  <a:solidFill>
                    <a:srgbClr val="0000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微软雅黑" panose="020B0503020204020204" charset="-122"/>
                </a:rPr>
                <a:t>解：这里a=2，b=2，f(n)=n</a:t>
              </a:r>
              <a:r>
                <a:rPr lang="zh-CN" altLang="zh-CN" sz="2400" b="1" baseline="30000" dirty="0">
                  <a:solidFill>
                    <a:srgbClr val="0000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微软雅黑" panose="020B0503020204020204" charset="-122"/>
                </a:rPr>
                <a:t>2</a:t>
              </a:r>
              <a:r>
                <a:rPr lang="zh-CN" altLang="zh-CN" sz="2400" b="1" dirty="0">
                  <a:solidFill>
                    <a:srgbClr val="0000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微软雅黑" panose="020B0503020204020204" charset="-122"/>
                </a:rPr>
                <a:t>。因此，   </a:t>
              </a:r>
              <a:r>
                <a:rPr lang="en-US" altLang="zh-CN" sz="2400" b="1" dirty="0">
                  <a:solidFill>
                    <a:srgbClr val="0000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微软雅黑" panose="020B0503020204020204" charset="-122"/>
                </a:rPr>
                <a:t>     </a:t>
              </a:r>
              <a:r>
                <a:rPr lang="zh-CN" altLang="zh-CN" sz="2400" b="1" dirty="0">
                  <a:solidFill>
                    <a:srgbClr val="0000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微软雅黑" panose="020B0503020204020204" charset="-122"/>
                </a:rPr>
                <a:t>=n，比f(n)小，满足情况（3），所以T(n)=O(f(n)) =O(n</a:t>
              </a:r>
              <a:r>
                <a:rPr lang="zh-CN" altLang="zh-CN" sz="2400" b="1" baseline="30000" dirty="0">
                  <a:solidFill>
                    <a:srgbClr val="0000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微软雅黑" panose="020B0503020204020204" charset="-122"/>
                </a:rPr>
                <a:t>2</a:t>
              </a:r>
              <a:r>
                <a:rPr lang="zh-CN" altLang="zh-CN" sz="2400" b="1" dirty="0">
                  <a:solidFill>
                    <a:srgbClr val="0000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微软雅黑" panose="020B0503020204020204" charset="-122"/>
                </a:rPr>
                <a:t>)，与采用递归树的结果相同。</a:t>
              </a:r>
            </a:p>
          </p:txBody>
        </p:sp>
        <p:pic>
          <p:nvPicPr>
            <p:cNvPr id="145409" name="Picture 1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4606293" y="2734306"/>
              <a:ext cx="642910" cy="385746"/>
            </a:xfrm>
            <a:prstGeom prst="rect">
              <a:avLst/>
            </a:prstGeom>
            <a:solidFill>
              <a:srgbClr val="E6E6E6"/>
            </a:solidFill>
          </p:spPr>
        </p:pic>
      </p:grpSp>
      <p:sp>
        <p:nvSpPr>
          <p:cNvPr id="8" name="笑脸 7"/>
          <p:cNvSpPr/>
          <p:nvPr/>
        </p:nvSpPr>
        <p:spPr>
          <a:xfrm>
            <a:off x="7369521" y="6338547"/>
            <a:ext cx="362138" cy="351068"/>
          </a:xfrm>
          <a:prstGeom prst="smileyFace">
            <a:avLst/>
          </a:prstGeom>
          <a:solidFill>
            <a:srgbClr val="FFFF00"/>
          </a:solidFill>
          <a:ln>
            <a:solidFill>
              <a:srgbClr val="15295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1" name="Text Box 3"/>
          <p:cNvSpPr txBox="1">
            <a:spLocks noChangeArrowheads="1"/>
          </p:cNvSpPr>
          <p:nvPr/>
        </p:nvSpPr>
        <p:spPr bwMode="auto">
          <a:xfrm>
            <a:off x="626110" y="1125855"/>
            <a:ext cx="8084820" cy="45408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10045" tIns="55022" rIns="110045" bIns="55022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　　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归并排序的基本思想是：首先将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[</a:t>
            </a:r>
            <a:r>
              <a:rPr lang="en-US" altLang="zh-CN" sz="24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0..</a:t>
            </a:r>
            <a:r>
              <a:rPr lang="en-US" altLang="zh-CN" sz="2400" b="1" i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-1]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看成是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个长度为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1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的有序表，将相邻的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k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（</a:t>
            </a:r>
            <a:r>
              <a:rPr lang="en-US" altLang="zh-CN" sz="2400" b="1" i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k</a:t>
            </a:r>
            <a:r>
              <a:rPr lang="en-US" altLang="zh-CN" sz="24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≥2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）个有序子表成对归并，得到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/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k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个长度为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k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的有序子表；然后再将这些有序子表继续归并，得到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/</a:t>
            </a:r>
            <a:r>
              <a:rPr lang="en-US" altLang="zh-CN" sz="2400" b="1" i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k</a:t>
            </a:r>
            <a:r>
              <a:rPr lang="en-US" altLang="zh-CN" sz="2400" b="1" baseline="30000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2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个长度为</a:t>
            </a:r>
            <a:r>
              <a:rPr lang="en-US" altLang="zh-CN" sz="2400" b="1" i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k</a:t>
            </a:r>
            <a:r>
              <a:rPr lang="en-US" altLang="zh-CN" sz="2400" b="1" baseline="30000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2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的有序子表，如此反复进行下去，最后得到一个长度为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的有序表。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若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k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=2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，即归并在相邻的两个有序子表中进行的，称为二路归并排序。若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k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&gt;2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，即归并操作在相邻的多个有序子表中进行，则叫多路归并排序。 </a:t>
            </a:r>
          </a:p>
        </p:txBody>
      </p:sp>
      <p:sp>
        <p:nvSpPr>
          <p:cNvPr id="3" name="基础扎实 / Strong Preparation">
            <a:extLst>
              <a:ext uri="{FF2B5EF4-FFF2-40B4-BE49-F238E27FC236}">
                <a16:creationId xmlns:a16="http://schemas.microsoft.com/office/drawing/2014/main" id="{BA0C422B-72D2-2BE4-5DF3-7F2463F80F0B}"/>
              </a:ext>
            </a:extLst>
          </p:cNvPr>
          <p:cNvSpPr txBox="1"/>
          <p:nvPr/>
        </p:nvSpPr>
        <p:spPr>
          <a:xfrm>
            <a:off x="2603627" y="367980"/>
            <a:ext cx="5870237" cy="561660"/>
          </a:xfrm>
          <a:prstGeom prst="rect">
            <a:avLst/>
          </a:prstGeom>
          <a:noFill/>
          <a:ln>
            <a:noFill/>
          </a:ln>
        </p:spPr>
        <p:txBody>
          <a:bodyPr wrap="square" lIns="68549" tIns="34274" rIns="68549" bIns="34274" rtlCol="0">
            <a:spAutoFit/>
          </a:bodyPr>
          <a:lstStyle/>
          <a:p>
            <a:pPr algn="ctr" defTabSz="950595">
              <a:buClr>
                <a:prstClr val="white"/>
              </a:buClr>
              <a:buSzTx/>
              <a:buFontTx/>
              <a:defRPr/>
            </a:pPr>
            <a:r>
              <a:rPr lang="zh-CN" altLang="en-US" sz="3200" b="1" spc="50" dirty="0">
                <a:ln w="11430"/>
                <a:solidFill>
                  <a:srgbClr val="006600"/>
                </a:solidFill>
                <a:latin typeface="+mn-ea"/>
                <a:sym typeface="Arial" panose="020B0604020202020204" pitchFamily="34" charset="0"/>
              </a:rPr>
              <a:t>2.</a:t>
            </a:r>
            <a:r>
              <a:rPr lang="en-US" altLang="zh-CN" sz="3200" b="1" spc="50" dirty="0">
                <a:ln w="11430"/>
                <a:solidFill>
                  <a:srgbClr val="006600"/>
                </a:solidFill>
                <a:latin typeface="+mn-ea"/>
                <a:sym typeface="Arial" panose="020B0604020202020204" pitchFamily="34" charset="0"/>
              </a:rPr>
              <a:t>7</a:t>
            </a:r>
            <a:r>
              <a:rPr lang="zh-CN" altLang="en-US" sz="3200" b="1" spc="50" dirty="0">
                <a:ln w="11430"/>
                <a:solidFill>
                  <a:srgbClr val="006600"/>
                </a:solidFill>
                <a:latin typeface="+mn-ea"/>
                <a:sym typeface="Arial" panose="020B0604020202020204" pitchFamily="34" charset="0"/>
              </a:rPr>
              <a:t> 归并排序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7" name="Text Box 3"/>
          <p:cNvSpPr txBox="1">
            <a:spLocks noChangeArrowheads="1"/>
          </p:cNvSpPr>
          <p:nvPr/>
        </p:nvSpPr>
        <p:spPr bwMode="auto">
          <a:xfrm>
            <a:off x="513080" y="1791970"/>
            <a:ext cx="8322310" cy="847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10045" tIns="55022" rIns="110045" bIns="55022">
            <a:spAutoFit/>
          </a:bodyPr>
          <a:lstStyle/>
          <a:p>
            <a:pPr indent="0" fontAlgn="auto">
              <a:lnSpc>
                <a:spcPct val="100000"/>
              </a:lnSpc>
              <a:spcBef>
                <a:spcPts val="0"/>
              </a:spcBef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　　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例如，对于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{2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5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1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7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10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6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9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4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3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8}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序列，其排序过程如下图所示，图中方括号内是一个有序子序列。</a:t>
            </a:r>
          </a:p>
        </p:txBody>
      </p:sp>
      <p:sp>
        <p:nvSpPr>
          <p:cNvPr id="195589" name="Rectangle 5"/>
          <p:cNvSpPr>
            <a:spLocks noChangeArrowheads="1"/>
          </p:cNvSpPr>
          <p:nvPr/>
        </p:nvSpPr>
        <p:spPr bwMode="auto">
          <a:xfrm>
            <a:off x="146862" y="2496630"/>
            <a:ext cx="346710" cy="4933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110045" tIns="55022" rIns="110045" bIns="55022" anchor="ctr">
            <a:spAutoFit/>
          </a:bodyPr>
          <a:lstStyle/>
          <a:p>
            <a:endParaRPr lang="zh-CN" altLang="en-US" sz="250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7404913" y="3099509"/>
            <a:ext cx="958548" cy="2780773"/>
            <a:chOff x="6072198" y="2581228"/>
            <a:chExt cx="719138" cy="2780643"/>
          </a:xfrm>
        </p:grpSpPr>
        <p:sp>
          <p:nvSpPr>
            <p:cNvPr id="195590" name="Text Box 6"/>
            <p:cNvSpPr txBox="1">
              <a:spLocks noChangeArrowheads="1"/>
            </p:cNvSpPr>
            <p:nvPr/>
          </p:nvSpPr>
          <p:spPr bwMode="auto">
            <a:xfrm>
              <a:off x="6072198" y="2581228"/>
              <a:ext cx="719138" cy="47559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500" b="1" dirty="0">
                  <a:solidFill>
                    <a:srgbClr val="0000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Consolas" panose="020B0609020204030204" pitchFamily="49" charset="0"/>
                </a:rPr>
                <a:t>底</a:t>
              </a:r>
            </a:p>
          </p:txBody>
        </p:sp>
        <p:sp>
          <p:nvSpPr>
            <p:cNvPr id="195591" name="Text Box 7"/>
            <p:cNvSpPr txBox="1">
              <a:spLocks noChangeArrowheads="1"/>
            </p:cNvSpPr>
            <p:nvPr/>
          </p:nvSpPr>
          <p:spPr bwMode="auto">
            <a:xfrm>
              <a:off x="6072198" y="4886278"/>
              <a:ext cx="719138" cy="47559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500" dirty="0">
                  <a:solidFill>
                    <a:srgbClr val="0000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Consolas" panose="020B0609020204030204" pitchFamily="49" charset="0"/>
                </a:rPr>
                <a:t>顶</a:t>
              </a:r>
            </a:p>
          </p:txBody>
        </p:sp>
        <p:sp>
          <p:nvSpPr>
            <p:cNvPr id="195592" name="AutoShape 8"/>
            <p:cNvSpPr>
              <a:spLocks noChangeArrowheads="1"/>
            </p:cNvSpPr>
            <p:nvPr/>
          </p:nvSpPr>
          <p:spPr bwMode="auto">
            <a:xfrm>
              <a:off x="6188110" y="3163835"/>
              <a:ext cx="215900" cy="1655762"/>
            </a:xfrm>
            <a:prstGeom prst="downArrow">
              <a:avLst>
                <a:gd name="adj1" fmla="val 50000"/>
                <a:gd name="adj2" fmla="val 191728"/>
              </a:avLst>
            </a:prstGeom>
            <a:solidFill>
              <a:schemeClr val="bg1"/>
            </a:solidFill>
            <a:ln w="9525">
              <a:solidFill>
                <a:srgbClr val="CC3300"/>
              </a:solidFill>
              <a:miter lim="800000"/>
            </a:ln>
            <a:effectLst/>
          </p:spPr>
          <p:txBody>
            <a:bodyPr vert="eaVert" wrap="none" anchor="ctr"/>
            <a:lstStyle/>
            <a:p>
              <a:endParaRPr lang="zh-CN" altLang="en-US" sz="250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endParaRPr>
            </a:p>
          </p:txBody>
        </p:sp>
      </p:grpSp>
      <p:sp>
        <p:nvSpPr>
          <p:cNvPr id="9" name="圆角矩形 8"/>
          <p:cNvSpPr/>
          <p:nvPr/>
        </p:nvSpPr>
        <p:spPr>
          <a:xfrm>
            <a:off x="834390" y="2651125"/>
            <a:ext cx="6094095" cy="431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0045" tIns="55022" rIns="110045" bIns="55022" rtlCol="0" anchor="ctr"/>
          <a:lstStyle/>
          <a:p>
            <a:pPr algn="ctr"/>
            <a:r>
              <a:rPr lang="en-US" altLang="zh-CN" sz="25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2</a:t>
            </a:r>
            <a:r>
              <a:rPr lang="zh-CN" altLang="zh-CN" sz="25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，</a:t>
            </a:r>
            <a:r>
              <a:rPr lang="en-US" altLang="zh-CN" sz="25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5</a:t>
            </a:r>
            <a:r>
              <a:rPr lang="zh-CN" altLang="zh-CN" sz="25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，</a:t>
            </a:r>
            <a:r>
              <a:rPr lang="en-US" altLang="zh-CN" sz="25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 1</a:t>
            </a:r>
            <a:r>
              <a:rPr lang="zh-CN" altLang="zh-CN" sz="25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，</a:t>
            </a:r>
            <a:r>
              <a:rPr lang="en-US" altLang="zh-CN" sz="25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7</a:t>
            </a:r>
            <a:r>
              <a:rPr lang="zh-CN" altLang="zh-CN" sz="25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，</a:t>
            </a:r>
            <a:r>
              <a:rPr lang="en-US" altLang="zh-CN" sz="25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10</a:t>
            </a:r>
            <a:r>
              <a:rPr lang="zh-CN" altLang="zh-CN" sz="25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，</a:t>
            </a:r>
            <a:r>
              <a:rPr lang="en-US" altLang="zh-CN" sz="25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6</a:t>
            </a:r>
            <a:r>
              <a:rPr lang="zh-CN" altLang="zh-CN" sz="25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，</a:t>
            </a:r>
            <a:r>
              <a:rPr lang="en-US" altLang="zh-CN" sz="25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 9</a:t>
            </a:r>
            <a:r>
              <a:rPr lang="zh-CN" altLang="zh-CN" sz="25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，</a:t>
            </a:r>
            <a:r>
              <a:rPr lang="en-US" altLang="zh-CN" sz="25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4</a:t>
            </a:r>
            <a:r>
              <a:rPr lang="zh-CN" altLang="zh-CN" sz="25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，</a:t>
            </a:r>
            <a:r>
              <a:rPr lang="en-US" altLang="zh-CN" sz="25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 3</a:t>
            </a:r>
            <a:r>
              <a:rPr lang="zh-CN" altLang="zh-CN" sz="25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，</a:t>
            </a:r>
            <a:r>
              <a:rPr lang="en-US" altLang="zh-CN" sz="25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8</a:t>
            </a:r>
            <a:endParaRPr lang="zh-CN" altLang="en-US" sz="250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 pitchFamily="49" charset="0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5786163" y="4233085"/>
            <a:ext cx="1142647" cy="4320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0045" tIns="55022" rIns="110045" bIns="55022" rtlCol="0" anchor="ctr"/>
          <a:lstStyle/>
          <a:p>
            <a:pPr algn="ctr"/>
            <a:r>
              <a:rPr lang="en-US" altLang="zh-CN" sz="25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3</a:t>
            </a:r>
            <a:r>
              <a:rPr lang="zh-CN" altLang="zh-CN" sz="25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，</a:t>
            </a:r>
            <a:r>
              <a:rPr lang="en-US" altLang="zh-CN" sz="25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8</a:t>
            </a:r>
            <a:endParaRPr lang="zh-CN" altLang="en-US" sz="250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 pitchFamily="49" charset="0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5786163" y="5018940"/>
            <a:ext cx="1142647" cy="4320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0045" tIns="55022" rIns="110045" bIns="55022" rtlCol="0" anchor="ctr"/>
          <a:lstStyle/>
          <a:p>
            <a:pPr algn="ctr"/>
            <a:r>
              <a:rPr lang="en-US" altLang="zh-CN" sz="25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3</a:t>
            </a:r>
            <a:r>
              <a:rPr lang="zh-CN" altLang="zh-CN" sz="25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，</a:t>
            </a:r>
            <a:r>
              <a:rPr lang="en-US" altLang="zh-CN" sz="25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8</a:t>
            </a:r>
            <a:endParaRPr lang="zh-CN" altLang="en-US" sz="250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 pitchFamily="49" charset="0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834688" y="3161466"/>
            <a:ext cx="1142647" cy="717785"/>
            <a:chOff x="1142976" y="2643182"/>
            <a:chExt cx="857256" cy="717752"/>
          </a:xfrm>
        </p:grpSpPr>
        <p:sp>
          <p:nvSpPr>
            <p:cNvPr id="10" name="圆角矩形 9"/>
            <p:cNvSpPr/>
            <p:nvPr/>
          </p:nvSpPr>
          <p:spPr>
            <a:xfrm>
              <a:off x="1142976" y="2928934"/>
              <a:ext cx="857256" cy="4320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5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2</a:t>
              </a:r>
              <a:r>
                <a:rPr lang="zh-CN" altLang="zh-CN" sz="25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，</a:t>
              </a:r>
              <a:r>
                <a:rPr lang="en-US" altLang="zh-CN" sz="25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5</a:t>
              </a:r>
              <a:endParaRPr lang="zh-CN" altLang="en-US" sz="25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endParaRPr>
            </a:p>
          </p:txBody>
        </p:sp>
        <p:sp>
          <p:nvSpPr>
            <p:cNvPr id="21" name="左大括号 20"/>
            <p:cNvSpPr/>
            <p:nvPr/>
          </p:nvSpPr>
          <p:spPr>
            <a:xfrm rot="16200000">
              <a:off x="1481604" y="2375992"/>
              <a:ext cx="180000" cy="714380"/>
            </a:xfrm>
            <a:prstGeom prst="leftBrace">
              <a:avLst/>
            </a:prstGeom>
            <a:ln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5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2072557" y="3161466"/>
            <a:ext cx="1142647" cy="717785"/>
            <a:chOff x="2071670" y="2643182"/>
            <a:chExt cx="857256" cy="717752"/>
          </a:xfrm>
        </p:grpSpPr>
        <p:sp>
          <p:nvSpPr>
            <p:cNvPr id="11" name="圆角矩形 10"/>
            <p:cNvSpPr/>
            <p:nvPr/>
          </p:nvSpPr>
          <p:spPr>
            <a:xfrm>
              <a:off x="2071670" y="2928934"/>
              <a:ext cx="857256" cy="4320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5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1</a:t>
              </a:r>
              <a:r>
                <a:rPr lang="zh-CN" altLang="zh-CN" sz="25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，</a:t>
              </a:r>
              <a:r>
                <a:rPr lang="en-US" altLang="zh-CN" sz="25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7</a:t>
              </a:r>
              <a:endParaRPr lang="zh-CN" altLang="en-US" sz="25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endParaRPr>
            </a:p>
          </p:txBody>
        </p:sp>
        <p:sp>
          <p:nvSpPr>
            <p:cNvPr id="22" name="左大括号 21"/>
            <p:cNvSpPr/>
            <p:nvPr/>
          </p:nvSpPr>
          <p:spPr>
            <a:xfrm rot="16200000">
              <a:off x="2410298" y="2375992"/>
              <a:ext cx="180000" cy="714380"/>
            </a:xfrm>
            <a:prstGeom prst="leftBrace">
              <a:avLst/>
            </a:prstGeom>
            <a:ln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5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3310426" y="3161466"/>
            <a:ext cx="1142647" cy="717785"/>
            <a:chOff x="3000364" y="2643182"/>
            <a:chExt cx="857256" cy="717752"/>
          </a:xfrm>
        </p:grpSpPr>
        <p:sp>
          <p:nvSpPr>
            <p:cNvPr id="12" name="圆角矩形 11"/>
            <p:cNvSpPr/>
            <p:nvPr/>
          </p:nvSpPr>
          <p:spPr>
            <a:xfrm>
              <a:off x="3000364" y="2928934"/>
              <a:ext cx="857256" cy="4320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500" dirty="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6</a:t>
              </a:r>
              <a:r>
                <a:rPr lang="zh-CN" altLang="zh-CN" sz="2500" dirty="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，</a:t>
              </a:r>
              <a:r>
                <a:rPr lang="en-US" altLang="zh-CN" sz="2500" dirty="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10</a:t>
              </a:r>
              <a:endParaRPr lang="zh-CN" altLang="en-US" sz="2500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endParaRPr>
            </a:p>
          </p:txBody>
        </p:sp>
        <p:sp>
          <p:nvSpPr>
            <p:cNvPr id="23" name="左大括号 22"/>
            <p:cNvSpPr/>
            <p:nvPr/>
          </p:nvSpPr>
          <p:spPr>
            <a:xfrm rot="16200000">
              <a:off x="3338992" y="2375992"/>
              <a:ext cx="180000" cy="714380"/>
            </a:xfrm>
            <a:prstGeom prst="leftBrace">
              <a:avLst/>
            </a:prstGeom>
            <a:ln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5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4548294" y="3161464"/>
            <a:ext cx="1142647" cy="717786"/>
            <a:chOff x="3929058" y="2643181"/>
            <a:chExt cx="857256" cy="717753"/>
          </a:xfrm>
        </p:grpSpPr>
        <p:sp>
          <p:nvSpPr>
            <p:cNvPr id="13" name="圆角矩形 12"/>
            <p:cNvSpPr/>
            <p:nvPr/>
          </p:nvSpPr>
          <p:spPr>
            <a:xfrm>
              <a:off x="3929058" y="2928934"/>
              <a:ext cx="857256" cy="4320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5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4</a:t>
              </a:r>
              <a:r>
                <a:rPr lang="zh-CN" altLang="zh-CN" sz="25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，</a:t>
              </a:r>
              <a:r>
                <a:rPr lang="en-US" altLang="zh-CN" sz="25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9</a:t>
              </a:r>
              <a:endParaRPr lang="zh-CN" altLang="en-US" sz="25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endParaRPr>
            </a:p>
          </p:txBody>
        </p:sp>
        <p:sp>
          <p:nvSpPr>
            <p:cNvPr id="24" name="左大括号 23"/>
            <p:cNvSpPr/>
            <p:nvPr/>
          </p:nvSpPr>
          <p:spPr>
            <a:xfrm rot="16200000">
              <a:off x="4267686" y="2375991"/>
              <a:ext cx="180000" cy="714380"/>
            </a:xfrm>
            <a:prstGeom prst="leftBrace">
              <a:avLst/>
            </a:prstGeom>
            <a:ln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5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5786163" y="3161464"/>
            <a:ext cx="1142647" cy="717786"/>
            <a:chOff x="4857752" y="2643181"/>
            <a:chExt cx="857256" cy="717753"/>
          </a:xfrm>
        </p:grpSpPr>
        <p:sp>
          <p:nvSpPr>
            <p:cNvPr id="14" name="圆角矩形 13"/>
            <p:cNvSpPr/>
            <p:nvPr/>
          </p:nvSpPr>
          <p:spPr>
            <a:xfrm>
              <a:off x="4857752" y="2928934"/>
              <a:ext cx="857256" cy="4320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5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3</a:t>
              </a:r>
              <a:r>
                <a:rPr lang="zh-CN" altLang="zh-CN" sz="25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，</a:t>
              </a:r>
              <a:r>
                <a:rPr lang="en-US" altLang="zh-CN" sz="25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8</a:t>
              </a:r>
              <a:endParaRPr lang="zh-CN" altLang="en-US" sz="25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endParaRPr>
            </a:p>
          </p:txBody>
        </p:sp>
        <p:sp>
          <p:nvSpPr>
            <p:cNvPr id="25" name="左大括号 24"/>
            <p:cNvSpPr/>
            <p:nvPr/>
          </p:nvSpPr>
          <p:spPr>
            <a:xfrm rot="16200000">
              <a:off x="5196380" y="2375991"/>
              <a:ext cx="180000" cy="714380"/>
            </a:xfrm>
            <a:prstGeom prst="leftBrace">
              <a:avLst/>
            </a:prstGeom>
            <a:ln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5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834690" y="3947320"/>
            <a:ext cx="2380516" cy="717785"/>
            <a:chOff x="1142976" y="3429000"/>
            <a:chExt cx="1785950" cy="717752"/>
          </a:xfrm>
        </p:grpSpPr>
        <p:sp>
          <p:nvSpPr>
            <p:cNvPr id="15" name="圆角矩形 14"/>
            <p:cNvSpPr/>
            <p:nvPr/>
          </p:nvSpPr>
          <p:spPr>
            <a:xfrm>
              <a:off x="1142976" y="3714752"/>
              <a:ext cx="1785950" cy="4320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5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1</a:t>
              </a:r>
              <a:r>
                <a:rPr lang="zh-CN" altLang="en-US" sz="25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，</a:t>
              </a:r>
              <a:r>
                <a:rPr lang="en-US" altLang="zh-CN" sz="25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2</a:t>
              </a:r>
              <a:r>
                <a:rPr lang="zh-CN" altLang="zh-CN" sz="25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，</a:t>
              </a:r>
              <a:r>
                <a:rPr lang="en-US" altLang="zh-CN" sz="25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5</a:t>
              </a:r>
              <a:r>
                <a:rPr lang="zh-CN" altLang="en-US" sz="25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，</a:t>
              </a:r>
              <a:r>
                <a:rPr lang="en-US" altLang="zh-CN" sz="25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7</a:t>
              </a:r>
              <a:endParaRPr lang="zh-CN" altLang="en-US" sz="25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endParaRPr>
            </a:p>
          </p:txBody>
        </p:sp>
        <p:sp>
          <p:nvSpPr>
            <p:cNvPr id="26" name="左大括号 25"/>
            <p:cNvSpPr/>
            <p:nvPr/>
          </p:nvSpPr>
          <p:spPr>
            <a:xfrm rot="16200000">
              <a:off x="1910232" y="3161810"/>
              <a:ext cx="180000" cy="714380"/>
            </a:xfrm>
            <a:prstGeom prst="leftBrace">
              <a:avLst/>
            </a:prstGeom>
            <a:ln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5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3310425" y="3947321"/>
            <a:ext cx="2285296" cy="717784"/>
            <a:chOff x="3000364" y="3429001"/>
            <a:chExt cx="1714512" cy="717751"/>
          </a:xfrm>
        </p:grpSpPr>
        <p:sp>
          <p:nvSpPr>
            <p:cNvPr id="16" name="圆角矩形 15"/>
            <p:cNvSpPr/>
            <p:nvPr/>
          </p:nvSpPr>
          <p:spPr>
            <a:xfrm>
              <a:off x="3000364" y="3714752"/>
              <a:ext cx="1714512" cy="4320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5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4</a:t>
              </a:r>
              <a:r>
                <a:rPr lang="zh-CN" altLang="zh-CN" sz="25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，</a:t>
              </a:r>
              <a:r>
                <a:rPr lang="en-US" altLang="zh-CN" sz="25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6</a:t>
              </a:r>
              <a:r>
                <a:rPr lang="zh-CN" altLang="en-US" sz="25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，</a:t>
              </a:r>
              <a:r>
                <a:rPr lang="en-US" altLang="zh-CN" sz="25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9</a:t>
              </a:r>
              <a:r>
                <a:rPr lang="zh-CN" altLang="en-US" sz="25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，</a:t>
              </a:r>
              <a:r>
                <a:rPr lang="en-US" altLang="zh-CN" sz="25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10</a:t>
              </a:r>
              <a:endParaRPr lang="zh-CN" altLang="en-US" sz="25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endParaRPr>
            </a:p>
          </p:txBody>
        </p:sp>
        <p:sp>
          <p:nvSpPr>
            <p:cNvPr id="27" name="左大括号 26"/>
            <p:cNvSpPr/>
            <p:nvPr/>
          </p:nvSpPr>
          <p:spPr>
            <a:xfrm rot="16200000">
              <a:off x="3839058" y="3161811"/>
              <a:ext cx="180000" cy="714380"/>
            </a:xfrm>
            <a:prstGeom prst="leftBrace">
              <a:avLst/>
            </a:prstGeom>
            <a:ln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5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834691" y="4767491"/>
            <a:ext cx="4761031" cy="683469"/>
            <a:chOff x="1142976" y="4249132"/>
            <a:chExt cx="3571900" cy="683438"/>
          </a:xfrm>
        </p:grpSpPr>
        <p:sp>
          <p:nvSpPr>
            <p:cNvPr id="19" name="圆角矩形 18"/>
            <p:cNvSpPr/>
            <p:nvPr/>
          </p:nvSpPr>
          <p:spPr>
            <a:xfrm>
              <a:off x="1142976" y="4500570"/>
              <a:ext cx="3571900" cy="4320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5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1</a:t>
              </a:r>
              <a:r>
                <a:rPr lang="zh-CN" altLang="en-US" sz="25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，</a:t>
              </a:r>
              <a:r>
                <a:rPr lang="en-US" altLang="zh-CN" sz="25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2</a:t>
              </a:r>
              <a:r>
                <a:rPr lang="zh-CN" altLang="zh-CN" sz="25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，</a:t>
              </a:r>
              <a:r>
                <a:rPr lang="en-US" altLang="zh-CN" sz="25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4</a:t>
              </a:r>
              <a:r>
                <a:rPr lang="zh-CN" altLang="en-US" sz="25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，</a:t>
              </a:r>
              <a:r>
                <a:rPr lang="en-US" altLang="zh-CN" sz="25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5</a:t>
              </a:r>
              <a:r>
                <a:rPr lang="zh-CN" altLang="en-US" sz="25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，</a:t>
              </a:r>
              <a:r>
                <a:rPr lang="en-US" altLang="zh-CN" sz="25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6</a:t>
              </a:r>
              <a:r>
                <a:rPr lang="zh-CN" altLang="en-US" sz="25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，</a:t>
              </a:r>
              <a:r>
                <a:rPr lang="en-US" altLang="zh-CN" sz="25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7</a:t>
              </a:r>
              <a:r>
                <a:rPr lang="zh-CN" altLang="en-US" sz="25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，</a:t>
              </a:r>
              <a:r>
                <a:rPr lang="en-US" altLang="zh-CN" sz="25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9</a:t>
              </a:r>
              <a:r>
                <a:rPr lang="zh-CN" altLang="en-US" sz="25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，</a:t>
              </a:r>
              <a:r>
                <a:rPr lang="en-US" altLang="zh-CN" sz="25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10</a:t>
              </a:r>
              <a:endParaRPr lang="zh-CN" altLang="en-US" sz="25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endParaRPr>
            </a:p>
          </p:txBody>
        </p:sp>
        <p:sp>
          <p:nvSpPr>
            <p:cNvPr id="28" name="左大括号 27"/>
            <p:cNvSpPr/>
            <p:nvPr/>
          </p:nvSpPr>
          <p:spPr>
            <a:xfrm rot="16200000">
              <a:off x="2838926" y="3981942"/>
              <a:ext cx="180000" cy="714380"/>
            </a:xfrm>
            <a:prstGeom prst="leftBrace">
              <a:avLst/>
            </a:prstGeom>
            <a:ln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5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834691" y="5532092"/>
            <a:ext cx="6094120" cy="704721"/>
            <a:chOff x="1142976" y="5013700"/>
            <a:chExt cx="4572032" cy="704688"/>
          </a:xfrm>
        </p:grpSpPr>
        <p:sp>
          <p:nvSpPr>
            <p:cNvPr id="20" name="圆角矩形 19"/>
            <p:cNvSpPr/>
            <p:nvPr/>
          </p:nvSpPr>
          <p:spPr>
            <a:xfrm>
              <a:off x="1142976" y="5286388"/>
              <a:ext cx="4572032" cy="4320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5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1</a:t>
              </a:r>
              <a:r>
                <a:rPr lang="zh-CN" altLang="en-US" sz="25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，</a:t>
              </a:r>
              <a:r>
                <a:rPr lang="en-US" altLang="zh-CN" sz="25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2</a:t>
              </a:r>
              <a:r>
                <a:rPr lang="zh-CN" altLang="zh-CN" sz="25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，</a:t>
              </a:r>
              <a:r>
                <a:rPr lang="en-US" altLang="zh-CN" sz="25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3</a:t>
              </a:r>
              <a:r>
                <a:rPr lang="zh-CN" altLang="en-US" sz="25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，</a:t>
              </a:r>
              <a:r>
                <a:rPr lang="en-US" altLang="zh-CN" sz="25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4</a:t>
              </a:r>
              <a:r>
                <a:rPr lang="zh-CN" altLang="en-US" sz="25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，</a:t>
              </a:r>
              <a:r>
                <a:rPr lang="en-US" altLang="zh-CN" sz="25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5</a:t>
              </a:r>
              <a:r>
                <a:rPr lang="zh-CN" altLang="en-US" sz="25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，</a:t>
              </a:r>
              <a:r>
                <a:rPr lang="en-US" altLang="zh-CN" sz="25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6</a:t>
              </a:r>
              <a:r>
                <a:rPr lang="zh-CN" altLang="en-US" sz="25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，</a:t>
              </a:r>
              <a:r>
                <a:rPr lang="en-US" altLang="zh-CN" sz="25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7,8</a:t>
              </a:r>
              <a:r>
                <a:rPr lang="zh-CN" altLang="en-US" sz="25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，</a:t>
              </a:r>
              <a:r>
                <a:rPr lang="en-US" altLang="zh-CN" sz="25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9</a:t>
              </a:r>
              <a:r>
                <a:rPr lang="zh-CN" altLang="en-US" sz="25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，</a:t>
              </a:r>
              <a:r>
                <a:rPr lang="en-US" altLang="zh-CN" sz="25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10</a:t>
              </a:r>
              <a:endParaRPr lang="zh-CN" altLang="en-US" sz="25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endParaRPr>
            </a:p>
          </p:txBody>
        </p:sp>
        <p:sp>
          <p:nvSpPr>
            <p:cNvPr id="29" name="左大括号 28"/>
            <p:cNvSpPr/>
            <p:nvPr/>
          </p:nvSpPr>
          <p:spPr>
            <a:xfrm rot="16200000">
              <a:off x="4683251" y="4746510"/>
              <a:ext cx="180000" cy="714380"/>
            </a:xfrm>
            <a:prstGeom prst="leftBrace">
              <a:avLst/>
            </a:prstGeom>
            <a:ln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5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Text Box 3">
            <a:extLst>
              <a:ext uri="{FF2B5EF4-FFF2-40B4-BE49-F238E27FC236}">
                <a16:creationId xmlns:a16="http://schemas.microsoft.com/office/drawing/2014/main" id="{1B98FE46-2473-C54D-9C8F-66D95A6CBF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273" y="1195710"/>
            <a:ext cx="4910289" cy="461665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+mn-ea"/>
              </a:rPr>
              <a:t>2.7.1</a:t>
            </a:r>
            <a:r>
              <a:rPr lang="zh-CN" altLang="en-US" sz="2400" b="1" dirty="0">
                <a:solidFill>
                  <a:srgbClr val="FF33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自底向上的二路归并排序算法</a:t>
            </a:r>
            <a:endParaRPr lang="zh-CN" altLang="zh-CN" sz="24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1" bldLvl="0" animBg="1"/>
      <p:bldP spid="18" grpId="0" bldLvl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Text Box 2"/>
          <p:cNvSpPr txBox="1">
            <a:spLocks noChangeArrowheads="1"/>
          </p:cNvSpPr>
          <p:nvPr/>
        </p:nvSpPr>
        <p:spPr bwMode="auto">
          <a:xfrm>
            <a:off x="721522" y="1248794"/>
            <a:ext cx="8637509" cy="4781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10045" tIns="55022" rIns="110045" bIns="55022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二路归并排序的分治策略如下：</a:t>
            </a:r>
          </a:p>
        </p:txBody>
      </p:sp>
      <p:sp>
        <p:nvSpPr>
          <p:cNvPr id="194563" name="Text Box 3"/>
          <p:cNvSpPr txBox="1">
            <a:spLocks noChangeArrowheads="1"/>
          </p:cNvSpPr>
          <p:nvPr/>
        </p:nvSpPr>
        <p:spPr bwMode="auto">
          <a:xfrm>
            <a:off x="655697" y="1843259"/>
            <a:ext cx="7990205" cy="375666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216625" tIns="216625" rIns="216625" bIns="216625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　　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循环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  <a:sym typeface="Symbol" panose="05050102010706020507" pitchFamily="18" charset="2"/>
              </a:rPr>
              <a:t>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log</a:t>
            </a:r>
            <a:r>
              <a:rPr lang="en-US" altLang="zh-CN" sz="2400" b="1" baseline="-250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2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  <a:sym typeface="Symbol" panose="05050102010706020507" pitchFamily="18" charset="2"/>
              </a:rPr>
              <a:t>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次，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length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依次取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1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、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2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、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…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、</a:t>
            </a:r>
            <a:r>
              <a:rPr lang="en-US" altLang="zh-CN" sz="24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log</a:t>
            </a:r>
            <a:r>
              <a:rPr lang="en-US" altLang="zh-CN" sz="2400" b="1" baseline="-25000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2</a:t>
            </a:r>
            <a:r>
              <a:rPr lang="en-US" altLang="zh-CN" sz="2400" b="1" i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。每次执行以下步骤：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① 分解：将原序列分解成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length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长度的若干子序列。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② 求解子问题：将相邻的两个子序列调用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Merge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算法合并成一个有序子序列。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③ 合并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93538" name="Text Box 2"/>
          <p:cNvSpPr txBox="1">
            <a:spLocks noChangeArrowheads="1"/>
          </p:cNvSpPr>
          <p:nvPr/>
        </p:nvSpPr>
        <p:spPr bwMode="auto">
          <a:xfrm>
            <a:off x="452964" y="1104913"/>
            <a:ext cx="8015976" cy="569785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lIns="216625" tIns="216625" rIns="110045" bIns="216625">
            <a:noAutofit/>
          </a:bodyPr>
          <a:lstStyle/>
          <a:p>
            <a:pPr indent="0" fontAlgn="auto">
              <a:lnSpc>
                <a:spcPct val="10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void Merge(</a:t>
            </a:r>
            <a:r>
              <a:rPr lang="en-US" altLang="zh-CN" sz="20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int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a[ ]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0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int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low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0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int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mid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0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int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high)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//a[low..mid]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和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a[</a:t>
            </a:r>
            <a:r>
              <a:rPr lang="en-US" altLang="zh-CN" sz="20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mid+1..high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]→a[low..high]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{  </a:t>
            </a:r>
            <a:r>
              <a:rPr lang="en-US" altLang="zh-CN" sz="20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int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*</a:t>
            </a:r>
            <a:r>
              <a:rPr lang="en-US" altLang="zh-CN" sz="20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tmpa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;</a:t>
            </a:r>
          </a:p>
          <a:p>
            <a:pPr indent="0" fontAlgn="auto">
              <a:lnSpc>
                <a:spcPct val="100000"/>
              </a:lnSpc>
            </a:pP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  </a:t>
            </a:r>
            <a:r>
              <a:rPr lang="en-US" altLang="zh-CN" sz="20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int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i=low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j=mid+1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k=0;</a:t>
            </a:r>
          </a:p>
          <a:p>
            <a:pPr indent="0" fontAlgn="auto">
              <a:lnSpc>
                <a:spcPct val="100000"/>
              </a:lnSpc>
            </a:pP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  </a:t>
            </a:r>
            <a:r>
              <a:rPr lang="en-US" altLang="zh-CN" sz="20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tmpa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=(</a:t>
            </a:r>
            <a:r>
              <a:rPr lang="en-US" altLang="zh-CN" sz="20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int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*)</a:t>
            </a:r>
            <a:r>
              <a:rPr lang="en-US" altLang="zh-CN" sz="20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malloc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((high-low+1)*</a:t>
            </a:r>
            <a:r>
              <a:rPr lang="en-US" altLang="zh-CN" sz="20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sizeof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(</a:t>
            </a:r>
            <a:r>
              <a:rPr lang="en-US" altLang="zh-CN" sz="20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int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));//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临时空间</a:t>
            </a:r>
            <a:endParaRPr lang="en-US" altLang="zh-CN" sz="20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Consolas" panose="020B0609020204030204" pitchFamily="49" charset="0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  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while (i&lt;=mid &amp;&amp; j&lt;=high)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    if (a[i]&lt;=a[j])		//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将第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1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子表中的元素放入</a:t>
            </a:r>
            <a:r>
              <a:rPr lang="en-US" altLang="zh-CN" sz="20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tmpa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中</a:t>
            </a:r>
          </a:p>
          <a:p>
            <a:pPr indent="0" fontAlgn="auto">
              <a:lnSpc>
                <a:spcPct val="100000"/>
              </a:lnSpc>
            </a:pP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　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{  </a:t>
            </a:r>
            <a:r>
              <a:rPr lang="en-US" altLang="zh-CN" sz="20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tmpa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[k]=a[i];  i++; k++; }</a:t>
            </a:r>
          </a:p>
          <a:p>
            <a:pPr indent="0" fontAlgn="auto">
              <a:lnSpc>
                <a:spcPct val="100000"/>
              </a:lnSpc>
            </a:pP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　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else			//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将第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2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子表中的元素放入</a:t>
            </a:r>
            <a:r>
              <a:rPr lang="en-US" altLang="zh-CN" sz="20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tmpa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中</a:t>
            </a:r>
          </a:p>
          <a:p>
            <a:pPr indent="0" fontAlgn="auto">
              <a:lnSpc>
                <a:spcPct val="100000"/>
              </a:lnSpc>
            </a:pP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　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{  </a:t>
            </a:r>
            <a:r>
              <a:rPr lang="en-US" altLang="zh-CN" sz="20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tmpa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[k]=a[j];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j++; k++; }</a:t>
            </a:r>
          </a:p>
          <a:p>
            <a:pPr indent="0" fontAlgn="auto">
              <a:lnSpc>
                <a:spcPct val="100000"/>
              </a:lnSpc>
            </a:pP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  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while (i&lt;=mid)		//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将第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1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子表余下部分复制到</a:t>
            </a:r>
            <a:r>
              <a:rPr lang="en-US" altLang="zh-CN" sz="20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tmpa</a:t>
            </a:r>
            <a:endParaRPr lang="en-US" altLang="zh-CN" sz="20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Consolas" panose="020B0609020204030204" pitchFamily="49" charset="0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  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{  </a:t>
            </a:r>
            <a:r>
              <a:rPr lang="en-US" altLang="zh-CN" sz="20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tmpa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[k]=a[i]; i++; k++; }</a:t>
            </a:r>
          </a:p>
          <a:p>
            <a:pPr indent="0" fontAlgn="auto">
              <a:lnSpc>
                <a:spcPct val="100000"/>
              </a:lnSpc>
            </a:pP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  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while (j&lt;=high)		//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将第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2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子表余下部分复制到</a:t>
            </a:r>
            <a:r>
              <a:rPr lang="en-US" altLang="zh-CN" sz="20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tmpa</a:t>
            </a:r>
            <a:endParaRPr lang="en-US" altLang="zh-CN" sz="20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Consolas" panose="020B0609020204030204" pitchFamily="49" charset="0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  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{  </a:t>
            </a:r>
            <a:r>
              <a:rPr lang="en-US" altLang="zh-CN" sz="20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tmpa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[k]=a[j]; j++; k++; }</a:t>
            </a:r>
          </a:p>
          <a:p>
            <a:pPr indent="0" fontAlgn="auto">
              <a:lnSpc>
                <a:spcPct val="100000"/>
              </a:lnSpc>
            </a:pP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  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for (k=0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i=</a:t>
            </a:r>
            <a:r>
              <a:rPr lang="en-US" altLang="zh-CN" sz="20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low;i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&lt;=</a:t>
            </a:r>
            <a:r>
              <a:rPr lang="en-US" altLang="zh-CN" sz="20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high;k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++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i++)  //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将</a:t>
            </a:r>
            <a:r>
              <a:rPr lang="en-US" altLang="zh-CN" sz="20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tmpa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复制回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中</a:t>
            </a:r>
          </a:p>
          <a:p>
            <a:pPr indent="0" fontAlgn="auto">
              <a:lnSpc>
                <a:spcPct val="100000"/>
              </a:lnSpc>
            </a:pP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  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a[i]=</a:t>
            </a:r>
            <a:r>
              <a:rPr lang="en-US" altLang="zh-CN" sz="20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tmpa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[k];</a:t>
            </a:r>
          </a:p>
          <a:p>
            <a:pPr indent="0" fontAlgn="auto">
              <a:lnSpc>
                <a:spcPct val="100000"/>
              </a:lnSpc>
            </a:pP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  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free(</a:t>
            </a:r>
            <a:r>
              <a:rPr lang="en-US" altLang="zh-CN" sz="20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tmpa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);			//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释放</a:t>
            </a:r>
            <a:r>
              <a:rPr lang="en-US" altLang="zh-CN" sz="20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tmpa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所占内存空间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}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Text Box 2"/>
          <p:cNvSpPr txBox="1">
            <a:spLocks noChangeArrowheads="1"/>
          </p:cNvSpPr>
          <p:nvPr/>
        </p:nvSpPr>
        <p:spPr bwMode="auto">
          <a:xfrm>
            <a:off x="414831" y="1262575"/>
            <a:ext cx="8150382" cy="439459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lIns="129975" tIns="216625" rIns="110045" bIns="216625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void </a:t>
            </a:r>
            <a:r>
              <a:rPr lang="en-US" altLang="zh-CN" sz="20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MergePass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(</a:t>
            </a:r>
            <a:r>
              <a:rPr lang="en-US" altLang="zh-CN" sz="20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int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a[ ]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0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int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length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0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int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n)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//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一趟二路归并排序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{  </a:t>
            </a:r>
            <a:r>
              <a:rPr lang="en-US" altLang="zh-CN" sz="20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int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i;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  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for (i=0;i+2*length-1&lt;</a:t>
            </a:r>
            <a:r>
              <a:rPr lang="en-US" altLang="zh-CN" sz="20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n;i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=i+2*length)   //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归并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length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长的两相邻子表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　  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Merge(a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i+length-1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i+2*length-1);</a:t>
            </a:r>
          </a:p>
          <a:p>
            <a:pPr>
              <a:lnSpc>
                <a:spcPct val="250000"/>
              </a:lnSpc>
            </a:pP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              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if (i+length-1&lt;n)	//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余下两个子表，后者长度小于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length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　  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Merge(a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i+length-1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n-1);	 //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归并这两个子表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}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Text Box 2"/>
          <p:cNvSpPr txBox="1">
            <a:spLocks noChangeArrowheads="1"/>
          </p:cNvSpPr>
          <p:nvPr/>
        </p:nvSpPr>
        <p:spPr bwMode="auto">
          <a:xfrm>
            <a:off x="513080" y="1334770"/>
            <a:ext cx="7661275" cy="285940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lIns="216625" tIns="216625" rIns="110045" bIns="216625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void </a:t>
            </a:r>
            <a:r>
              <a:rPr lang="en-US" altLang="zh-CN" sz="23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MergeSort</a:t>
            </a:r>
            <a:r>
              <a:rPr lang="en-US" altLang="zh-CN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(int a[ ]</a:t>
            </a:r>
            <a:r>
              <a:rPr lang="zh-CN" altLang="en-US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int n)	//</a:t>
            </a:r>
            <a:r>
              <a:rPr lang="zh-CN" altLang="en-US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二路归并算法</a:t>
            </a:r>
          </a:p>
          <a:p>
            <a:pPr>
              <a:lnSpc>
                <a:spcPct val="150000"/>
              </a:lnSpc>
            </a:pPr>
            <a:r>
              <a:rPr lang="en-US" altLang="zh-CN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{</a:t>
            </a:r>
            <a:r>
              <a:rPr lang="zh-CN" altLang="en-US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 </a:t>
            </a:r>
            <a:r>
              <a:rPr lang="en-US" altLang="zh-CN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int length;</a:t>
            </a:r>
          </a:p>
          <a:p>
            <a:pPr>
              <a:lnSpc>
                <a:spcPct val="150000"/>
              </a:lnSpc>
            </a:pPr>
            <a:r>
              <a:rPr lang="zh-CN" altLang="en-US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  </a:t>
            </a:r>
            <a:r>
              <a:rPr lang="en-US" altLang="zh-CN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for (length=1;length&lt;</a:t>
            </a:r>
            <a:r>
              <a:rPr lang="en-US" altLang="zh-CN" sz="23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n;length</a:t>
            </a:r>
            <a:r>
              <a:rPr lang="en-US" altLang="zh-CN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=2*length)</a:t>
            </a:r>
          </a:p>
          <a:p>
            <a:pPr>
              <a:lnSpc>
                <a:spcPct val="150000"/>
              </a:lnSpc>
            </a:pPr>
            <a:r>
              <a:rPr lang="zh-CN" altLang="en-US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　　</a:t>
            </a:r>
            <a:r>
              <a:rPr lang="en-US" altLang="zh-CN" sz="23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MergePass</a:t>
            </a:r>
            <a:r>
              <a:rPr lang="en-US" altLang="zh-CN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(a</a:t>
            </a:r>
            <a:r>
              <a:rPr lang="zh-CN" altLang="en-US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length</a:t>
            </a:r>
            <a:r>
              <a:rPr lang="zh-CN" altLang="en-US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n);</a:t>
            </a:r>
          </a:p>
          <a:p>
            <a:pPr>
              <a:lnSpc>
                <a:spcPct val="150000"/>
              </a:lnSpc>
            </a:pPr>
            <a:r>
              <a:rPr lang="en-US" altLang="zh-CN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91491" name="Text Box 3"/>
          <p:cNvSpPr txBox="1">
            <a:spLocks noChangeArrowheads="1"/>
          </p:cNvSpPr>
          <p:nvPr/>
        </p:nvSpPr>
        <p:spPr bwMode="auto">
          <a:xfrm>
            <a:off x="451017" y="4473246"/>
            <a:ext cx="8465917" cy="121911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10045" tIns="55022" rIns="110045" bIns="55022">
            <a:spAutoFit/>
          </a:bodyPr>
          <a:lstStyle/>
          <a:p>
            <a:pPr indent="0" fontAlgn="auto">
              <a:lnSpc>
                <a:spcPct val="100000"/>
              </a:lnSpc>
              <a:spcBef>
                <a:spcPts val="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算法分析</a:t>
            </a:r>
            <a:r>
              <a:rPr lang="en-US" altLang="zh-CN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】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对于上述二路归并排序算法，当有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个元素时，需要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  <a:sym typeface="Symbol" panose="05050102010706020507" pitchFamily="18" charset="2"/>
              </a:rPr>
              <a:t></a:t>
            </a:r>
            <a:r>
              <a:rPr lang="en-US" altLang="zh-CN" sz="24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log</a:t>
            </a:r>
            <a:r>
              <a:rPr lang="en-US" altLang="zh-CN" sz="2400" b="1" baseline="-25000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2</a:t>
            </a:r>
            <a:r>
              <a:rPr lang="en-US" altLang="zh-CN" sz="2400" b="1" i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  <a:sym typeface="Symbol" panose="05050102010706020507" pitchFamily="18" charset="2"/>
              </a:rPr>
              <a:t>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趟归并，每一趟归并，其元素比较次数不超过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-1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，元素移动次数都是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，因此归并排序的时间复杂度为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O(</a:t>
            </a:r>
            <a:r>
              <a:rPr lang="en-US" altLang="zh-CN" sz="2400" b="1" i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4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log</a:t>
            </a:r>
            <a:r>
              <a:rPr lang="en-US" altLang="zh-CN" sz="2400" b="1" baseline="-25000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2</a:t>
            </a:r>
            <a:r>
              <a:rPr lang="en-US" altLang="zh-CN" sz="2400" b="1" i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)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491" grpId="0" bldLvl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组合 92">
            <a:extLst>
              <a:ext uri="{FF2B5EF4-FFF2-40B4-BE49-F238E27FC236}">
                <a16:creationId xmlns:a16="http://schemas.microsoft.com/office/drawing/2014/main" id="{ECB14D14-2695-60E6-6762-2D6182C90205}"/>
              </a:ext>
            </a:extLst>
          </p:cNvPr>
          <p:cNvGrpSpPr/>
          <p:nvPr/>
        </p:nvGrpSpPr>
        <p:grpSpPr>
          <a:xfrm>
            <a:off x="481974" y="1681740"/>
            <a:ext cx="8351520" cy="4894580"/>
            <a:chOff x="518795" y="1043501"/>
            <a:chExt cx="8351520" cy="4894580"/>
          </a:xfrm>
        </p:grpSpPr>
        <p:sp>
          <p:nvSpPr>
            <p:cNvPr id="4" name="圆角矩形 3"/>
            <p:cNvSpPr/>
            <p:nvPr/>
          </p:nvSpPr>
          <p:spPr>
            <a:xfrm>
              <a:off x="826135" y="1043501"/>
              <a:ext cx="6135370" cy="30797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0045" tIns="55022" rIns="110045" bIns="55022" rtlCol="0" anchor="ctr"/>
            <a:lstStyle/>
            <a:p>
              <a:pPr algn="ctr"/>
              <a:r>
                <a:rPr lang="en-US" altLang="zh-CN" sz="22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2</a:t>
              </a:r>
              <a:r>
                <a:rPr lang="zh-CN" altLang="zh-CN" sz="22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，</a:t>
              </a:r>
              <a:r>
                <a:rPr lang="en-US" altLang="zh-CN" sz="22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5</a:t>
              </a:r>
              <a:r>
                <a:rPr lang="zh-CN" altLang="zh-CN" sz="22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，</a:t>
              </a:r>
              <a:r>
                <a:rPr lang="en-US" altLang="zh-CN" sz="22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1</a:t>
              </a:r>
              <a:r>
                <a:rPr lang="zh-CN" altLang="zh-CN" sz="22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，</a:t>
              </a:r>
              <a:r>
                <a:rPr lang="en-US" altLang="zh-CN" sz="22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7</a:t>
              </a:r>
              <a:r>
                <a:rPr lang="zh-CN" altLang="zh-CN" sz="22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，</a:t>
              </a:r>
              <a:r>
                <a:rPr lang="en-US" altLang="zh-CN" sz="22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10</a:t>
              </a:r>
              <a:r>
                <a:rPr lang="zh-CN" altLang="zh-CN" sz="22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，</a:t>
              </a:r>
              <a:r>
                <a:rPr lang="en-US" altLang="zh-CN" sz="22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 6</a:t>
              </a:r>
              <a:r>
                <a:rPr lang="zh-CN" altLang="zh-CN" sz="22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，</a:t>
              </a:r>
              <a:r>
                <a:rPr lang="en-US" altLang="zh-CN" sz="22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9</a:t>
              </a:r>
              <a:r>
                <a:rPr lang="zh-CN" altLang="zh-CN" sz="22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，</a:t>
              </a:r>
              <a:r>
                <a:rPr lang="en-US" altLang="zh-CN" sz="22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4</a:t>
              </a:r>
              <a:r>
                <a:rPr lang="zh-CN" altLang="zh-CN" sz="22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，</a:t>
              </a:r>
              <a:r>
                <a:rPr lang="en-US" altLang="zh-CN" sz="22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3</a:t>
              </a:r>
              <a:r>
                <a:rPr lang="zh-CN" altLang="zh-CN" sz="22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，</a:t>
              </a:r>
              <a:r>
                <a:rPr lang="en-US" altLang="zh-CN" sz="22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8</a:t>
              </a:r>
              <a:endParaRPr lang="zh-CN" altLang="en-US" sz="22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endParaRPr>
            </a:p>
          </p:txBody>
        </p:sp>
        <p:grpSp>
          <p:nvGrpSpPr>
            <p:cNvPr id="5" name="组合 4"/>
            <p:cNvGrpSpPr/>
            <p:nvPr/>
          </p:nvGrpSpPr>
          <p:grpSpPr>
            <a:xfrm>
              <a:off x="521970" y="3857186"/>
              <a:ext cx="1068070" cy="497840"/>
              <a:chOff x="1928794" y="3677627"/>
              <a:chExt cx="857256" cy="697945"/>
            </a:xfrm>
          </p:grpSpPr>
          <p:sp>
            <p:nvSpPr>
              <p:cNvPr id="6" name="圆角矩形 5"/>
              <p:cNvSpPr/>
              <p:nvPr/>
            </p:nvSpPr>
            <p:spPr>
              <a:xfrm>
                <a:off x="1928794" y="3943572"/>
                <a:ext cx="857256" cy="4320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2</a:t>
                </a:r>
                <a:r>
                  <a:rPr lang="zh-CN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，</a:t>
                </a:r>
                <a:r>
                  <a:rPr lang="en-US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5</a:t>
                </a:r>
                <a:endParaRPr lang="zh-CN" altLang="en-US" sz="22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7" name="左大括号 6"/>
              <p:cNvSpPr/>
              <p:nvPr/>
            </p:nvSpPr>
            <p:spPr>
              <a:xfrm rot="16200000">
                <a:off x="2287670" y="3461627"/>
                <a:ext cx="180000" cy="612000"/>
              </a:xfrm>
              <a:prstGeom prst="leftBrace">
                <a:avLst/>
              </a:prstGeom>
              <a:ln>
                <a:tailEnd type="non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22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560070" y="4363916"/>
              <a:ext cx="1704340" cy="514985"/>
              <a:chOff x="1928794" y="4413258"/>
              <a:chExt cx="1368000" cy="722627"/>
            </a:xfrm>
          </p:grpSpPr>
          <p:sp>
            <p:nvSpPr>
              <p:cNvPr id="9" name="左大括号 8"/>
              <p:cNvSpPr/>
              <p:nvPr/>
            </p:nvSpPr>
            <p:spPr>
              <a:xfrm rot="16200000">
                <a:off x="2624612" y="4146068"/>
                <a:ext cx="180000" cy="714380"/>
              </a:xfrm>
              <a:prstGeom prst="leftBrace">
                <a:avLst/>
              </a:prstGeom>
              <a:ln>
                <a:tailEnd type="non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22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0" name="圆角矩形 9"/>
              <p:cNvSpPr/>
              <p:nvPr/>
            </p:nvSpPr>
            <p:spPr>
              <a:xfrm>
                <a:off x="1928794" y="4703885"/>
                <a:ext cx="1368000" cy="4320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1, 2</a:t>
                </a:r>
                <a:r>
                  <a:rPr lang="zh-CN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，</a:t>
                </a:r>
                <a:r>
                  <a:rPr lang="en-US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5</a:t>
                </a:r>
                <a:endParaRPr lang="zh-CN" altLang="en-US" sz="22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endParaRPr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>
              <a:off x="2548255" y="3404431"/>
              <a:ext cx="1229995" cy="450215"/>
              <a:chOff x="3442054" y="3000373"/>
              <a:chExt cx="987069" cy="631942"/>
            </a:xfrm>
          </p:grpSpPr>
          <p:sp>
            <p:nvSpPr>
              <p:cNvPr id="12" name="圆角矩形 11"/>
              <p:cNvSpPr/>
              <p:nvPr/>
            </p:nvSpPr>
            <p:spPr>
              <a:xfrm>
                <a:off x="3442054" y="3200315"/>
                <a:ext cx="987069" cy="4320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7</a:t>
                </a:r>
                <a:r>
                  <a:rPr lang="zh-CN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，</a:t>
                </a:r>
                <a:r>
                  <a:rPr lang="en-US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10</a:t>
                </a:r>
                <a:endParaRPr lang="zh-CN" altLang="en-US" sz="22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13" name="左大括号 12"/>
              <p:cNvSpPr/>
              <p:nvPr/>
            </p:nvSpPr>
            <p:spPr>
              <a:xfrm rot="16200000">
                <a:off x="3800931" y="2784373"/>
                <a:ext cx="180000" cy="612000"/>
              </a:xfrm>
              <a:prstGeom prst="leftBrace">
                <a:avLst/>
              </a:prstGeom>
              <a:ln>
                <a:tailEnd type="non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22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645160" y="4927796"/>
              <a:ext cx="3112135" cy="469265"/>
              <a:chOff x="1928794" y="5200580"/>
              <a:chExt cx="2500330" cy="657312"/>
            </a:xfrm>
          </p:grpSpPr>
          <p:sp>
            <p:nvSpPr>
              <p:cNvPr id="15" name="左大括号 14"/>
              <p:cNvSpPr/>
              <p:nvPr/>
            </p:nvSpPr>
            <p:spPr>
              <a:xfrm rot="16200000">
                <a:off x="3338992" y="4933390"/>
                <a:ext cx="180000" cy="714380"/>
              </a:xfrm>
              <a:prstGeom prst="leftBrace">
                <a:avLst/>
              </a:prstGeom>
              <a:ln>
                <a:tailEnd type="non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22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6" name="圆角矩形 15"/>
              <p:cNvSpPr/>
              <p:nvPr/>
            </p:nvSpPr>
            <p:spPr>
              <a:xfrm>
                <a:off x="1928794" y="5425892"/>
                <a:ext cx="2500330" cy="4320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1</a:t>
                </a:r>
                <a:r>
                  <a:rPr lang="zh-CN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，</a:t>
                </a:r>
                <a:r>
                  <a:rPr lang="en-US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2</a:t>
                </a:r>
                <a:r>
                  <a:rPr lang="zh-CN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，</a:t>
                </a:r>
                <a:r>
                  <a:rPr lang="en-US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5, 7, 10</a:t>
                </a:r>
                <a:endParaRPr lang="zh-CN" altLang="en-US" sz="22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endParaRPr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518795" y="3326961"/>
              <a:ext cx="1032510" cy="513080"/>
              <a:chOff x="1928794" y="2630487"/>
              <a:chExt cx="827817" cy="920907"/>
            </a:xfrm>
          </p:grpSpPr>
          <p:sp>
            <p:nvSpPr>
              <p:cNvPr id="18" name="圆角矩形 17"/>
              <p:cNvSpPr/>
              <p:nvPr/>
            </p:nvSpPr>
            <p:spPr>
              <a:xfrm>
                <a:off x="1928794" y="3024836"/>
                <a:ext cx="359943" cy="52655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2</a:t>
                </a:r>
              </a:p>
            </p:txBody>
          </p:sp>
          <p:sp>
            <p:nvSpPr>
              <p:cNvPr id="19" name="圆角矩形 18"/>
              <p:cNvSpPr/>
              <p:nvPr/>
            </p:nvSpPr>
            <p:spPr>
              <a:xfrm>
                <a:off x="2396668" y="3024836"/>
                <a:ext cx="359943" cy="52655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5</a:t>
                </a:r>
              </a:p>
            </p:txBody>
          </p:sp>
          <p:cxnSp>
            <p:nvCxnSpPr>
              <p:cNvPr id="20" name="直接箭头连接符 19"/>
              <p:cNvCxnSpPr>
                <a:stCxn id="23" idx="2"/>
                <a:endCxn id="18" idx="0"/>
              </p:cNvCxnSpPr>
              <p:nvPr/>
            </p:nvCxnSpPr>
            <p:spPr>
              <a:xfrm flipH="1">
                <a:off x="2108766" y="2630487"/>
                <a:ext cx="280588" cy="394349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直接箭头连接符 20"/>
              <p:cNvCxnSpPr>
                <a:stCxn id="23" idx="2"/>
                <a:endCxn id="19" idx="0"/>
              </p:cNvCxnSpPr>
              <p:nvPr/>
            </p:nvCxnSpPr>
            <p:spPr>
              <a:xfrm>
                <a:off x="2389353" y="2630487"/>
                <a:ext cx="187286" cy="394349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组合 21"/>
            <p:cNvGrpSpPr/>
            <p:nvPr/>
          </p:nvGrpSpPr>
          <p:grpSpPr>
            <a:xfrm>
              <a:off x="559435" y="2613856"/>
              <a:ext cx="1690370" cy="713105"/>
              <a:chOff x="1928794" y="1914691"/>
              <a:chExt cx="1357322" cy="999872"/>
            </a:xfrm>
          </p:grpSpPr>
          <p:sp>
            <p:nvSpPr>
              <p:cNvPr id="23" name="圆角矩形 22"/>
              <p:cNvSpPr/>
              <p:nvPr/>
            </p:nvSpPr>
            <p:spPr>
              <a:xfrm>
                <a:off x="1928794" y="2482563"/>
                <a:ext cx="857256" cy="4320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2</a:t>
                </a:r>
                <a:r>
                  <a:rPr lang="zh-CN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，</a:t>
                </a:r>
                <a:r>
                  <a:rPr lang="en-US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5</a:t>
                </a:r>
                <a:endParaRPr lang="zh-CN" altLang="en-US" sz="22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24" name="圆角矩形 23"/>
              <p:cNvSpPr/>
              <p:nvPr/>
            </p:nvSpPr>
            <p:spPr>
              <a:xfrm>
                <a:off x="2926116" y="2482563"/>
                <a:ext cx="360000" cy="4320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1</a:t>
                </a:r>
              </a:p>
            </p:txBody>
          </p:sp>
          <p:cxnSp>
            <p:nvCxnSpPr>
              <p:cNvPr id="25" name="直接箭头连接符 24"/>
              <p:cNvCxnSpPr>
                <a:stCxn id="28" idx="2"/>
                <a:endCxn id="23" idx="0"/>
              </p:cNvCxnSpPr>
              <p:nvPr/>
            </p:nvCxnSpPr>
            <p:spPr>
              <a:xfrm flipH="1">
                <a:off x="2357422" y="1914691"/>
                <a:ext cx="323833" cy="567872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直接箭头连接符 25"/>
              <p:cNvCxnSpPr>
                <a:stCxn id="28" idx="2"/>
                <a:endCxn id="24" idx="0"/>
              </p:cNvCxnSpPr>
              <p:nvPr/>
            </p:nvCxnSpPr>
            <p:spPr>
              <a:xfrm>
                <a:off x="2681255" y="1914691"/>
                <a:ext cx="424861" cy="567872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组合 26"/>
            <p:cNvGrpSpPr/>
            <p:nvPr/>
          </p:nvGrpSpPr>
          <p:grpSpPr>
            <a:xfrm>
              <a:off x="645160" y="1906007"/>
              <a:ext cx="3112135" cy="707849"/>
              <a:chOff x="1928794" y="1224175"/>
              <a:chExt cx="2500330" cy="993751"/>
            </a:xfrm>
          </p:grpSpPr>
          <p:sp>
            <p:nvSpPr>
              <p:cNvPr id="28" name="圆角矩形 27"/>
              <p:cNvSpPr/>
              <p:nvPr/>
            </p:nvSpPr>
            <p:spPr>
              <a:xfrm>
                <a:off x="1928794" y="1785926"/>
                <a:ext cx="1368000" cy="4320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2</a:t>
                </a:r>
                <a:r>
                  <a:rPr lang="zh-CN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，</a:t>
                </a:r>
                <a:r>
                  <a:rPr lang="en-US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5</a:t>
                </a:r>
                <a:r>
                  <a:rPr lang="zh-CN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，</a:t>
                </a:r>
                <a:r>
                  <a:rPr lang="en-US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1</a:t>
                </a:r>
                <a:endParaRPr lang="zh-CN" altLang="en-US" sz="22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29" name="圆角矩形 28"/>
              <p:cNvSpPr/>
              <p:nvPr/>
            </p:nvSpPr>
            <p:spPr>
              <a:xfrm>
                <a:off x="3428992" y="1785926"/>
                <a:ext cx="1000132" cy="4320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7</a:t>
                </a:r>
                <a:r>
                  <a:rPr lang="zh-CN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，</a:t>
                </a:r>
                <a:r>
                  <a:rPr lang="en-US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10</a:t>
                </a:r>
                <a:endParaRPr lang="zh-CN" altLang="en-US" sz="22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endParaRPr>
              </a:p>
            </p:txBody>
          </p:sp>
          <p:cxnSp>
            <p:nvCxnSpPr>
              <p:cNvPr id="30" name="直接箭头连接符 29"/>
              <p:cNvCxnSpPr>
                <a:stCxn id="33" idx="2"/>
                <a:endCxn id="28" idx="0"/>
              </p:cNvCxnSpPr>
              <p:nvPr/>
            </p:nvCxnSpPr>
            <p:spPr>
              <a:xfrm flipH="1">
                <a:off x="2612794" y="1224175"/>
                <a:ext cx="603045" cy="56175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直接箭头连接符 30"/>
              <p:cNvCxnSpPr>
                <a:stCxn id="33" idx="2"/>
                <a:endCxn id="29" idx="0"/>
              </p:cNvCxnSpPr>
              <p:nvPr/>
            </p:nvCxnSpPr>
            <p:spPr>
              <a:xfrm>
                <a:off x="3215839" y="1224175"/>
                <a:ext cx="713219" cy="561751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组合 31"/>
            <p:cNvGrpSpPr/>
            <p:nvPr/>
          </p:nvGrpSpPr>
          <p:grpSpPr>
            <a:xfrm>
              <a:off x="645160" y="1359095"/>
              <a:ext cx="6316345" cy="549713"/>
              <a:chOff x="1928794" y="845207"/>
              <a:chExt cx="4929222" cy="661711"/>
            </a:xfrm>
          </p:grpSpPr>
          <p:sp>
            <p:nvSpPr>
              <p:cNvPr id="33" name="圆角矩形 32"/>
              <p:cNvSpPr/>
              <p:nvPr/>
            </p:nvSpPr>
            <p:spPr>
              <a:xfrm>
                <a:off x="1928794" y="1071546"/>
                <a:ext cx="2500330" cy="4320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2</a:t>
                </a:r>
                <a:r>
                  <a:rPr lang="zh-CN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，</a:t>
                </a:r>
                <a:r>
                  <a:rPr lang="en-US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5</a:t>
                </a:r>
                <a:r>
                  <a:rPr lang="zh-CN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，</a:t>
                </a:r>
                <a:r>
                  <a:rPr lang="en-US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1</a:t>
                </a:r>
                <a:r>
                  <a:rPr lang="zh-CN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，</a:t>
                </a:r>
                <a:r>
                  <a:rPr lang="en-US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7</a:t>
                </a:r>
                <a:r>
                  <a:rPr lang="zh-CN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，</a:t>
                </a:r>
                <a:r>
                  <a:rPr lang="en-US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10</a:t>
                </a:r>
                <a:endParaRPr lang="zh-CN" altLang="en-US" sz="22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34" name="圆角矩形 33"/>
              <p:cNvSpPr/>
              <p:nvPr/>
            </p:nvSpPr>
            <p:spPr>
              <a:xfrm>
                <a:off x="4572000" y="1074918"/>
                <a:ext cx="2286016" cy="4320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6</a:t>
                </a:r>
                <a:r>
                  <a:rPr lang="zh-CN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，</a:t>
                </a:r>
                <a:r>
                  <a:rPr lang="en-US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9</a:t>
                </a:r>
                <a:r>
                  <a:rPr lang="zh-CN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，</a:t>
                </a:r>
                <a:r>
                  <a:rPr lang="en-US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4</a:t>
                </a:r>
                <a:r>
                  <a:rPr lang="zh-CN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，</a:t>
                </a:r>
                <a:r>
                  <a:rPr lang="en-US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3</a:t>
                </a:r>
                <a:r>
                  <a:rPr lang="zh-CN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，</a:t>
                </a:r>
                <a:r>
                  <a:rPr lang="en-US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8</a:t>
                </a:r>
                <a:endParaRPr lang="zh-CN" altLang="en-US" sz="22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endParaRPr>
              </a:p>
            </p:txBody>
          </p:sp>
          <p:cxnSp>
            <p:nvCxnSpPr>
              <p:cNvPr id="35" name="直接箭头连接符 34"/>
              <p:cNvCxnSpPr>
                <a:stCxn id="4" idx="2"/>
                <a:endCxn id="33" idx="0"/>
              </p:cNvCxnSpPr>
              <p:nvPr/>
            </p:nvCxnSpPr>
            <p:spPr>
              <a:xfrm flipH="1">
                <a:off x="3178959" y="845207"/>
                <a:ext cx="1285061" cy="226339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直接箭头连接符 35"/>
              <p:cNvCxnSpPr>
                <a:stCxn id="4" idx="2"/>
                <a:endCxn id="34" idx="0"/>
              </p:cNvCxnSpPr>
              <p:nvPr/>
            </p:nvCxnSpPr>
            <p:spPr>
              <a:xfrm>
                <a:off x="4464021" y="845207"/>
                <a:ext cx="1250988" cy="229711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7" name="组合 36"/>
            <p:cNvGrpSpPr/>
            <p:nvPr/>
          </p:nvGrpSpPr>
          <p:grpSpPr>
            <a:xfrm>
              <a:off x="5930265" y="3409511"/>
              <a:ext cx="1087120" cy="462915"/>
              <a:chOff x="5987697" y="2948121"/>
              <a:chExt cx="870319" cy="684194"/>
            </a:xfrm>
          </p:grpSpPr>
          <p:sp>
            <p:nvSpPr>
              <p:cNvPr id="38" name="圆角矩形 37"/>
              <p:cNvSpPr/>
              <p:nvPr/>
            </p:nvSpPr>
            <p:spPr>
              <a:xfrm>
                <a:off x="5987697" y="3200315"/>
                <a:ext cx="870319" cy="4320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3</a:t>
                </a:r>
                <a:r>
                  <a:rPr lang="zh-CN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，</a:t>
                </a:r>
                <a:r>
                  <a:rPr lang="en-US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8</a:t>
                </a:r>
                <a:endParaRPr lang="zh-CN" altLang="en-US" sz="22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39" name="左大括号 38"/>
              <p:cNvSpPr/>
              <p:nvPr/>
            </p:nvSpPr>
            <p:spPr>
              <a:xfrm rot="16200000">
                <a:off x="6346574" y="2732121"/>
                <a:ext cx="180000" cy="612000"/>
              </a:xfrm>
              <a:prstGeom prst="leftBrace">
                <a:avLst/>
              </a:prstGeom>
              <a:ln>
                <a:tailEnd type="non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22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40" name="组合 39"/>
            <p:cNvGrpSpPr/>
            <p:nvPr/>
          </p:nvGrpSpPr>
          <p:grpSpPr>
            <a:xfrm>
              <a:off x="4044950" y="3866076"/>
              <a:ext cx="1068070" cy="489585"/>
              <a:chOff x="4572000" y="3688626"/>
              <a:chExt cx="857256" cy="686946"/>
            </a:xfrm>
          </p:grpSpPr>
          <p:sp>
            <p:nvSpPr>
              <p:cNvPr id="41" name="圆角矩形 40"/>
              <p:cNvSpPr/>
              <p:nvPr/>
            </p:nvSpPr>
            <p:spPr>
              <a:xfrm>
                <a:off x="4572000" y="3943572"/>
                <a:ext cx="857256" cy="4320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6</a:t>
                </a:r>
                <a:r>
                  <a:rPr lang="zh-CN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，</a:t>
                </a:r>
                <a:r>
                  <a:rPr lang="en-US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9</a:t>
                </a:r>
                <a:endParaRPr lang="zh-CN" altLang="en-US" sz="22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42" name="左大括号 41"/>
              <p:cNvSpPr/>
              <p:nvPr/>
            </p:nvSpPr>
            <p:spPr>
              <a:xfrm rot="16200000">
                <a:off x="4930876" y="3472626"/>
                <a:ext cx="180000" cy="612000"/>
              </a:xfrm>
              <a:prstGeom prst="leftBrace">
                <a:avLst/>
              </a:prstGeom>
              <a:ln>
                <a:tailEnd type="non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22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43" name="组合 42"/>
            <p:cNvGrpSpPr/>
            <p:nvPr/>
          </p:nvGrpSpPr>
          <p:grpSpPr>
            <a:xfrm>
              <a:off x="4063365" y="4379791"/>
              <a:ext cx="1615440" cy="514985"/>
              <a:chOff x="4561322" y="4429132"/>
              <a:chExt cx="1296562" cy="722627"/>
            </a:xfrm>
          </p:grpSpPr>
          <p:sp>
            <p:nvSpPr>
              <p:cNvPr id="44" name="左大括号 43"/>
              <p:cNvSpPr/>
              <p:nvPr/>
            </p:nvSpPr>
            <p:spPr>
              <a:xfrm rot="16200000">
                <a:off x="5257140" y="4161942"/>
                <a:ext cx="180000" cy="714380"/>
              </a:xfrm>
              <a:prstGeom prst="leftBrace">
                <a:avLst/>
              </a:prstGeom>
              <a:ln>
                <a:tailEnd type="non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22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5" name="圆角矩形 44"/>
              <p:cNvSpPr/>
              <p:nvPr/>
            </p:nvSpPr>
            <p:spPr>
              <a:xfrm>
                <a:off x="4561322" y="4719759"/>
                <a:ext cx="1296562" cy="4320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4, 6</a:t>
                </a:r>
                <a:r>
                  <a:rPr lang="zh-CN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，</a:t>
                </a:r>
                <a:r>
                  <a:rPr lang="en-US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9</a:t>
                </a:r>
                <a:endParaRPr lang="zh-CN" altLang="en-US" sz="22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endParaRPr>
              </a:p>
            </p:txBody>
          </p:sp>
        </p:grpSp>
        <p:grpSp>
          <p:nvGrpSpPr>
            <p:cNvPr id="46" name="组合 45"/>
            <p:cNvGrpSpPr/>
            <p:nvPr/>
          </p:nvGrpSpPr>
          <p:grpSpPr>
            <a:xfrm>
              <a:off x="4182745" y="4915731"/>
              <a:ext cx="2908935" cy="469265"/>
              <a:chOff x="4592003" y="5188824"/>
              <a:chExt cx="2337451" cy="657312"/>
            </a:xfrm>
          </p:grpSpPr>
          <p:sp>
            <p:nvSpPr>
              <p:cNvPr id="47" name="左大括号 46"/>
              <p:cNvSpPr/>
              <p:nvPr/>
            </p:nvSpPr>
            <p:spPr>
              <a:xfrm rot="16200000">
                <a:off x="6002201" y="4921634"/>
                <a:ext cx="180000" cy="714380"/>
              </a:xfrm>
              <a:prstGeom prst="leftBrace">
                <a:avLst/>
              </a:prstGeom>
              <a:ln>
                <a:tailEnd type="non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22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8" name="圆角矩形 47"/>
              <p:cNvSpPr/>
              <p:nvPr/>
            </p:nvSpPr>
            <p:spPr>
              <a:xfrm>
                <a:off x="4592003" y="5414136"/>
                <a:ext cx="2337451" cy="4320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3</a:t>
                </a:r>
                <a:r>
                  <a:rPr lang="zh-CN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，</a:t>
                </a:r>
                <a:r>
                  <a:rPr lang="en-US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4</a:t>
                </a:r>
                <a:r>
                  <a:rPr lang="zh-CN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，</a:t>
                </a:r>
                <a:r>
                  <a:rPr lang="en-US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6, 8, 9</a:t>
                </a:r>
                <a:endParaRPr lang="zh-CN" altLang="en-US" sz="22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endParaRPr>
              </a:p>
            </p:txBody>
          </p:sp>
        </p:grpSp>
        <p:grpSp>
          <p:nvGrpSpPr>
            <p:cNvPr id="49" name="组合 48"/>
            <p:cNvGrpSpPr/>
            <p:nvPr/>
          </p:nvGrpSpPr>
          <p:grpSpPr>
            <a:xfrm>
              <a:off x="831215" y="5430716"/>
              <a:ext cx="6224270" cy="507365"/>
              <a:chOff x="1928794" y="5918332"/>
              <a:chExt cx="5000660" cy="709564"/>
            </a:xfrm>
          </p:grpSpPr>
          <p:sp>
            <p:nvSpPr>
              <p:cNvPr id="50" name="左大括号 49"/>
              <p:cNvSpPr/>
              <p:nvPr/>
            </p:nvSpPr>
            <p:spPr>
              <a:xfrm rot="16200000">
                <a:off x="4410562" y="5651142"/>
                <a:ext cx="180000" cy="714380"/>
              </a:xfrm>
              <a:prstGeom prst="leftBrace">
                <a:avLst/>
              </a:prstGeom>
              <a:ln>
                <a:tailEnd type="non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22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51" name="圆角矩形 50"/>
              <p:cNvSpPr/>
              <p:nvPr/>
            </p:nvSpPr>
            <p:spPr>
              <a:xfrm>
                <a:off x="1928794" y="6195896"/>
                <a:ext cx="5000660" cy="4320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1</a:t>
                </a:r>
                <a:r>
                  <a:rPr lang="zh-CN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，</a:t>
                </a:r>
                <a:r>
                  <a:rPr lang="en-US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2</a:t>
                </a:r>
                <a:r>
                  <a:rPr lang="zh-CN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，</a:t>
                </a:r>
                <a:r>
                  <a:rPr lang="en-US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3, 4, 5, 6, 7, 8, 9, 10</a:t>
                </a:r>
                <a:endParaRPr lang="zh-CN" altLang="en-US" sz="22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endParaRPr>
              </a:p>
            </p:txBody>
          </p:sp>
        </p:grpSp>
        <p:grpSp>
          <p:nvGrpSpPr>
            <p:cNvPr id="52" name="组合 51"/>
            <p:cNvGrpSpPr/>
            <p:nvPr/>
          </p:nvGrpSpPr>
          <p:grpSpPr>
            <a:xfrm>
              <a:off x="4151630" y="1976314"/>
              <a:ext cx="2846070" cy="711834"/>
              <a:chOff x="4572000" y="1415445"/>
              <a:chExt cx="2286016" cy="802481"/>
            </a:xfrm>
          </p:grpSpPr>
          <p:sp>
            <p:nvSpPr>
              <p:cNvPr id="53" name="圆角矩形 52"/>
              <p:cNvSpPr/>
              <p:nvPr/>
            </p:nvSpPr>
            <p:spPr>
              <a:xfrm>
                <a:off x="4572000" y="1785926"/>
                <a:ext cx="1285884" cy="4320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6</a:t>
                </a:r>
                <a:r>
                  <a:rPr lang="zh-CN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，</a:t>
                </a:r>
                <a:r>
                  <a:rPr lang="en-US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9</a:t>
                </a:r>
                <a:r>
                  <a:rPr lang="zh-CN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，</a:t>
                </a:r>
                <a:r>
                  <a:rPr lang="en-US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4</a:t>
                </a:r>
                <a:endParaRPr lang="zh-CN" altLang="en-US" sz="22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54" name="圆角矩形 53"/>
              <p:cNvSpPr/>
              <p:nvPr/>
            </p:nvSpPr>
            <p:spPr>
              <a:xfrm>
                <a:off x="6000760" y="1785926"/>
                <a:ext cx="857256" cy="4320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3</a:t>
                </a:r>
                <a:r>
                  <a:rPr lang="zh-CN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，</a:t>
                </a:r>
                <a:r>
                  <a:rPr lang="en-US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8</a:t>
                </a:r>
                <a:endParaRPr lang="zh-CN" altLang="en-US" sz="22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endParaRPr>
              </a:p>
            </p:txBody>
          </p:sp>
          <p:cxnSp>
            <p:nvCxnSpPr>
              <p:cNvPr id="55" name="直接箭头连接符 54"/>
              <p:cNvCxnSpPr>
                <a:stCxn id="34" idx="2"/>
                <a:endCxn id="53" idx="0"/>
              </p:cNvCxnSpPr>
              <p:nvPr/>
            </p:nvCxnSpPr>
            <p:spPr>
              <a:xfrm flipH="1">
                <a:off x="5214942" y="1415445"/>
                <a:ext cx="437560" cy="370481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6" name="直接箭头连接符 55"/>
              <p:cNvCxnSpPr>
                <a:stCxn id="34" idx="2"/>
                <a:endCxn id="54" idx="0"/>
              </p:cNvCxnSpPr>
              <p:nvPr/>
            </p:nvCxnSpPr>
            <p:spPr>
              <a:xfrm>
                <a:off x="5652502" y="1415445"/>
                <a:ext cx="776886" cy="370481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57" name="组合 56"/>
            <p:cNvGrpSpPr/>
            <p:nvPr/>
          </p:nvGrpSpPr>
          <p:grpSpPr>
            <a:xfrm>
              <a:off x="4077335" y="2695771"/>
              <a:ext cx="1604645" cy="622107"/>
              <a:chOff x="4572000" y="2213603"/>
              <a:chExt cx="1288694" cy="700960"/>
            </a:xfrm>
          </p:grpSpPr>
          <p:sp>
            <p:nvSpPr>
              <p:cNvPr id="58" name="圆角矩形 57"/>
              <p:cNvSpPr/>
              <p:nvPr/>
            </p:nvSpPr>
            <p:spPr>
              <a:xfrm>
                <a:off x="4572000" y="2482563"/>
                <a:ext cx="857256" cy="4320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6</a:t>
                </a:r>
                <a:r>
                  <a:rPr lang="zh-CN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，</a:t>
                </a:r>
                <a:r>
                  <a:rPr lang="en-US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9</a:t>
                </a:r>
                <a:endParaRPr lang="zh-CN" altLang="en-US" sz="220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59" name="圆角矩形 58"/>
              <p:cNvSpPr/>
              <p:nvPr/>
            </p:nvSpPr>
            <p:spPr>
              <a:xfrm>
                <a:off x="5500694" y="2482563"/>
                <a:ext cx="360000" cy="4320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4</a:t>
                </a:r>
              </a:p>
            </p:txBody>
          </p:sp>
          <p:cxnSp>
            <p:nvCxnSpPr>
              <p:cNvPr id="60" name="直接箭头连接符 59"/>
              <p:cNvCxnSpPr>
                <a:stCxn id="53" idx="2"/>
                <a:endCxn id="58" idx="0"/>
              </p:cNvCxnSpPr>
              <p:nvPr/>
            </p:nvCxnSpPr>
            <p:spPr>
              <a:xfrm flipH="1">
                <a:off x="5000629" y="2213603"/>
                <a:ext cx="273887" cy="26896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直接箭头连接符 60"/>
              <p:cNvCxnSpPr>
                <a:stCxn id="53" idx="2"/>
                <a:endCxn id="59" idx="0"/>
              </p:cNvCxnSpPr>
              <p:nvPr/>
            </p:nvCxnSpPr>
            <p:spPr>
              <a:xfrm>
                <a:off x="5274515" y="2213603"/>
                <a:ext cx="406179" cy="26896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组合 61"/>
            <p:cNvGrpSpPr/>
            <p:nvPr/>
          </p:nvGrpSpPr>
          <p:grpSpPr>
            <a:xfrm>
              <a:off x="4044951" y="3385379"/>
              <a:ext cx="1068071" cy="469262"/>
              <a:chOff x="4574546" y="2820482"/>
              <a:chExt cx="856328" cy="533243"/>
            </a:xfrm>
          </p:grpSpPr>
          <p:sp>
            <p:nvSpPr>
              <p:cNvPr id="63" name="圆角矩形 62"/>
              <p:cNvSpPr/>
              <p:nvPr/>
            </p:nvSpPr>
            <p:spPr>
              <a:xfrm>
                <a:off x="4574546" y="3003038"/>
                <a:ext cx="359943" cy="34996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6</a:t>
                </a:r>
              </a:p>
            </p:txBody>
          </p:sp>
          <p:sp>
            <p:nvSpPr>
              <p:cNvPr id="64" name="圆角矩形 63"/>
              <p:cNvSpPr/>
              <p:nvPr/>
            </p:nvSpPr>
            <p:spPr>
              <a:xfrm>
                <a:off x="5070931" y="3003760"/>
                <a:ext cx="359943" cy="34996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9</a:t>
                </a:r>
              </a:p>
            </p:txBody>
          </p:sp>
          <p:cxnSp>
            <p:nvCxnSpPr>
              <p:cNvPr id="65" name="直接箭头连接符 64"/>
              <p:cNvCxnSpPr>
                <a:stCxn id="58" idx="2"/>
                <a:endCxn id="63" idx="0"/>
              </p:cNvCxnSpPr>
              <p:nvPr/>
            </p:nvCxnSpPr>
            <p:spPr>
              <a:xfrm flipH="1">
                <a:off x="4754518" y="2820483"/>
                <a:ext cx="273900" cy="182556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直接箭头连接符 65"/>
              <p:cNvCxnSpPr>
                <a:stCxn id="58" idx="2"/>
                <a:endCxn id="64" idx="0"/>
              </p:cNvCxnSpPr>
              <p:nvPr/>
            </p:nvCxnSpPr>
            <p:spPr>
              <a:xfrm>
                <a:off x="5028418" y="2820485"/>
                <a:ext cx="222485" cy="183275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组合 66"/>
            <p:cNvGrpSpPr/>
            <p:nvPr/>
          </p:nvGrpSpPr>
          <p:grpSpPr>
            <a:xfrm>
              <a:off x="2568575" y="2621475"/>
              <a:ext cx="1210310" cy="717353"/>
              <a:chOff x="3458431" y="2107112"/>
              <a:chExt cx="970693" cy="807451"/>
            </a:xfrm>
          </p:grpSpPr>
          <p:sp>
            <p:nvSpPr>
              <p:cNvPr id="68" name="圆角矩形 67"/>
              <p:cNvSpPr/>
              <p:nvPr/>
            </p:nvSpPr>
            <p:spPr>
              <a:xfrm>
                <a:off x="3458431" y="2482563"/>
                <a:ext cx="360000" cy="4320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7</a:t>
                </a:r>
              </a:p>
            </p:txBody>
          </p:sp>
          <p:sp>
            <p:nvSpPr>
              <p:cNvPr id="69" name="圆角矩形 68"/>
              <p:cNvSpPr/>
              <p:nvPr/>
            </p:nvSpPr>
            <p:spPr>
              <a:xfrm>
                <a:off x="3926248" y="2482563"/>
                <a:ext cx="502876" cy="4320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10</a:t>
                </a:r>
              </a:p>
            </p:txBody>
          </p:sp>
          <p:cxnSp>
            <p:nvCxnSpPr>
              <p:cNvPr id="70" name="直接箭头连接符 69"/>
              <p:cNvCxnSpPr>
                <a:stCxn id="29" idx="2"/>
                <a:endCxn id="68" idx="0"/>
              </p:cNvCxnSpPr>
              <p:nvPr/>
            </p:nvCxnSpPr>
            <p:spPr>
              <a:xfrm flipH="1">
                <a:off x="3638432" y="2107112"/>
                <a:ext cx="274178" cy="375451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直接箭头连接符 70"/>
              <p:cNvCxnSpPr>
                <a:stCxn id="29" idx="2"/>
                <a:endCxn id="69" idx="0"/>
              </p:cNvCxnSpPr>
              <p:nvPr/>
            </p:nvCxnSpPr>
            <p:spPr>
              <a:xfrm>
                <a:off x="3912609" y="2107112"/>
                <a:ext cx="265076" cy="375451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72" name="组合 71"/>
            <p:cNvGrpSpPr/>
            <p:nvPr/>
          </p:nvGrpSpPr>
          <p:grpSpPr>
            <a:xfrm>
              <a:off x="5949315" y="2695771"/>
              <a:ext cx="1068070" cy="622107"/>
              <a:chOff x="6000760" y="2213603"/>
              <a:chExt cx="857256" cy="700960"/>
            </a:xfrm>
          </p:grpSpPr>
          <p:sp>
            <p:nvSpPr>
              <p:cNvPr id="73" name="圆角矩形 72"/>
              <p:cNvSpPr/>
              <p:nvPr/>
            </p:nvSpPr>
            <p:spPr>
              <a:xfrm>
                <a:off x="6000760" y="2482563"/>
                <a:ext cx="360000" cy="4320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3</a:t>
                </a:r>
              </a:p>
            </p:txBody>
          </p:sp>
          <p:sp>
            <p:nvSpPr>
              <p:cNvPr id="74" name="圆角矩形 73"/>
              <p:cNvSpPr/>
              <p:nvPr/>
            </p:nvSpPr>
            <p:spPr>
              <a:xfrm>
                <a:off x="6498016" y="2482563"/>
                <a:ext cx="360000" cy="4320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20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8</a:t>
                </a:r>
              </a:p>
            </p:txBody>
          </p:sp>
          <p:cxnSp>
            <p:nvCxnSpPr>
              <p:cNvPr id="75" name="直接箭头连接符 74"/>
              <p:cNvCxnSpPr>
                <a:stCxn id="54" idx="2"/>
                <a:endCxn id="73" idx="0"/>
              </p:cNvCxnSpPr>
              <p:nvPr/>
            </p:nvCxnSpPr>
            <p:spPr>
              <a:xfrm flipH="1">
                <a:off x="6180760" y="2213603"/>
                <a:ext cx="233147" cy="26896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直接箭头连接符 75"/>
              <p:cNvCxnSpPr>
                <a:stCxn id="54" idx="2"/>
                <a:endCxn id="74" idx="0"/>
              </p:cNvCxnSpPr>
              <p:nvPr/>
            </p:nvCxnSpPr>
            <p:spPr>
              <a:xfrm>
                <a:off x="6413907" y="2213603"/>
                <a:ext cx="264109" cy="26896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77" name="组合 76"/>
            <p:cNvGrpSpPr/>
            <p:nvPr/>
          </p:nvGrpSpPr>
          <p:grpSpPr>
            <a:xfrm>
              <a:off x="7091680" y="3994346"/>
              <a:ext cx="1778635" cy="990807"/>
              <a:chOff x="7215206" y="1500174"/>
              <a:chExt cx="1428760" cy="1388086"/>
            </a:xfrm>
          </p:grpSpPr>
          <p:cxnSp>
            <p:nvCxnSpPr>
              <p:cNvPr id="78" name="直接箭头连接符 77"/>
              <p:cNvCxnSpPr/>
              <p:nvPr/>
            </p:nvCxnSpPr>
            <p:spPr>
              <a:xfrm rot="5400000">
                <a:off x="7286644" y="1643050"/>
                <a:ext cx="357190" cy="214314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直接箭头连接符 78"/>
              <p:cNvCxnSpPr/>
              <p:nvPr/>
            </p:nvCxnSpPr>
            <p:spPr>
              <a:xfrm rot="16200000" flipH="1">
                <a:off x="7500958" y="1643050"/>
                <a:ext cx="357190" cy="214314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0" name="TextBox 79"/>
              <p:cNvSpPr txBox="1"/>
              <p:nvPr/>
            </p:nvSpPr>
            <p:spPr>
              <a:xfrm>
                <a:off x="7929586" y="1500174"/>
                <a:ext cx="714380" cy="6022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200" b="1" dirty="0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分解</a:t>
                </a:r>
              </a:p>
            </p:txBody>
          </p:sp>
          <p:sp>
            <p:nvSpPr>
              <p:cNvPr id="81" name="左大括号 80"/>
              <p:cNvSpPr/>
              <p:nvPr/>
            </p:nvSpPr>
            <p:spPr>
              <a:xfrm rot="16200000">
                <a:off x="7431206" y="2284307"/>
                <a:ext cx="180000" cy="612000"/>
              </a:xfrm>
              <a:prstGeom prst="leftBrace">
                <a:avLst/>
              </a:prstGeom>
              <a:ln>
                <a:tailEnd type="non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22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82" name="TextBox 81"/>
              <p:cNvSpPr txBox="1"/>
              <p:nvPr/>
            </p:nvSpPr>
            <p:spPr>
              <a:xfrm>
                <a:off x="7929586" y="2285992"/>
                <a:ext cx="714380" cy="6022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200" b="1" dirty="0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合并</a:t>
                </a:r>
              </a:p>
            </p:txBody>
          </p:sp>
        </p:grpSp>
        <p:grpSp>
          <p:nvGrpSpPr>
            <p:cNvPr id="83" name="组合 82"/>
            <p:cNvGrpSpPr/>
            <p:nvPr/>
          </p:nvGrpSpPr>
          <p:grpSpPr>
            <a:xfrm>
              <a:off x="7599129" y="1761366"/>
              <a:ext cx="711753" cy="2079413"/>
              <a:chOff x="6468578" y="659383"/>
              <a:chExt cx="571504" cy="2915051"/>
            </a:xfrm>
          </p:grpSpPr>
          <p:sp>
            <p:nvSpPr>
              <p:cNvPr id="84" name="Text Box 6"/>
              <p:cNvSpPr txBox="1">
                <a:spLocks noChangeArrowheads="1"/>
              </p:cNvSpPr>
              <p:nvPr/>
            </p:nvSpPr>
            <p:spPr bwMode="auto">
              <a:xfrm>
                <a:off x="6468578" y="2971780"/>
                <a:ext cx="571504" cy="60265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b="1" dirty="0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底</a:t>
                </a:r>
              </a:p>
            </p:txBody>
          </p:sp>
          <p:sp>
            <p:nvSpPr>
              <p:cNvPr id="85" name="Text Box 7"/>
              <p:cNvSpPr txBox="1">
                <a:spLocks noChangeArrowheads="1"/>
              </p:cNvSpPr>
              <p:nvPr/>
            </p:nvSpPr>
            <p:spPr bwMode="auto">
              <a:xfrm>
                <a:off x="6468578" y="659383"/>
                <a:ext cx="498479" cy="60265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b="1" dirty="0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顶</a:t>
                </a:r>
              </a:p>
            </p:txBody>
          </p:sp>
          <p:sp>
            <p:nvSpPr>
              <p:cNvPr id="86" name="AutoShape 8"/>
              <p:cNvSpPr>
                <a:spLocks noChangeArrowheads="1"/>
              </p:cNvSpPr>
              <p:nvPr/>
            </p:nvSpPr>
            <p:spPr bwMode="auto">
              <a:xfrm>
                <a:off x="6575438" y="1219180"/>
                <a:ext cx="215900" cy="1655763"/>
              </a:xfrm>
              <a:prstGeom prst="downArrow">
                <a:avLst>
                  <a:gd name="adj1" fmla="val 50000"/>
                  <a:gd name="adj2" fmla="val 191728"/>
                </a:avLst>
              </a:prstGeom>
              <a:solidFill>
                <a:srgbClr val="FF0000"/>
              </a:solidFill>
              <a:ln w="9525">
                <a:solidFill>
                  <a:srgbClr val="CC3300"/>
                </a:solidFill>
                <a:miter lim="800000"/>
              </a:ln>
              <a:effectLst/>
            </p:spPr>
            <p:txBody>
              <a:bodyPr vert="eaVert" wrap="none" anchor="ctr"/>
              <a:lstStyle/>
              <a:p>
                <a:endParaRPr lang="zh-CN" altLang="en-US" sz="22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94" name="Text Box 3">
            <a:extLst>
              <a:ext uri="{FF2B5EF4-FFF2-40B4-BE49-F238E27FC236}">
                <a16:creationId xmlns:a16="http://schemas.microsoft.com/office/drawing/2014/main" id="{89C08D46-14C9-CC6F-6ED3-671AFCB766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314" y="471532"/>
            <a:ext cx="4910289" cy="461665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+mn-ea"/>
              </a:rPr>
              <a:t>2.7.1</a:t>
            </a:r>
            <a:r>
              <a:rPr lang="zh-CN" altLang="en-US" sz="2400" b="1" dirty="0">
                <a:solidFill>
                  <a:srgbClr val="FF33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自顶向下的二路归并排序算法</a:t>
            </a:r>
            <a:endParaRPr lang="zh-CN" altLang="zh-CN" sz="24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E2AE0435-12D2-0F3A-F037-C9E872C0F5F9}"/>
              </a:ext>
            </a:extLst>
          </p:cNvPr>
          <p:cNvSpPr txBox="1"/>
          <p:nvPr/>
        </p:nvSpPr>
        <p:spPr>
          <a:xfrm>
            <a:off x="127065" y="1077309"/>
            <a:ext cx="1167421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例如，对于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{2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5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1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7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10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6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9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4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3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8}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序列，说明其自顶向下的二路归并排序的过程。</a:t>
            </a:r>
            <a:endParaRPr lang="zh-CN" altLang="en-US" sz="22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Text Box 2"/>
          <p:cNvSpPr txBox="1">
            <a:spLocks noChangeArrowheads="1"/>
          </p:cNvSpPr>
          <p:nvPr/>
        </p:nvSpPr>
        <p:spPr bwMode="auto">
          <a:xfrm>
            <a:off x="414195" y="1096194"/>
            <a:ext cx="8386137" cy="847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10045" tIns="55022" rIns="110045" bIns="55022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设归并排序的当前区间是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[</a:t>
            </a:r>
            <a:r>
              <a:rPr lang="en-US" altLang="zh-CN" sz="24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low..high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]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，则递归归并的两个步骤如下：</a:t>
            </a:r>
          </a:p>
        </p:txBody>
      </p:sp>
      <p:sp>
        <p:nvSpPr>
          <p:cNvPr id="189443" name="Text Box 3"/>
          <p:cNvSpPr txBox="1">
            <a:spLocks noChangeArrowheads="1"/>
          </p:cNvSpPr>
          <p:nvPr/>
        </p:nvSpPr>
        <p:spPr bwMode="auto">
          <a:xfrm>
            <a:off x="511174" y="1943735"/>
            <a:ext cx="8098915" cy="417385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10045" tIns="216625" rIns="110045" bIns="216625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　　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① 分解：将序列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[</a:t>
            </a:r>
            <a:r>
              <a:rPr lang="en-US" altLang="zh-CN" sz="24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low..high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]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一分为二，即求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mid=(</a:t>
            </a:r>
            <a:r>
              <a:rPr lang="en-US" altLang="zh-CN" sz="24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low+high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)/2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；递归地对两个子序列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[</a:t>
            </a:r>
            <a:r>
              <a:rPr lang="en-US" altLang="zh-CN" sz="24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low..mid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]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和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[mid+1..high]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进行继续分解。其终结条件是子序列长度为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1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（因为一个元素的子表一定是有序表）。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② 合并：与分解过程相反，将已排序的两个子序列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[</a:t>
            </a:r>
            <a:r>
              <a:rPr lang="en-US" altLang="zh-CN" sz="24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low..mid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]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和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[mid+1..high]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归并为一个有序序列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[</a:t>
            </a:r>
            <a:r>
              <a:rPr lang="en-US" altLang="zh-CN" sz="24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low..high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]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Text Box 2"/>
          <p:cNvSpPr txBox="1">
            <a:spLocks noChangeArrowheads="1"/>
          </p:cNvSpPr>
          <p:nvPr/>
        </p:nvSpPr>
        <p:spPr bwMode="auto">
          <a:xfrm>
            <a:off x="413774" y="1275059"/>
            <a:ext cx="8927402" cy="4781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10045" tIns="55022" rIns="110045" bIns="55022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对应的二路归并排序算法如下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</a:p>
        </p:txBody>
      </p:sp>
      <p:sp>
        <p:nvSpPr>
          <p:cNvPr id="188419" name="Text Box 3"/>
          <p:cNvSpPr txBox="1">
            <a:spLocks noChangeArrowheads="1"/>
          </p:cNvSpPr>
          <p:nvPr/>
        </p:nvSpPr>
        <p:spPr bwMode="auto">
          <a:xfrm>
            <a:off x="490855" y="1996440"/>
            <a:ext cx="8150225" cy="35928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  <a:miter lim="800000"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 lIns="216625" tIns="216625" rIns="110045" bIns="216625">
            <a:no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zh-CN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void </a:t>
            </a:r>
            <a:r>
              <a:rPr lang="en-US" altLang="zh-CN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MergeSort</a:t>
            </a:r>
            <a:r>
              <a:rPr lang="en-US" altLang="zh-CN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(</a:t>
            </a:r>
            <a:r>
              <a:rPr lang="en-US" altLang="zh-CN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int</a:t>
            </a:r>
            <a:r>
              <a:rPr lang="en-US" altLang="zh-CN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a[ ]</a:t>
            </a:r>
            <a:r>
              <a:rPr lang="zh-CN" altLang="en-US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int</a:t>
            </a:r>
            <a:r>
              <a:rPr lang="en-US" altLang="zh-CN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low</a:t>
            </a:r>
            <a:r>
              <a:rPr lang="zh-CN" altLang="en-US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int</a:t>
            </a:r>
            <a:r>
              <a:rPr lang="en-US" altLang="zh-CN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high)</a:t>
            </a:r>
          </a:p>
          <a:p>
            <a:pPr indent="0" fontAlgn="auto">
              <a:lnSpc>
                <a:spcPct val="120000"/>
              </a:lnSpc>
            </a:pPr>
            <a:r>
              <a:rPr lang="en-US" altLang="zh-CN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//</a:t>
            </a:r>
            <a:r>
              <a:rPr lang="zh-CN" altLang="en-US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二路归并算法</a:t>
            </a:r>
          </a:p>
          <a:p>
            <a:pPr indent="0" fontAlgn="auto">
              <a:lnSpc>
                <a:spcPct val="120000"/>
              </a:lnSpc>
            </a:pPr>
            <a:r>
              <a:rPr lang="en-US" altLang="zh-CN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{   </a:t>
            </a:r>
            <a:r>
              <a:rPr lang="en-US" altLang="zh-CN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int</a:t>
            </a:r>
            <a:r>
              <a:rPr lang="en-US" altLang="zh-CN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mid;</a:t>
            </a:r>
          </a:p>
          <a:p>
            <a:pPr indent="0" fontAlgn="auto">
              <a:lnSpc>
                <a:spcPct val="120000"/>
              </a:lnSpc>
            </a:pPr>
            <a:r>
              <a:rPr lang="zh-CN" altLang="en-US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</a:t>
            </a:r>
            <a:r>
              <a:rPr lang="en-US" altLang="zh-CN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if (low&lt;high)			//</a:t>
            </a:r>
            <a:r>
              <a:rPr lang="zh-CN" altLang="en-US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子序列有两个或以上元素</a:t>
            </a:r>
          </a:p>
          <a:p>
            <a:pPr indent="0" fontAlgn="auto">
              <a:lnSpc>
                <a:spcPct val="120000"/>
              </a:lnSpc>
            </a:pPr>
            <a:r>
              <a:rPr lang="zh-CN" altLang="en-US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</a:t>
            </a:r>
            <a:r>
              <a:rPr lang="en-US" altLang="zh-CN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{	mid=(</a:t>
            </a:r>
            <a:r>
              <a:rPr lang="en-US" altLang="zh-CN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low+high</a:t>
            </a:r>
            <a:r>
              <a:rPr lang="en-US" altLang="zh-CN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)/2;		//</a:t>
            </a:r>
            <a:r>
              <a:rPr lang="zh-CN" altLang="en-US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取中间位置</a:t>
            </a:r>
          </a:p>
          <a:p>
            <a:pPr indent="0" fontAlgn="auto">
              <a:lnSpc>
                <a:spcPct val="120000"/>
              </a:lnSpc>
            </a:pPr>
            <a:r>
              <a:rPr lang="zh-CN" altLang="en-US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　　</a:t>
            </a:r>
            <a:r>
              <a:rPr lang="en-US" altLang="zh-CN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MergeSort</a:t>
            </a:r>
            <a:r>
              <a:rPr lang="en-US" altLang="zh-CN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(a</a:t>
            </a:r>
            <a:r>
              <a:rPr lang="zh-CN" altLang="en-US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low</a:t>
            </a:r>
            <a:r>
              <a:rPr lang="zh-CN" altLang="en-US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mid);	//</a:t>
            </a:r>
            <a:r>
              <a:rPr lang="zh-CN" altLang="en-US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对</a:t>
            </a:r>
            <a:r>
              <a:rPr lang="en-US" altLang="zh-CN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a[low..mid]</a:t>
            </a:r>
            <a:r>
              <a:rPr lang="zh-CN" altLang="en-US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子序列排序</a:t>
            </a:r>
          </a:p>
          <a:p>
            <a:pPr indent="0" fontAlgn="auto">
              <a:lnSpc>
                <a:spcPct val="120000"/>
              </a:lnSpc>
            </a:pPr>
            <a:r>
              <a:rPr lang="zh-CN" altLang="en-US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　　</a:t>
            </a:r>
            <a:r>
              <a:rPr lang="en-US" altLang="zh-CN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MergeSort</a:t>
            </a:r>
            <a:r>
              <a:rPr lang="en-US" altLang="zh-CN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(a</a:t>
            </a:r>
            <a:r>
              <a:rPr lang="zh-CN" altLang="en-US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mid+1</a:t>
            </a:r>
            <a:r>
              <a:rPr lang="zh-CN" altLang="en-US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high);	//</a:t>
            </a:r>
            <a:r>
              <a:rPr lang="zh-CN" altLang="en-US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对</a:t>
            </a:r>
            <a:r>
              <a:rPr lang="en-US" altLang="zh-CN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a[</a:t>
            </a:r>
            <a:r>
              <a:rPr lang="en-US" altLang="zh-CN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mid+1..high</a:t>
            </a:r>
            <a:r>
              <a:rPr lang="en-US" altLang="zh-CN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]</a:t>
            </a:r>
            <a:r>
              <a:rPr lang="zh-CN" altLang="en-US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子序列排序</a:t>
            </a:r>
          </a:p>
          <a:p>
            <a:pPr indent="0" fontAlgn="auto">
              <a:lnSpc>
                <a:spcPct val="120000"/>
              </a:lnSpc>
            </a:pPr>
            <a:r>
              <a:rPr lang="zh-CN" altLang="en-US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　　</a:t>
            </a:r>
            <a:r>
              <a:rPr lang="en-US" altLang="zh-CN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Merge(a</a:t>
            </a:r>
            <a:r>
              <a:rPr lang="zh-CN" altLang="en-US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low</a:t>
            </a:r>
            <a:r>
              <a:rPr lang="zh-CN" altLang="en-US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mid</a:t>
            </a:r>
            <a:r>
              <a:rPr lang="zh-CN" altLang="en-US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high);//</a:t>
            </a:r>
            <a:r>
              <a:rPr lang="zh-CN" altLang="en-US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将两子序列合并，见前面的算法</a:t>
            </a:r>
          </a:p>
          <a:p>
            <a:pPr indent="0" fontAlgn="auto">
              <a:lnSpc>
                <a:spcPct val="120000"/>
              </a:lnSpc>
            </a:pPr>
            <a:r>
              <a:rPr lang="zh-CN" altLang="en-US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</a:t>
            </a:r>
            <a:r>
              <a:rPr lang="en-US" altLang="zh-CN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}</a:t>
            </a:r>
          </a:p>
          <a:p>
            <a:pPr indent="0" fontAlgn="auto">
              <a:lnSpc>
                <a:spcPct val="120000"/>
              </a:lnSpc>
            </a:pPr>
            <a:r>
              <a:rPr lang="en-US" altLang="zh-CN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3948" y="5668622"/>
            <a:ext cx="5808458" cy="478155"/>
          </a:xfrm>
          <a:prstGeom prst="rect">
            <a:avLst/>
          </a:prstGeom>
          <a:noFill/>
        </p:spPr>
        <p:txBody>
          <a:bodyPr wrap="square" lIns="110045" tIns="55022" rIns="110045" bIns="55022" rtlCol="0"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递归出口为序列长度为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1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或者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0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Text Box 2"/>
          <p:cNvSpPr txBox="1">
            <a:spLocks noChangeArrowheads="1"/>
          </p:cNvSpPr>
          <p:nvPr/>
        </p:nvSpPr>
        <p:spPr bwMode="auto">
          <a:xfrm>
            <a:off x="433705" y="1377950"/>
            <a:ext cx="8277860" cy="17710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10045" tIns="55022" rIns="110045" bIns="55022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　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　</a:t>
            </a:r>
            <a:r>
              <a:rPr lang="en-US" altLang="zh-CN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【</a:t>
            </a:r>
            <a:r>
              <a:rPr lang="zh-CN" altLang="en-US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算法分析</a:t>
            </a:r>
            <a:r>
              <a:rPr lang="en-US" altLang="zh-CN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】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设</a:t>
            </a:r>
            <a:r>
              <a:rPr lang="en-US" altLang="zh-CN" sz="24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MergeSort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(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0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-1)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算法的执行时间为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T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(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)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，显然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Merge(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0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/2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-1)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的执行时间为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O(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)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，所以得到以下递推式：</a:t>
            </a:r>
          </a:p>
        </p:txBody>
      </p:sp>
      <p:sp>
        <p:nvSpPr>
          <p:cNvPr id="187395" name="Text Box 3"/>
          <p:cNvSpPr txBox="1">
            <a:spLocks noChangeArrowheads="1"/>
          </p:cNvSpPr>
          <p:nvPr/>
        </p:nvSpPr>
        <p:spPr bwMode="auto">
          <a:xfrm>
            <a:off x="944738" y="3148652"/>
            <a:ext cx="6891825" cy="119380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216625" tIns="173300" rIns="110045" bIns="17330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3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T</a:t>
            </a:r>
            <a:r>
              <a:rPr lang="en-US" altLang="zh-CN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(</a:t>
            </a:r>
            <a:r>
              <a:rPr lang="en-US" altLang="zh-CN" sz="23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)=1				</a:t>
            </a:r>
            <a:r>
              <a:rPr lang="zh-CN" altLang="en-US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当</a:t>
            </a:r>
            <a:r>
              <a:rPr lang="en-US" altLang="zh-CN" sz="23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=1</a:t>
            </a:r>
            <a:endParaRPr lang="en-US" altLang="zh-CN" sz="2300" b="1" i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3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T</a:t>
            </a:r>
            <a:r>
              <a:rPr lang="en-US" altLang="zh-CN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(</a:t>
            </a:r>
            <a:r>
              <a:rPr lang="en-US" altLang="zh-CN" sz="23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)=2</a:t>
            </a:r>
            <a:r>
              <a:rPr lang="en-US" altLang="zh-CN" sz="23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T</a:t>
            </a:r>
            <a:r>
              <a:rPr lang="en-US" altLang="zh-CN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(</a:t>
            </a:r>
            <a:r>
              <a:rPr lang="en-US" altLang="zh-CN" sz="23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/2)+O(</a:t>
            </a:r>
            <a:r>
              <a:rPr lang="en-US" altLang="zh-CN" sz="23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)		</a:t>
            </a:r>
            <a:r>
              <a:rPr lang="zh-CN" altLang="en-US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当</a:t>
            </a:r>
            <a:r>
              <a:rPr lang="en-US" altLang="zh-CN" sz="23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&gt;1</a:t>
            </a:r>
          </a:p>
        </p:txBody>
      </p:sp>
      <p:sp>
        <p:nvSpPr>
          <p:cNvPr id="187396" name="Text Box 4"/>
          <p:cNvSpPr txBox="1">
            <a:spLocks noChangeArrowheads="1"/>
          </p:cNvSpPr>
          <p:nvPr/>
        </p:nvSpPr>
        <p:spPr bwMode="auto">
          <a:xfrm>
            <a:off x="944738" y="4623267"/>
            <a:ext cx="8061957" cy="4781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10045" tIns="55022" rIns="110045" bIns="55022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容易推出，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T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(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)=O(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log</a:t>
            </a:r>
            <a:r>
              <a:rPr lang="en-US" altLang="zh-CN" sz="2400" b="1" baseline="-250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2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)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66700" y="1352550"/>
            <a:ext cx="8050823" cy="17710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10045" tIns="55022" rIns="110045" bIns="55022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   </a:t>
            </a:r>
            <a:r>
              <a:rPr lang="zh-CN" altLang="zh-CN" sz="2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【问题描述】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对于给定的含有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 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元素的无序序列，求这个序列中最大和次大的两个不同的元素。</a:t>
            </a:r>
            <a:endParaRPr lang="en-US" altLang="zh-CN" sz="24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   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例如：（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2, 5, 1, 4, 6, 3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），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最大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元素为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6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次大元素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为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5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。</a:t>
            </a:r>
          </a:p>
        </p:txBody>
      </p:sp>
      <p:sp>
        <p:nvSpPr>
          <p:cNvPr id="5" name="基础扎实 / Strong Preparation">
            <a:extLst>
              <a:ext uri="{FF2B5EF4-FFF2-40B4-BE49-F238E27FC236}">
                <a16:creationId xmlns:a16="http://schemas.microsoft.com/office/drawing/2014/main" id="{74E1C8B0-6CCC-28A4-A730-0671CD03C182}"/>
              </a:ext>
            </a:extLst>
          </p:cNvPr>
          <p:cNvSpPr txBox="1"/>
          <p:nvPr/>
        </p:nvSpPr>
        <p:spPr>
          <a:xfrm>
            <a:off x="2603627" y="367980"/>
            <a:ext cx="5870237" cy="561660"/>
          </a:xfrm>
          <a:prstGeom prst="rect">
            <a:avLst/>
          </a:prstGeom>
          <a:noFill/>
          <a:ln>
            <a:noFill/>
          </a:ln>
        </p:spPr>
        <p:txBody>
          <a:bodyPr wrap="square" lIns="68549" tIns="34274" rIns="68549" bIns="34274" rtlCol="0">
            <a:spAutoFit/>
          </a:bodyPr>
          <a:lstStyle/>
          <a:p>
            <a:pPr algn="ctr" defTabSz="950595">
              <a:buClr>
                <a:prstClr val="white"/>
              </a:buClr>
              <a:buSzTx/>
              <a:buFontTx/>
              <a:defRPr/>
            </a:pPr>
            <a:r>
              <a:rPr lang="zh-CN" altLang="en-US" sz="3200" b="1" spc="50" dirty="0">
                <a:ln w="11430"/>
                <a:solidFill>
                  <a:srgbClr val="006600"/>
                </a:solidFill>
                <a:latin typeface="+mn-ea"/>
                <a:sym typeface="Arial" panose="020B0604020202020204" pitchFamily="34" charset="0"/>
              </a:rPr>
              <a:t>2.</a:t>
            </a:r>
            <a:r>
              <a:rPr lang="en-US" altLang="zh-CN" sz="3200" b="1" spc="50" dirty="0">
                <a:ln w="11430"/>
                <a:solidFill>
                  <a:srgbClr val="006600"/>
                </a:solidFill>
                <a:latin typeface="+mn-ea"/>
                <a:sym typeface="Arial" panose="020B0604020202020204" pitchFamily="34" charset="0"/>
              </a:rPr>
              <a:t>8</a:t>
            </a:r>
            <a:r>
              <a:rPr lang="zh-CN" altLang="en-US" sz="3200" b="1" spc="50" dirty="0">
                <a:ln w="11430"/>
                <a:solidFill>
                  <a:srgbClr val="006600"/>
                </a:solidFill>
                <a:latin typeface="+mn-ea"/>
                <a:sym typeface="Arial" panose="020B0604020202020204" pitchFamily="34" charset="0"/>
              </a:rPr>
              <a:t> 寻找最大和次大元素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5135" y="1426845"/>
            <a:ext cx="9281872" cy="4650740"/>
          </a:xfrm>
          <a:prstGeom prst="rect">
            <a:avLst/>
          </a:prstGeom>
          <a:solidFill>
            <a:schemeClr val="bg1"/>
          </a:solidFill>
        </p:spPr>
        <p:txBody>
          <a:bodyPr wrap="square" lIns="110045" tIns="173300" rIns="110045" bIns="173300" rtlCol="0">
            <a:no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zh-CN" sz="22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   </a:t>
            </a:r>
            <a:r>
              <a:rPr lang="zh-CN" altLang="zh-CN" sz="22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【问题求解】</a:t>
            </a:r>
            <a:r>
              <a:rPr lang="zh-CN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对于无序序列</a:t>
            </a:r>
            <a:r>
              <a:rPr lang="en-US" altLang="zh-CN" sz="22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[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low.high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]</a:t>
            </a:r>
            <a:r>
              <a:rPr lang="zh-CN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中，采用分治法求最大元素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max1</a:t>
            </a:r>
            <a:r>
              <a:rPr lang="zh-CN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和次大元素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max2</a:t>
            </a:r>
            <a:r>
              <a:rPr lang="zh-CN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的过程如下：</a:t>
            </a:r>
          </a:p>
          <a:p>
            <a:pPr indent="0" fontAlgn="auto">
              <a:lnSpc>
                <a:spcPct val="120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  </a:t>
            </a:r>
            <a:r>
              <a:rPr lang="zh-CN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（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1</a:t>
            </a:r>
            <a:r>
              <a:rPr lang="zh-CN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）</a:t>
            </a:r>
            <a:r>
              <a:rPr lang="en-US" altLang="zh-CN" sz="22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[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low.high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]</a:t>
            </a:r>
            <a:r>
              <a:rPr lang="zh-CN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中只有一个元素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：</a:t>
            </a:r>
            <a:r>
              <a:rPr lang="zh-CN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则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max1=a[low]</a:t>
            </a:r>
            <a:r>
              <a:rPr lang="zh-CN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endParaRPr lang="en-US" altLang="zh-CN" sz="22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Consolas" panose="020B0609020204030204" pitchFamily="49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max2=-INF</a:t>
            </a:r>
            <a:r>
              <a:rPr lang="zh-CN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（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-</a:t>
            </a:r>
            <a:r>
              <a:rPr lang="zh-CN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∞）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（要求它们是不同的元素）</a:t>
            </a:r>
            <a:r>
              <a:rPr lang="zh-CN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。</a:t>
            </a:r>
          </a:p>
          <a:p>
            <a:pPr indent="0" fontAlgn="auto">
              <a:lnSpc>
                <a:spcPct val="120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  </a:t>
            </a:r>
            <a:r>
              <a:rPr lang="zh-CN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（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2</a:t>
            </a:r>
            <a:r>
              <a:rPr lang="zh-CN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）</a:t>
            </a:r>
            <a:r>
              <a:rPr lang="en-US" altLang="zh-CN" sz="22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[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low.high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]</a:t>
            </a:r>
            <a:r>
              <a:rPr lang="zh-CN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中只有两个元素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：</a:t>
            </a:r>
            <a:r>
              <a:rPr lang="zh-CN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则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max1=MAX{a[low]</a:t>
            </a:r>
            <a:r>
              <a:rPr lang="zh-CN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a[high]}</a:t>
            </a:r>
            <a:r>
              <a:rPr lang="zh-CN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max2=MIN{a[low]</a:t>
            </a:r>
            <a:r>
              <a:rPr lang="zh-CN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a[high]}</a:t>
            </a:r>
            <a:r>
              <a:rPr lang="zh-CN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。</a:t>
            </a:r>
          </a:p>
          <a:p>
            <a:pPr indent="0" fontAlgn="auto">
              <a:lnSpc>
                <a:spcPct val="120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  </a:t>
            </a:r>
            <a:r>
              <a:rPr lang="zh-CN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（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3</a:t>
            </a:r>
            <a:r>
              <a:rPr lang="zh-CN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）</a:t>
            </a:r>
            <a:r>
              <a:rPr lang="en-US" altLang="zh-CN" sz="22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[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low.high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]</a:t>
            </a:r>
            <a:r>
              <a:rPr lang="zh-CN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中有两个以上元素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：</a:t>
            </a:r>
            <a:r>
              <a:rPr lang="zh-CN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按中间位置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mid=(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low+high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)/2</a:t>
            </a:r>
            <a:r>
              <a:rPr lang="zh-CN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划分为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a[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low..mid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]</a:t>
            </a:r>
            <a:r>
              <a:rPr lang="zh-CN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和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a[mid+1..high]</a:t>
            </a:r>
            <a:r>
              <a:rPr lang="zh-CN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左右两个区间（注意左区间包含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a[mid]</a:t>
            </a:r>
            <a:r>
              <a:rPr lang="zh-CN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元素）。</a:t>
            </a:r>
            <a:endParaRPr lang="en-US" altLang="zh-CN" sz="22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Consolas" panose="020B0609020204030204" pitchFamily="49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  </a:t>
            </a:r>
            <a:r>
              <a:rPr lang="zh-CN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求出左区间最大元素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lmax1</a:t>
            </a:r>
            <a:r>
              <a:rPr lang="zh-CN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和次大元素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lmax2</a:t>
            </a:r>
            <a:r>
              <a:rPr lang="zh-CN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，求出右区间最大元素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rmax1</a:t>
            </a:r>
            <a:r>
              <a:rPr lang="zh-CN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和次大元素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rmax2</a:t>
            </a:r>
            <a:r>
              <a:rPr lang="zh-CN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6432" y="1369733"/>
            <a:ext cx="8372752" cy="1894205"/>
          </a:xfrm>
          <a:prstGeom prst="rect">
            <a:avLst/>
          </a:prstGeom>
          <a:solidFill>
            <a:schemeClr val="bg1"/>
          </a:solidFill>
        </p:spPr>
        <p:txBody>
          <a:bodyPr wrap="square" lIns="110045" tIns="173300" rIns="110045" bIns="173300" rtlCol="0">
            <a:noAutofit/>
          </a:bodyPr>
          <a:lstStyle/>
          <a:p>
            <a:pPr>
              <a:lnSpc>
                <a:spcPts val="3850"/>
              </a:lnSpc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合并：</a:t>
            </a:r>
            <a:endParaRPr lang="en-US" altLang="zh-CN" sz="24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Consolas" panose="020B0609020204030204" pitchFamily="49" charset="0"/>
            </a:endParaRPr>
          </a:p>
          <a:p>
            <a:pPr>
              <a:lnSpc>
                <a:spcPts val="3850"/>
              </a:lnSpc>
            </a:pP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若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lmax1&gt;rmax1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，则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max1=lmax1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max2=MAX{lmax2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rmax1}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；</a:t>
            </a:r>
            <a:endParaRPr lang="en-US" altLang="zh-CN" sz="24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Consolas" panose="020B0609020204030204" pitchFamily="49" charset="0"/>
            </a:endParaRPr>
          </a:p>
          <a:p>
            <a:pPr>
              <a:lnSpc>
                <a:spcPts val="3850"/>
              </a:lnSpc>
            </a:pP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否则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max1=rmax1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max2=MAX{lmax1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rmax2}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。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BA8C6A98-5B5D-F0CB-09C4-877C5960F471}"/>
              </a:ext>
            </a:extLst>
          </p:cNvPr>
          <p:cNvSpPr txBox="1"/>
          <p:nvPr/>
        </p:nvSpPr>
        <p:spPr>
          <a:xfrm>
            <a:off x="286433" y="3699880"/>
            <a:ext cx="7489036" cy="19399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216625" tIns="216625" rIns="110045" bIns="216625" rtlCol="0">
            <a:noAutofit/>
          </a:bodyPr>
          <a:lstStyle/>
          <a:p>
            <a:pPr indent="0" fontAlgn="auto">
              <a:lnSpc>
                <a:spcPts val="2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void solve(int a[ ],int 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low,int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high,int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&amp;max1,int &amp;max2)</a:t>
            </a:r>
            <a:endParaRPr lang="zh-CN" altLang="zh-CN" sz="22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Consolas" panose="020B0609020204030204" pitchFamily="49" charset="0"/>
            </a:endParaRPr>
          </a:p>
          <a:p>
            <a:pPr indent="0" fontAlgn="auto">
              <a:lnSpc>
                <a:spcPts val="2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{   </a:t>
            </a:r>
          </a:p>
          <a:p>
            <a:pPr indent="0" fontAlgn="auto">
              <a:lnSpc>
                <a:spcPts val="2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    if (low==high)		//</a:t>
            </a:r>
            <a:r>
              <a:rPr lang="zh-CN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区间只有一个元素</a:t>
            </a:r>
          </a:p>
          <a:p>
            <a:pPr indent="0" fontAlgn="auto">
              <a:lnSpc>
                <a:spcPts val="2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   {	max1=a[low];	max2=-INF;  }</a:t>
            </a:r>
            <a:endParaRPr lang="zh-CN" altLang="zh-CN" sz="22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Consolas" panose="020B0609020204030204" pitchFamily="49" charset="0"/>
            </a:endParaRPr>
          </a:p>
          <a:p>
            <a:pPr indent="0" fontAlgn="auto">
              <a:lnSpc>
                <a:spcPts val="2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   else if (low==high-1)	//</a:t>
            </a:r>
            <a:r>
              <a:rPr lang="zh-CN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区间只有两个元素</a:t>
            </a:r>
          </a:p>
          <a:p>
            <a:pPr indent="0" fontAlgn="auto">
              <a:lnSpc>
                <a:spcPts val="2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   {	max1=max(a[low],a[high]); max2=min(a[low],a[high]); </a:t>
            </a:r>
            <a:endParaRPr lang="zh-CN" altLang="zh-CN" sz="22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Consolas" panose="020B0609020204030204" pitchFamily="49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/>
          <p:cNvSpPr txBox="1"/>
          <p:nvPr>
            <p:custDataLst>
              <p:tags r:id="rId2"/>
            </p:custDataLst>
          </p:nvPr>
        </p:nvSpPr>
        <p:spPr>
          <a:xfrm>
            <a:off x="553719" y="1349375"/>
            <a:ext cx="8633239" cy="471389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216625" tIns="216625" rIns="110045" bIns="216625" rtlCol="0">
            <a:noAutofit/>
          </a:bodyPr>
          <a:lstStyle/>
          <a:p>
            <a:pPr indent="0" fontAlgn="auto">
              <a:lnSpc>
                <a:spcPts val="2000"/>
              </a:lnSpc>
            </a:pPr>
            <a:r>
              <a:rPr lang="en-US" altLang="zh-CN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    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else			//</a:t>
            </a:r>
            <a:r>
              <a:rPr lang="zh-CN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区间有两个以上元素</a:t>
            </a:r>
          </a:p>
          <a:p>
            <a:pPr indent="0" fontAlgn="auto">
              <a:lnSpc>
                <a:spcPts val="2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   {	int mid=(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low+high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)/2;</a:t>
            </a:r>
            <a:endParaRPr lang="zh-CN" altLang="zh-CN" sz="22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Consolas" panose="020B0609020204030204" pitchFamily="49" charset="0"/>
            </a:endParaRPr>
          </a:p>
          <a:p>
            <a:pPr indent="0" fontAlgn="auto">
              <a:lnSpc>
                <a:spcPts val="2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	int lmax1,lmax2;</a:t>
            </a:r>
            <a:endParaRPr lang="zh-CN" altLang="zh-CN" sz="22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Consolas" panose="020B0609020204030204" pitchFamily="49" charset="0"/>
            </a:endParaRPr>
          </a:p>
          <a:p>
            <a:pPr indent="0" fontAlgn="auto">
              <a:lnSpc>
                <a:spcPts val="2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	solve(a,low,mid,lmax1,lmax2);	     //</a:t>
            </a:r>
            <a:r>
              <a:rPr lang="zh-CN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左区间求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lmax1</a:t>
            </a:r>
            <a:r>
              <a:rPr lang="zh-CN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和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lmax2</a:t>
            </a:r>
            <a:endParaRPr lang="zh-CN" altLang="zh-CN" sz="22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Consolas" panose="020B0609020204030204" pitchFamily="49" charset="0"/>
            </a:endParaRPr>
          </a:p>
          <a:p>
            <a:pPr indent="0" fontAlgn="auto">
              <a:lnSpc>
                <a:spcPts val="2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	int rmax1,rmax2;</a:t>
            </a:r>
            <a:endParaRPr lang="zh-CN" altLang="zh-CN" sz="22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Consolas" panose="020B0609020204030204" pitchFamily="49" charset="0"/>
            </a:endParaRPr>
          </a:p>
          <a:p>
            <a:pPr indent="0" fontAlgn="auto">
              <a:lnSpc>
                <a:spcPts val="2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	solve(a,mid+1,high,rmax1,rmax2);  //</a:t>
            </a:r>
            <a:r>
              <a:rPr lang="zh-CN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右区间求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lmax1</a:t>
            </a:r>
            <a:r>
              <a:rPr lang="zh-CN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和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lmax2</a:t>
            </a:r>
            <a:endParaRPr lang="zh-CN" altLang="zh-CN" sz="22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Consolas" panose="020B0609020204030204" pitchFamily="49" charset="0"/>
            </a:endParaRPr>
          </a:p>
          <a:p>
            <a:pPr indent="0" fontAlgn="auto">
              <a:lnSpc>
                <a:spcPts val="2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	if (lmax1&gt;rmax1)</a:t>
            </a:r>
            <a:endParaRPr lang="zh-CN" altLang="zh-CN" sz="22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Consolas" panose="020B0609020204030204" pitchFamily="49" charset="0"/>
            </a:endParaRPr>
          </a:p>
          <a:p>
            <a:pPr indent="0" fontAlgn="auto">
              <a:lnSpc>
                <a:spcPts val="2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	{   max1=lmax1;</a:t>
            </a:r>
            <a:endParaRPr lang="zh-CN" altLang="zh-CN" sz="22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Consolas" panose="020B0609020204030204" pitchFamily="49" charset="0"/>
            </a:endParaRPr>
          </a:p>
          <a:p>
            <a:pPr indent="0" fontAlgn="auto">
              <a:lnSpc>
                <a:spcPts val="2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	    max2=max(lmax2,rmax1);	//lmax2,rmax1</a:t>
            </a:r>
            <a:r>
              <a:rPr lang="zh-CN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中求次大元素</a:t>
            </a:r>
          </a:p>
          <a:p>
            <a:pPr indent="0" fontAlgn="auto">
              <a:lnSpc>
                <a:spcPts val="2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	}</a:t>
            </a:r>
            <a:endParaRPr lang="zh-CN" altLang="zh-CN" sz="22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Consolas" panose="020B0609020204030204" pitchFamily="49" charset="0"/>
            </a:endParaRPr>
          </a:p>
          <a:p>
            <a:pPr indent="0" fontAlgn="auto">
              <a:lnSpc>
                <a:spcPts val="2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	else</a:t>
            </a:r>
            <a:endParaRPr lang="zh-CN" altLang="zh-CN" sz="22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Consolas" panose="020B0609020204030204" pitchFamily="49" charset="0"/>
            </a:endParaRPr>
          </a:p>
          <a:p>
            <a:pPr indent="0" fontAlgn="auto">
              <a:lnSpc>
                <a:spcPts val="2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	{   max1=rmax1;</a:t>
            </a:r>
            <a:endParaRPr lang="zh-CN" altLang="zh-CN" sz="22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Consolas" panose="020B0609020204030204" pitchFamily="49" charset="0"/>
            </a:endParaRPr>
          </a:p>
          <a:p>
            <a:pPr indent="0" fontAlgn="auto">
              <a:lnSpc>
                <a:spcPts val="2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	    max2=max(lmax1,rmax2);	//lmax1,rmax2</a:t>
            </a:r>
            <a:r>
              <a:rPr lang="zh-CN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中求次大元素</a:t>
            </a:r>
          </a:p>
          <a:p>
            <a:pPr indent="0" fontAlgn="auto">
              <a:lnSpc>
                <a:spcPts val="2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	}</a:t>
            </a:r>
            <a:endParaRPr lang="zh-CN" altLang="zh-CN" sz="22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Consolas" panose="020B0609020204030204" pitchFamily="49" charset="0"/>
            </a:endParaRPr>
          </a:p>
          <a:p>
            <a:pPr indent="0" fontAlgn="auto">
              <a:lnSpc>
                <a:spcPts val="2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   }</a:t>
            </a:r>
            <a:endParaRPr lang="zh-CN" altLang="zh-CN" sz="22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Consolas" panose="020B0609020204030204" pitchFamily="49" charset="0"/>
            </a:endParaRPr>
          </a:p>
          <a:p>
            <a:pPr indent="0" fontAlgn="auto">
              <a:lnSpc>
                <a:spcPts val="2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}</a:t>
            </a:r>
            <a:endParaRPr lang="zh-CN" altLang="zh-CN" sz="22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Consolas" panose="020B0609020204030204" pitchFamily="49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0105" y="1500505"/>
            <a:ext cx="7765415" cy="2879090"/>
          </a:xfrm>
          <a:prstGeom prst="rect">
            <a:avLst/>
          </a:prstGeom>
          <a:noFill/>
        </p:spPr>
        <p:txBody>
          <a:bodyPr wrap="square" lIns="110045" tIns="55022" rIns="110045" bIns="55022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   </a:t>
            </a:r>
            <a:r>
              <a:rPr lang="zh-CN" altLang="zh-CN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【算法分析】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对于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solve</a:t>
            </a:r>
            <a:r>
              <a:rPr lang="pt-BR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(</a:t>
            </a:r>
            <a:r>
              <a:rPr lang="pt-BR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pt-BR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0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pt-BR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pt-BR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-1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pt-BR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max1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pt-BR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max2)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调用，其比较次数的递推式为：</a:t>
            </a:r>
          </a:p>
          <a:p>
            <a:pPr>
              <a:lnSpc>
                <a:spcPct val="150000"/>
              </a:lnSpc>
            </a:pP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   T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(1)=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T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(2)=1</a:t>
            </a:r>
            <a:endParaRPr lang="zh-CN" altLang="zh-CN" sz="24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   T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(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)=2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T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(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/2)+1    //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合并的时间为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O(1)</a:t>
            </a:r>
            <a:endParaRPr lang="zh-CN" altLang="zh-CN" sz="24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可以推导出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T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(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)=O(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)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Text Box 2"/>
          <p:cNvSpPr txBox="1">
            <a:spLocks noChangeArrowheads="1"/>
          </p:cNvSpPr>
          <p:nvPr/>
        </p:nvSpPr>
        <p:spPr bwMode="auto">
          <a:xfrm>
            <a:off x="4382666" y="5791995"/>
            <a:ext cx="4265855" cy="5397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10045" tIns="55022" rIns="110045" bIns="55022">
            <a:spAutoFit/>
          </a:bodyPr>
          <a:lstStyle/>
          <a:p>
            <a:pPr algn="l"/>
            <a:r>
              <a:rPr kumimoji="1" lang="zh-CN" altLang="en-US" sz="2800" b="1">
                <a:latin typeface="微软雅黑" panose="020B0503020204020204" charset="-122"/>
                <a:ea typeface="微软雅黑" panose="020B0503020204020204" charset="-122"/>
              </a:rPr>
              <a:t>搜索成功的例子</a:t>
            </a:r>
          </a:p>
        </p:txBody>
      </p:sp>
      <p:sp>
        <p:nvSpPr>
          <p:cNvPr id="144387" name="Rectangle 3" descr="白色大理石"/>
          <p:cNvSpPr>
            <a:spLocks noChangeArrowheads="1"/>
          </p:cNvSpPr>
          <p:nvPr/>
        </p:nvSpPr>
        <p:spPr bwMode="auto">
          <a:xfrm>
            <a:off x="594835" y="1679837"/>
            <a:ext cx="7312894" cy="457221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110045" tIns="55022" rIns="110045" bIns="55022" anchor="ctr"/>
          <a:lstStyle/>
          <a:p>
            <a:pPr algn="ctr"/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</a:rPr>
              <a:t>-1	0	1     3       4     6	    8     10    12</a:t>
            </a:r>
          </a:p>
        </p:txBody>
      </p:sp>
      <p:sp>
        <p:nvSpPr>
          <p:cNvPr id="144389" name="Line 5"/>
          <p:cNvSpPr>
            <a:spLocks noChangeShapeType="1"/>
          </p:cNvSpPr>
          <p:nvPr/>
        </p:nvSpPr>
        <p:spPr bwMode="auto">
          <a:xfrm>
            <a:off x="7087565" y="1679837"/>
            <a:ext cx="0" cy="45722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lIns="110045" tIns="55022" rIns="110045" bIns="55022" anchor="ctr"/>
          <a:lstStyle/>
          <a:p>
            <a:endParaRPr lang="zh-CN" altLang="en-US"/>
          </a:p>
        </p:txBody>
      </p:sp>
      <p:sp>
        <p:nvSpPr>
          <p:cNvPr id="144390" name="Line 6"/>
          <p:cNvSpPr>
            <a:spLocks noChangeShapeType="1"/>
          </p:cNvSpPr>
          <p:nvPr/>
        </p:nvSpPr>
        <p:spPr bwMode="auto">
          <a:xfrm>
            <a:off x="6275021" y="1679837"/>
            <a:ext cx="0" cy="45722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lIns="110045" tIns="55022" rIns="110045" bIns="55022" anchor="ctr"/>
          <a:lstStyle/>
          <a:p>
            <a:endParaRPr lang="zh-CN" altLang="en-US"/>
          </a:p>
        </p:txBody>
      </p:sp>
      <p:sp>
        <p:nvSpPr>
          <p:cNvPr id="144391" name="Line 7"/>
          <p:cNvSpPr>
            <a:spLocks noChangeShapeType="1"/>
          </p:cNvSpPr>
          <p:nvPr/>
        </p:nvSpPr>
        <p:spPr bwMode="auto">
          <a:xfrm>
            <a:off x="5462478" y="1679837"/>
            <a:ext cx="0" cy="45722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lIns="110045" tIns="55022" rIns="110045" bIns="55022" anchor="ctr"/>
          <a:lstStyle/>
          <a:p>
            <a:endParaRPr lang="zh-CN" altLang="en-US"/>
          </a:p>
        </p:txBody>
      </p:sp>
      <p:sp>
        <p:nvSpPr>
          <p:cNvPr id="144392" name="Line 8"/>
          <p:cNvSpPr>
            <a:spLocks noChangeShapeType="1"/>
          </p:cNvSpPr>
          <p:nvPr/>
        </p:nvSpPr>
        <p:spPr bwMode="auto">
          <a:xfrm>
            <a:off x="4649933" y="1679837"/>
            <a:ext cx="0" cy="45722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lIns="110045" tIns="55022" rIns="110045" bIns="55022" anchor="ctr"/>
          <a:lstStyle/>
          <a:p>
            <a:endParaRPr lang="zh-CN" altLang="en-US"/>
          </a:p>
        </p:txBody>
      </p:sp>
      <p:sp>
        <p:nvSpPr>
          <p:cNvPr id="144393" name="Line 9"/>
          <p:cNvSpPr>
            <a:spLocks noChangeShapeType="1"/>
          </p:cNvSpPr>
          <p:nvPr/>
        </p:nvSpPr>
        <p:spPr bwMode="auto">
          <a:xfrm>
            <a:off x="3837390" y="1679837"/>
            <a:ext cx="0" cy="45722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lIns="110045" tIns="55022" rIns="110045" bIns="55022" anchor="ctr"/>
          <a:lstStyle/>
          <a:p>
            <a:endParaRPr lang="zh-CN" altLang="en-US"/>
          </a:p>
        </p:txBody>
      </p:sp>
      <p:sp>
        <p:nvSpPr>
          <p:cNvPr id="144394" name="Line 10"/>
          <p:cNvSpPr>
            <a:spLocks noChangeShapeType="1"/>
          </p:cNvSpPr>
          <p:nvPr/>
        </p:nvSpPr>
        <p:spPr bwMode="auto">
          <a:xfrm>
            <a:off x="3024847" y="1679837"/>
            <a:ext cx="0" cy="45722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lIns="110045" tIns="55022" rIns="110045" bIns="55022" anchor="ctr"/>
          <a:lstStyle/>
          <a:p>
            <a:endParaRPr lang="zh-CN" altLang="en-US"/>
          </a:p>
        </p:txBody>
      </p:sp>
      <p:sp>
        <p:nvSpPr>
          <p:cNvPr id="144395" name="Line 11"/>
          <p:cNvSpPr>
            <a:spLocks noChangeShapeType="1"/>
          </p:cNvSpPr>
          <p:nvPr/>
        </p:nvSpPr>
        <p:spPr bwMode="auto">
          <a:xfrm>
            <a:off x="2212302" y="1679837"/>
            <a:ext cx="0" cy="45722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lIns="110045" tIns="55022" rIns="110045" bIns="55022" anchor="ctr"/>
          <a:lstStyle/>
          <a:p>
            <a:endParaRPr lang="zh-CN" altLang="en-US"/>
          </a:p>
        </p:txBody>
      </p:sp>
      <p:sp>
        <p:nvSpPr>
          <p:cNvPr id="144396" name="Line 12"/>
          <p:cNvSpPr>
            <a:spLocks noChangeShapeType="1"/>
          </p:cNvSpPr>
          <p:nvPr/>
        </p:nvSpPr>
        <p:spPr bwMode="auto">
          <a:xfrm>
            <a:off x="1399759" y="1679837"/>
            <a:ext cx="0" cy="45722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lIns="110045" tIns="55022" rIns="110045" bIns="55022" anchor="ctr"/>
          <a:lstStyle/>
          <a:p>
            <a:endParaRPr lang="zh-CN" altLang="en-US"/>
          </a:p>
        </p:txBody>
      </p:sp>
      <p:sp>
        <p:nvSpPr>
          <p:cNvPr id="144397" name="Rectangle 13"/>
          <p:cNvSpPr>
            <a:spLocks noChangeArrowheads="1"/>
          </p:cNvSpPr>
          <p:nvPr/>
        </p:nvSpPr>
        <p:spPr bwMode="auto">
          <a:xfrm>
            <a:off x="557255" y="2861743"/>
            <a:ext cx="710976" cy="457221"/>
          </a:xfrm>
          <a:prstGeom prst="rect">
            <a:avLst/>
          </a:prstGeom>
          <a:solidFill>
            <a:srgbClr val="FFCC66"/>
          </a:solidFill>
          <a:ln w="19050">
            <a:solidFill>
              <a:srgbClr val="FF6600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110045" tIns="55022" rIns="110045" bIns="55022" anchor="ctr"/>
          <a:lstStyle/>
          <a:p>
            <a:r>
              <a:rPr kumimoji="1" lang="en-US" altLang="zh-CN" sz="2800" b="1">
                <a:latin typeface="微软雅黑" panose="020B0503020204020204" charset="-122"/>
                <a:ea typeface="微软雅黑" panose="020B0503020204020204" charset="-122"/>
              </a:rPr>
              <a:t>6</a:t>
            </a:r>
          </a:p>
        </p:txBody>
      </p:sp>
      <p:sp>
        <p:nvSpPr>
          <p:cNvPr id="144398" name="Text Box 14"/>
          <p:cNvSpPr txBox="1">
            <a:spLocks noChangeArrowheads="1"/>
          </p:cNvSpPr>
          <p:nvPr/>
        </p:nvSpPr>
        <p:spPr bwMode="auto">
          <a:xfrm>
            <a:off x="671035" y="1196683"/>
            <a:ext cx="7312894" cy="4781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10045" tIns="55022" rIns="110045" bIns="55022">
            <a:spAutoFit/>
          </a:bodyPr>
          <a:lstStyle/>
          <a:p>
            <a:pPr algn="l"/>
            <a:r>
              <a:rPr kumimoji="1"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0        1        2      3        4      5      6        7       8</a:t>
            </a:r>
          </a:p>
        </p:txBody>
      </p:sp>
      <p:sp>
        <p:nvSpPr>
          <p:cNvPr id="144399" name="Text Box 15"/>
          <p:cNvSpPr txBox="1">
            <a:spLocks noChangeArrowheads="1"/>
          </p:cNvSpPr>
          <p:nvPr/>
        </p:nvSpPr>
        <p:spPr bwMode="auto">
          <a:xfrm>
            <a:off x="441231" y="3399268"/>
            <a:ext cx="930910" cy="5397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110045" tIns="55022" rIns="110045" bIns="55022">
            <a:spAutoFit/>
          </a:bodyPr>
          <a:lstStyle/>
          <a:p>
            <a:pPr algn="l"/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搜索</a:t>
            </a:r>
          </a:p>
        </p:txBody>
      </p:sp>
      <p:sp>
        <p:nvSpPr>
          <p:cNvPr id="144400" name="Line 16"/>
          <p:cNvSpPr>
            <a:spLocks noChangeShapeType="1"/>
          </p:cNvSpPr>
          <p:nvPr/>
        </p:nvSpPr>
        <p:spPr bwMode="auto">
          <a:xfrm flipV="1">
            <a:off x="891919" y="2144680"/>
            <a:ext cx="0" cy="609628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tailEnd type="triangle" w="sm" len="lg"/>
          </a:ln>
          <a:effectLst/>
        </p:spPr>
        <p:txBody>
          <a:bodyPr wrap="none" lIns="110045" tIns="55022" rIns="110045" bIns="55022" anchor="ctr"/>
          <a:lstStyle/>
          <a:p>
            <a:endParaRPr lang="zh-CN" altLang="en-US"/>
          </a:p>
        </p:txBody>
      </p:sp>
      <p:sp>
        <p:nvSpPr>
          <p:cNvPr id="144401" name="Line 17"/>
          <p:cNvSpPr>
            <a:spLocks noChangeShapeType="1"/>
          </p:cNvSpPr>
          <p:nvPr/>
        </p:nvSpPr>
        <p:spPr bwMode="auto">
          <a:xfrm flipV="1">
            <a:off x="4142094" y="2144680"/>
            <a:ext cx="0" cy="609628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tailEnd type="triangle" w="sm" len="lg"/>
          </a:ln>
          <a:effectLst/>
        </p:spPr>
        <p:txBody>
          <a:bodyPr wrap="none" lIns="110045" tIns="55022" rIns="110045" bIns="55022" anchor="ctr"/>
          <a:lstStyle/>
          <a:p>
            <a:endParaRPr lang="zh-CN" altLang="en-US"/>
          </a:p>
        </p:txBody>
      </p:sp>
      <p:sp>
        <p:nvSpPr>
          <p:cNvPr id="144402" name="Line 18"/>
          <p:cNvSpPr>
            <a:spLocks noChangeShapeType="1"/>
          </p:cNvSpPr>
          <p:nvPr/>
        </p:nvSpPr>
        <p:spPr bwMode="auto">
          <a:xfrm flipV="1">
            <a:off x="7392268" y="2144680"/>
            <a:ext cx="0" cy="609628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tailEnd type="triangle" w="sm" len="lg"/>
          </a:ln>
          <a:effectLst/>
        </p:spPr>
        <p:txBody>
          <a:bodyPr wrap="none" lIns="110045" tIns="55022" rIns="110045" bIns="55022" anchor="ctr"/>
          <a:lstStyle/>
          <a:p>
            <a:endParaRPr lang="zh-CN" altLang="en-US"/>
          </a:p>
        </p:txBody>
      </p:sp>
      <p:sp>
        <p:nvSpPr>
          <p:cNvPr id="144403" name="Text Box 19"/>
          <p:cNvSpPr txBox="1">
            <a:spLocks noChangeArrowheads="1"/>
          </p:cNvSpPr>
          <p:nvPr/>
        </p:nvSpPr>
        <p:spPr bwMode="auto">
          <a:xfrm>
            <a:off x="891920" y="2220884"/>
            <a:ext cx="861695" cy="5397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110045" tIns="55022" rIns="110045" bIns="55022">
            <a:spAutoFit/>
          </a:bodyPr>
          <a:lstStyle/>
          <a:p>
            <a:pPr algn="l"/>
            <a:r>
              <a:rPr kumimoji="1" lang="en-US" altLang="zh-CN" sz="2800" b="1">
                <a:latin typeface="微软雅黑" panose="020B0503020204020204" charset="-122"/>
                <a:ea typeface="微软雅黑" panose="020B0503020204020204" charset="-122"/>
              </a:rPr>
              <a:t>low</a:t>
            </a:r>
          </a:p>
        </p:txBody>
      </p:sp>
      <p:sp>
        <p:nvSpPr>
          <p:cNvPr id="144404" name="Text Box 20"/>
          <p:cNvSpPr txBox="1">
            <a:spLocks noChangeArrowheads="1"/>
          </p:cNvSpPr>
          <p:nvPr/>
        </p:nvSpPr>
        <p:spPr bwMode="auto">
          <a:xfrm>
            <a:off x="3111604" y="2235173"/>
            <a:ext cx="910590" cy="5397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110045" tIns="55022" rIns="110045" bIns="55022">
            <a:spAutoFit/>
          </a:bodyPr>
          <a:lstStyle/>
          <a:p>
            <a:pPr algn="l"/>
            <a:r>
              <a:rPr kumimoji="1" lang="en-US" altLang="zh-CN" sz="2800" b="1">
                <a:latin typeface="微软雅黑" panose="020B0503020204020204" charset="-122"/>
                <a:ea typeface="微软雅黑" panose="020B0503020204020204" charset="-122"/>
              </a:rPr>
              <a:t>mid</a:t>
            </a:r>
          </a:p>
        </p:txBody>
      </p:sp>
      <p:sp>
        <p:nvSpPr>
          <p:cNvPr id="144405" name="Text Box 21"/>
          <p:cNvSpPr txBox="1">
            <a:spLocks noChangeArrowheads="1"/>
          </p:cNvSpPr>
          <p:nvPr/>
        </p:nvSpPr>
        <p:spPr bwMode="auto">
          <a:xfrm>
            <a:off x="7468446" y="2220884"/>
            <a:ext cx="1019810" cy="5397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110045" tIns="55022" rIns="110045" bIns="55022">
            <a:spAutoFit/>
          </a:bodyPr>
          <a:lstStyle/>
          <a:p>
            <a:pPr algn="l"/>
            <a:r>
              <a:rPr kumimoji="1" lang="en-US" altLang="zh-CN" sz="2800" b="1">
                <a:latin typeface="微软雅黑" panose="020B0503020204020204" charset="-122"/>
                <a:ea typeface="微软雅黑" panose="020B0503020204020204" charset="-122"/>
              </a:rPr>
              <a:t>high</a:t>
            </a:r>
          </a:p>
        </p:txBody>
      </p:sp>
      <p:sp>
        <p:nvSpPr>
          <p:cNvPr id="144406" name="Rectangle 22"/>
          <p:cNvSpPr>
            <a:spLocks noChangeArrowheads="1"/>
          </p:cNvSpPr>
          <p:nvPr/>
        </p:nvSpPr>
        <p:spPr bwMode="auto">
          <a:xfrm>
            <a:off x="4345230" y="2297088"/>
            <a:ext cx="710976" cy="457221"/>
          </a:xfrm>
          <a:prstGeom prst="rect">
            <a:avLst/>
          </a:prstGeom>
          <a:solidFill>
            <a:srgbClr val="FFCC66"/>
          </a:solidFill>
          <a:ln w="19050">
            <a:solidFill>
              <a:srgbClr val="FF6600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110045" tIns="55022" rIns="110045" bIns="55022" anchor="ctr"/>
          <a:lstStyle/>
          <a:p>
            <a:r>
              <a:rPr kumimoji="1" lang="en-US" altLang="zh-CN" sz="2800" b="1">
                <a:latin typeface="微软雅黑" panose="020B0503020204020204" charset="-122"/>
                <a:ea typeface="微软雅黑" panose="020B0503020204020204" charset="-122"/>
              </a:rPr>
              <a:t>6</a:t>
            </a:r>
          </a:p>
        </p:txBody>
      </p:sp>
      <p:sp>
        <p:nvSpPr>
          <p:cNvPr id="144407" name="Rectangle 23" descr="白色大理石"/>
          <p:cNvSpPr>
            <a:spLocks noChangeArrowheads="1"/>
          </p:cNvSpPr>
          <p:nvPr/>
        </p:nvSpPr>
        <p:spPr bwMode="auto">
          <a:xfrm>
            <a:off x="4649935" y="3196301"/>
            <a:ext cx="3250174" cy="457221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110045" tIns="55022" rIns="110045" bIns="55022" anchor="ctr"/>
          <a:lstStyle/>
          <a:p>
            <a:endParaRPr lang="zh-CN" altLang="en-US" sz="28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408" name="Text Box 24"/>
          <p:cNvSpPr txBox="1">
            <a:spLocks noChangeArrowheads="1"/>
          </p:cNvSpPr>
          <p:nvPr/>
        </p:nvSpPr>
        <p:spPr bwMode="auto">
          <a:xfrm>
            <a:off x="4743037" y="3129393"/>
            <a:ext cx="2912745" cy="53975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wrap="none" lIns="110045" tIns="55022" rIns="110045" bIns="55022">
            <a:spAutoFit/>
          </a:bodyPr>
          <a:lstStyle/>
          <a:p>
            <a:pPr algn="l"/>
            <a:r>
              <a:rPr kumimoji="1" lang="en-US" altLang="zh-CN" sz="2800" b="1" dirty="0">
                <a:latin typeface="微软雅黑" panose="020B0503020204020204" charset="-122"/>
                <a:ea typeface="微软雅黑" panose="020B0503020204020204" charset="-122"/>
              </a:rPr>
              <a:t> 6    8      10  12</a:t>
            </a:r>
          </a:p>
        </p:txBody>
      </p:sp>
      <p:sp>
        <p:nvSpPr>
          <p:cNvPr id="144409" name="Line 25"/>
          <p:cNvSpPr>
            <a:spLocks noChangeShapeType="1"/>
          </p:cNvSpPr>
          <p:nvPr/>
        </p:nvSpPr>
        <p:spPr bwMode="auto">
          <a:xfrm>
            <a:off x="7087565" y="3196301"/>
            <a:ext cx="0" cy="45722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lIns="110045" tIns="55022" rIns="110045" bIns="55022" anchor="ctr"/>
          <a:lstStyle/>
          <a:p>
            <a:endParaRPr lang="zh-CN" altLang="en-US"/>
          </a:p>
        </p:txBody>
      </p:sp>
      <p:sp>
        <p:nvSpPr>
          <p:cNvPr id="144410" name="Line 26"/>
          <p:cNvSpPr>
            <a:spLocks noChangeShapeType="1"/>
          </p:cNvSpPr>
          <p:nvPr/>
        </p:nvSpPr>
        <p:spPr bwMode="auto">
          <a:xfrm>
            <a:off x="6275021" y="3196301"/>
            <a:ext cx="0" cy="45722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lIns="110045" tIns="55022" rIns="110045" bIns="55022" anchor="ctr"/>
          <a:lstStyle/>
          <a:p>
            <a:endParaRPr lang="zh-CN" altLang="en-US"/>
          </a:p>
        </p:txBody>
      </p:sp>
      <p:sp>
        <p:nvSpPr>
          <p:cNvPr id="144411" name="Line 27"/>
          <p:cNvSpPr>
            <a:spLocks noChangeShapeType="1"/>
          </p:cNvSpPr>
          <p:nvPr/>
        </p:nvSpPr>
        <p:spPr bwMode="auto">
          <a:xfrm>
            <a:off x="5462478" y="3196301"/>
            <a:ext cx="0" cy="45722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lIns="110045" tIns="55022" rIns="110045" bIns="55022" anchor="ctr"/>
          <a:lstStyle/>
          <a:p>
            <a:endParaRPr lang="zh-CN" altLang="en-US"/>
          </a:p>
        </p:txBody>
      </p:sp>
      <p:sp>
        <p:nvSpPr>
          <p:cNvPr id="144412" name="Text Box 28"/>
          <p:cNvSpPr txBox="1">
            <a:spLocks noChangeArrowheads="1"/>
          </p:cNvSpPr>
          <p:nvPr/>
        </p:nvSpPr>
        <p:spPr bwMode="auto">
          <a:xfrm>
            <a:off x="4743037" y="2677164"/>
            <a:ext cx="2580640" cy="5397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110045" tIns="55022" rIns="110045" bIns="55022">
            <a:spAutoFit/>
          </a:bodyPr>
          <a:lstStyle/>
          <a:p>
            <a:pPr algn="l"/>
            <a:r>
              <a:rPr kumimoji="1" lang="en-US" altLang="zh-CN" sz="2800" b="1">
                <a:latin typeface="微软雅黑" panose="020B0503020204020204" charset="-122"/>
                <a:ea typeface="微软雅黑" panose="020B0503020204020204" charset="-122"/>
              </a:rPr>
              <a:t>5    6     7     8</a:t>
            </a:r>
          </a:p>
        </p:txBody>
      </p:sp>
      <p:sp>
        <p:nvSpPr>
          <p:cNvPr id="144413" name="Line 29"/>
          <p:cNvSpPr>
            <a:spLocks noChangeShapeType="1"/>
          </p:cNvSpPr>
          <p:nvPr/>
        </p:nvSpPr>
        <p:spPr bwMode="auto">
          <a:xfrm flipV="1">
            <a:off x="4954638" y="3653521"/>
            <a:ext cx="0" cy="609628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tailEnd type="triangle" w="sm" len="lg"/>
          </a:ln>
          <a:effectLst/>
        </p:spPr>
        <p:txBody>
          <a:bodyPr wrap="none" lIns="110045" tIns="55022" rIns="110045" bIns="55022" anchor="ctr"/>
          <a:lstStyle/>
          <a:p>
            <a:endParaRPr lang="zh-CN" altLang="en-US"/>
          </a:p>
        </p:txBody>
      </p:sp>
      <p:sp>
        <p:nvSpPr>
          <p:cNvPr id="144414" name="Line 30"/>
          <p:cNvSpPr>
            <a:spLocks noChangeShapeType="1"/>
          </p:cNvSpPr>
          <p:nvPr/>
        </p:nvSpPr>
        <p:spPr bwMode="auto">
          <a:xfrm flipV="1">
            <a:off x="5970317" y="3653521"/>
            <a:ext cx="0" cy="609628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tailEnd type="triangle" w="sm" len="lg"/>
          </a:ln>
          <a:effectLst/>
        </p:spPr>
        <p:txBody>
          <a:bodyPr wrap="none" lIns="110045" tIns="55022" rIns="110045" bIns="55022" anchor="ctr"/>
          <a:lstStyle/>
          <a:p>
            <a:endParaRPr lang="zh-CN" altLang="en-US"/>
          </a:p>
        </p:txBody>
      </p:sp>
      <p:sp>
        <p:nvSpPr>
          <p:cNvPr id="144415" name="Line 31"/>
          <p:cNvSpPr>
            <a:spLocks noChangeShapeType="1"/>
          </p:cNvSpPr>
          <p:nvPr/>
        </p:nvSpPr>
        <p:spPr bwMode="auto">
          <a:xfrm flipV="1">
            <a:off x="7392268" y="3653521"/>
            <a:ext cx="0" cy="609628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tailEnd type="triangle" w="sm" len="lg"/>
          </a:ln>
          <a:effectLst/>
        </p:spPr>
        <p:txBody>
          <a:bodyPr wrap="none" lIns="110045" tIns="55022" rIns="110045" bIns="55022" anchor="ctr"/>
          <a:lstStyle/>
          <a:p>
            <a:endParaRPr lang="zh-CN" altLang="en-US"/>
          </a:p>
        </p:txBody>
      </p:sp>
      <p:sp>
        <p:nvSpPr>
          <p:cNvPr id="144416" name="Text Box 32"/>
          <p:cNvSpPr txBox="1">
            <a:spLocks noChangeArrowheads="1"/>
          </p:cNvSpPr>
          <p:nvPr/>
        </p:nvSpPr>
        <p:spPr bwMode="auto">
          <a:xfrm>
            <a:off x="3998208" y="3729725"/>
            <a:ext cx="861695" cy="5397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110045" tIns="55022" rIns="110045" bIns="55022">
            <a:spAutoFit/>
          </a:bodyPr>
          <a:lstStyle/>
          <a:p>
            <a:pPr algn="l"/>
            <a:r>
              <a:rPr kumimoji="1" lang="en-US" altLang="zh-CN" sz="2800" b="1">
                <a:latin typeface="微软雅黑" panose="020B0503020204020204" charset="-122"/>
                <a:ea typeface="微软雅黑" panose="020B0503020204020204" charset="-122"/>
              </a:rPr>
              <a:t>low</a:t>
            </a:r>
          </a:p>
        </p:txBody>
      </p:sp>
      <p:sp>
        <p:nvSpPr>
          <p:cNvPr id="144417" name="Text Box 33"/>
          <p:cNvSpPr txBox="1">
            <a:spLocks noChangeArrowheads="1"/>
          </p:cNvSpPr>
          <p:nvPr/>
        </p:nvSpPr>
        <p:spPr bwMode="auto">
          <a:xfrm>
            <a:off x="4939827" y="3744014"/>
            <a:ext cx="910590" cy="5397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110045" tIns="55022" rIns="110045" bIns="55022">
            <a:spAutoFit/>
          </a:bodyPr>
          <a:lstStyle/>
          <a:p>
            <a:pPr algn="l"/>
            <a:r>
              <a:rPr kumimoji="1" lang="en-US" altLang="zh-CN" sz="2800" b="1">
                <a:latin typeface="微软雅黑" panose="020B0503020204020204" charset="-122"/>
                <a:ea typeface="微软雅黑" panose="020B0503020204020204" charset="-122"/>
              </a:rPr>
              <a:t>mid</a:t>
            </a:r>
          </a:p>
        </p:txBody>
      </p:sp>
      <p:sp>
        <p:nvSpPr>
          <p:cNvPr id="144418" name="Text Box 34"/>
          <p:cNvSpPr txBox="1">
            <a:spLocks noChangeArrowheads="1"/>
          </p:cNvSpPr>
          <p:nvPr/>
        </p:nvSpPr>
        <p:spPr bwMode="auto">
          <a:xfrm>
            <a:off x="7468446" y="3729725"/>
            <a:ext cx="1019810" cy="5397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110045" tIns="55022" rIns="110045" bIns="55022">
            <a:spAutoFit/>
          </a:bodyPr>
          <a:lstStyle/>
          <a:p>
            <a:pPr algn="l"/>
            <a:r>
              <a:rPr kumimoji="1" lang="en-US" altLang="zh-CN" sz="2800" b="1">
                <a:latin typeface="微软雅黑" panose="020B0503020204020204" charset="-122"/>
                <a:ea typeface="微软雅黑" panose="020B0503020204020204" charset="-122"/>
              </a:rPr>
              <a:t>high</a:t>
            </a:r>
          </a:p>
        </p:txBody>
      </p:sp>
      <p:sp>
        <p:nvSpPr>
          <p:cNvPr id="144419" name="Rectangle 35" descr="白色大理石"/>
          <p:cNvSpPr>
            <a:spLocks noChangeArrowheads="1"/>
          </p:cNvSpPr>
          <p:nvPr/>
        </p:nvSpPr>
        <p:spPr bwMode="auto">
          <a:xfrm>
            <a:off x="4649934" y="4621315"/>
            <a:ext cx="812544" cy="457221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110045" tIns="55022" rIns="110045" bIns="55022" anchor="ctr"/>
          <a:lstStyle/>
          <a:p>
            <a:r>
              <a:rPr kumimoji="1" lang="en-US" altLang="zh-CN" sz="2800" b="1" dirty="0">
                <a:latin typeface="微软雅黑" panose="020B0503020204020204" charset="-122"/>
                <a:ea typeface="微软雅黑" panose="020B0503020204020204" charset="-122"/>
              </a:rPr>
              <a:t>6</a:t>
            </a:r>
          </a:p>
        </p:txBody>
      </p:sp>
      <p:sp>
        <p:nvSpPr>
          <p:cNvPr id="144420" name="Rectangle 36"/>
          <p:cNvSpPr>
            <a:spLocks noChangeArrowheads="1"/>
          </p:cNvSpPr>
          <p:nvPr/>
        </p:nvSpPr>
        <p:spPr bwMode="auto">
          <a:xfrm>
            <a:off x="5767181" y="4621315"/>
            <a:ext cx="812544" cy="457221"/>
          </a:xfrm>
          <a:prstGeom prst="rect">
            <a:avLst/>
          </a:prstGeom>
          <a:solidFill>
            <a:srgbClr val="FFCC66"/>
          </a:solidFill>
          <a:ln w="19050">
            <a:solidFill>
              <a:schemeClr val="tx2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110045" tIns="55022" rIns="110045" bIns="55022" anchor="ctr"/>
          <a:lstStyle/>
          <a:p>
            <a:r>
              <a:rPr kumimoji="1" lang="en-US" altLang="zh-CN" sz="2800" b="1">
                <a:latin typeface="微软雅黑" panose="020B0503020204020204" charset="-122"/>
                <a:ea typeface="微软雅黑" panose="020B0503020204020204" charset="-122"/>
              </a:rPr>
              <a:t>6</a:t>
            </a:r>
          </a:p>
        </p:txBody>
      </p:sp>
      <p:sp>
        <p:nvSpPr>
          <p:cNvPr id="144421" name="Text Box 37"/>
          <p:cNvSpPr txBox="1">
            <a:spLocks noChangeArrowheads="1"/>
          </p:cNvSpPr>
          <p:nvPr/>
        </p:nvSpPr>
        <p:spPr bwMode="auto">
          <a:xfrm>
            <a:off x="4751502" y="4163139"/>
            <a:ext cx="438785" cy="5397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110045" tIns="55022" rIns="110045" bIns="55022">
            <a:spAutoFit/>
          </a:bodyPr>
          <a:lstStyle/>
          <a:p>
            <a:pPr algn="l"/>
            <a:r>
              <a:rPr kumimoji="1" lang="en-US" altLang="zh-CN" sz="2800" b="1">
                <a:latin typeface="微软雅黑" panose="020B0503020204020204" charset="-122"/>
                <a:ea typeface="微软雅黑" panose="020B0503020204020204" charset="-122"/>
              </a:rPr>
              <a:t>5</a:t>
            </a:r>
          </a:p>
        </p:txBody>
      </p:sp>
      <p:sp>
        <p:nvSpPr>
          <p:cNvPr id="144422" name="Text Box 38"/>
          <p:cNvSpPr txBox="1">
            <a:spLocks noChangeArrowheads="1"/>
          </p:cNvSpPr>
          <p:nvPr/>
        </p:nvSpPr>
        <p:spPr bwMode="auto">
          <a:xfrm>
            <a:off x="3634255" y="5383350"/>
            <a:ext cx="861695" cy="5397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110045" tIns="55022" rIns="110045" bIns="55022">
            <a:spAutoFit/>
          </a:bodyPr>
          <a:lstStyle/>
          <a:p>
            <a:pPr algn="l"/>
            <a:r>
              <a:rPr kumimoji="1" lang="en-US" altLang="zh-CN" sz="2800" b="1">
                <a:latin typeface="微软雅黑" panose="020B0503020204020204" charset="-122"/>
                <a:ea typeface="微软雅黑" panose="020B0503020204020204" charset="-122"/>
              </a:rPr>
              <a:t>low</a:t>
            </a:r>
          </a:p>
        </p:txBody>
      </p:sp>
      <p:sp>
        <p:nvSpPr>
          <p:cNvPr id="144423" name="Text Box 39"/>
          <p:cNvSpPr txBox="1">
            <a:spLocks noChangeArrowheads="1"/>
          </p:cNvSpPr>
          <p:nvPr/>
        </p:nvSpPr>
        <p:spPr bwMode="auto">
          <a:xfrm>
            <a:off x="4575875" y="5397639"/>
            <a:ext cx="910590" cy="5397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110045" tIns="55022" rIns="110045" bIns="55022">
            <a:spAutoFit/>
          </a:bodyPr>
          <a:lstStyle/>
          <a:p>
            <a:pPr algn="l"/>
            <a:r>
              <a:rPr kumimoji="1" lang="en-US" altLang="zh-CN" sz="2800" b="1">
                <a:latin typeface="微软雅黑" panose="020B0503020204020204" charset="-122"/>
                <a:ea typeface="微软雅黑" panose="020B0503020204020204" charset="-122"/>
              </a:rPr>
              <a:t>mid</a:t>
            </a:r>
          </a:p>
        </p:txBody>
      </p:sp>
      <p:sp>
        <p:nvSpPr>
          <p:cNvPr id="144424" name="Text Box 40"/>
          <p:cNvSpPr txBox="1">
            <a:spLocks noChangeArrowheads="1"/>
          </p:cNvSpPr>
          <p:nvPr/>
        </p:nvSpPr>
        <p:spPr bwMode="auto">
          <a:xfrm>
            <a:off x="5564047" y="5383350"/>
            <a:ext cx="1019810" cy="5397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110045" tIns="55022" rIns="110045" bIns="55022">
            <a:spAutoFit/>
          </a:bodyPr>
          <a:lstStyle/>
          <a:p>
            <a:pPr algn="l"/>
            <a:r>
              <a:rPr kumimoji="1" lang="en-US" altLang="zh-CN" sz="2800" b="1">
                <a:latin typeface="微软雅黑" panose="020B0503020204020204" charset="-122"/>
                <a:ea typeface="微软雅黑" panose="020B0503020204020204" charset="-122"/>
              </a:rPr>
              <a:t>high</a:t>
            </a:r>
          </a:p>
        </p:txBody>
      </p:sp>
      <p:sp>
        <p:nvSpPr>
          <p:cNvPr id="144425" name="Line 41"/>
          <p:cNvSpPr>
            <a:spLocks noChangeShapeType="1"/>
          </p:cNvSpPr>
          <p:nvPr/>
        </p:nvSpPr>
        <p:spPr bwMode="auto">
          <a:xfrm flipV="1">
            <a:off x="5056206" y="5093779"/>
            <a:ext cx="0" cy="381017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tailEnd type="triangle" w="sm" len="lg"/>
          </a:ln>
          <a:effectLst/>
        </p:spPr>
        <p:txBody>
          <a:bodyPr wrap="none" lIns="110045" tIns="55022" rIns="110045" bIns="55022" anchor="ctr"/>
          <a:lstStyle/>
          <a:p>
            <a:endParaRPr lang="zh-CN" altLang="en-US"/>
          </a:p>
        </p:txBody>
      </p:sp>
      <p:sp>
        <p:nvSpPr>
          <p:cNvPr id="144426" name="Line 42"/>
          <p:cNvSpPr>
            <a:spLocks noChangeShapeType="1"/>
          </p:cNvSpPr>
          <p:nvPr/>
        </p:nvSpPr>
        <p:spPr bwMode="auto">
          <a:xfrm flipV="1">
            <a:off x="4243662" y="5109019"/>
            <a:ext cx="507840" cy="381017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tailEnd type="triangle" w="sm" len="lg"/>
          </a:ln>
          <a:effectLst/>
        </p:spPr>
        <p:txBody>
          <a:bodyPr wrap="none" lIns="110045" tIns="55022" rIns="110045" bIns="55022" anchor="ctr"/>
          <a:lstStyle/>
          <a:p>
            <a:endParaRPr lang="zh-CN" altLang="en-US"/>
          </a:p>
        </p:txBody>
      </p:sp>
      <p:sp>
        <p:nvSpPr>
          <p:cNvPr id="144427" name="Line 43"/>
          <p:cNvSpPr>
            <a:spLocks noChangeShapeType="1"/>
          </p:cNvSpPr>
          <p:nvPr/>
        </p:nvSpPr>
        <p:spPr bwMode="auto">
          <a:xfrm flipH="1" flipV="1">
            <a:off x="5360910" y="5109019"/>
            <a:ext cx="507840" cy="381017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tailEnd type="triangle" w="sm" len="lg"/>
          </a:ln>
          <a:effectLst/>
        </p:spPr>
        <p:txBody>
          <a:bodyPr wrap="none" lIns="110045" tIns="55022" rIns="110045" bIns="55022" anchor="ctr"/>
          <a:lstStyle/>
          <a:p>
            <a:endParaRPr lang="zh-CN" altLang="en-US"/>
          </a:p>
        </p:txBody>
      </p:sp>
      <p:sp>
        <p:nvSpPr>
          <p:cNvPr id="144428" name="Rectangle 44"/>
          <p:cNvSpPr>
            <a:spLocks noChangeArrowheads="1"/>
          </p:cNvSpPr>
          <p:nvPr/>
        </p:nvSpPr>
        <p:spPr bwMode="auto">
          <a:xfrm>
            <a:off x="6173454" y="3882133"/>
            <a:ext cx="812544" cy="457221"/>
          </a:xfrm>
          <a:prstGeom prst="rect">
            <a:avLst/>
          </a:prstGeom>
          <a:solidFill>
            <a:srgbClr val="FFCC66"/>
          </a:solidFill>
          <a:ln w="19050">
            <a:solidFill>
              <a:schemeClr val="tx2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110045" tIns="55022" rIns="110045" bIns="55022" anchor="ctr"/>
          <a:lstStyle/>
          <a:p>
            <a:r>
              <a:rPr kumimoji="1" lang="en-US" altLang="zh-CN" sz="2800" b="1">
                <a:latin typeface="微软雅黑" panose="020B0503020204020204" charset="-122"/>
                <a:ea typeface="微软雅黑" panose="020B0503020204020204" charset="-122"/>
              </a:rPr>
              <a:t>6</a:t>
            </a:r>
          </a:p>
        </p:txBody>
      </p:sp>
      <p:sp>
        <p:nvSpPr>
          <p:cNvPr id="3" name="基础扎实 / Strong Preparation">
            <a:extLst>
              <a:ext uri="{FF2B5EF4-FFF2-40B4-BE49-F238E27FC236}">
                <a16:creationId xmlns:a16="http://schemas.microsoft.com/office/drawing/2014/main" id="{3F71043E-5341-21BD-4F4C-A98A443A8C10}"/>
              </a:ext>
            </a:extLst>
          </p:cNvPr>
          <p:cNvSpPr txBox="1"/>
          <p:nvPr/>
        </p:nvSpPr>
        <p:spPr>
          <a:xfrm>
            <a:off x="2603627" y="367980"/>
            <a:ext cx="5870237" cy="561660"/>
          </a:xfrm>
          <a:prstGeom prst="rect">
            <a:avLst/>
          </a:prstGeom>
          <a:noFill/>
          <a:ln>
            <a:noFill/>
          </a:ln>
        </p:spPr>
        <p:txBody>
          <a:bodyPr wrap="square" lIns="68549" tIns="34274" rIns="68549" bIns="34274" rtlCol="0">
            <a:spAutoFit/>
          </a:bodyPr>
          <a:lstStyle/>
          <a:p>
            <a:pPr algn="ctr" defTabSz="950595">
              <a:buClr>
                <a:prstClr val="white"/>
              </a:buClr>
              <a:buSzTx/>
              <a:buFontTx/>
              <a:defRPr/>
            </a:pPr>
            <a:r>
              <a:rPr lang="zh-CN" altLang="en-US" sz="3200" b="1" spc="50" dirty="0">
                <a:ln w="11430"/>
                <a:solidFill>
                  <a:srgbClr val="006600"/>
                </a:solidFill>
                <a:latin typeface="+mn-ea"/>
                <a:sym typeface="Arial" panose="020B0604020202020204" pitchFamily="34" charset="0"/>
              </a:rPr>
              <a:t>2.</a:t>
            </a:r>
            <a:r>
              <a:rPr lang="en-US" altLang="zh-CN" sz="3200" b="1" spc="50" dirty="0">
                <a:ln w="11430"/>
                <a:solidFill>
                  <a:srgbClr val="006600"/>
                </a:solidFill>
                <a:latin typeface="+mn-ea"/>
                <a:sym typeface="Arial" panose="020B0604020202020204" pitchFamily="34" charset="0"/>
              </a:rPr>
              <a:t>9</a:t>
            </a:r>
            <a:r>
              <a:rPr lang="zh-CN" altLang="en-US" sz="3200" b="1" spc="50" dirty="0">
                <a:ln w="11430"/>
                <a:solidFill>
                  <a:srgbClr val="006600"/>
                </a:solidFill>
                <a:latin typeface="+mn-ea"/>
                <a:sym typeface="Arial" panose="020B0604020202020204" pitchFamily="34" charset="0"/>
              </a:rPr>
              <a:t> 折半查找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3206509" y="6096343"/>
            <a:ext cx="4265855" cy="5397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10045" tIns="55022" rIns="110045" bIns="55022">
            <a:spAutoFit/>
          </a:bodyPr>
          <a:lstStyle/>
          <a:p>
            <a:pPr algn="l"/>
            <a:r>
              <a:rPr kumimoji="1" lang="zh-CN" altLang="en-US" sz="2800" b="1">
                <a:latin typeface="微软雅黑" panose="020B0503020204020204" charset="-122"/>
                <a:ea typeface="微软雅黑" panose="020B0503020204020204" charset="-122"/>
              </a:rPr>
              <a:t>搜索失败的例子</a:t>
            </a:r>
          </a:p>
        </p:txBody>
      </p:sp>
      <p:sp>
        <p:nvSpPr>
          <p:cNvPr id="6" name="Rectangle 3" descr="白色大理石"/>
          <p:cNvSpPr>
            <a:spLocks noChangeArrowheads="1"/>
          </p:cNvSpPr>
          <p:nvPr/>
        </p:nvSpPr>
        <p:spPr bwMode="auto">
          <a:xfrm>
            <a:off x="667308" y="1684464"/>
            <a:ext cx="7312894" cy="457221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 w="19050">
            <a:solidFill>
              <a:schemeClr val="tx1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110045" tIns="55022" rIns="110045" bIns="55022" anchor="ctr"/>
          <a:lstStyle/>
          <a:p>
            <a:endParaRPr lang="zh-CN" altLang="en-US" sz="28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667308" y="1656767"/>
            <a:ext cx="7312893" cy="570865"/>
          </a:xfrm>
          <a:prstGeom prst="rect">
            <a:avLst/>
          </a:prstGeom>
          <a:solidFill>
            <a:srgbClr val="00B0F0"/>
          </a:solidFill>
          <a:ln w="19050">
            <a:noFill/>
            <a:miter lim="800000"/>
          </a:ln>
          <a:effectLst/>
        </p:spPr>
        <p:txBody>
          <a:bodyPr wrap="square" lIns="110045" tIns="55022" rIns="110045" bIns="55022">
            <a:spAutoFit/>
          </a:bodyPr>
          <a:lstStyle/>
          <a:p>
            <a:pPr algn="l"/>
            <a:r>
              <a:rPr kumimoji="1" lang="en-US" altLang="zh-CN" sz="3000" b="1" dirty="0">
                <a:latin typeface="微软雅黑" panose="020B0503020204020204" charset="-122"/>
                <a:ea typeface="微软雅黑" panose="020B0503020204020204" charset="-122"/>
              </a:rPr>
              <a:t>-1     0    1    3       4    6      8      10  12</a:t>
            </a:r>
          </a:p>
        </p:txBody>
      </p:sp>
      <p:sp>
        <p:nvSpPr>
          <p:cNvPr id="8" name="Line 5"/>
          <p:cNvSpPr>
            <a:spLocks noChangeShapeType="1"/>
          </p:cNvSpPr>
          <p:nvPr/>
        </p:nvSpPr>
        <p:spPr bwMode="auto">
          <a:xfrm>
            <a:off x="7167658" y="1684464"/>
            <a:ext cx="0" cy="45722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lIns="110045" tIns="55022" rIns="110045" bIns="55022" anchor="ctr"/>
          <a:lstStyle/>
          <a:p>
            <a:endParaRPr lang="zh-CN" altLang="en-US"/>
          </a:p>
        </p:txBody>
      </p:sp>
      <p:sp>
        <p:nvSpPr>
          <p:cNvPr id="9" name="Line 6"/>
          <p:cNvSpPr>
            <a:spLocks noChangeShapeType="1"/>
          </p:cNvSpPr>
          <p:nvPr/>
        </p:nvSpPr>
        <p:spPr bwMode="auto">
          <a:xfrm>
            <a:off x="6355114" y="1684464"/>
            <a:ext cx="0" cy="45722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lIns="110045" tIns="55022" rIns="110045" bIns="55022" anchor="ctr"/>
          <a:lstStyle/>
          <a:p>
            <a:endParaRPr lang="zh-CN" altLang="en-US"/>
          </a:p>
        </p:txBody>
      </p:sp>
      <p:sp>
        <p:nvSpPr>
          <p:cNvPr id="10" name="Line 7"/>
          <p:cNvSpPr>
            <a:spLocks noChangeShapeType="1"/>
          </p:cNvSpPr>
          <p:nvPr/>
        </p:nvSpPr>
        <p:spPr bwMode="auto">
          <a:xfrm>
            <a:off x="5542571" y="1684464"/>
            <a:ext cx="0" cy="45722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lIns="110045" tIns="55022" rIns="110045" bIns="55022" anchor="ctr"/>
          <a:lstStyle/>
          <a:p>
            <a:endParaRPr lang="zh-CN" altLang="en-US"/>
          </a:p>
        </p:txBody>
      </p:sp>
      <p:sp>
        <p:nvSpPr>
          <p:cNvPr id="11" name="Line 8"/>
          <p:cNvSpPr>
            <a:spLocks noChangeShapeType="1"/>
          </p:cNvSpPr>
          <p:nvPr/>
        </p:nvSpPr>
        <p:spPr bwMode="auto">
          <a:xfrm>
            <a:off x="4730026" y="1684464"/>
            <a:ext cx="0" cy="45722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lIns="110045" tIns="55022" rIns="110045" bIns="55022" anchor="ctr"/>
          <a:lstStyle/>
          <a:p>
            <a:endParaRPr lang="zh-CN" altLang="en-US"/>
          </a:p>
        </p:txBody>
      </p:sp>
      <p:sp>
        <p:nvSpPr>
          <p:cNvPr id="12" name="Line 9"/>
          <p:cNvSpPr>
            <a:spLocks noChangeShapeType="1"/>
          </p:cNvSpPr>
          <p:nvPr/>
        </p:nvSpPr>
        <p:spPr bwMode="auto">
          <a:xfrm>
            <a:off x="3917483" y="1684464"/>
            <a:ext cx="0" cy="45722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lIns="110045" tIns="55022" rIns="110045" bIns="55022" anchor="ctr"/>
          <a:lstStyle/>
          <a:p>
            <a:endParaRPr lang="zh-CN" altLang="en-US"/>
          </a:p>
        </p:txBody>
      </p:sp>
      <p:sp>
        <p:nvSpPr>
          <p:cNvPr id="13" name="Line 10"/>
          <p:cNvSpPr>
            <a:spLocks noChangeShapeType="1"/>
          </p:cNvSpPr>
          <p:nvPr/>
        </p:nvSpPr>
        <p:spPr bwMode="auto">
          <a:xfrm>
            <a:off x="3104940" y="1684464"/>
            <a:ext cx="0" cy="45722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lIns="110045" tIns="55022" rIns="110045" bIns="55022" anchor="ctr"/>
          <a:lstStyle/>
          <a:p>
            <a:endParaRPr lang="zh-CN" altLang="en-US"/>
          </a:p>
        </p:txBody>
      </p:sp>
      <p:sp>
        <p:nvSpPr>
          <p:cNvPr id="14" name="Line 11"/>
          <p:cNvSpPr>
            <a:spLocks noChangeShapeType="1"/>
          </p:cNvSpPr>
          <p:nvPr/>
        </p:nvSpPr>
        <p:spPr bwMode="auto">
          <a:xfrm>
            <a:off x="2292395" y="1684464"/>
            <a:ext cx="0" cy="45722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lIns="110045" tIns="55022" rIns="110045" bIns="55022" anchor="ctr"/>
          <a:lstStyle/>
          <a:p>
            <a:endParaRPr lang="zh-CN" altLang="en-US"/>
          </a:p>
        </p:txBody>
      </p:sp>
      <p:sp>
        <p:nvSpPr>
          <p:cNvPr id="15" name="Line 12"/>
          <p:cNvSpPr>
            <a:spLocks noChangeShapeType="1"/>
          </p:cNvSpPr>
          <p:nvPr/>
        </p:nvSpPr>
        <p:spPr bwMode="auto">
          <a:xfrm>
            <a:off x="1479852" y="1684464"/>
            <a:ext cx="0" cy="45722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lIns="110045" tIns="55022" rIns="110045" bIns="55022" anchor="ctr"/>
          <a:lstStyle/>
          <a:p>
            <a:endParaRPr lang="zh-CN" altLang="en-US"/>
          </a:p>
        </p:txBody>
      </p:sp>
      <p:sp>
        <p:nvSpPr>
          <p:cNvPr id="16" name="Text Box 14"/>
          <p:cNvSpPr txBox="1">
            <a:spLocks noChangeArrowheads="1"/>
          </p:cNvSpPr>
          <p:nvPr/>
        </p:nvSpPr>
        <p:spPr bwMode="auto">
          <a:xfrm>
            <a:off x="794269" y="1151038"/>
            <a:ext cx="7046223" cy="54200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110045" tIns="55022" rIns="110045" bIns="55022">
            <a:spAutoFit/>
          </a:bodyPr>
          <a:lstStyle/>
          <a:p>
            <a:pPr algn="l"/>
            <a:r>
              <a:rPr kumimoji="1" lang="en-US" altLang="zh-CN" sz="2800" b="1" dirty="0">
                <a:latin typeface="微软雅黑" panose="020B0503020204020204" charset="-122"/>
                <a:ea typeface="微软雅黑" panose="020B0503020204020204" charset="-122"/>
              </a:rPr>
              <a:t>0     1     2       3     4      5     6      7      8</a:t>
            </a:r>
          </a:p>
        </p:txBody>
      </p:sp>
      <p:sp>
        <p:nvSpPr>
          <p:cNvPr id="17" name="Line 16"/>
          <p:cNvSpPr>
            <a:spLocks noChangeShapeType="1"/>
          </p:cNvSpPr>
          <p:nvPr/>
        </p:nvSpPr>
        <p:spPr bwMode="auto">
          <a:xfrm flipV="1">
            <a:off x="972012" y="2217888"/>
            <a:ext cx="0" cy="609628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tailEnd type="triangle" w="sm" len="lg"/>
          </a:ln>
          <a:effectLst/>
        </p:spPr>
        <p:txBody>
          <a:bodyPr wrap="none" lIns="110045" tIns="55022" rIns="110045" bIns="55022" anchor="ctr"/>
          <a:lstStyle/>
          <a:p>
            <a:endParaRPr lang="zh-CN" altLang="en-US"/>
          </a:p>
        </p:txBody>
      </p:sp>
      <p:sp>
        <p:nvSpPr>
          <p:cNvPr id="18" name="Line 17"/>
          <p:cNvSpPr>
            <a:spLocks noChangeShapeType="1"/>
          </p:cNvSpPr>
          <p:nvPr/>
        </p:nvSpPr>
        <p:spPr bwMode="auto">
          <a:xfrm flipV="1">
            <a:off x="4222187" y="2217888"/>
            <a:ext cx="0" cy="609628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tailEnd type="triangle" w="sm" len="lg"/>
          </a:ln>
          <a:effectLst/>
        </p:spPr>
        <p:txBody>
          <a:bodyPr wrap="none" lIns="110045" tIns="55022" rIns="110045" bIns="55022" anchor="ctr"/>
          <a:lstStyle/>
          <a:p>
            <a:endParaRPr lang="zh-CN" altLang="en-US"/>
          </a:p>
        </p:txBody>
      </p:sp>
      <p:sp>
        <p:nvSpPr>
          <p:cNvPr id="19" name="Line 18"/>
          <p:cNvSpPr>
            <a:spLocks noChangeShapeType="1"/>
          </p:cNvSpPr>
          <p:nvPr/>
        </p:nvSpPr>
        <p:spPr bwMode="auto">
          <a:xfrm flipV="1">
            <a:off x="7472361" y="2217888"/>
            <a:ext cx="0" cy="609628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tailEnd type="triangle" w="sm" len="lg"/>
          </a:ln>
          <a:effectLst/>
        </p:spPr>
        <p:txBody>
          <a:bodyPr wrap="none" lIns="110045" tIns="55022" rIns="110045" bIns="55022" anchor="ctr"/>
          <a:lstStyle/>
          <a:p>
            <a:endParaRPr lang="zh-CN" altLang="en-US"/>
          </a:p>
        </p:txBody>
      </p:sp>
      <p:sp>
        <p:nvSpPr>
          <p:cNvPr id="20" name="Text Box 19"/>
          <p:cNvSpPr txBox="1">
            <a:spLocks noChangeArrowheads="1"/>
          </p:cNvSpPr>
          <p:nvPr/>
        </p:nvSpPr>
        <p:spPr bwMode="auto">
          <a:xfrm>
            <a:off x="972013" y="2294092"/>
            <a:ext cx="861695" cy="5397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110045" tIns="55022" rIns="110045" bIns="55022">
            <a:spAutoFit/>
          </a:bodyPr>
          <a:lstStyle/>
          <a:p>
            <a:pPr algn="l"/>
            <a:r>
              <a:rPr kumimoji="1" lang="en-US" altLang="zh-CN" sz="2800" b="1">
                <a:latin typeface="微软雅黑" panose="020B0503020204020204" charset="-122"/>
                <a:ea typeface="微软雅黑" panose="020B0503020204020204" charset="-122"/>
              </a:rPr>
              <a:t>low</a:t>
            </a:r>
          </a:p>
        </p:txBody>
      </p:sp>
      <p:sp>
        <p:nvSpPr>
          <p:cNvPr id="21" name="Text Box 20"/>
          <p:cNvSpPr txBox="1">
            <a:spLocks noChangeArrowheads="1"/>
          </p:cNvSpPr>
          <p:nvPr/>
        </p:nvSpPr>
        <p:spPr bwMode="auto">
          <a:xfrm>
            <a:off x="3191697" y="2308380"/>
            <a:ext cx="910590" cy="5397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110045" tIns="55022" rIns="110045" bIns="55022">
            <a:spAutoFit/>
          </a:bodyPr>
          <a:lstStyle/>
          <a:p>
            <a:pPr algn="l"/>
            <a:r>
              <a:rPr kumimoji="1" lang="en-US" altLang="zh-CN" sz="2800" b="1">
                <a:latin typeface="微软雅黑" panose="020B0503020204020204" charset="-122"/>
                <a:ea typeface="微软雅黑" panose="020B0503020204020204" charset="-122"/>
              </a:rPr>
              <a:t>mid</a:t>
            </a:r>
          </a:p>
        </p:txBody>
      </p:sp>
      <p:sp>
        <p:nvSpPr>
          <p:cNvPr id="22" name="Text Box 21"/>
          <p:cNvSpPr txBox="1">
            <a:spLocks noChangeArrowheads="1"/>
          </p:cNvSpPr>
          <p:nvPr/>
        </p:nvSpPr>
        <p:spPr bwMode="auto">
          <a:xfrm>
            <a:off x="7548539" y="2294092"/>
            <a:ext cx="1019810" cy="5397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110045" tIns="55022" rIns="110045" bIns="55022">
            <a:spAutoFit/>
          </a:bodyPr>
          <a:lstStyle/>
          <a:p>
            <a:pPr algn="l"/>
            <a:r>
              <a:rPr kumimoji="1" lang="en-US" altLang="zh-CN" sz="2800" b="1">
                <a:latin typeface="微软雅黑" panose="020B0503020204020204" charset="-122"/>
                <a:ea typeface="微软雅黑" panose="020B0503020204020204" charset="-122"/>
              </a:rPr>
              <a:t>high</a:t>
            </a:r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4425323" y="2370295"/>
            <a:ext cx="710976" cy="457221"/>
          </a:xfrm>
          <a:prstGeom prst="rect">
            <a:avLst/>
          </a:prstGeom>
          <a:solidFill>
            <a:srgbClr val="FFCC66"/>
          </a:solidFill>
          <a:ln w="19050">
            <a:solidFill>
              <a:srgbClr val="FF6600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110045" tIns="55022" rIns="110045" bIns="55022" anchor="ctr"/>
          <a:lstStyle/>
          <a:p>
            <a:r>
              <a:rPr kumimoji="1" lang="en-US" altLang="zh-CN" sz="2800" b="1">
                <a:latin typeface="微软雅黑" panose="020B0503020204020204" charset="-122"/>
                <a:ea typeface="微软雅黑" panose="020B0503020204020204" charset="-122"/>
              </a:rPr>
              <a:t>5</a:t>
            </a:r>
          </a:p>
        </p:txBody>
      </p:sp>
      <p:sp>
        <p:nvSpPr>
          <p:cNvPr id="24" name="Rectangle 23" descr="白色大理石"/>
          <p:cNvSpPr>
            <a:spLocks noChangeArrowheads="1"/>
          </p:cNvSpPr>
          <p:nvPr/>
        </p:nvSpPr>
        <p:spPr bwMode="auto">
          <a:xfrm>
            <a:off x="4730028" y="3278078"/>
            <a:ext cx="3250174" cy="457221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110045" tIns="55022" rIns="110045" bIns="55022" anchor="ctr"/>
          <a:lstStyle/>
          <a:p>
            <a:endParaRPr lang="zh-CN" altLang="en-US" sz="28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 Box 24"/>
          <p:cNvSpPr txBox="1">
            <a:spLocks noChangeArrowheads="1"/>
          </p:cNvSpPr>
          <p:nvPr/>
        </p:nvSpPr>
        <p:spPr bwMode="auto">
          <a:xfrm>
            <a:off x="4744841" y="3201874"/>
            <a:ext cx="2912745" cy="53975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wrap="none" lIns="110045" tIns="55022" rIns="110045" bIns="55022">
            <a:spAutoFit/>
          </a:bodyPr>
          <a:lstStyle/>
          <a:p>
            <a:pPr algn="l"/>
            <a:r>
              <a:rPr kumimoji="1" lang="en-US" altLang="zh-CN" sz="2800" b="1">
                <a:latin typeface="微软雅黑" panose="020B0503020204020204" charset="-122"/>
                <a:ea typeface="微软雅黑" panose="020B0503020204020204" charset="-122"/>
              </a:rPr>
              <a:t> 6    8      10  12</a:t>
            </a:r>
          </a:p>
        </p:txBody>
      </p:sp>
      <p:sp>
        <p:nvSpPr>
          <p:cNvPr id="26" name="Line 25"/>
          <p:cNvSpPr>
            <a:spLocks noChangeShapeType="1"/>
          </p:cNvSpPr>
          <p:nvPr/>
        </p:nvSpPr>
        <p:spPr bwMode="auto">
          <a:xfrm>
            <a:off x="7167658" y="3278078"/>
            <a:ext cx="0" cy="45722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lIns="110045" tIns="55022" rIns="110045" bIns="55022" anchor="ctr"/>
          <a:lstStyle/>
          <a:p>
            <a:endParaRPr lang="zh-CN" altLang="en-US"/>
          </a:p>
        </p:txBody>
      </p:sp>
      <p:sp>
        <p:nvSpPr>
          <p:cNvPr id="27" name="Line 26"/>
          <p:cNvSpPr>
            <a:spLocks noChangeShapeType="1"/>
          </p:cNvSpPr>
          <p:nvPr/>
        </p:nvSpPr>
        <p:spPr bwMode="auto">
          <a:xfrm>
            <a:off x="6355114" y="3278078"/>
            <a:ext cx="0" cy="45722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lIns="110045" tIns="55022" rIns="110045" bIns="55022" anchor="ctr"/>
          <a:lstStyle/>
          <a:p>
            <a:endParaRPr lang="zh-CN" altLang="en-US"/>
          </a:p>
        </p:txBody>
      </p:sp>
      <p:sp>
        <p:nvSpPr>
          <p:cNvPr id="28" name="Line 27"/>
          <p:cNvSpPr>
            <a:spLocks noChangeShapeType="1"/>
          </p:cNvSpPr>
          <p:nvPr/>
        </p:nvSpPr>
        <p:spPr bwMode="auto">
          <a:xfrm>
            <a:off x="5542571" y="3278078"/>
            <a:ext cx="0" cy="45722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lIns="110045" tIns="55022" rIns="110045" bIns="55022" anchor="ctr"/>
          <a:lstStyle/>
          <a:p>
            <a:endParaRPr lang="zh-CN" altLang="en-US"/>
          </a:p>
        </p:txBody>
      </p:sp>
      <p:sp>
        <p:nvSpPr>
          <p:cNvPr id="29" name="Text Box 28"/>
          <p:cNvSpPr txBox="1">
            <a:spLocks noChangeArrowheads="1"/>
          </p:cNvSpPr>
          <p:nvPr/>
        </p:nvSpPr>
        <p:spPr bwMode="auto">
          <a:xfrm>
            <a:off x="4823130" y="2758939"/>
            <a:ext cx="2580640" cy="5397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110045" tIns="55022" rIns="110045" bIns="55022">
            <a:spAutoFit/>
          </a:bodyPr>
          <a:lstStyle/>
          <a:p>
            <a:pPr algn="l"/>
            <a:r>
              <a:rPr kumimoji="1" lang="en-US" altLang="zh-CN" sz="2800" b="1">
                <a:latin typeface="微软雅黑" panose="020B0503020204020204" charset="-122"/>
                <a:ea typeface="微软雅黑" panose="020B0503020204020204" charset="-122"/>
              </a:rPr>
              <a:t>5    6     7     8</a:t>
            </a:r>
          </a:p>
        </p:txBody>
      </p:sp>
      <p:sp>
        <p:nvSpPr>
          <p:cNvPr id="30" name="Line 29"/>
          <p:cNvSpPr>
            <a:spLocks noChangeShapeType="1"/>
          </p:cNvSpPr>
          <p:nvPr/>
        </p:nvSpPr>
        <p:spPr bwMode="auto">
          <a:xfrm flipV="1">
            <a:off x="5034731" y="3735297"/>
            <a:ext cx="0" cy="609628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tailEnd type="triangle" w="sm" len="lg"/>
          </a:ln>
          <a:effectLst/>
        </p:spPr>
        <p:txBody>
          <a:bodyPr wrap="none" lIns="110045" tIns="55022" rIns="110045" bIns="55022" anchor="ctr"/>
          <a:lstStyle/>
          <a:p>
            <a:endParaRPr lang="zh-CN" altLang="en-US"/>
          </a:p>
        </p:txBody>
      </p:sp>
      <p:sp>
        <p:nvSpPr>
          <p:cNvPr id="31" name="Line 30"/>
          <p:cNvSpPr>
            <a:spLocks noChangeShapeType="1"/>
          </p:cNvSpPr>
          <p:nvPr/>
        </p:nvSpPr>
        <p:spPr bwMode="auto">
          <a:xfrm flipV="1">
            <a:off x="6050410" y="3735297"/>
            <a:ext cx="0" cy="609628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tailEnd type="triangle" w="sm" len="lg"/>
          </a:ln>
          <a:effectLst/>
        </p:spPr>
        <p:txBody>
          <a:bodyPr wrap="none" lIns="110045" tIns="55022" rIns="110045" bIns="55022" anchor="ctr"/>
          <a:lstStyle/>
          <a:p>
            <a:endParaRPr lang="zh-CN" altLang="en-US"/>
          </a:p>
        </p:txBody>
      </p:sp>
      <p:sp>
        <p:nvSpPr>
          <p:cNvPr id="32" name="Line 31"/>
          <p:cNvSpPr>
            <a:spLocks noChangeShapeType="1"/>
          </p:cNvSpPr>
          <p:nvPr/>
        </p:nvSpPr>
        <p:spPr bwMode="auto">
          <a:xfrm flipV="1">
            <a:off x="7472361" y="3735297"/>
            <a:ext cx="0" cy="609628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tailEnd type="triangle" w="sm" len="lg"/>
          </a:ln>
          <a:effectLst/>
        </p:spPr>
        <p:txBody>
          <a:bodyPr wrap="none" lIns="110045" tIns="55022" rIns="110045" bIns="55022" anchor="ctr"/>
          <a:lstStyle/>
          <a:p>
            <a:endParaRPr lang="zh-CN" altLang="en-US"/>
          </a:p>
        </p:txBody>
      </p:sp>
      <p:sp>
        <p:nvSpPr>
          <p:cNvPr id="33" name="Text Box 32"/>
          <p:cNvSpPr txBox="1">
            <a:spLocks noChangeArrowheads="1"/>
          </p:cNvSpPr>
          <p:nvPr/>
        </p:nvSpPr>
        <p:spPr bwMode="auto">
          <a:xfrm>
            <a:off x="4078301" y="3811501"/>
            <a:ext cx="861695" cy="5397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110045" tIns="55022" rIns="110045" bIns="55022">
            <a:spAutoFit/>
          </a:bodyPr>
          <a:lstStyle/>
          <a:p>
            <a:pPr algn="l"/>
            <a:r>
              <a:rPr kumimoji="1" lang="en-US" altLang="zh-CN" sz="2800" b="1">
                <a:latin typeface="微软雅黑" panose="020B0503020204020204" charset="-122"/>
                <a:ea typeface="微软雅黑" panose="020B0503020204020204" charset="-122"/>
              </a:rPr>
              <a:t>low</a:t>
            </a:r>
          </a:p>
        </p:txBody>
      </p:sp>
      <p:sp>
        <p:nvSpPr>
          <p:cNvPr id="34" name="Text Box 33"/>
          <p:cNvSpPr txBox="1">
            <a:spLocks noChangeArrowheads="1"/>
          </p:cNvSpPr>
          <p:nvPr/>
        </p:nvSpPr>
        <p:spPr bwMode="auto">
          <a:xfrm>
            <a:off x="5019920" y="3825789"/>
            <a:ext cx="910590" cy="5397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110045" tIns="55022" rIns="110045" bIns="55022">
            <a:spAutoFit/>
          </a:bodyPr>
          <a:lstStyle/>
          <a:p>
            <a:pPr algn="l"/>
            <a:r>
              <a:rPr kumimoji="1" lang="en-US" altLang="zh-CN" sz="2800" b="1">
                <a:latin typeface="微软雅黑" panose="020B0503020204020204" charset="-122"/>
                <a:ea typeface="微软雅黑" panose="020B0503020204020204" charset="-122"/>
              </a:rPr>
              <a:t>mid</a:t>
            </a:r>
          </a:p>
        </p:txBody>
      </p:sp>
      <p:sp>
        <p:nvSpPr>
          <p:cNvPr id="35" name="Text Box 34"/>
          <p:cNvSpPr txBox="1">
            <a:spLocks noChangeArrowheads="1"/>
          </p:cNvSpPr>
          <p:nvPr/>
        </p:nvSpPr>
        <p:spPr bwMode="auto">
          <a:xfrm>
            <a:off x="7548539" y="3811501"/>
            <a:ext cx="1019810" cy="5397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110045" tIns="55022" rIns="110045" bIns="55022">
            <a:spAutoFit/>
          </a:bodyPr>
          <a:lstStyle/>
          <a:p>
            <a:pPr algn="l"/>
            <a:r>
              <a:rPr kumimoji="1" lang="en-US" altLang="zh-CN" sz="2800" b="1">
                <a:latin typeface="微软雅黑" panose="020B0503020204020204" charset="-122"/>
                <a:ea typeface="微软雅黑" panose="020B0503020204020204" charset="-122"/>
              </a:rPr>
              <a:t>high</a:t>
            </a:r>
          </a:p>
        </p:txBody>
      </p:sp>
      <p:sp>
        <p:nvSpPr>
          <p:cNvPr id="36" name="Rectangle 35" descr="白色大理石"/>
          <p:cNvSpPr>
            <a:spLocks noChangeArrowheads="1"/>
          </p:cNvSpPr>
          <p:nvPr/>
        </p:nvSpPr>
        <p:spPr bwMode="auto">
          <a:xfrm>
            <a:off x="4730027" y="4770719"/>
            <a:ext cx="812544" cy="457221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110045" tIns="55022" rIns="110045" bIns="55022" anchor="ctr"/>
          <a:lstStyle/>
          <a:p>
            <a:r>
              <a:rPr kumimoji="1" lang="en-US" altLang="zh-CN" sz="2800" b="1">
                <a:latin typeface="微软雅黑" panose="020B0503020204020204" charset="-122"/>
                <a:ea typeface="微软雅黑" panose="020B0503020204020204" charset="-122"/>
              </a:rPr>
              <a:t> 6</a:t>
            </a:r>
          </a:p>
        </p:txBody>
      </p:sp>
      <p:sp>
        <p:nvSpPr>
          <p:cNvPr id="37" name="Rectangle 36"/>
          <p:cNvSpPr>
            <a:spLocks noChangeArrowheads="1"/>
          </p:cNvSpPr>
          <p:nvPr/>
        </p:nvSpPr>
        <p:spPr bwMode="auto">
          <a:xfrm>
            <a:off x="3612780" y="4770719"/>
            <a:ext cx="812544" cy="457221"/>
          </a:xfrm>
          <a:prstGeom prst="rect">
            <a:avLst/>
          </a:prstGeom>
          <a:solidFill>
            <a:srgbClr val="FFCC66"/>
          </a:solidFill>
          <a:ln w="19050">
            <a:solidFill>
              <a:schemeClr val="tx2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110045" tIns="55022" rIns="110045" bIns="55022" anchor="ctr"/>
          <a:lstStyle/>
          <a:p>
            <a:r>
              <a:rPr kumimoji="1" lang="en-US" altLang="zh-CN" sz="2800" b="1">
                <a:latin typeface="微软雅黑" panose="020B0503020204020204" charset="-122"/>
                <a:ea typeface="微软雅黑" panose="020B0503020204020204" charset="-122"/>
              </a:rPr>
              <a:t> 5</a:t>
            </a:r>
          </a:p>
        </p:txBody>
      </p:sp>
      <p:sp>
        <p:nvSpPr>
          <p:cNvPr id="38" name="Text Box 37"/>
          <p:cNvSpPr txBox="1">
            <a:spLocks noChangeArrowheads="1"/>
          </p:cNvSpPr>
          <p:nvPr/>
        </p:nvSpPr>
        <p:spPr bwMode="auto">
          <a:xfrm>
            <a:off x="4831595" y="4251583"/>
            <a:ext cx="438785" cy="5397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110045" tIns="55022" rIns="110045" bIns="55022">
            <a:spAutoFit/>
          </a:bodyPr>
          <a:lstStyle/>
          <a:p>
            <a:pPr algn="l"/>
            <a:r>
              <a:rPr kumimoji="1" lang="en-US" altLang="zh-CN" sz="2800" b="1">
                <a:latin typeface="微软雅黑" panose="020B0503020204020204" charset="-122"/>
                <a:ea typeface="微软雅黑" panose="020B0503020204020204" charset="-122"/>
              </a:rPr>
              <a:t>5</a:t>
            </a:r>
          </a:p>
        </p:txBody>
      </p:sp>
      <p:sp>
        <p:nvSpPr>
          <p:cNvPr id="39" name="Text Box 38"/>
          <p:cNvSpPr txBox="1">
            <a:spLocks noChangeArrowheads="1"/>
          </p:cNvSpPr>
          <p:nvPr/>
        </p:nvSpPr>
        <p:spPr bwMode="auto">
          <a:xfrm>
            <a:off x="3714348" y="5532754"/>
            <a:ext cx="861695" cy="5397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110045" tIns="55022" rIns="110045" bIns="55022">
            <a:spAutoFit/>
          </a:bodyPr>
          <a:lstStyle/>
          <a:p>
            <a:pPr algn="l"/>
            <a:r>
              <a:rPr kumimoji="1" lang="en-US" altLang="zh-CN" sz="2800" b="1">
                <a:latin typeface="微软雅黑" panose="020B0503020204020204" charset="-122"/>
                <a:ea typeface="微软雅黑" panose="020B0503020204020204" charset="-122"/>
              </a:rPr>
              <a:t>low</a:t>
            </a:r>
          </a:p>
        </p:txBody>
      </p:sp>
      <p:sp>
        <p:nvSpPr>
          <p:cNvPr id="40" name="Text Box 39"/>
          <p:cNvSpPr txBox="1">
            <a:spLocks noChangeArrowheads="1"/>
          </p:cNvSpPr>
          <p:nvPr/>
        </p:nvSpPr>
        <p:spPr bwMode="auto">
          <a:xfrm>
            <a:off x="4655968" y="5547043"/>
            <a:ext cx="910590" cy="5397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110045" tIns="55022" rIns="110045" bIns="55022">
            <a:spAutoFit/>
          </a:bodyPr>
          <a:lstStyle/>
          <a:p>
            <a:pPr algn="l"/>
            <a:r>
              <a:rPr kumimoji="1" lang="en-US" altLang="zh-CN" sz="2800" b="1">
                <a:latin typeface="微软雅黑" panose="020B0503020204020204" charset="-122"/>
                <a:ea typeface="微软雅黑" panose="020B0503020204020204" charset="-122"/>
              </a:rPr>
              <a:t>mid</a:t>
            </a:r>
          </a:p>
        </p:txBody>
      </p:sp>
      <p:sp>
        <p:nvSpPr>
          <p:cNvPr id="41" name="Text Box 40"/>
          <p:cNvSpPr txBox="1">
            <a:spLocks noChangeArrowheads="1"/>
          </p:cNvSpPr>
          <p:nvPr/>
        </p:nvSpPr>
        <p:spPr bwMode="auto">
          <a:xfrm>
            <a:off x="5644140" y="5532754"/>
            <a:ext cx="1019810" cy="5397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110045" tIns="55022" rIns="110045" bIns="55022">
            <a:spAutoFit/>
          </a:bodyPr>
          <a:lstStyle/>
          <a:p>
            <a:pPr algn="l"/>
            <a:r>
              <a:rPr kumimoji="1" lang="en-US" altLang="zh-CN" sz="2800" b="1">
                <a:latin typeface="微软雅黑" panose="020B0503020204020204" charset="-122"/>
                <a:ea typeface="微软雅黑" panose="020B0503020204020204" charset="-122"/>
              </a:rPr>
              <a:t>high</a:t>
            </a:r>
          </a:p>
        </p:txBody>
      </p:sp>
      <p:sp>
        <p:nvSpPr>
          <p:cNvPr id="42" name="Line 41"/>
          <p:cNvSpPr>
            <a:spLocks noChangeShapeType="1"/>
          </p:cNvSpPr>
          <p:nvPr/>
        </p:nvSpPr>
        <p:spPr bwMode="auto">
          <a:xfrm flipV="1">
            <a:off x="5136299" y="5304143"/>
            <a:ext cx="0" cy="381017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tailEnd type="triangle" w="sm" len="lg"/>
          </a:ln>
          <a:effectLst/>
        </p:spPr>
        <p:txBody>
          <a:bodyPr wrap="none" lIns="110045" tIns="55022" rIns="110045" bIns="55022" anchor="ctr"/>
          <a:lstStyle/>
          <a:p>
            <a:endParaRPr lang="zh-CN" altLang="en-US"/>
          </a:p>
        </p:txBody>
      </p:sp>
      <p:sp>
        <p:nvSpPr>
          <p:cNvPr id="43" name="Line 42"/>
          <p:cNvSpPr>
            <a:spLocks noChangeShapeType="1"/>
          </p:cNvSpPr>
          <p:nvPr/>
        </p:nvSpPr>
        <p:spPr bwMode="auto">
          <a:xfrm flipV="1">
            <a:off x="4323755" y="5304143"/>
            <a:ext cx="507840" cy="381017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tailEnd type="triangle" w="sm" len="lg"/>
          </a:ln>
          <a:effectLst/>
        </p:spPr>
        <p:txBody>
          <a:bodyPr wrap="none" lIns="110045" tIns="55022" rIns="110045" bIns="55022" anchor="ctr"/>
          <a:lstStyle/>
          <a:p>
            <a:endParaRPr lang="zh-CN" altLang="en-US"/>
          </a:p>
        </p:txBody>
      </p:sp>
      <p:sp>
        <p:nvSpPr>
          <p:cNvPr id="44" name="Line 43"/>
          <p:cNvSpPr>
            <a:spLocks noChangeShapeType="1"/>
          </p:cNvSpPr>
          <p:nvPr/>
        </p:nvSpPr>
        <p:spPr bwMode="auto">
          <a:xfrm flipH="1" flipV="1">
            <a:off x="5441003" y="5304143"/>
            <a:ext cx="507840" cy="381017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tailEnd type="triangle" w="sm" len="lg"/>
          </a:ln>
          <a:effectLst/>
        </p:spPr>
        <p:txBody>
          <a:bodyPr wrap="none" lIns="110045" tIns="55022" rIns="110045" bIns="55022" anchor="ctr"/>
          <a:lstStyle/>
          <a:p>
            <a:endParaRPr lang="zh-CN" altLang="en-US"/>
          </a:p>
        </p:txBody>
      </p:sp>
      <p:sp>
        <p:nvSpPr>
          <p:cNvPr id="45" name="Rectangle 44"/>
          <p:cNvSpPr>
            <a:spLocks noChangeArrowheads="1"/>
          </p:cNvSpPr>
          <p:nvPr/>
        </p:nvSpPr>
        <p:spPr bwMode="auto">
          <a:xfrm>
            <a:off x="6253547" y="3963909"/>
            <a:ext cx="812544" cy="457221"/>
          </a:xfrm>
          <a:prstGeom prst="rect">
            <a:avLst/>
          </a:prstGeom>
          <a:solidFill>
            <a:srgbClr val="FFCC66"/>
          </a:solidFill>
          <a:ln w="19050">
            <a:solidFill>
              <a:schemeClr val="tx2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110045" tIns="55022" rIns="110045" bIns="55022" anchor="ctr"/>
          <a:lstStyle/>
          <a:p>
            <a:r>
              <a:rPr kumimoji="1" lang="en-US" altLang="zh-CN" sz="2800" b="1">
                <a:latin typeface="微软雅黑" panose="020B0503020204020204" charset="-122"/>
                <a:ea typeface="微软雅黑" panose="020B0503020204020204" charset="-122"/>
              </a:rPr>
              <a:t> 5</a:t>
            </a:r>
          </a:p>
        </p:txBody>
      </p:sp>
      <p:sp>
        <p:nvSpPr>
          <p:cNvPr id="46" name="Rectangle 13"/>
          <p:cNvSpPr>
            <a:spLocks noChangeArrowheads="1"/>
          </p:cNvSpPr>
          <p:nvPr/>
        </p:nvSpPr>
        <p:spPr bwMode="auto">
          <a:xfrm>
            <a:off x="667759" y="3183845"/>
            <a:ext cx="710976" cy="457221"/>
          </a:xfrm>
          <a:prstGeom prst="rect">
            <a:avLst/>
          </a:prstGeom>
          <a:solidFill>
            <a:srgbClr val="FFCC66"/>
          </a:solidFill>
          <a:ln w="19050">
            <a:solidFill>
              <a:srgbClr val="FF6600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110045" tIns="55022" rIns="110045" bIns="55022" anchor="ctr"/>
          <a:lstStyle/>
          <a:p>
            <a:r>
              <a:rPr kumimoji="1" lang="en-US" altLang="zh-CN" sz="2800" b="1">
                <a:latin typeface="微软雅黑" panose="020B0503020204020204" charset="-122"/>
                <a:ea typeface="微软雅黑" panose="020B0503020204020204" charset="-122"/>
              </a:rPr>
              <a:t>5</a:t>
            </a:r>
          </a:p>
        </p:txBody>
      </p:sp>
      <p:sp>
        <p:nvSpPr>
          <p:cNvPr id="47" name="Text Box 15"/>
          <p:cNvSpPr txBox="1">
            <a:spLocks noChangeArrowheads="1"/>
          </p:cNvSpPr>
          <p:nvPr/>
        </p:nvSpPr>
        <p:spPr bwMode="auto">
          <a:xfrm>
            <a:off x="556064" y="3731558"/>
            <a:ext cx="930910" cy="5397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110045" tIns="55022" rIns="110045" bIns="55022">
            <a:spAutoFit/>
          </a:bodyPr>
          <a:lstStyle/>
          <a:p>
            <a:pPr algn="l"/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搜索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368300" y="1348691"/>
            <a:ext cx="8196612" cy="4932219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6372" name="Text Box 4"/>
          <p:cNvSpPr txBox="1">
            <a:spLocks noChangeArrowheads="1"/>
          </p:cNvSpPr>
          <p:nvPr/>
        </p:nvSpPr>
        <p:spPr bwMode="auto">
          <a:xfrm>
            <a:off x="522781" y="1280102"/>
            <a:ext cx="8059904" cy="441263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73300" tIns="173300" rIns="110045" bIns="17330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zh-CN" altLang="en-US" sz="22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　　</a:t>
            </a:r>
            <a:r>
              <a:rPr lang="zh-CN" altLang="en-US" sz="22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基本思路：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设</a:t>
            </a:r>
            <a:r>
              <a:rPr lang="en-US" altLang="zh-CN" sz="22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[low..high]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是当前的查找区间，首先确定该区间的中点位置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mid=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  <a:sym typeface="Symbol" panose="05050102010706020507" pitchFamily="18" charset="2"/>
              </a:rPr>
              <a:t>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(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low+high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)/2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  <a:sym typeface="Symbol" panose="05050102010706020507" pitchFamily="18" charset="2"/>
              </a:rPr>
              <a:t>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；然后将待查的</a:t>
            </a:r>
            <a:r>
              <a:rPr lang="en-US" altLang="zh-CN" sz="22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k 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值与</a:t>
            </a:r>
            <a:r>
              <a:rPr lang="en-US" altLang="zh-CN" sz="22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[mid].key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比较：</a:t>
            </a:r>
          </a:p>
          <a:p>
            <a:pPr indent="0" fontAlgn="auto">
              <a:lnSpc>
                <a:spcPct val="12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  （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1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）若</a:t>
            </a:r>
            <a:r>
              <a:rPr lang="en-US" altLang="zh-CN" sz="2200" b="1" i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k</a:t>
            </a:r>
            <a:r>
              <a:rPr lang="en-US" altLang="zh-CN" sz="22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==</a:t>
            </a:r>
            <a:r>
              <a:rPr lang="en-US" altLang="zh-CN" sz="2200" b="1" i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</a:t>
            </a:r>
            <a:r>
              <a:rPr lang="en-US" altLang="zh-CN" sz="22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[mid]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，则查找成功并返回该元素的物理下标；</a:t>
            </a:r>
          </a:p>
          <a:p>
            <a:pPr indent="0" fontAlgn="auto">
              <a:lnSpc>
                <a:spcPct val="12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  （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2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）若</a:t>
            </a:r>
            <a:r>
              <a:rPr lang="en-US" altLang="zh-CN" sz="2200" b="1" i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k</a:t>
            </a:r>
            <a:r>
              <a:rPr lang="en-US" altLang="zh-CN" sz="22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&lt;</a:t>
            </a:r>
            <a:r>
              <a:rPr lang="en-US" altLang="zh-CN" sz="2200" b="1" i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</a:t>
            </a:r>
            <a:r>
              <a:rPr lang="en-US" altLang="zh-CN" sz="22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[mid]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，则由表的有序性可知</a:t>
            </a:r>
            <a:r>
              <a:rPr lang="en-US" altLang="zh-CN" sz="22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[mid..high]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均大于</a:t>
            </a:r>
            <a:r>
              <a:rPr lang="en-US" altLang="zh-CN" sz="22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k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，因此若表中存在关键字等于</a:t>
            </a:r>
            <a:r>
              <a:rPr lang="en-US" altLang="zh-CN" sz="22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k 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的元素，则该元素必定位于左子表</a:t>
            </a:r>
            <a:r>
              <a:rPr lang="en-US" altLang="zh-CN" sz="22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[low..mid-1]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中，故新的查找区间是左子表</a:t>
            </a:r>
            <a:r>
              <a:rPr lang="en-US" altLang="zh-CN" sz="22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[low..mid-1]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；</a:t>
            </a:r>
          </a:p>
          <a:p>
            <a:pPr indent="0" fontAlgn="auto">
              <a:lnSpc>
                <a:spcPct val="12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  （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3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）若</a:t>
            </a:r>
            <a:r>
              <a:rPr lang="en-US" altLang="zh-CN" sz="2200" b="1" i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k</a:t>
            </a:r>
            <a:r>
              <a:rPr lang="en-US" altLang="zh-CN" sz="22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&gt;</a:t>
            </a:r>
            <a:r>
              <a:rPr lang="en-US" altLang="zh-CN" sz="2200" b="1" i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</a:t>
            </a:r>
            <a:r>
              <a:rPr lang="en-US" altLang="zh-CN" sz="22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[mid]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，则要查找的</a:t>
            </a:r>
            <a:r>
              <a:rPr lang="en-US" altLang="zh-CN" sz="22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k 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必在位于右子表</a:t>
            </a:r>
            <a:r>
              <a:rPr lang="en-US" altLang="zh-CN" sz="22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[mid+1..high]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中，即新的查找区间是右子表</a:t>
            </a:r>
            <a:r>
              <a:rPr lang="en-US" altLang="zh-CN" sz="22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[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mid+1..high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]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。</a:t>
            </a:r>
          </a:p>
          <a:p>
            <a:pPr indent="0" fontAlgn="auto">
              <a:lnSpc>
                <a:spcPct val="12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下一次查找是针对新的查找区间进行的。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Text Box 2"/>
          <p:cNvSpPr txBox="1">
            <a:spLocks noChangeArrowheads="1"/>
          </p:cNvSpPr>
          <p:nvPr/>
        </p:nvSpPr>
        <p:spPr bwMode="auto">
          <a:xfrm>
            <a:off x="461010" y="1254125"/>
            <a:ext cx="8132445" cy="453263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 lIns="216625" tIns="216625" rIns="110045" bIns="216625">
            <a:noAutofit/>
          </a:bodyPr>
          <a:lstStyle/>
          <a:p>
            <a:pPr indent="0" fontAlgn="auto">
              <a:lnSpc>
                <a:spcPct val="10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int </a:t>
            </a:r>
            <a:r>
              <a:rPr lang="en-US" altLang="zh-CN" sz="20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BinSearch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(int a[ ]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int low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int high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int k) 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//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拆半查找算法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{  int mid;</a:t>
            </a:r>
          </a:p>
          <a:p>
            <a:pPr indent="0" fontAlgn="auto">
              <a:lnSpc>
                <a:spcPct val="100000"/>
              </a:lnSpc>
            </a:pP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  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if (low&lt;=high)		//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当前区间存在元素时</a:t>
            </a:r>
          </a:p>
          <a:p>
            <a:pPr indent="0" fontAlgn="auto">
              <a:lnSpc>
                <a:spcPct val="100000"/>
              </a:lnSpc>
            </a:pP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  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{	mid=(</a:t>
            </a:r>
            <a:r>
              <a:rPr lang="en-US" altLang="zh-CN" sz="20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low+high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)/2;	//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求查找区间的中间位置</a:t>
            </a:r>
          </a:p>
          <a:p>
            <a:pPr indent="0" fontAlgn="auto">
              <a:lnSpc>
                <a:spcPct val="100000"/>
              </a:lnSpc>
            </a:pP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　　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if (a[mid]==k)		//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找到后返回其物理下标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mid</a:t>
            </a:r>
          </a:p>
          <a:p>
            <a:pPr indent="0" fontAlgn="auto">
              <a:lnSpc>
                <a:spcPct val="100000"/>
              </a:lnSpc>
            </a:pP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　　　　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return mid;</a:t>
            </a:r>
          </a:p>
          <a:p>
            <a:pPr indent="0" fontAlgn="auto">
              <a:lnSpc>
                <a:spcPct val="100000"/>
              </a:lnSpc>
            </a:pP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　　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if (a[mid]&gt;k)		//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当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a[mid]&gt;k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时</a:t>
            </a:r>
          </a:p>
          <a:p>
            <a:pPr indent="0" fontAlgn="auto">
              <a:lnSpc>
                <a:spcPct val="100000"/>
              </a:lnSpc>
            </a:pP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　　　　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return </a:t>
            </a:r>
            <a:r>
              <a:rPr lang="en-US" altLang="zh-CN" sz="20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BinSearch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(a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low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mid-1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k);</a:t>
            </a:r>
          </a:p>
          <a:p>
            <a:pPr indent="0" fontAlgn="auto">
              <a:lnSpc>
                <a:spcPct val="100000"/>
              </a:lnSpc>
            </a:pP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　　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else			//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当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a[mid]&lt;k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时</a:t>
            </a:r>
          </a:p>
          <a:p>
            <a:pPr indent="0" fontAlgn="auto">
              <a:lnSpc>
                <a:spcPct val="100000"/>
              </a:lnSpc>
            </a:pP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　　　  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return </a:t>
            </a:r>
            <a:r>
              <a:rPr lang="en-US" altLang="zh-CN" sz="20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BinSearch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(a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mid+1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high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k);</a:t>
            </a:r>
          </a:p>
          <a:p>
            <a:pPr indent="0" fontAlgn="auto">
              <a:lnSpc>
                <a:spcPct val="100000"/>
              </a:lnSpc>
            </a:pP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  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}</a:t>
            </a:r>
          </a:p>
          <a:p>
            <a:pPr indent="0" fontAlgn="auto">
              <a:lnSpc>
                <a:spcPct val="100000"/>
              </a:lnSpc>
            </a:pP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 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else return -1;		//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若当前查找区间没有元素时返回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-1</a:t>
            </a:r>
          </a:p>
          <a:p>
            <a:pPr indent="0" fontAlgn="auto">
              <a:lnSpc>
                <a:spcPct val="10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}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Text Box 2"/>
          <p:cNvSpPr txBox="1">
            <a:spLocks noChangeArrowheads="1"/>
          </p:cNvSpPr>
          <p:nvPr/>
        </p:nvSpPr>
        <p:spPr bwMode="auto">
          <a:xfrm>
            <a:off x="513715" y="1009015"/>
            <a:ext cx="8182610" cy="17710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10045" tIns="55022" rIns="110045" bIns="55022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　　</a:t>
            </a:r>
            <a:r>
              <a:rPr lang="en-US" altLang="zh-CN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【</a:t>
            </a:r>
            <a:r>
              <a:rPr lang="zh-CN" altLang="en-US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算法分析</a:t>
            </a:r>
            <a:r>
              <a:rPr lang="en-US" altLang="zh-CN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】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折半查找算法的主要时间花费在元素比较上，对于含有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 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个元素的有序表，采用折半查找时最坏情况下的元素比较次数为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C(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)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，则有：</a:t>
            </a:r>
          </a:p>
        </p:txBody>
      </p:sp>
      <p:sp>
        <p:nvSpPr>
          <p:cNvPr id="184323" name="Text Box 3"/>
          <p:cNvSpPr txBox="1">
            <a:spLocks noChangeArrowheads="1"/>
          </p:cNvSpPr>
          <p:nvPr/>
        </p:nvSpPr>
        <p:spPr bwMode="auto">
          <a:xfrm>
            <a:off x="1482163" y="2765883"/>
            <a:ext cx="5808458" cy="13917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 lIns="216625" tIns="173300" rIns="110045" bIns="216625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3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C(</a:t>
            </a:r>
            <a:r>
              <a:rPr lang="en-US" altLang="zh-CN" sz="2300" i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n</a:t>
            </a:r>
            <a:r>
              <a:rPr lang="en-US" altLang="zh-CN" sz="23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)=1			</a:t>
            </a:r>
            <a:r>
              <a:rPr lang="zh-CN" altLang="en-US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当</a:t>
            </a:r>
            <a:r>
              <a:rPr lang="en-US" altLang="zh-CN" sz="23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=1</a:t>
            </a:r>
          </a:p>
          <a:p>
            <a:pPr>
              <a:lnSpc>
                <a:spcPct val="150000"/>
              </a:lnSpc>
            </a:pPr>
            <a:r>
              <a:rPr lang="en-US" altLang="zh-CN" sz="23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C(</a:t>
            </a:r>
            <a:r>
              <a:rPr lang="en-US" altLang="zh-CN" sz="2300" i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n</a:t>
            </a:r>
            <a:r>
              <a:rPr lang="en-US" altLang="zh-CN" sz="23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)≤1+C(</a:t>
            </a:r>
            <a:r>
              <a:rPr lang="en-US" altLang="zh-CN" sz="23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  <a:sym typeface="Symbol" panose="05050102010706020507" pitchFamily="18" charset="2"/>
              </a:rPr>
              <a:t></a:t>
            </a:r>
            <a:r>
              <a:rPr lang="en-US" altLang="zh-CN" sz="2300" i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n</a:t>
            </a:r>
            <a:r>
              <a:rPr lang="en-US" altLang="zh-CN" sz="23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/2</a:t>
            </a:r>
            <a:r>
              <a:rPr lang="en-US" altLang="zh-CN" sz="23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  <a:sym typeface="Symbol" panose="05050102010706020507" pitchFamily="18" charset="2"/>
              </a:rPr>
              <a:t></a:t>
            </a:r>
            <a:r>
              <a:rPr lang="en-US" altLang="zh-CN" sz="23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)		</a:t>
            </a:r>
            <a:r>
              <a:rPr lang="zh-CN" altLang="en-US" sz="23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当</a:t>
            </a:r>
            <a:r>
              <a:rPr lang="en-US" altLang="zh-CN" sz="2300" i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300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≥2</a:t>
            </a:r>
            <a:endParaRPr lang="en-US" altLang="zh-CN" sz="2300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184324" name="Text Box 4"/>
          <p:cNvSpPr txBox="1">
            <a:spLocks noChangeArrowheads="1"/>
          </p:cNvSpPr>
          <p:nvPr/>
        </p:nvSpPr>
        <p:spPr bwMode="auto">
          <a:xfrm>
            <a:off x="748665" y="4285615"/>
            <a:ext cx="7866380" cy="17710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10045" tIns="55022" rIns="110045" bIns="55022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　　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由此得到</a:t>
            </a:r>
            <a:r>
              <a:rPr lang="zh-CN" altLang="pt-BR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：</a:t>
            </a:r>
            <a:r>
              <a:rPr lang="pt-BR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C(</a:t>
            </a:r>
            <a:r>
              <a:rPr lang="pt-BR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pt-BR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)≤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  <a:sym typeface="Symbol" panose="05050102010706020507" pitchFamily="18" charset="2"/>
              </a:rPr>
              <a:t></a:t>
            </a:r>
            <a:r>
              <a:rPr lang="pt-BR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log</a:t>
            </a:r>
            <a:r>
              <a:rPr lang="pt-BR" altLang="zh-CN" sz="2400" b="1" baseline="-250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2</a:t>
            </a:r>
            <a:r>
              <a:rPr lang="pt-BR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  <a:sym typeface="Symbol" panose="05050102010706020507" pitchFamily="18" charset="2"/>
              </a:rPr>
              <a:t></a:t>
            </a:r>
            <a:r>
              <a:rPr lang="pt-BR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+1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折半查找的主要时间花在元素比较上，所以算法的时间复杂度为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O(</a:t>
            </a:r>
            <a:r>
              <a:rPr lang="en-US" altLang="zh-CN" sz="24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log</a:t>
            </a:r>
            <a:r>
              <a:rPr lang="en-US" altLang="zh-CN" sz="2400" b="1" baseline="-25000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2</a:t>
            </a:r>
            <a:r>
              <a:rPr lang="en-US" altLang="zh-CN" sz="2400" b="1" i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)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9" name="Text Box 3"/>
          <p:cNvSpPr txBox="1">
            <a:spLocks noChangeArrowheads="1"/>
          </p:cNvSpPr>
          <p:nvPr/>
        </p:nvSpPr>
        <p:spPr bwMode="auto">
          <a:xfrm>
            <a:off x="433705" y="1278255"/>
            <a:ext cx="8277860" cy="116634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10045" tIns="55022" rIns="110045" bIns="55022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　　</a:t>
            </a:r>
            <a:r>
              <a:rPr lang="en-US" altLang="zh-CN" sz="2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【</a:t>
            </a:r>
            <a:r>
              <a:rPr lang="zh-CN" altLang="en-US" sz="2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问题描述</a:t>
            </a:r>
            <a:r>
              <a:rPr lang="en-US" altLang="zh-CN" sz="2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】</a:t>
            </a:r>
            <a:r>
              <a:rPr lang="zh-CN" altLang="en-US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对于给定的含有</a:t>
            </a:r>
            <a:r>
              <a:rPr lang="en-US" altLang="zh-CN" sz="2400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 </a:t>
            </a:r>
            <a:r>
              <a:rPr lang="zh-CN" altLang="en-US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元素的无序序列，求这个序列中第</a:t>
            </a:r>
            <a:r>
              <a:rPr lang="en-US" altLang="zh-CN" sz="2400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k</a:t>
            </a:r>
            <a:r>
              <a:rPr lang="zh-CN" altLang="en-US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（</a:t>
            </a:r>
            <a:r>
              <a:rPr lang="en-US" altLang="zh-CN" sz="2400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1≤</a:t>
            </a:r>
            <a:r>
              <a:rPr lang="en-US" altLang="zh-CN" sz="2400" i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k</a:t>
            </a:r>
            <a:r>
              <a:rPr lang="en-US" altLang="zh-CN" sz="2400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≤</a:t>
            </a:r>
            <a:r>
              <a:rPr lang="en-US" altLang="zh-CN" sz="2400" i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zh-CN" altLang="en-US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）小的元素。</a:t>
            </a:r>
          </a:p>
        </p:txBody>
      </p:sp>
      <p:sp>
        <p:nvSpPr>
          <p:cNvPr id="183300" name="Text Box 4"/>
          <p:cNvSpPr txBox="1">
            <a:spLocks noChangeArrowheads="1"/>
          </p:cNvSpPr>
          <p:nvPr/>
        </p:nvSpPr>
        <p:spPr bwMode="auto">
          <a:xfrm>
            <a:off x="433705" y="2421255"/>
            <a:ext cx="8192770" cy="195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10045" tIns="55022" rIns="110045" bIns="55022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　　</a:t>
            </a:r>
            <a:r>
              <a:rPr lang="en-US" altLang="zh-CN" sz="2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【</a:t>
            </a:r>
            <a:r>
              <a:rPr lang="zh-CN" altLang="en-US" sz="2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问题求解</a:t>
            </a:r>
            <a:r>
              <a:rPr lang="en-US" altLang="zh-CN" sz="2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】</a:t>
            </a:r>
            <a:r>
              <a:rPr lang="zh-CN" altLang="en-US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假设无序序列存放在</a:t>
            </a:r>
            <a:r>
              <a:rPr lang="en-US" altLang="zh-CN" sz="2400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</a:t>
            </a:r>
            <a:r>
              <a:rPr lang="en-US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[0..</a:t>
            </a:r>
            <a:r>
              <a:rPr lang="en-US" altLang="zh-CN" sz="2400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-1]</a:t>
            </a:r>
            <a:r>
              <a:rPr lang="zh-CN" altLang="en-US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中，若将</a:t>
            </a:r>
            <a:r>
              <a:rPr lang="en-US" altLang="zh-CN" sz="2400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 </a:t>
            </a:r>
            <a:r>
              <a:rPr lang="zh-CN" altLang="en-US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递增排序，则第</a:t>
            </a:r>
            <a:r>
              <a:rPr lang="en-US" altLang="zh-CN" sz="2400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k</a:t>
            </a:r>
            <a:r>
              <a:rPr lang="zh-CN" altLang="en-US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小的元素为</a:t>
            </a:r>
            <a:r>
              <a:rPr lang="en-US" altLang="zh-CN" sz="2400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</a:t>
            </a:r>
            <a:r>
              <a:rPr lang="en-US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[</a:t>
            </a:r>
            <a:r>
              <a:rPr lang="en-US" altLang="zh-CN" sz="2400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k</a:t>
            </a:r>
            <a:r>
              <a:rPr lang="en-US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-1]</a:t>
            </a:r>
            <a:r>
              <a:rPr lang="zh-CN" altLang="en-US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。</a:t>
            </a: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采用类似于快速排序的思想。</a:t>
            </a:r>
          </a:p>
        </p:txBody>
      </p:sp>
      <p:sp>
        <p:nvSpPr>
          <p:cNvPr id="3" name="基础扎实 / Strong Preparation">
            <a:extLst>
              <a:ext uri="{FF2B5EF4-FFF2-40B4-BE49-F238E27FC236}">
                <a16:creationId xmlns:a16="http://schemas.microsoft.com/office/drawing/2014/main" id="{91C25F27-4313-E943-084C-DD51B09B3937}"/>
              </a:ext>
            </a:extLst>
          </p:cNvPr>
          <p:cNvSpPr txBox="1"/>
          <p:nvPr/>
        </p:nvSpPr>
        <p:spPr>
          <a:xfrm>
            <a:off x="2603627" y="367980"/>
            <a:ext cx="5870237" cy="561660"/>
          </a:xfrm>
          <a:prstGeom prst="rect">
            <a:avLst/>
          </a:prstGeom>
          <a:noFill/>
          <a:ln>
            <a:noFill/>
          </a:ln>
        </p:spPr>
        <p:txBody>
          <a:bodyPr wrap="square" lIns="68549" tIns="34274" rIns="68549" bIns="34274" rtlCol="0">
            <a:spAutoFit/>
          </a:bodyPr>
          <a:lstStyle/>
          <a:p>
            <a:pPr algn="ctr" defTabSz="950595">
              <a:buClr>
                <a:prstClr val="white"/>
              </a:buClr>
              <a:buSzTx/>
              <a:buFontTx/>
              <a:defRPr/>
            </a:pPr>
            <a:r>
              <a:rPr lang="zh-CN" altLang="en-US" sz="3200" b="1" spc="50" dirty="0">
                <a:ln w="11430"/>
                <a:solidFill>
                  <a:srgbClr val="006600"/>
                </a:solidFill>
                <a:latin typeface="+mn-ea"/>
                <a:sym typeface="Arial" panose="020B0604020202020204" pitchFamily="34" charset="0"/>
              </a:rPr>
              <a:t>2.</a:t>
            </a:r>
            <a:r>
              <a:rPr lang="en-US" altLang="zh-CN" sz="3200" b="1" spc="50" dirty="0">
                <a:ln w="11430"/>
                <a:solidFill>
                  <a:srgbClr val="006600"/>
                </a:solidFill>
                <a:latin typeface="+mn-ea"/>
                <a:sym typeface="Arial" panose="020B0604020202020204" pitchFamily="34" charset="0"/>
              </a:rPr>
              <a:t>10</a:t>
            </a:r>
            <a:r>
              <a:rPr lang="zh-CN" altLang="en-US" sz="3200" b="1" spc="50" dirty="0">
                <a:ln w="11430"/>
                <a:solidFill>
                  <a:srgbClr val="006600"/>
                </a:solidFill>
                <a:latin typeface="+mn-ea"/>
                <a:sym typeface="Arial" panose="020B0604020202020204" pitchFamily="34" charset="0"/>
              </a:rPr>
              <a:t> 寻找第</a:t>
            </a:r>
            <a:r>
              <a:rPr lang="en-US" altLang="zh-CN" sz="3200" b="1" spc="50" dirty="0">
                <a:ln w="11430"/>
                <a:solidFill>
                  <a:srgbClr val="006600"/>
                </a:solidFill>
                <a:latin typeface="+mn-ea"/>
                <a:sym typeface="Arial" panose="020B0604020202020204" pitchFamily="34" charset="0"/>
              </a:rPr>
              <a:t>k</a:t>
            </a:r>
            <a:r>
              <a:rPr lang="zh-CN" altLang="en-US" sz="3200" b="1" spc="50" dirty="0">
                <a:ln w="11430"/>
                <a:solidFill>
                  <a:srgbClr val="006600"/>
                </a:solidFill>
                <a:latin typeface="+mn-ea"/>
                <a:sym typeface="Arial" panose="020B0604020202020204" pitchFamily="34" charset="0"/>
              </a:rPr>
              <a:t>小元素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68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Text Box 1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33289" y="590236"/>
            <a:ext cx="1471930" cy="480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333" tIns="56333" rIns="108333" bIns="56333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9pPr>
          </a:lstStyle>
          <a:p>
            <a:pPr defTabSz="550545" eaLnBrk="1" hangingPunct="1"/>
            <a:r>
              <a:rPr lang="en-US" altLang="zh-CN" sz="2400" dirty="0" err="1">
                <a:latin typeface="微软雅黑" panose="020B0503020204020204" charset="-122"/>
                <a:ea typeface="微软雅黑" panose="020B0503020204020204" charset="-122"/>
              </a:rPr>
              <a:t>PivotKey</a:t>
            </a:r>
          </a:p>
        </p:txBody>
      </p:sp>
      <p:grpSp>
        <p:nvGrpSpPr>
          <p:cNvPr id="44036" name="Group 76"/>
          <p:cNvGrpSpPr/>
          <p:nvPr/>
        </p:nvGrpSpPr>
        <p:grpSpPr bwMode="auto">
          <a:xfrm>
            <a:off x="578489" y="1071562"/>
            <a:ext cx="6739466" cy="942975"/>
            <a:chOff x="534" y="471"/>
            <a:chExt cx="3184" cy="594"/>
          </a:xfrm>
        </p:grpSpPr>
        <p:sp>
          <p:nvSpPr>
            <p:cNvPr id="44094" name="Rectangle 4"/>
            <p:cNvSpPr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534" y="471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3300"/>
                  </a:solidFill>
                  <a:latin typeface="微软雅黑" panose="020B0503020204020204" charset="-122"/>
                </a:rPr>
                <a:t>49</a:t>
              </a:r>
            </a:p>
          </p:txBody>
        </p:sp>
        <p:sp>
          <p:nvSpPr>
            <p:cNvPr id="44095" name="Rectangle 5"/>
            <p:cNvSpPr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950" y="471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38</a:t>
              </a:r>
            </a:p>
          </p:txBody>
        </p:sp>
        <p:sp>
          <p:nvSpPr>
            <p:cNvPr id="44096" name="Rectangle 6"/>
            <p:cNvSpPr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1363" y="477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65</a:t>
              </a:r>
            </a:p>
          </p:txBody>
        </p:sp>
        <p:sp>
          <p:nvSpPr>
            <p:cNvPr id="44097" name="Rectangle 7"/>
            <p:cNvSpPr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1768" y="477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97</a:t>
              </a:r>
            </a:p>
          </p:txBody>
        </p:sp>
        <p:sp>
          <p:nvSpPr>
            <p:cNvPr id="44098" name="Rectangle 8"/>
            <p:cNvSpPr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2178" y="477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76</a:t>
              </a:r>
            </a:p>
          </p:txBody>
        </p:sp>
        <p:sp>
          <p:nvSpPr>
            <p:cNvPr id="44099" name="Rectangle 9"/>
            <p:cNvSpPr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2583" y="477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13</a:t>
              </a:r>
            </a:p>
          </p:txBody>
        </p:sp>
        <p:sp>
          <p:nvSpPr>
            <p:cNvPr id="44100" name="Rectangle 10"/>
            <p:cNvSpPr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2978" y="477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27</a:t>
              </a:r>
            </a:p>
          </p:txBody>
        </p:sp>
        <p:sp>
          <p:nvSpPr>
            <p:cNvPr id="44101" name="Rectangle 11"/>
            <p:cNvSpPr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3386" y="477"/>
              <a:ext cx="33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49*</a:t>
              </a:r>
            </a:p>
          </p:txBody>
        </p:sp>
        <p:sp>
          <p:nvSpPr>
            <p:cNvPr id="44102" name="Line 13"/>
            <p:cNvSpPr>
              <a:spLocks noChangeShapeType="1"/>
            </p:cNvSpPr>
            <p:nvPr>
              <p:custDataLst>
                <p:tags r:id="rId63"/>
              </p:custDataLst>
            </p:nvPr>
          </p:nvSpPr>
          <p:spPr bwMode="auto">
            <a:xfrm flipV="1">
              <a:off x="3640" y="799"/>
              <a:ext cx="0" cy="226"/>
            </a:xfrm>
            <a:prstGeom prst="line">
              <a:avLst/>
            </a:prstGeom>
            <a:noFill/>
            <a:ln w="38100">
              <a:solidFill>
                <a:srgbClr val="152958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defTabSz="550545"/>
              <a:endParaRPr lang="zh-CN" altLang="en-US" sz="2200">
                <a:solidFill>
                  <a:prstClr val="black"/>
                </a:solidFill>
              </a:endParaRPr>
            </a:p>
          </p:txBody>
        </p:sp>
        <p:sp>
          <p:nvSpPr>
            <p:cNvPr id="44103" name="Line 14"/>
            <p:cNvSpPr>
              <a:spLocks noChangeShapeType="1"/>
            </p:cNvSpPr>
            <p:nvPr>
              <p:custDataLst>
                <p:tags r:id="rId64"/>
              </p:custDataLst>
            </p:nvPr>
          </p:nvSpPr>
          <p:spPr bwMode="auto">
            <a:xfrm flipV="1">
              <a:off x="670" y="799"/>
              <a:ext cx="0" cy="2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defTabSz="550545"/>
              <a:endParaRPr lang="zh-CN" altLang="en-US" sz="2200">
                <a:solidFill>
                  <a:prstClr val="black"/>
                </a:solidFill>
              </a:endParaRPr>
            </a:p>
          </p:txBody>
        </p:sp>
        <p:sp>
          <p:nvSpPr>
            <p:cNvPr id="44104" name="Line 16"/>
            <p:cNvSpPr>
              <a:spLocks noChangeShapeType="1"/>
            </p:cNvSpPr>
            <p:nvPr>
              <p:custDataLst>
                <p:tags r:id="rId65"/>
              </p:custDataLst>
            </p:nvPr>
          </p:nvSpPr>
          <p:spPr bwMode="auto">
            <a:xfrm flipV="1">
              <a:off x="3103" y="799"/>
              <a:ext cx="0" cy="226"/>
            </a:xfrm>
            <a:prstGeom prst="line">
              <a:avLst/>
            </a:prstGeom>
            <a:noFill/>
            <a:ln w="38100">
              <a:solidFill>
                <a:srgbClr val="152958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defTabSz="550545"/>
              <a:endParaRPr lang="zh-CN" altLang="en-US" sz="2200">
                <a:solidFill>
                  <a:prstClr val="black"/>
                </a:solidFill>
              </a:endParaRPr>
            </a:p>
          </p:txBody>
        </p:sp>
        <p:sp>
          <p:nvSpPr>
            <p:cNvPr id="44105" name="Line 17"/>
            <p:cNvSpPr>
              <a:spLocks noChangeShapeType="1"/>
            </p:cNvSpPr>
            <p:nvPr>
              <p:custDataLst>
                <p:tags r:id="rId66"/>
              </p:custDataLst>
            </p:nvPr>
          </p:nvSpPr>
          <p:spPr bwMode="auto">
            <a:xfrm flipH="1">
              <a:off x="3204" y="1065"/>
              <a:ext cx="363" cy="0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defTabSz="550545"/>
              <a:endParaRPr lang="zh-CN" altLang="en-US" sz="2200">
                <a:solidFill>
                  <a:prstClr val="black"/>
                </a:solidFill>
              </a:endParaRPr>
            </a:p>
          </p:txBody>
        </p:sp>
      </p:grpSp>
      <p:grpSp>
        <p:nvGrpSpPr>
          <p:cNvPr id="4" name="Group 77"/>
          <p:cNvGrpSpPr/>
          <p:nvPr/>
        </p:nvGrpSpPr>
        <p:grpSpPr bwMode="auto">
          <a:xfrm>
            <a:off x="587171" y="2134870"/>
            <a:ext cx="6730999" cy="881063"/>
            <a:chOff x="473" y="1234"/>
            <a:chExt cx="3180" cy="555"/>
          </a:xfrm>
        </p:grpSpPr>
        <p:sp>
          <p:nvSpPr>
            <p:cNvPr id="44082" name="Rectangle 18"/>
            <p:cNvSpPr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473" y="1234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27</a:t>
              </a:r>
            </a:p>
          </p:txBody>
        </p:sp>
        <p:sp>
          <p:nvSpPr>
            <p:cNvPr id="44083" name="Rectangle 19"/>
            <p:cNvSpPr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885" y="1234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38</a:t>
              </a:r>
            </a:p>
          </p:txBody>
        </p:sp>
        <p:sp>
          <p:nvSpPr>
            <p:cNvPr id="44084" name="Rectangle 20"/>
            <p:cNvSpPr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1298" y="1234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65</a:t>
              </a:r>
            </a:p>
          </p:txBody>
        </p:sp>
        <p:sp>
          <p:nvSpPr>
            <p:cNvPr id="44085" name="Rectangle 21"/>
            <p:cNvSpPr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1703" y="1234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97</a:t>
              </a:r>
            </a:p>
          </p:txBody>
        </p:sp>
        <p:sp>
          <p:nvSpPr>
            <p:cNvPr id="44086" name="Rectangle 22"/>
            <p:cNvSpPr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2113" y="1234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76</a:t>
              </a:r>
            </a:p>
          </p:txBody>
        </p:sp>
        <p:sp>
          <p:nvSpPr>
            <p:cNvPr id="44087" name="Rectangle 23"/>
            <p:cNvSpPr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2518" y="1234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13</a:t>
              </a:r>
            </a:p>
          </p:txBody>
        </p:sp>
        <p:sp>
          <p:nvSpPr>
            <p:cNvPr id="44088" name="Rectangle 24"/>
            <p:cNvSpPr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2913" y="1234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3300"/>
                  </a:solidFill>
                  <a:latin typeface="微软雅黑" panose="020B0503020204020204" charset="-122"/>
                </a:rPr>
                <a:t>49</a:t>
              </a:r>
            </a:p>
          </p:txBody>
        </p:sp>
        <p:sp>
          <p:nvSpPr>
            <p:cNvPr id="44089" name="Rectangle 25"/>
            <p:cNvSpPr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3321" y="1234"/>
              <a:ext cx="33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49*</a:t>
              </a:r>
            </a:p>
          </p:txBody>
        </p:sp>
        <p:sp>
          <p:nvSpPr>
            <p:cNvPr id="44090" name="Line 27"/>
            <p:cNvSpPr>
              <a:spLocks noChangeShapeType="1"/>
            </p:cNvSpPr>
            <p:nvPr>
              <p:custDataLst>
                <p:tags r:id="rId51"/>
              </p:custDataLst>
            </p:nvPr>
          </p:nvSpPr>
          <p:spPr bwMode="auto">
            <a:xfrm flipV="1">
              <a:off x="605" y="1562"/>
              <a:ext cx="0" cy="226"/>
            </a:xfrm>
            <a:prstGeom prst="line">
              <a:avLst/>
            </a:prstGeom>
            <a:noFill/>
            <a:ln w="38100">
              <a:solidFill>
                <a:srgbClr val="152958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defTabSz="550545"/>
              <a:endParaRPr lang="zh-CN" altLang="en-US" sz="2200">
                <a:solidFill>
                  <a:prstClr val="black"/>
                </a:solidFill>
              </a:endParaRPr>
            </a:p>
          </p:txBody>
        </p:sp>
        <p:sp>
          <p:nvSpPr>
            <p:cNvPr id="44091" name="Line 28"/>
            <p:cNvSpPr>
              <a:spLocks noChangeShapeType="1"/>
            </p:cNvSpPr>
            <p:nvPr>
              <p:custDataLst>
                <p:tags r:id="rId52"/>
              </p:custDataLst>
            </p:nvPr>
          </p:nvSpPr>
          <p:spPr bwMode="auto">
            <a:xfrm flipV="1">
              <a:off x="3038" y="1562"/>
              <a:ext cx="0" cy="22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defTabSz="550545"/>
              <a:endParaRPr lang="zh-CN" altLang="en-US" sz="2200">
                <a:solidFill>
                  <a:prstClr val="black"/>
                </a:solidFill>
              </a:endParaRPr>
            </a:p>
          </p:txBody>
        </p:sp>
        <p:sp>
          <p:nvSpPr>
            <p:cNvPr id="44092" name="Line 30"/>
            <p:cNvSpPr>
              <a:spLocks noChangeShapeType="1"/>
            </p:cNvSpPr>
            <p:nvPr>
              <p:custDataLst>
                <p:tags r:id="rId53"/>
              </p:custDataLst>
            </p:nvPr>
          </p:nvSpPr>
          <p:spPr bwMode="auto">
            <a:xfrm>
              <a:off x="655" y="1787"/>
              <a:ext cx="686" cy="1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noAutofit/>
            </a:bodyPr>
            <a:lstStyle/>
            <a:p>
              <a:pPr defTabSz="550545"/>
              <a:endParaRPr lang="zh-CN" altLang="en-US" sz="2200">
                <a:solidFill>
                  <a:prstClr val="black"/>
                </a:solidFill>
              </a:endParaRPr>
            </a:p>
          </p:txBody>
        </p:sp>
        <p:sp>
          <p:nvSpPr>
            <p:cNvPr id="44093" name="Line 31"/>
            <p:cNvSpPr>
              <a:spLocks noChangeShapeType="1"/>
            </p:cNvSpPr>
            <p:nvPr>
              <p:custDataLst>
                <p:tags r:id="rId54"/>
              </p:custDataLst>
            </p:nvPr>
          </p:nvSpPr>
          <p:spPr bwMode="auto">
            <a:xfrm flipV="1">
              <a:off x="1429" y="1561"/>
              <a:ext cx="0" cy="226"/>
            </a:xfrm>
            <a:prstGeom prst="line">
              <a:avLst/>
            </a:prstGeom>
            <a:noFill/>
            <a:ln w="38100">
              <a:solidFill>
                <a:srgbClr val="152958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defTabSz="550545"/>
              <a:endParaRPr lang="zh-CN" altLang="en-US" sz="2200">
                <a:solidFill>
                  <a:prstClr val="black"/>
                </a:solidFill>
              </a:endParaRPr>
            </a:p>
          </p:txBody>
        </p:sp>
      </p:grpSp>
      <p:grpSp>
        <p:nvGrpSpPr>
          <p:cNvPr id="5" name="Group 78"/>
          <p:cNvGrpSpPr/>
          <p:nvPr/>
        </p:nvGrpSpPr>
        <p:grpSpPr bwMode="auto">
          <a:xfrm>
            <a:off x="591406" y="3148010"/>
            <a:ext cx="6682316" cy="879475"/>
            <a:chOff x="475" y="2005"/>
            <a:chExt cx="3157" cy="554"/>
          </a:xfrm>
        </p:grpSpPr>
        <p:sp>
          <p:nvSpPr>
            <p:cNvPr id="44070" name="Rectangle 32"/>
            <p:cNvSpPr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475" y="2005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27</a:t>
              </a:r>
            </a:p>
          </p:txBody>
        </p:sp>
        <p:sp>
          <p:nvSpPr>
            <p:cNvPr id="44071" name="Rectangle 33"/>
            <p:cNvSpPr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885" y="2005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38</a:t>
              </a:r>
            </a:p>
          </p:txBody>
        </p:sp>
        <p:sp>
          <p:nvSpPr>
            <p:cNvPr id="44072" name="Rectangle 34"/>
            <p:cNvSpPr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1298" y="2005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3300"/>
                  </a:solidFill>
                  <a:latin typeface="微软雅黑" panose="020B0503020204020204" charset="-122"/>
                </a:rPr>
                <a:t>49</a:t>
              </a:r>
            </a:p>
          </p:txBody>
        </p:sp>
        <p:sp>
          <p:nvSpPr>
            <p:cNvPr id="44073" name="Rectangle 35"/>
            <p:cNvSpPr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1703" y="2005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97</a:t>
              </a:r>
            </a:p>
          </p:txBody>
        </p:sp>
        <p:sp>
          <p:nvSpPr>
            <p:cNvPr id="44074" name="Rectangle 36"/>
            <p:cNvSpPr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2113" y="2005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76</a:t>
              </a:r>
            </a:p>
          </p:txBody>
        </p:sp>
        <p:sp>
          <p:nvSpPr>
            <p:cNvPr id="44075" name="Rectangle 37"/>
            <p:cNvSpPr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2518" y="2005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13</a:t>
              </a:r>
            </a:p>
          </p:txBody>
        </p:sp>
        <p:sp>
          <p:nvSpPr>
            <p:cNvPr id="44076" name="Rectangle 38"/>
            <p:cNvSpPr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2913" y="2005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65</a:t>
              </a:r>
            </a:p>
          </p:txBody>
        </p:sp>
        <p:sp>
          <p:nvSpPr>
            <p:cNvPr id="44077" name="Rectangle 39"/>
            <p:cNvSpPr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3300" y="2005"/>
              <a:ext cx="33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49*</a:t>
              </a:r>
            </a:p>
          </p:txBody>
        </p:sp>
        <p:sp>
          <p:nvSpPr>
            <p:cNvPr id="44078" name="Line 42"/>
            <p:cNvSpPr>
              <a:spLocks noChangeShapeType="1"/>
            </p:cNvSpPr>
            <p:nvPr>
              <p:custDataLst>
                <p:tags r:id="rId39"/>
              </p:custDataLst>
            </p:nvPr>
          </p:nvSpPr>
          <p:spPr bwMode="auto">
            <a:xfrm flipV="1">
              <a:off x="3067" y="2315"/>
              <a:ext cx="0" cy="226"/>
            </a:xfrm>
            <a:prstGeom prst="line">
              <a:avLst/>
            </a:prstGeom>
            <a:noFill/>
            <a:ln w="38100">
              <a:solidFill>
                <a:srgbClr val="152958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defTabSz="550545"/>
              <a:endParaRPr lang="zh-CN" altLang="en-US" sz="2200">
                <a:solidFill>
                  <a:prstClr val="black"/>
                </a:solidFill>
              </a:endParaRPr>
            </a:p>
          </p:txBody>
        </p:sp>
        <p:sp>
          <p:nvSpPr>
            <p:cNvPr id="44079" name="Line 45"/>
            <p:cNvSpPr>
              <a:spLocks noChangeShapeType="1"/>
            </p:cNvSpPr>
            <p:nvPr>
              <p:custDataLst>
                <p:tags r:id="rId40"/>
              </p:custDataLst>
            </p:nvPr>
          </p:nvSpPr>
          <p:spPr bwMode="auto">
            <a:xfrm flipV="1">
              <a:off x="1429" y="2333"/>
              <a:ext cx="0" cy="2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defTabSz="550545"/>
              <a:endParaRPr lang="zh-CN" altLang="en-US" sz="2200">
                <a:solidFill>
                  <a:prstClr val="black"/>
                </a:solidFill>
              </a:endParaRPr>
            </a:p>
          </p:txBody>
        </p:sp>
        <p:sp>
          <p:nvSpPr>
            <p:cNvPr id="44080" name="Line 46"/>
            <p:cNvSpPr>
              <a:spLocks noChangeShapeType="1"/>
            </p:cNvSpPr>
            <p:nvPr>
              <p:custDataLst>
                <p:tags r:id="rId41"/>
              </p:custDataLst>
            </p:nvPr>
          </p:nvSpPr>
          <p:spPr bwMode="auto">
            <a:xfrm flipV="1">
              <a:off x="2656" y="2315"/>
              <a:ext cx="0" cy="226"/>
            </a:xfrm>
            <a:prstGeom prst="line">
              <a:avLst/>
            </a:prstGeom>
            <a:noFill/>
            <a:ln w="38100">
              <a:solidFill>
                <a:srgbClr val="152958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defTabSz="550545"/>
              <a:endParaRPr lang="zh-CN" altLang="en-US" sz="2200">
                <a:solidFill>
                  <a:prstClr val="black"/>
                </a:solidFill>
              </a:endParaRPr>
            </a:p>
          </p:txBody>
        </p:sp>
        <p:sp>
          <p:nvSpPr>
            <p:cNvPr id="44081" name="Line 47"/>
            <p:cNvSpPr>
              <a:spLocks noChangeShapeType="1"/>
            </p:cNvSpPr>
            <p:nvPr>
              <p:custDataLst>
                <p:tags r:id="rId42"/>
              </p:custDataLst>
            </p:nvPr>
          </p:nvSpPr>
          <p:spPr bwMode="auto">
            <a:xfrm flipH="1">
              <a:off x="2730" y="2558"/>
              <a:ext cx="249" cy="1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noAutofit/>
            </a:bodyPr>
            <a:lstStyle/>
            <a:p>
              <a:pPr defTabSz="550545"/>
              <a:endParaRPr lang="zh-CN" altLang="en-US" sz="2200">
                <a:solidFill>
                  <a:prstClr val="black"/>
                </a:solidFill>
              </a:endParaRPr>
            </a:p>
          </p:txBody>
        </p:sp>
      </p:grpSp>
      <p:grpSp>
        <p:nvGrpSpPr>
          <p:cNvPr id="6" name="Group 79"/>
          <p:cNvGrpSpPr/>
          <p:nvPr/>
        </p:nvGrpSpPr>
        <p:grpSpPr bwMode="auto">
          <a:xfrm>
            <a:off x="578705" y="4119238"/>
            <a:ext cx="6695016" cy="879475"/>
            <a:chOff x="475" y="2768"/>
            <a:chExt cx="3163" cy="554"/>
          </a:xfrm>
        </p:grpSpPr>
        <p:sp>
          <p:nvSpPr>
            <p:cNvPr id="44058" name="Rectangle 48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475" y="2768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27</a:t>
              </a:r>
            </a:p>
          </p:txBody>
        </p:sp>
        <p:sp>
          <p:nvSpPr>
            <p:cNvPr id="44059" name="Rectangle 49"/>
            <p:cNvSpPr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891" y="2768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38</a:t>
              </a:r>
            </a:p>
          </p:txBody>
        </p:sp>
        <p:sp>
          <p:nvSpPr>
            <p:cNvPr id="44060" name="Rectangle 50"/>
            <p:cNvSpPr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1304" y="2768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13</a:t>
              </a:r>
            </a:p>
          </p:txBody>
        </p:sp>
        <p:sp>
          <p:nvSpPr>
            <p:cNvPr id="44061" name="Rectangle 51"/>
            <p:cNvSpPr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1709" y="2768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97</a:t>
              </a:r>
            </a:p>
          </p:txBody>
        </p:sp>
        <p:sp>
          <p:nvSpPr>
            <p:cNvPr id="44062" name="Rectangle 52"/>
            <p:cNvSpPr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2119" y="2768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76</a:t>
              </a:r>
            </a:p>
          </p:txBody>
        </p:sp>
        <p:sp>
          <p:nvSpPr>
            <p:cNvPr id="44063" name="Rectangle 53"/>
            <p:cNvSpPr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2524" y="2768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3300"/>
                  </a:solidFill>
                  <a:latin typeface="微软雅黑" panose="020B0503020204020204" charset="-122"/>
                </a:rPr>
                <a:t>49</a:t>
              </a:r>
            </a:p>
          </p:txBody>
        </p:sp>
        <p:sp>
          <p:nvSpPr>
            <p:cNvPr id="44064" name="Rectangle 54"/>
            <p:cNvSpPr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2919" y="2768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65</a:t>
              </a:r>
            </a:p>
          </p:txBody>
        </p:sp>
        <p:sp>
          <p:nvSpPr>
            <p:cNvPr id="44065" name="Rectangle 55"/>
            <p:cNvSpPr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3306" y="2768"/>
              <a:ext cx="33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49*</a:t>
              </a:r>
            </a:p>
          </p:txBody>
        </p:sp>
        <p:sp>
          <p:nvSpPr>
            <p:cNvPr id="44066" name="Line 56"/>
            <p:cNvSpPr>
              <a:spLocks noChangeShapeType="1"/>
            </p:cNvSpPr>
            <p:nvPr>
              <p:custDataLst>
                <p:tags r:id="rId27"/>
              </p:custDataLst>
            </p:nvPr>
          </p:nvSpPr>
          <p:spPr bwMode="auto">
            <a:xfrm flipV="1">
              <a:off x="1849" y="3096"/>
              <a:ext cx="0" cy="226"/>
            </a:xfrm>
            <a:prstGeom prst="line">
              <a:avLst/>
            </a:prstGeom>
            <a:noFill/>
            <a:ln w="38100">
              <a:solidFill>
                <a:srgbClr val="152958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defTabSz="550545"/>
              <a:endParaRPr lang="zh-CN" altLang="en-US" sz="2200">
                <a:solidFill>
                  <a:prstClr val="black"/>
                </a:solidFill>
              </a:endParaRPr>
            </a:p>
          </p:txBody>
        </p:sp>
        <p:sp>
          <p:nvSpPr>
            <p:cNvPr id="44067" name="Line 58"/>
            <p:cNvSpPr>
              <a:spLocks noChangeShapeType="1"/>
            </p:cNvSpPr>
            <p:nvPr>
              <p:custDataLst>
                <p:tags r:id="rId28"/>
              </p:custDataLst>
            </p:nvPr>
          </p:nvSpPr>
          <p:spPr bwMode="auto">
            <a:xfrm>
              <a:off x="1499" y="3322"/>
              <a:ext cx="271" cy="0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noAutofit/>
            </a:bodyPr>
            <a:lstStyle/>
            <a:p>
              <a:pPr defTabSz="550545"/>
              <a:endParaRPr lang="zh-CN" altLang="en-US" sz="2200">
                <a:solidFill>
                  <a:prstClr val="black"/>
                </a:solidFill>
              </a:endParaRPr>
            </a:p>
          </p:txBody>
        </p:sp>
        <p:sp>
          <p:nvSpPr>
            <p:cNvPr id="44068" name="Line 59"/>
            <p:cNvSpPr>
              <a:spLocks noChangeShapeType="1"/>
            </p:cNvSpPr>
            <p:nvPr>
              <p:custDataLst>
                <p:tags r:id="rId29"/>
              </p:custDataLst>
            </p:nvPr>
          </p:nvSpPr>
          <p:spPr bwMode="auto">
            <a:xfrm flipV="1">
              <a:off x="1430" y="3095"/>
              <a:ext cx="0" cy="226"/>
            </a:xfrm>
            <a:prstGeom prst="line">
              <a:avLst/>
            </a:prstGeom>
            <a:noFill/>
            <a:ln w="38100">
              <a:solidFill>
                <a:srgbClr val="152958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defTabSz="550545"/>
              <a:endParaRPr lang="zh-CN" altLang="en-US" sz="2200">
                <a:solidFill>
                  <a:prstClr val="black"/>
                </a:solidFill>
              </a:endParaRPr>
            </a:p>
          </p:txBody>
        </p:sp>
        <p:sp>
          <p:nvSpPr>
            <p:cNvPr id="44069" name="Line 60"/>
            <p:cNvSpPr>
              <a:spLocks noChangeShapeType="1"/>
            </p:cNvSpPr>
            <p:nvPr>
              <p:custDataLst>
                <p:tags r:id="rId30"/>
              </p:custDataLst>
            </p:nvPr>
          </p:nvSpPr>
          <p:spPr bwMode="auto">
            <a:xfrm flipV="1">
              <a:off x="2662" y="3095"/>
              <a:ext cx="0" cy="2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defTabSz="550545"/>
              <a:endParaRPr lang="zh-CN" altLang="en-US" sz="2200">
                <a:solidFill>
                  <a:prstClr val="black"/>
                </a:solidFill>
              </a:endParaRPr>
            </a:p>
          </p:txBody>
        </p:sp>
      </p:grpSp>
      <p:grpSp>
        <p:nvGrpSpPr>
          <p:cNvPr id="7" name="Group 80"/>
          <p:cNvGrpSpPr/>
          <p:nvPr/>
        </p:nvGrpSpPr>
        <p:grpSpPr bwMode="auto">
          <a:xfrm>
            <a:off x="591405" y="5125080"/>
            <a:ext cx="6682316" cy="877888"/>
            <a:chOff x="469" y="3466"/>
            <a:chExt cx="3157" cy="553"/>
          </a:xfrm>
        </p:grpSpPr>
        <p:sp>
          <p:nvSpPr>
            <p:cNvPr id="44046" name="Rectangle 64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69" y="3466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27</a:t>
              </a:r>
            </a:p>
          </p:txBody>
        </p:sp>
        <p:sp>
          <p:nvSpPr>
            <p:cNvPr id="44047" name="Rectangle 65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879" y="3466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38</a:t>
              </a:r>
            </a:p>
          </p:txBody>
        </p:sp>
        <p:sp>
          <p:nvSpPr>
            <p:cNvPr id="44048" name="Rectangle 66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292" y="3466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13</a:t>
              </a:r>
            </a:p>
          </p:txBody>
        </p:sp>
        <p:sp>
          <p:nvSpPr>
            <p:cNvPr id="44050" name="Rectangle 68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2107" y="3466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76</a:t>
              </a:r>
            </a:p>
          </p:txBody>
        </p:sp>
        <p:sp>
          <p:nvSpPr>
            <p:cNvPr id="44051" name="Rectangle 69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2512" y="3466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97</a:t>
              </a:r>
            </a:p>
          </p:txBody>
        </p:sp>
        <p:sp>
          <p:nvSpPr>
            <p:cNvPr id="44052" name="Rectangle 70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2907" y="3466"/>
              <a:ext cx="26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65</a:t>
              </a:r>
            </a:p>
          </p:txBody>
        </p:sp>
        <p:sp>
          <p:nvSpPr>
            <p:cNvPr id="44053" name="Rectangle 71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3294" y="3466"/>
              <a:ext cx="332" cy="2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defTabSz="550545"/>
              <a:r>
                <a:rPr lang="en-US" altLang="zh-CN" sz="2400" b="1">
                  <a:solidFill>
                    <a:srgbClr val="FFFF00"/>
                  </a:solidFill>
                  <a:latin typeface="微软雅黑" panose="020B0503020204020204" charset="-122"/>
                </a:rPr>
                <a:t>49*</a:t>
              </a:r>
            </a:p>
          </p:txBody>
        </p:sp>
        <p:sp>
          <p:nvSpPr>
            <p:cNvPr id="44054" name="Line 72"/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 flipV="1">
              <a:off x="2650" y="3793"/>
              <a:ext cx="0" cy="226"/>
            </a:xfrm>
            <a:prstGeom prst="line">
              <a:avLst/>
            </a:prstGeom>
            <a:noFill/>
            <a:ln w="38100">
              <a:solidFill>
                <a:srgbClr val="152958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defTabSz="550545"/>
              <a:endParaRPr lang="zh-CN" altLang="en-US" sz="2200">
                <a:solidFill>
                  <a:prstClr val="black"/>
                </a:solidFill>
              </a:endParaRPr>
            </a:p>
          </p:txBody>
        </p:sp>
        <p:sp>
          <p:nvSpPr>
            <p:cNvPr id="44055" name="Line 73"/>
            <p:cNvSpPr>
              <a:spLocks noChangeShapeType="1"/>
            </p:cNvSpPr>
            <p:nvPr>
              <p:custDataLst>
                <p:tags r:id="rId16"/>
              </p:custDataLst>
            </p:nvPr>
          </p:nvSpPr>
          <p:spPr bwMode="auto">
            <a:xfrm rot="10800000">
              <a:off x="2047" y="4019"/>
              <a:ext cx="274" cy="0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>
              <a:noAutofit/>
            </a:bodyPr>
            <a:lstStyle/>
            <a:p>
              <a:pPr defTabSz="550545"/>
              <a:endParaRPr lang="zh-CN" altLang="en-US" sz="2200">
                <a:solidFill>
                  <a:prstClr val="black"/>
                </a:solidFill>
              </a:endParaRPr>
            </a:p>
          </p:txBody>
        </p:sp>
        <p:sp>
          <p:nvSpPr>
            <p:cNvPr id="44056" name="Line 74"/>
            <p:cNvSpPr>
              <a:spLocks noChangeShapeType="1"/>
            </p:cNvSpPr>
            <p:nvPr>
              <p:custDataLst>
                <p:tags r:id="rId17"/>
              </p:custDataLst>
            </p:nvPr>
          </p:nvSpPr>
          <p:spPr bwMode="auto">
            <a:xfrm flipV="1">
              <a:off x="1837" y="3757"/>
              <a:ext cx="0" cy="226"/>
            </a:xfrm>
            <a:prstGeom prst="line">
              <a:avLst/>
            </a:prstGeom>
            <a:noFill/>
            <a:ln w="38100">
              <a:solidFill>
                <a:srgbClr val="152958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defTabSz="550545"/>
              <a:endParaRPr lang="zh-CN" altLang="en-US" sz="2200">
                <a:solidFill>
                  <a:prstClr val="black"/>
                </a:solidFill>
              </a:endParaRPr>
            </a:p>
          </p:txBody>
        </p:sp>
        <p:sp>
          <p:nvSpPr>
            <p:cNvPr id="44057" name="Line 75"/>
            <p:cNvSpPr>
              <a:spLocks noChangeShapeType="1"/>
            </p:cNvSpPr>
            <p:nvPr>
              <p:custDataLst>
                <p:tags r:id="rId18"/>
              </p:custDataLst>
            </p:nvPr>
          </p:nvSpPr>
          <p:spPr bwMode="auto">
            <a:xfrm flipV="1">
              <a:off x="1798" y="3757"/>
              <a:ext cx="0" cy="2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defTabSz="550545"/>
              <a:endParaRPr lang="zh-CN" altLang="en-US" sz="2200">
                <a:solidFill>
                  <a:prstClr val="black"/>
                </a:solidFill>
              </a:endParaRPr>
            </a:p>
          </p:txBody>
        </p:sp>
      </p:grpSp>
      <p:sp>
        <p:nvSpPr>
          <p:cNvPr id="44043" name="Text Box 83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046486" y="1591949"/>
            <a:ext cx="64516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333" tIns="56333" rIns="108333" bIns="56333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9pPr>
          </a:lstStyle>
          <a:p>
            <a:pPr defTabSz="550545" eaLnBrk="1" hangingPunct="1"/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low</a:t>
            </a:r>
          </a:p>
        </p:txBody>
      </p:sp>
      <p:sp>
        <p:nvSpPr>
          <p:cNvPr id="44044" name="Text Box 84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229818" y="1543893"/>
            <a:ext cx="75819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333" tIns="56333" rIns="108333" bIns="56333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9pPr>
          </a:lstStyle>
          <a:p>
            <a:pPr defTabSz="550545" eaLnBrk="1" hangingPunct="1"/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high</a:t>
            </a:r>
          </a:p>
        </p:txBody>
      </p:sp>
      <p:sp>
        <p:nvSpPr>
          <p:cNvPr id="44040" name="Rectangle 63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7318377" y="741045"/>
            <a:ext cx="1380804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cs typeface="Arial" panose="020B0604020202020204" pitchFamily="34" charset="0"/>
              </a:rPr>
              <a:t>Example</a:t>
            </a:r>
          </a:p>
        </p:txBody>
      </p:sp>
      <p:sp>
        <p:nvSpPr>
          <p:cNvPr id="208981" name="Text Box 8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521788" y="2190433"/>
            <a:ext cx="1439001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/>
              <a:t>Swap</a:t>
            </a:r>
          </a:p>
        </p:txBody>
      </p:sp>
      <p:sp>
        <p:nvSpPr>
          <p:cNvPr id="8" name="Rectangle 81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190875" y="5125085"/>
            <a:ext cx="554355" cy="46228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</a:ln>
        </p:spPr>
        <p:txBody>
          <a:bodyPr lIns="90000" tIns="46800" rIns="90000" bIns="46800" anchor="ctr">
            <a:noAutofit/>
          </a:bodyPr>
          <a:lstStyle/>
          <a:p>
            <a:pPr algn="ctr"/>
            <a:r>
              <a:rPr lang="en-US" altLang="zh-CN" sz="2400" b="1">
                <a:solidFill>
                  <a:srgbClr val="FF3300"/>
                </a:solidFill>
              </a:rPr>
              <a:t>49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981" grpId="0"/>
      <p:bldP spid="8" grpId="0" bldLvl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Text Box 2"/>
          <p:cNvSpPr txBox="1">
            <a:spLocks noChangeArrowheads="1"/>
          </p:cNvSpPr>
          <p:nvPr/>
        </p:nvSpPr>
        <p:spPr bwMode="auto">
          <a:xfrm>
            <a:off x="473710" y="1903095"/>
            <a:ext cx="7964121" cy="12134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noFill/>
            <a:miter lim="800000"/>
          </a:ln>
          <a:effectLst/>
        </p:spPr>
        <p:txBody>
          <a:bodyPr wrap="square" lIns="110045" tIns="129975" rIns="110045" bIns="216625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3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　　</a:t>
            </a:r>
            <a:r>
              <a:rPr lang="zh-CN" altLang="en-US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对于序列</a:t>
            </a:r>
            <a:r>
              <a:rPr lang="en-US" altLang="zh-CN" sz="23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</a:t>
            </a:r>
            <a:r>
              <a:rPr lang="en-US" altLang="zh-CN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[</a:t>
            </a:r>
            <a:r>
              <a:rPr lang="en-US" altLang="zh-CN" sz="2300" b="1" i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s</a:t>
            </a:r>
            <a:r>
              <a:rPr lang="en-US" altLang="zh-CN" sz="23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..</a:t>
            </a:r>
            <a:r>
              <a:rPr lang="en-US" altLang="zh-CN" sz="2300" b="1" i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t</a:t>
            </a:r>
            <a:r>
              <a:rPr lang="en-US" altLang="zh-CN" sz="23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]</a:t>
            </a:r>
            <a:r>
              <a:rPr lang="zh-CN" altLang="en-US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，在其中查找第</a:t>
            </a:r>
            <a:r>
              <a:rPr lang="en-US" altLang="zh-CN" sz="23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k</a:t>
            </a:r>
            <a:r>
              <a:rPr lang="zh-CN" altLang="en-US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小元素的过程如下：</a:t>
            </a:r>
          </a:p>
          <a:p>
            <a:pPr>
              <a:lnSpc>
                <a:spcPct val="150000"/>
              </a:lnSpc>
            </a:pPr>
            <a:r>
              <a:rPr lang="zh-CN" altLang="en-US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将</a:t>
            </a:r>
            <a:r>
              <a:rPr lang="en-US" altLang="zh-CN" sz="23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</a:t>
            </a:r>
            <a:r>
              <a:rPr lang="en-US" altLang="zh-CN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[s]</a:t>
            </a:r>
            <a:r>
              <a:rPr lang="zh-CN" altLang="en-US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作为基准划分，其对应下标为</a:t>
            </a:r>
            <a:r>
              <a:rPr lang="en-US" altLang="zh-CN" sz="2300" b="1" i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</a:t>
            </a:r>
            <a:r>
              <a:rPr lang="zh-CN" altLang="en-US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。</a:t>
            </a:r>
            <a:r>
              <a:rPr lang="en-US" altLang="zh-CN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3</a:t>
            </a:r>
            <a:r>
              <a:rPr lang="zh-CN" altLang="en-US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种情况</a:t>
            </a:r>
            <a:r>
              <a:rPr lang="zh-CN" altLang="en-US" sz="23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08313" y="1123954"/>
            <a:ext cx="4794854" cy="462915"/>
          </a:xfrm>
          <a:prstGeom prst="rect">
            <a:avLst/>
          </a:prstGeom>
          <a:noFill/>
        </p:spPr>
        <p:txBody>
          <a:bodyPr wrap="square" lIns="110045" tIns="55022" rIns="110045" bIns="55022" rtlCol="0">
            <a:spAutoFit/>
          </a:bodyPr>
          <a:lstStyle/>
          <a:p>
            <a:r>
              <a:rPr lang="zh-CN" altLang="en-US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该元素的下标为</a:t>
            </a:r>
            <a:r>
              <a:rPr lang="en-US" altLang="zh-CN" sz="23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k</a:t>
            </a:r>
            <a:r>
              <a:rPr lang="en-US" altLang="zh-CN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-1</a:t>
            </a:r>
          </a:p>
        </p:txBody>
      </p:sp>
      <p:cxnSp>
        <p:nvCxnSpPr>
          <p:cNvPr id="5" name="直接箭头连接符 4"/>
          <p:cNvCxnSpPr/>
          <p:nvPr/>
        </p:nvCxnSpPr>
        <p:spPr>
          <a:xfrm>
            <a:off x="5376212" y="1502433"/>
            <a:ext cx="0" cy="318434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73711" y="3239135"/>
            <a:ext cx="7964120" cy="292354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216625" tIns="216625" rIns="216625" bIns="216625" rtlCol="0">
            <a:noAutofit/>
          </a:bodyPr>
          <a:lstStyle/>
          <a:p>
            <a:pPr marL="550545" indent="-550545">
              <a:lnSpc>
                <a:spcPct val="150000"/>
              </a:lnSpc>
              <a:buBlip>
                <a:blip r:embed="rId4"/>
              </a:buBlip>
            </a:pPr>
            <a:r>
              <a:rPr lang="zh-CN" altLang="en-US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若</a:t>
            </a:r>
            <a:r>
              <a:rPr lang="en-US" altLang="zh-CN" sz="2300" b="1" i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k</a:t>
            </a:r>
            <a:r>
              <a:rPr lang="en-US" altLang="zh-CN" sz="23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-1=</a:t>
            </a:r>
            <a:r>
              <a:rPr lang="en-US" altLang="zh-CN" sz="2300" b="1" i="1" dirty="0" err="1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</a:t>
            </a:r>
            <a:r>
              <a:rPr lang="zh-CN" altLang="en-US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3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</a:t>
            </a:r>
            <a:r>
              <a:rPr lang="en-US" altLang="zh-CN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[</a:t>
            </a:r>
            <a:r>
              <a:rPr lang="en-US" altLang="zh-CN" sz="2300" b="1" i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</a:t>
            </a:r>
            <a:r>
              <a:rPr lang="en-US" altLang="zh-CN" sz="23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]</a:t>
            </a:r>
            <a:r>
              <a:rPr lang="zh-CN" altLang="en-US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即为所求，返回</a:t>
            </a:r>
            <a:r>
              <a:rPr lang="en-US" altLang="zh-CN" sz="23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</a:t>
            </a:r>
            <a:r>
              <a:rPr lang="en-US" altLang="zh-CN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[</a:t>
            </a:r>
            <a:r>
              <a:rPr lang="en-US" altLang="zh-CN" sz="2300" b="1" i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</a:t>
            </a:r>
            <a:r>
              <a:rPr lang="en-US" altLang="zh-CN" sz="23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]</a:t>
            </a:r>
            <a:r>
              <a:rPr lang="zh-CN" altLang="en-US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。</a:t>
            </a:r>
          </a:p>
          <a:p>
            <a:pPr marL="550545" indent="-550545">
              <a:lnSpc>
                <a:spcPct val="150000"/>
              </a:lnSpc>
              <a:buBlip>
                <a:blip r:embed="rId4"/>
              </a:buBlip>
            </a:pPr>
            <a:r>
              <a:rPr lang="zh-CN" altLang="en-US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若</a:t>
            </a:r>
            <a:r>
              <a:rPr lang="en-US" altLang="zh-CN" sz="2300" b="1" i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k</a:t>
            </a:r>
            <a:r>
              <a:rPr lang="en-US" altLang="zh-CN" sz="23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-1&lt;</a:t>
            </a:r>
            <a:r>
              <a:rPr lang="en-US" altLang="zh-CN" sz="2300" b="1" i="1" dirty="0" err="1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</a:t>
            </a:r>
            <a:r>
              <a:rPr lang="zh-CN" altLang="en-US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，第</a:t>
            </a:r>
            <a:r>
              <a:rPr lang="en-US" altLang="zh-CN" sz="23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k</a:t>
            </a:r>
            <a:r>
              <a:rPr lang="zh-CN" altLang="en-US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小的元素应在</a:t>
            </a:r>
            <a:r>
              <a:rPr lang="en-US" altLang="zh-CN" sz="23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</a:t>
            </a:r>
            <a:r>
              <a:rPr lang="en-US" altLang="zh-CN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[</a:t>
            </a:r>
            <a:r>
              <a:rPr lang="en-US" altLang="zh-CN" sz="23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s</a:t>
            </a:r>
            <a:r>
              <a:rPr lang="en-US" altLang="zh-CN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..</a:t>
            </a:r>
            <a:r>
              <a:rPr lang="en-US" altLang="zh-CN" sz="23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</a:t>
            </a:r>
            <a:r>
              <a:rPr lang="en-US" altLang="zh-CN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-1]</a:t>
            </a:r>
            <a:r>
              <a:rPr lang="zh-CN" altLang="en-US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子序列中，递归在该子序列中求解并返回其结果。</a:t>
            </a:r>
          </a:p>
          <a:p>
            <a:pPr marL="550545" indent="-550545">
              <a:lnSpc>
                <a:spcPct val="150000"/>
              </a:lnSpc>
              <a:buBlip>
                <a:blip r:embed="rId4"/>
              </a:buBlip>
            </a:pPr>
            <a:r>
              <a:rPr lang="zh-CN" altLang="en-US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若</a:t>
            </a:r>
            <a:r>
              <a:rPr lang="en-US" altLang="zh-CN" sz="2300" b="1" i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k</a:t>
            </a:r>
            <a:r>
              <a:rPr lang="en-US" altLang="zh-CN" sz="23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-1&gt;</a:t>
            </a:r>
            <a:r>
              <a:rPr lang="en-US" altLang="zh-CN" sz="2300" b="1" i="1" dirty="0" err="1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</a:t>
            </a:r>
            <a:r>
              <a:rPr lang="zh-CN" altLang="en-US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，第</a:t>
            </a:r>
            <a:r>
              <a:rPr lang="en-US" altLang="zh-CN" sz="23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k</a:t>
            </a:r>
            <a:r>
              <a:rPr lang="zh-CN" altLang="en-US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小的元素应在</a:t>
            </a:r>
            <a:r>
              <a:rPr lang="en-US" altLang="zh-CN" sz="23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</a:t>
            </a:r>
            <a:r>
              <a:rPr lang="en-US" altLang="zh-CN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[</a:t>
            </a:r>
            <a:r>
              <a:rPr lang="en-US" altLang="zh-CN" sz="23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</a:t>
            </a:r>
            <a:r>
              <a:rPr lang="en-US" altLang="zh-CN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+1..</a:t>
            </a:r>
            <a:r>
              <a:rPr lang="en-US" altLang="zh-CN" sz="23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t </a:t>
            </a:r>
            <a:r>
              <a:rPr lang="en-US" altLang="zh-CN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]</a:t>
            </a:r>
            <a:r>
              <a:rPr lang="zh-CN" altLang="en-US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子序列中，递归在该子序列中求解并返回其结果。</a:t>
            </a:r>
            <a:endParaRPr lang="zh-CN" altLang="en-US" sz="2300" b="1" dirty="0">
              <a:latin typeface="华文楷体" panose="02010600040101010101" pitchFamily="2" charset="-122"/>
              <a:ea typeface="华文楷体" panose="02010600040101010101" pitchFamily="2" charset="-122"/>
              <a:cs typeface="Consolas" panose="020B0609020204030204" pitchFamily="49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1" name="Text Box 3"/>
          <p:cNvSpPr txBox="1">
            <a:spLocks noChangeArrowheads="1"/>
          </p:cNvSpPr>
          <p:nvPr/>
        </p:nvSpPr>
        <p:spPr bwMode="auto">
          <a:xfrm>
            <a:off x="438202" y="1266684"/>
            <a:ext cx="9123109" cy="392514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lIns="216625" tIns="216625" rIns="216625" bIns="216625">
            <a:noAutofit/>
          </a:bodyPr>
          <a:lstStyle/>
          <a:p>
            <a:pPr indent="0" fontAlgn="auto">
              <a:lnSpc>
                <a:spcPts val="2000"/>
              </a:lnSpc>
            </a:pP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int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QuickSelect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(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int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a[ ]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int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s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int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t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int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k)</a:t>
            </a:r>
          </a:p>
          <a:p>
            <a:pPr indent="0" fontAlgn="auto">
              <a:lnSpc>
                <a:spcPts val="2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//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在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a[s..t]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序列中找第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k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小的元素</a:t>
            </a:r>
          </a:p>
          <a:p>
            <a:pPr indent="0" fontAlgn="auto">
              <a:lnSpc>
                <a:spcPts val="2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{  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int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i=s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j=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t,tmp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;</a:t>
            </a:r>
          </a:p>
          <a:p>
            <a:pPr indent="0" fontAlgn="auto">
              <a:lnSpc>
                <a:spcPts val="2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  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if (s&lt;t)</a:t>
            </a:r>
          </a:p>
          <a:p>
            <a:pPr indent="0" fontAlgn="auto">
              <a:lnSpc>
                <a:spcPts val="2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  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{  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tmp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=a[s];</a:t>
            </a:r>
          </a:p>
          <a:p>
            <a:pPr indent="0" fontAlgn="auto">
              <a:lnSpc>
                <a:spcPts val="2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     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while (i!=j) 		 //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从区间两端交替向中间扫描，直至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=j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为止</a:t>
            </a:r>
          </a:p>
          <a:p>
            <a:pPr indent="0" fontAlgn="auto">
              <a:lnSpc>
                <a:spcPts val="2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     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{  while (j&gt;i &amp;&amp; a[j]&gt;=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tmp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) j--;</a:t>
            </a:r>
          </a:p>
          <a:p>
            <a:pPr indent="0" fontAlgn="auto">
              <a:lnSpc>
                <a:spcPts val="2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　　　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a[i]=a[j];		//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将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a[j]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前移到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a[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]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的位置</a:t>
            </a:r>
          </a:p>
          <a:p>
            <a:pPr indent="0" fontAlgn="auto">
              <a:lnSpc>
                <a:spcPts val="2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　　　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while (i&lt;j &amp;&amp; a[i]&lt;=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tmp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) i++;</a:t>
            </a:r>
          </a:p>
          <a:p>
            <a:pPr indent="0" fontAlgn="auto">
              <a:lnSpc>
                <a:spcPts val="2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　　　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a[j]=a[i];		//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将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a[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]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后移到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a[j]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的位置</a:t>
            </a:r>
          </a:p>
          <a:p>
            <a:pPr indent="0" fontAlgn="auto">
              <a:lnSpc>
                <a:spcPts val="2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     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}</a:t>
            </a:r>
          </a:p>
          <a:p>
            <a:pPr indent="0" fontAlgn="auto">
              <a:lnSpc>
                <a:spcPts val="2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   </a:t>
            </a:r>
            <a:endParaRPr lang="en-US" altLang="zh-CN" sz="22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Consolas" panose="020B0609020204030204" pitchFamily="49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1" name="Text Box 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88010" y="1401445"/>
            <a:ext cx="8365746" cy="320737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lIns="216625" tIns="216625" rIns="216625" bIns="216625">
            <a:noAutofit/>
          </a:bodyPr>
          <a:lstStyle/>
          <a:p>
            <a:pPr indent="0" fontAlgn="auto">
              <a:lnSpc>
                <a:spcPts val="2000"/>
              </a:lnSpc>
            </a:pPr>
            <a:r>
              <a:rPr lang="zh-CN" altLang="en-US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      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a[i]=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tmp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;</a:t>
            </a:r>
          </a:p>
          <a:p>
            <a:pPr indent="0" fontAlgn="auto">
              <a:lnSpc>
                <a:spcPts val="2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     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if (k-1==i) return a[i];</a:t>
            </a:r>
          </a:p>
          <a:p>
            <a:pPr indent="0" fontAlgn="auto">
              <a:lnSpc>
                <a:spcPts val="2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     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else if (k-1&lt;i) return 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QuickSelect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(a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s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i-1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k);	</a:t>
            </a:r>
          </a:p>
          <a:p>
            <a:pPr indent="0" fontAlgn="auto">
              <a:lnSpc>
                <a:spcPts val="2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				//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在左区间中递归查找</a:t>
            </a:r>
          </a:p>
          <a:p>
            <a:pPr indent="0" fontAlgn="auto">
              <a:lnSpc>
                <a:spcPts val="2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     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else return 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QuickSelect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(a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i+1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t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k);			</a:t>
            </a:r>
          </a:p>
          <a:p>
            <a:pPr indent="0" fontAlgn="auto">
              <a:lnSpc>
                <a:spcPts val="2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				//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在右区间中递归查找</a:t>
            </a:r>
          </a:p>
          <a:p>
            <a:pPr indent="0" fontAlgn="auto">
              <a:lnSpc>
                <a:spcPts val="2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  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}</a:t>
            </a:r>
          </a:p>
          <a:p>
            <a:pPr indent="0" fontAlgn="auto">
              <a:lnSpc>
                <a:spcPts val="2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  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else if (s==t &amp;&amp; s==k-1)	//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区间内只有一个元素且为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a[k-1]</a:t>
            </a:r>
          </a:p>
          <a:p>
            <a:pPr indent="0" fontAlgn="auto">
              <a:lnSpc>
                <a:spcPts val="2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     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return a[k-1];</a:t>
            </a:r>
          </a:p>
          <a:p>
            <a:pPr indent="0" fontAlgn="auto">
              <a:lnSpc>
                <a:spcPts val="2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}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Text Box 2"/>
          <p:cNvSpPr txBox="1">
            <a:spLocks noChangeArrowheads="1"/>
          </p:cNvSpPr>
          <p:nvPr/>
        </p:nvSpPr>
        <p:spPr bwMode="auto">
          <a:xfrm>
            <a:off x="368301" y="1297305"/>
            <a:ext cx="8117742" cy="45396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10045" tIns="55022" rIns="110045" bIns="55022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zh-CN" altLang="pt-BR" sz="24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　　</a:t>
            </a:r>
            <a:r>
              <a:rPr lang="en-US" altLang="zh-CN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pt-BR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算法分析</a:t>
            </a:r>
            <a:r>
              <a:rPr lang="en-US" altLang="zh-CN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】</a:t>
            </a:r>
            <a:r>
              <a:rPr lang="zh-CN" altLang="pt-BR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对于</a:t>
            </a:r>
            <a:r>
              <a:rPr lang="pt-BR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QuickSelect(</a:t>
            </a:r>
            <a:r>
              <a:rPr lang="pt-BR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</a:t>
            </a:r>
            <a:r>
              <a:rPr lang="zh-CN" altLang="pt-BR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pt-BR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s</a:t>
            </a:r>
            <a:r>
              <a:rPr lang="zh-CN" altLang="pt-BR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pt-BR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t</a:t>
            </a:r>
            <a:r>
              <a:rPr lang="zh-CN" altLang="pt-BR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pt-BR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k</a:t>
            </a:r>
            <a:r>
              <a:rPr lang="pt-BR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)</a:t>
            </a:r>
            <a:r>
              <a:rPr lang="zh-CN" altLang="pt-BR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算法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zh-CN" altLang="pt-BR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设序列</a:t>
            </a:r>
            <a:r>
              <a:rPr lang="pt-BR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</a:t>
            </a:r>
            <a:r>
              <a:rPr lang="en-US" altLang="pt-BR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</a:t>
            </a:r>
            <a:r>
              <a:rPr lang="zh-CN" altLang="pt-BR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中含有</a:t>
            </a:r>
            <a:r>
              <a:rPr lang="pt-BR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zh-CN" altLang="pt-BR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个元素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zh-CN" altLang="pt-BR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其比较次数的递推式为：</a:t>
            </a:r>
            <a:endParaRPr lang="zh-CN" altLang="en-US" sz="2400" b="1" i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Consolas" panose="020B0609020204030204" pitchFamily="49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T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(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)=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T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(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/2)+O(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)</a:t>
            </a:r>
          </a:p>
          <a:p>
            <a:pPr indent="0" fontAlgn="auto">
              <a:lnSpc>
                <a:spcPct val="120000"/>
              </a:lnSpc>
            </a:pP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可以推导出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T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(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)=O(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)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，这是最好的情况，即每次划分的基准恰好是中位数，将一个序列划分为长度大致相等的两个子序列。</a:t>
            </a:r>
          </a:p>
          <a:p>
            <a:pPr indent="0" fontAlgn="auto">
              <a:lnSpc>
                <a:spcPct val="120000"/>
              </a:lnSpc>
            </a:pP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在最坏情况下，每次划分的基准恰好是序列中的最大值或最小值，则处理区间只比上一次减少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1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个元素，此时比较次数为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O(</a:t>
            </a:r>
            <a:r>
              <a:rPr lang="en-US" altLang="zh-CN" sz="2400" b="1" i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400" b="1" baseline="30000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2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)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。</a:t>
            </a:r>
          </a:p>
          <a:p>
            <a:pPr indent="0" fontAlgn="auto">
              <a:lnSpc>
                <a:spcPct val="120000"/>
              </a:lnSpc>
            </a:pP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在平均情况下该算法的时间复杂度为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O(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)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3" name="Text Box 3"/>
          <p:cNvSpPr txBox="1">
            <a:spLocks noChangeArrowheads="1"/>
          </p:cNvSpPr>
          <p:nvPr/>
        </p:nvSpPr>
        <p:spPr bwMode="auto">
          <a:xfrm>
            <a:off x="474979" y="1571625"/>
            <a:ext cx="8190341" cy="190500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10045" tIns="55022" rIns="110045" bIns="55022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　　</a:t>
            </a:r>
            <a:r>
              <a:rPr lang="en-US" altLang="zh-CN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问题描述</a:t>
            </a:r>
            <a:r>
              <a:rPr lang="en-US" altLang="zh-CN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】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对于一个长度为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 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的有序序列（假设均为升序序列）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[0..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-1]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，处于中间位置的元素称为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 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的中位数。</a:t>
            </a:r>
            <a:endParaRPr lang="en-US" altLang="zh-CN" sz="24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   设计一个算法求给定的两个有序序列的中位数。 　</a:t>
            </a:r>
          </a:p>
        </p:txBody>
      </p:sp>
      <p:sp>
        <p:nvSpPr>
          <p:cNvPr id="3" name="基础扎实 / Strong Preparation">
            <a:extLst>
              <a:ext uri="{FF2B5EF4-FFF2-40B4-BE49-F238E27FC236}">
                <a16:creationId xmlns:a16="http://schemas.microsoft.com/office/drawing/2014/main" id="{8F791A6B-0443-E341-6119-A55914324E7D}"/>
              </a:ext>
            </a:extLst>
          </p:cNvPr>
          <p:cNvSpPr txBox="1"/>
          <p:nvPr/>
        </p:nvSpPr>
        <p:spPr>
          <a:xfrm>
            <a:off x="2603627" y="367980"/>
            <a:ext cx="6123063" cy="561660"/>
          </a:xfrm>
          <a:prstGeom prst="rect">
            <a:avLst/>
          </a:prstGeom>
          <a:noFill/>
          <a:ln>
            <a:noFill/>
          </a:ln>
        </p:spPr>
        <p:txBody>
          <a:bodyPr wrap="square" lIns="68549" tIns="34274" rIns="68549" bIns="34274" rtlCol="0">
            <a:spAutoFit/>
          </a:bodyPr>
          <a:lstStyle/>
          <a:p>
            <a:pPr algn="ctr" defTabSz="950595">
              <a:buClr>
                <a:prstClr val="white"/>
              </a:buClr>
              <a:buSzTx/>
              <a:buFontTx/>
              <a:defRPr/>
            </a:pPr>
            <a:r>
              <a:rPr lang="zh-CN" altLang="en-US" sz="3200" b="1" spc="50" dirty="0">
                <a:ln w="11430"/>
                <a:solidFill>
                  <a:srgbClr val="006600"/>
                </a:solidFill>
                <a:latin typeface="+mn-ea"/>
                <a:sym typeface="Arial" panose="020B0604020202020204" pitchFamily="34" charset="0"/>
              </a:rPr>
              <a:t>2.</a:t>
            </a:r>
            <a:r>
              <a:rPr lang="en-US" altLang="zh-CN" sz="3200" b="1" spc="50" dirty="0">
                <a:ln w="11430"/>
                <a:solidFill>
                  <a:srgbClr val="006600"/>
                </a:solidFill>
                <a:latin typeface="+mn-ea"/>
                <a:sym typeface="Arial" panose="020B0604020202020204" pitchFamily="34" charset="0"/>
              </a:rPr>
              <a:t>11</a:t>
            </a:r>
            <a:r>
              <a:rPr lang="zh-CN" altLang="en-US" sz="3200" b="1" spc="50" dirty="0">
                <a:ln w="11430"/>
                <a:solidFill>
                  <a:srgbClr val="006600"/>
                </a:solidFill>
                <a:latin typeface="+mn-ea"/>
                <a:sym typeface="Arial" panose="020B0604020202020204" pitchFamily="34" charset="0"/>
              </a:rPr>
              <a:t> 寻找两个有序序列的中位数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3" name="Text Box 3"/>
          <p:cNvSpPr txBox="1">
            <a:spLocks noChangeArrowheads="1"/>
          </p:cNvSpPr>
          <p:nvPr/>
        </p:nvSpPr>
        <p:spPr bwMode="auto">
          <a:xfrm>
            <a:off x="506139" y="1422070"/>
            <a:ext cx="7919085" cy="23247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</a:ln>
          <a:effectLst/>
        </p:spPr>
        <p:txBody>
          <a:bodyPr wrap="square" lIns="110045" tIns="55022" rIns="110045" bIns="55022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　　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例如，若序列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=(11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13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15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17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19)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，其中位数是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15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，若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b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=(2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4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6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8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20)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，其中位数为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6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。两个等长有序序列的中位数是含它们所有元素的有序序列的中位数，例如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、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b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两个有序序列的中位数为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11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。</a:t>
            </a:r>
          </a:p>
        </p:txBody>
      </p:sp>
      <p:sp>
        <p:nvSpPr>
          <p:cNvPr id="179204" name="Text Box 4"/>
          <p:cNvSpPr txBox="1">
            <a:spLocks noChangeArrowheads="1"/>
          </p:cNvSpPr>
          <p:nvPr/>
        </p:nvSpPr>
        <p:spPr bwMode="auto">
          <a:xfrm>
            <a:off x="587215" y="4059891"/>
            <a:ext cx="4920122" cy="5397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10045" tIns="55022" rIns="110045" bIns="55022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i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a</a:t>
            </a:r>
            <a:r>
              <a:rPr lang="en-US" altLang="zh-CN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=(11</a:t>
            </a:r>
            <a:r>
              <a:rPr lang="zh-CN" altLang="en-US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，</a:t>
            </a:r>
            <a:r>
              <a:rPr lang="en-US" altLang="zh-CN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13</a:t>
            </a:r>
            <a:r>
              <a:rPr lang="zh-CN" altLang="en-US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，</a:t>
            </a:r>
            <a:r>
              <a:rPr lang="en-US" altLang="zh-CN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15</a:t>
            </a:r>
            <a:r>
              <a:rPr lang="zh-CN" altLang="en-US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，</a:t>
            </a:r>
            <a:r>
              <a:rPr lang="en-US" altLang="zh-CN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17</a:t>
            </a:r>
            <a:r>
              <a:rPr lang="zh-CN" altLang="en-US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，</a:t>
            </a:r>
            <a:r>
              <a:rPr lang="en-US" altLang="zh-CN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19)</a:t>
            </a:r>
          </a:p>
        </p:txBody>
      </p:sp>
      <p:sp>
        <p:nvSpPr>
          <p:cNvPr id="179205" name="Text Box 5"/>
          <p:cNvSpPr txBox="1">
            <a:spLocks noChangeArrowheads="1"/>
          </p:cNvSpPr>
          <p:nvPr/>
        </p:nvSpPr>
        <p:spPr bwMode="auto">
          <a:xfrm>
            <a:off x="4976655" y="4051449"/>
            <a:ext cx="4126199" cy="5397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10045" tIns="55022" rIns="110045" bIns="55022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i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b</a:t>
            </a:r>
            <a:r>
              <a:rPr lang="en-US" altLang="zh-CN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=(2</a:t>
            </a:r>
            <a:r>
              <a:rPr lang="zh-CN" altLang="en-US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，</a:t>
            </a:r>
            <a:r>
              <a:rPr lang="en-US" altLang="zh-CN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4</a:t>
            </a:r>
            <a:r>
              <a:rPr lang="zh-CN" altLang="en-US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，</a:t>
            </a:r>
            <a:r>
              <a:rPr lang="en-US" altLang="zh-CN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6</a:t>
            </a:r>
            <a:r>
              <a:rPr lang="zh-CN" altLang="en-US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，</a:t>
            </a:r>
            <a:r>
              <a:rPr lang="en-US" altLang="zh-CN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8</a:t>
            </a:r>
            <a:r>
              <a:rPr lang="zh-CN" altLang="en-US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，</a:t>
            </a:r>
            <a:r>
              <a:rPr lang="en-US" altLang="zh-CN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20)</a:t>
            </a:r>
          </a:p>
        </p:txBody>
      </p:sp>
      <p:sp>
        <p:nvSpPr>
          <p:cNvPr id="179206" name="AutoShape 6"/>
          <p:cNvSpPr>
            <a:spLocks noChangeArrowheads="1"/>
          </p:cNvSpPr>
          <p:nvPr/>
        </p:nvSpPr>
        <p:spPr bwMode="auto">
          <a:xfrm>
            <a:off x="4591360" y="4691399"/>
            <a:ext cx="385112" cy="431820"/>
          </a:xfrm>
          <a:prstGeom prst="downArrow">
            <a:avLst>
              <a:gd name="adj1" fmla="val 50000"/>
              <a:gd name="adj2" fmla="val 37363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eaVert" wrap="none" lIns="110045" tIns="55022" rIns="110045" bIns="55022" anchor="ctr"/>
          <a:lstStyle/>
          <a:p>
            <a:endParaRPr lang="zh-CN" altLang="en-US" sz="2800">
              <a:latin typeface="微软雅黑" panose="020B0503020204020204" charset="-122"/>
              <a:ea typeface="微软雅黑" panose="020B0503020204020204" charset="-122"/>
              <a:cs typeface="Consolas" panose="020B0609020204030204" pitchFamily="49" charset="0"/>
            </a:endParaRPr>
          </a:p>
        </p:txBody>
      </p:sp>
      <p:sp>
        <p:nvSpPr>
          <p:cNvPr id="179207" name="Text Box 7"/>
          <p:cNvSpPr txBox="1">
            <a:spLocks noChangeArrowheads="1"/>
          </p:cNvSpPr>
          <p:nvPr/>
        </p:nvSpPr>
        <p:spPr bwMode="auto">
          <a:xfrm>
            <a:off x="640877" y="5214834"/>
            <a:ext cx="8397132" cy="5397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10045" tIns="55022" rIns="110045" bIns="55022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c=(2</a:t>
            </a:r>
            <a:r>
              <a:rPr lang="zh-CN" altLang="en-US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，</a:t>
            </a:r>
            <a:r>
              <a:rPr lang="en-US" altLang="zh-CN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4</a:t>
            </a:r>
            <a:r>
              <a:rPr lang="zh-CN" altLang="en-US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，</a:t>
            </a:r>
            <a:r>
              <a:rPr lang="en-US" altLang="zh-CN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6</a:t>
            </a:r>
            <a:r>
              <a:rPr lang="zh-CN" altLang="en-US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，</a:t>
            </a:r>
            <a:r>
              <a:rPr lang="en-US" altLang="zh-CN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8</a:t>
            </a:r>
            <a:r>
              <a:rPr lang="zh-CN" altLang="en-US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，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11</a:t>
            </a:r>
            <a:r>
              <a:rPr lang="zh-CN" altLang="en-US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，</a:t>
            </a:r>
            <a:r>
              <a:rPr lang="en-US" altLang="zh-CN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13</a:t>
            </a:r>
            <a:r>
              <a:rPr lang="zh-CN" altLang="en-US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，</a:t>
            </a:r>
            <a:r>
              <a:rPr lang="en-US" altLang="zh-CN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15</a:t>
            </a:r>
            <a:r>
              <a:rPr lang="zh-CN" altLang="en-US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，</a:t>
            </a:r>
            <a:r>
              <a:rPr lang="en-US" altLang="zh-CN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17</a:t>
            </a:r>
            <a:r>
              <a:rPr lang="zh-CN" altLang="en-US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，</a:t>
            </a:r>
            <a:r>
              <a:rPr lang="en-US" altLang="zh-CN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19</a:t>
            </a:r>
            <a:r>
              <a:rPr lang="zh-CN" altLang="en-US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，</a:t>
            </a:r>
            <a:r>
              <a:rPr lang="en-US" altLang="zh-CN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20)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99166BC9-C5B7-640F-321D-4A752AE23DF4}"/>
              </a:ext>
            </a:extLst>
          </p:cNvPr>
          <p:cNvGrpSpPr/>
          <p:nvPr/>
        </p:nvGrpSpPr>
        <p:grpSpPr>
          <a:xfrm>
            <a:off x="615626" y="1215954"/>
            <a:ext cx="9790254" cy="5278059"/>
            <a:chOff x="425381" y="786370"/>
            <a:chExt cx="9790254" cy="5278059"/>
          </a:xfrm>
        </p:grpSpPr>
        <p:sp>
          <p:nvSpPr>
            <p:cNvPr id="178180" name="Text Box 4"/>
            <p:cNvSpPr txBox="1">
              <a:spLocks noChangeArrowheads="1"/>
            </p:cNvSpPr>
            <p:nvPr/>
          </p:nvSpPr>
          <p:spPr bwMode="auto">
            <a:xfrm>
              <a:off x="4881167" y="3461031"/>
              <a:ext cx="5334468" cy="47815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110045" tIns="55022" rIns="110045" bIns="55022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b</a:t>
              </a:r>
              <a:r>
                <a:rPr lang="en-US" altLang="zh-CN" sz="2400" dirty="0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=(2</a:t>
              </a:r>
              <a:r>
                <a:rPr lang="zh-CN" altLang="en-US" sz="2400" dirty="0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，</a:t>
              </a:r>
              <a:r>
                <a:rPr lang="en-US" altLang="zh-CN" sz="2400" dirty="0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 4</a:t>
              </a:r>
              <a:r>
                <a:rPr lang="zh-CN" altLang="en-US" sz="2400" dirty="0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，</a:t>
              </a:r>
              <a:r>
                <a:rPr lang="en-US" altLang="zh-CN" sz="2400" dirty="0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 6</a:t>
              </a:r>
              <a:r>
                <a:rPr lang="zh-CN" altLang="en-US" sz="2400" dirty="0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，</a:t>
              </a:r>
              <a:r>
                <a:rPr lang="en-US" altLang="zh-CN" sz="2400" dirty="0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 8</a:t>
              </a:r>
              <a:r>
                <a:rPr lang="zh-CN" altLang="en-US" sz="2400" dirty="0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，</a:t>
              </a:r>
              <a:r>
                <a:rPr lang="en-US" altLang="zh-CN" sz="2400" dirty="0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cs typeface="Consolas" panose="020B0609020204030204" pitchFamily="49" charset="0"/>
                </a:rPr>
                <a:t>20)</a:t>
              </a:r>
            </a:p>
          </p:txBody>
        </p:sp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C55720FE-C983-8E9B-8673-ABB3D0EF1D6B}"/>
                </a:ext>
              </a:extLst>
            </p:cNvPr>
            <p:cNvGrpSpPr/>
            <p:nvPr/>
          </p:nvGrpSpPr>
          <p:grpSpPr>
            <a:xfrm>
              <a:off x="425381" y="786370"/>
              <a:ext cx="8603681" cy="5278059"/>
              <a:chOff x="425381" y="786370"/>
              <a:chExt cx="8603681" cy="5278059"/>
            </a:xfrm>
          </p:grpSpPr>
          <p:sp>
            <p:nvSpPr>
              <p:cNvPr id="178178" name="Text Box 2"/>
              <p:cNvSpPr txBox="1">
                <a:spLocks noChangeArrowheads="1"/>
              </p:cNvSpPr>
              <p:nvPr/>
            </p:nvSpPr>
            <p:spPr bwMode="auto">
              <a:xfrm>
                <a:off x="425381" y="786370"/>
                <a:ext cx="8154035" cy="223266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noFill/>
                <a:miter lim="800000"/>
              </a:ln>
              <a:effectLst/>
            </p:spPr>
            <p:txBody>
              <a:bodyPr wrap="square" lIns="110045" tIns="55022" rIns="110045" bIns="55022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ct val="50000"/>
                  </a:spcBef>
                </a:pPr>
                <a:r>
                  <a:rPr lang="zh-CN" altLang="en-US" sz="2300" dirty="0"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　　</a:t>
                </a:r>
                <a:r>
                  <a:rPr lang="en-US" altLang="zh-CN" sz="2300" b="1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Consolas" panose="020B0609020204030204" pitchFamily="49" charset="0"/>
                  </a:rPr>
                  <a:t>【</a:t>
                </a:r>
                <a:r>
                  <a:rPr lang="zh-CN" altLang="en-US" sz="2300" b="1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Consolas" panose="020B0609020204030204" pitchFamily="49" charset="0"/>
                  </a:rPr>
                  <a:t>问题求解</a:t>
                </a:r>
                <a:r>
                  <a:rPr lang="en-US" altLang="zh-CN" sz="2300" b="1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Consolas" panose="020B0609020204030204" pitchFamily="49" charset="0"/>
                  </a:rPr>
                  <a:t>】</a:t>
                </a:r>
                <a:r>
                  <a:rPr lang="zh-CN" altLang="en-US" sz="2300" b="1" dirty="0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Consolas" panose="020B0609020204030204" pitchFamily="49" charset="0"/>
                  </a:rPr>
                  <a:t>对于含有</a:t>
                </a:r>
                <a:r>
                  <a:rPr lang="en-US" altLang="zh-CN" sz="2300" b="1" i="1" dirty="0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Consolas" panose="020B0609020204030204" pitchFamily="49" charset="0"/>
                  </a:rPr>
                  <a:t>n </a:t>
                </a:r>
                <a:r>
                  <a:rPr lang="zh-CN" altLang="en-US" sz="2300" b="1" dirty="0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Consolas" panose="020B0609020204030204" pitchFamily="49" charset="0"/>
                  </a:rPr>
                  <a:t>个元素的有序序列</a:t>
                </a:r>
                <a:r>
                  <a:rPr lang="en-US" altLang="zh-CN" sz="2300" b="1" i="1" dirty="0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Consolas" panose="020B0609020204030204" pitchFamily="49" charset="0"/>
                  </a:rPr>
                  <a:t>a</a:t>
                </a:r>
                <a:r>
                  <a:rPr lang="en-US" altLang="zh-CN" sz="2300" b="1" dirty="0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Consolas" panose="020B0609020204030204" pitchFamily="49" charset="0"/>
                  </a:rPr>
                  <a:t>[</a:t>
                </a:r>
                <a:r>
                  <a:rPr lang="en-US" altLang="zh-CN" sz="2300" b="1" i="1" dirty="0" err="1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Consolas" panose="020B0609020204030204" pitchFamily="49" charset="0"/>
                  </a:rPr>
                  <a:t>s</a:t>
                </a:r>
                <a:r>
                  <a:rPr lang="en-US" altLang="zh-CN" sz="2300" b="1" dirty="0" err="1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Consolas" panose="020B0609020204030204" pitchFamily="49" charset="0"/>
                  </a:rPr>
                  <a:t>..</a:t>
                </a:r>
                <a:r>
                  <a:rPr lang="en-US" altLang="zh-CN" sz="2300" b="1" i="1" dirty="0" err="1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Consolas" panose="020B0609020204030204" pitchFamily="49" charset="0"/>
                  </a:rPr>
                  <a:t>t</a:t>
                </a:r>
                <a:r>
                  <a:rPr lang="en-US" altLang="zh-CN" sz="2300" b="1" i="1" dirty="0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Consolas" panose="020B0609020204030204" pitchFamily="49" charset="0"/>
                  </a:rPr>
                  <a:t> </a:t>
                </a:r>
                <a:r>
                  <a:rPr lang="en-US" altLang="zh-CN" sz="2300" b="1" dirty="0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Consolas" panose="020B0609020204030204" pitchFamily="49" charset="0"/>
                  </a:rPr>
                  <a:t>]</a:t>
                </a:r>
                <a:r>
                  <a:rPr lang="zh-CN" altLang="en-US" sz="2300" b="1" dirty="0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Consolas" panose="020B0609020204030204" pitchFamily="49" charset="0"/>
                  </a:rPr>
                  <a:t>，当</a:t>
                </a:r>
                <a:r>
                  <a:rPr lang="en-US" altLang="zh-CN" sz="2300" b="1" i="1" dirty="0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Consolas" panose="020B0609020204030204" pitchFamily="49" charset="0"/>
                  </a:rPr>
                  <a:t>n</a:t>
                </a:r>
                <a:r>
                  <a:rPr lang="zh-CN" altLang="en-US" sz="2300" b="1" dirty="0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Consolas" panose="020B0609020204030204" pitchFamily="49" charset="0"/>
                  </a:rPr>
                  <a:t>为奇数时，中位数是出现在</a:t>
                </a:r>
                <a:r>
                  <a:rPr lang="en-US" altLang="zh-CN" sz="2300" b="1" i="1" dirty="0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Consolas" panose="020B0609020204030204" pitchFamily="49" charset="0"/>
                  </a:rPr>
                  <a:t>m</a:t>
                </a:r>
                <a:r>
                  <a:rPr lang="en-US" altLang="zh-CN" sz="2300" b="1" dirty="0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Consolas" panose="020B0609020204030204" pitchFamily="49" charset="0"/>
                  </a:rPr>
                  <a:t>=</a:t>
                </a:r>
                <a:r>
                  <a:rPr lang="en-US" altLang="zh-CN" sz="2300" b="1" dirty="0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Consolas" panose="020B0609020204030204" pitchFamily="49" charset="0"/>
                    <a:sym typeface="Symbol" panose="05050102010706020507" pitchFamily="18" charset="2"/>
                  </a:rPr>
                  <a:t></a:t>
                </a:r>
                <a:r>
                  <a:rPr lang="en-US" altLang="zh-CN" sz="2300" b="1" dirty="0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Consolas" panose="020B0609020204030204" pitchFamily="49" charset="0"/>
                  </a:rPr>
                  <a:t>(</a:t>
                </a:r>
                <a:r>
                  <a:rPr lang="en-US" altLang="zh-CN" sz="2300" b="1" i="1" dirty="0" err="1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Consolas" panose="020B0609020204030204" pitchFamily="49" charset="0"/>
                  </a:rPr>
                  <a:t>s</a:t>
                </a:r>
                <a:r>
                  <a:rPr lang="en-US" altLang="zh-CN" sz="2300" b="1" dirty="0" err="1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Consolas" panose="020B0609020204030204" pitchFamily="49" charset="0"/>
                  </a:rPr>
                  <a:t>+</a:t>
                </a:r>
                <a:r>
                  <a:rPr lang="en-US" altLang="zh-CN" sz="2300" b="1" i="1" dirty="0" err="1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Consolas" panose="020B0609020204030204" pitchFamily="49" charset="0"/>
                  </a:rPr>
                  <a:t>t </a:t>
                </a:r>
                <a:r>
                  <a:rPr lang="en-US" altLang="zh-CN" sz="2300" b="1" dirty="0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Consolas" panose="020B0609020204030204" pitchFamily="49" charset="0"/>
                  </a:rPr>
                  <a:t>)/2</a:t>
                </a:r>
                <a:r>
                  <a:rPr lang="en-US" altLang="zh-CN" sz="2300" b="1" dirty="0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Consolas" panose="020B0609020204030204" pitchFamily="49" charset="0"/>
                    <a:sym typeface="Symbol" panose="05050102010706020507" pitchFamily="18" charset="2"/>
                  </a:rPr>
                  <a:t></a:t>
                </a:r>
                <a:r>
                  <a:rPr lang="zh-CN" altLang="en-US" sz="2300" b="1" dirty="0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Consolas" panose="020B0609020204030204" pitchFamily="49" charset="0"/>
                  </a:rPr>
                  <a:t>处；当</a:t>
                </a:r>
                <a:r>
                  <a:rPr lang="en-US" altLang="zh-CN" sz="2300" b="1" i="1" dirty="0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Consolas" panose="020B0609020204030204" pitchFamily="49" charset="0"/>
                  </a:rPr>
                  <a:t>n</a:t>
                </a:r>
                <a:r>
                  <a:rPr lang="zh-CN" altLang="en-US" sz="2300" b="1" dirty="0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Consolas" panose="020B0609020204030204" pitchFamily="49" charset="0"/>
                  </a:rPr>
                  <a:t>为偶数时，中位数下标有</a:t>
                </a:r>
                <a:r>
                  <a:rPr lang="en-US" altLang="zh-CN" sz="2300" b="1" i="1" dirty="0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Consolas" panose="020B0609020204030204" pitchFamily="49" charset="0"/>
                  </a:rPr>
                  <a:t>m</a:t>
                </a:r>
                <a:r>
                  <a:rPr lang="en-US" altLang="zh-CN" sz="2300" b="1" dirty="0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Consolas" panose="020B0609020204030204" pitchFamily="49" charset="0"/>
                  </a:rPr>
                  <a:t>=</a:t>
                </a:r>
                <a:r>
                  <a:rPr lang="en-US" altLang="zh-CN" sz="2300" b="1" dirty="0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Consolas" panose="020B0609020204030204" pitchFamily="49" charset="0"/>
                    <a:sym typeface="Symbol" panose="05050102010706020507" pitchFamily="18" charset="2"/>
                  </a:rPr>
                  <a:t></a:t>
                </a:r>
                <a:r>
                  <a:rPr lang="en-US" altLang="zh-CN" sz="2300" b="1" dirty="0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Consolas" panose="020B0609020204030204" pitchFamily="49" charset="0"/>
                  </a:rPr>
                  <a:t>(</a:t>
                </a:r>
                <a:r>
                  <a:rPr lang="en-US" altLang="zh-CN" sz="2300" b="1" i="1" dirty="0" err="1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Consolas" panose="020B0609020204030204" pitchFamily="49" charset="0"/>
                  </a:rPr>
                  <a:t>s</a:t>
                </a:r>
                <a:r>
                  <a:rPr lang="en-US" altLang="zh-CN" sz="2300" b="1" dirty="0" err="1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Consolas" panose="020B0609020204030204" pitchFamily="49" charset="0"/>
                  </a:rPr>
                  <a:t>+</a:t>
                </a:r>
                <a:r>
                  <a:rPr lang="en-US" altLang="zh-CN" sz="2300" b="1" i="1" dirty="0" err="1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Consolas" panose="020B0609020204030204" pitchFamily="49" charset="0"/>
                  </a:rPr>
                  <a:t>t </a:t>
                </a:r>
                <a:r>
                  <a:rPr lang="en-US" altLang="zh-CN" sz="2300" b="1" dirty="0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Consolas" panose="020B0609020204030204" pitchFamily="49" charset="0"/>
                  </a:rPr>
                  <a:t>)/2</a:t>
                </a:r>
                <a:r>
                  <a:rPr lang="en-US" altLang="zh-CN" sz="2300" b="1" dirty="0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Consolas" panose="020B0609020204030204" pitchFamily="49" charset="0"/>
                    <a:sym typeface="Symbol" panose="05050102010706020507" pitchFamily="18" charset="2"/>
                  </a:rPr>
                  <a:t></a:t>
                </a:r>
                <a:r>
                  <a:rPr lang="zh-CN" altLang="en-US" sz="2300" b="1" dirty="0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Consolas" panose="020B0609020204030204" pitchFamily="49" charset="0"/>
                  </a:rPr>
                  <a:t>（下中位）和</a:t>
                </a:r>
                <a:r>
                  <a:rPr lang="en-US" altLang="zh-CN" sz="2300" b="1" i="1" dirty="0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Consolas" panose="020B0609020204030204" pitchFamily="49" charset="0"/>
                  </a:rPr>
                  <a:t>m</a:t>
                </a:r>
                <a:r>
                  <a:rPr lang="en-US" altLang="zh-CN" sz="2300" b="1" dirty="0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Consolas" panose="020B0609020204030204" pitchFamily="49" charset="0"/>
                  </a:rPr>
                  <a:t>=</a:t>
                </a:r>
                <a:r>
                  <a:rPr lang="en-US" altLang="zh-CN" sz="2300" b="1" dirty="0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Consolas" panose="020B0609020204030204" pitchFamily="49" charset="0"/>
                    <a:sym typeface="Symbol" panose="05050102010706020507" pitchFamily="18" charset="2"/>
                  </a:rPr>
                  <a:t></a:t>
                </a:r>
                <a:r>
                  <a:rPr lang="en-US" altLang="zh-CN" sz="2300" b="1" dirty="0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Consolas" panose="020B0609020204030204" pitchFamily="49" charset="0"/>
                  </a:rPr>
                  <a:t>(</a:t>
                </a:r>
                <a:r>
                  <a:rPr lang="en-US" altLang="zh-CN" sz="2300" b="1" i="1" dirty="0" err="1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Consolas" panose="020B0609020204030204" pitchFamily="49" charset="0"/>
                  </a:rPr>
                  <a:t>s</a:t>
                </a:r>
                <a:r>
                  <a:rPr lang="en-US" altLang="zh-CN" sz="2300" b="1" dirty="0" err="1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Consolas" panose="020B0609020204030204" pitchFamily="49" charset="0"/>
                  </a:rPr>
                  <a:t>+</a:t>
                </a:r>
                <a:r>
                  <a:rPr lang="en-US" altLang="zh-CN" sz="2300" b="1" i="1" dirty="0" err="1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Consolas" panose="020B0609020204030204" pitchFamily="49" charset="0"/>
                  </a:rPr>
                  <a:t>t</a:t>
                </a:r>
                <a:r>
                  <a:rPr lang="en-US" altLang="zh-CN" sz="2300" b="1" i="1" dirty="0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Consolas" panose="020B0609020204030204" pitchFamily="49" charset="0"/>
                  </a:rPr>
                  <a:t> </a:t>
                </a:r>
                <a:r>
                  <a:rPr lang="en-US" altLang="zh-CN" sz="2300" b="1" dirty="0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Consolas" panose="020B0609020204030204" pitchFamily="49" charset="0"/>
                  </a:rPr>
                  <a:t>)/2</a:t>
                </a:r>
                <a:r>
                  <a:rPr lang="en-US" altLang="zh-CN" sz="2300" b="1" dirty="0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Consolas" panose="020B0609020204030204" pitchFamily="49" charset="0"/>
                    <a:sym typeface="Symbol" panose="05050102010706020507" pitchFamily="18" charset="2"/>
                  </a:rPr>
                  <a:t></a:t>
                </a:r>
                <a:r>
                  <a:rPr lang="en-US" altLang="zh-CN" sz="2300" b="1" dirty="0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Consolas" panose="020B0609020204030204" pitchFamily="49" charset="0"/>
                  </a:rPr>
                  <a:t>+1</a:t>
                </a:r>
                <a:r>
                  <a:rPr lang="zh-CN" altLang="en-US" sz="2300" b="1" dirty="0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Consolas" panose="020B0609020204030204" pitchFamily="49" charset="0"/>
                  </a:rPr>
                  <a:t>（上中位）两个。为了简单，仅考虑中位数为</a:t>
                </a:r>
                <a:r>
                  <a:rPr lang="en-US" altLang="zh-CN" sz="2300" b="1" i="1" dirty="0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Consolas" panose="020B0609020204030204" pitchFamily="49" charset="0"/>
                  </a:rPr>
                  <a:t>m</a:t>
                </a:r>
                <a:r>
                  <a:rPr lang="en-US" altLang="zh-CN" sz="2300" b="1" dirty="0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Consolas" panose="020B0609020204030204" pitchFamily="49" charset="0"/>
                  </a:rPr>
                  <a:t>=</a:t>
                </a:r>
                <a:r>
                  <a:rPr lang="en-US" altLang="zh-CN" sz="2300" b="1" dirty="0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Consolas" panose="020B0609020204030204" pitchFamily="49" charset="0"/>
                    <a:sym typeface="Symbol" panose="05050102010706020507" pitchFamily="18" charset="2"/>
                  </a:rPr>
                  <a:t></a:t>
                </a:r>
                <a:r>
                  <a:rPr lang="en-US" altLang="zh-CN" sz="2300" b="1" dirty="0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Consolas" panose="020B0609020204030204" pitchFamily="49" charset="0"/>
                  </a:rPr>
                  <a:t>(</a:t>
                </a:r>
                <a:r>
                  <a:rPr lang="en-US" altLang="zh-CN" sz="2300" b="1" i="1" dirty="0" err="1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Consolas" panose="020B0609020204030204" pitchFamily="49" charset="0"/>
                  </a:rPr>
                  <a:t>s</a:t>
                </a:r>
                <a:r>
                  <a:rPr lang="en-US" altLang="zh-CN" sz="2300" b="1" dirty="0" err="1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Consolas" panose="020B0609020204030204" pitchFamily="49" charset="0"/>
                  </a:rPr>
                  <a:t>+</a:t>
                </a:r>
                <a:r>
                  <a:rPr lang="en-US" altLang="zh-CN" sz="2300" b="1" i="1" dirty="0" err="1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Consolas" panose="020B0609020204030204" pitchFamily="49" charset="0"/>
                  </a:rPr>
                  <a:t>t </a:t>
                </a:r>
                <a:r>
                  <a:rPr lang="en-US" altLang="zh-CN" sz="2300" b="1" dirty="0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Consolas" panose="020B0609020204030204" pitchFamily="49" charset="0"/>
                  </a:rPr>
                  <a:t>)/2</a:t>
                </a:r>
                <a:r>
                  <a:rPr lang="en-US" altLang="zh-CN" sz="2300" b="1" dirty="0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Consolas" panose="020B0609020204030204" pitchFamily="49" charset="0"/>
                    <a:sym typeface="Symbol" panose="05050102010706020507" pitchFamily="18" charset="2"/>
                  </a:rPr>
                  <a:t></a:t>
                </a:r>
                <a:r>
                  <a:rPr lang="zh-CN" altLang="en-US" sz="2300" b="1" dirty="0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Consolas" panose="020B0609020204030204" pitchFamily="49" charset="0"/>
                  </a:rPr>
                  <a:t>处。</a:t>
                </a:r>
              </a:p>
            </p:txBody>
          </p:sp>
          <p:sp>
            <p:nvSpPr>
              <p:cNvPr id="178179" name="Text Box 3"/>
              <p:cNvSpPr txBox="1">
                <a:spLocks noChangeArrowheads="1"/>
              </p:cNvSpPr>
              <p:nvPr/>
            </p:nvSpPr>
            <p:spPr bwMode="auto">
              <a:xfrm>
                <a:off x="425381" y="3460877"/>
                <a:ext cx="4413128" cy="47815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 lIns="110045" tIns="55022" rIns="110045" bIns="55022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i="1" dirty="0">
                    <a:solidFill>
                      <a:srgbClr val="0000FF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a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=(11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，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13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，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15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，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17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，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19)</a:t>
                </a:r>
              </a:p>
            </p:txBody>
          </p:sp>
          <p:sp>
            <p:nvSpPr>
              <p:cNvPr id="178183" name="Text Box 7"/>
              <p:cNvSpPr txBox="1">
                <a:spLocks noChangeArrowheads="1"/>
              </p:cNvSpPr>
              <p:nvPr/>
            </p:nvSpPr>
            <p:spPr bwMode="auto">
              <a:xfrm>
                <a:off x="1030530" y="3087790"/>
                <a:ext cx="3808826" cy="47815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 lIns="110045" tIns="55022" rIns="110045" bIns="55022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>
                    <a:solidFill>
                      <a:schemeClr val="accent6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0</a:t>
                </a:r>
                <a:r>
                  <a:rPr lang="zh-CN" altLang="en-US" sz="2400">
                    <a:solidFill>
                      <a:schemeClr val="accent6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　 </a:t>
                </a:r>
                <a:r>
                  <a:rPr lang="en-US" altLang="zh-CN" sz="2400">
                    <a:solidFill>
                      <a:schemeClr val="accent6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1 </a:t>
                </a:r>
                <a:r>
                  <a:rPr lang="zh-CN" altLang="en-US" sz="2400">
                    <a:solidFill>
                      <a:schemeClr val="accent6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  </a:t>
                </a:r>
                <a:r>
                  <a:rPr lang="en-US" altLang="zh-CN" sz="2400">
                    <a:solidFill>
                      <a:schemeClr val="accent6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2</a:t>
                </a:r>
                <a:r>
                  <a:rPr lang="zh-CN" altLang="en-US" sz="2400">
                    <a:solidFill>
                      <a:schemeClr val="accent6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　 </a:t>
                </a:r>
                <a:r>
                  <a:rPr lang="en-US" altLang="zh-CN" sz="2400">
                    <a:solidFill>
                      <a:schemeClr val="accent6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3</a:t>
                </a:r>
                <a:r>
                  <a:rPr lang="zh-CN" altLang="en-US" sz="2400">
                    <a:solidFill>
                      <a:schemeClr val="accent6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　 </a:t>
                </a:r>
                <a:r>
                  <a:rPr lang="en-US" altLang="zh-CN" sz="2400">
                    <a:solidFill>
                      <a:schemeClr val="accent6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4</a:t>
                </a:r>
              </a:p>
            </p:txBody>
          </p:sp>
          <p:sp>
            <p:nvSpPr>
              <p:cNvPr id="178184" name="Text Box 8"/>
              <p:cNvSpPr txBox="1">
                <a:spLocks noChangeArrowheads="1"/>
              </p:cNvSpPr>
              <p:nvPr/>
            </p:nvSpPr>
            <p:spPr bwMode="auto">
              <a:xfrm>
                <a:off x="5445502" y="3148280"/>
                <a:ext cx="3583560" cy="47815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 lIns="110045" tIns="55022" rIns="110045" bIns="55022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>
                    <a:solidFill>
                      <a:schemeClr val="accent6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0</a:t>
                </a:r>
                <a:r>
                  <a:rPr lang="zh-CN" altLang="en-US" sz="2400">
                    <a:solidFill>
                      <a:schemeClr val="accent6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　 </a:t>
                </a:r>
                <a:r>
                  <a:rPr lang="en-US" altLang="zh-CN" sz="2400">
                    <a:solidFill>
                      <a:schemeClr val="accent6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1</a:t>
                </a:r>
                <a:r>
                  <a:rPr lang="zh-CN" altLang="en-US" sz="2400">
                    <a:solidFill>
                      <a:schemeClr val="accent6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　 </a:t>
                </a:r>
                <a:r>
                  <a:rPr lang="en-US" altLang="zh-CN" sz="2400">
                    <a:solidFill>
                      <a:schemeClr val="accent6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2</a:t>
                </a:r>
                <a:r>
                  <a:rPr lang="zh-CN" altLang="en-US" sz="2400">
                    <a:solidFill>
                      <a:schemeClr val="accent6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　 </a:t>
                </a:r>
                <a:r>
                  <a:rPr lang="en-US" altLang="zh-CN" sz="2400">
                    <a:solidFill>
                      <a:schemeClr val="accent6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3</a:t>
                </a:r>
                <a:r>
                  <a:rPr lang="zh-CN" altLang="en-US" sz="2400">
                    <a:solidFill>
                      <a:schemeClr val="accent6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　 </a:t>
                </a:r>
                <a:r>
                  <a:rPr lang="en-US" altLang="zh-CN" sz="2400">
                    <a:solidFill>
                      <a:schemeClr val="accent6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rPr>
                  <a:t>4</a:t>
                </a:r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>
                <a:off x="744869" y="3999218"/>
                <a:ext cx="8214344" cy="2065211"/>
                <a:chOff x="1500166" y="3281516"/>
                <a:chExt cx="6162701" cy="2065116"/>
              </a:xfrm>
            </p:grpSpPr>
            <p:sp>
              <p:nvSpPr>
                <p:cNvPr id="178181" name="AutoShape 5"/>
                <p:cNvSpPr>
                  <a:spLocks noChangeArrowheads="1"/>
                </p:cNvSpPr>
                <p:nvPr/>
              </p:nvSpPr>
              <p:spPr bwMode="auto">
                <a:xfrm>
                  <a:off x="4357686" y="3281516"/>
                  <a:ext cx="288925" cy="504825"/>
                </a:xfrm>
                <a:prstGeom prst="downArrow">
                  <a:avLst>
                    <a:gd name="adj1" fmla="val 50000"/>
                    <a:gd name="adj2" fmla="val 43681"/>
                  </a:avLst>
                </a:prstGeom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vert="eaVert" wrap="none" anchor="ctr"/>
                <a:lstStyle/>
                <a:p>
                  <a:endParaRPr lang="zh-CN" altLang="en-US" sz="2400">
                    <a:solidFill>
                      <a:srgbClr val="0000FF"/>
                    </a:solidFill>
                    <a:latin typeface="微软雅黑" panose="020B0503020204020204" charset="-122"/>
                    <a:ea typeface="微软雅黑" panose="020B0503020204020204" charset="-122"/>
                    <a:cs typeface="Consolas" panose="020B0609020204030204" pitchFamily="49" charset="0"/>
                  </a:endParaRPr>
                </a:p>
              </p:txBody>
            </p:sp>
            <p:sp>
              <p:nvSpPr>
                <p:cNvPr id="178182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1500166" y="4170516"/>
                  <a:ext cx="6162701" cy="4603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2400" dirty="0">
                      <a:solidFill>
                        <a:srgbClr val="0000FF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Consolas" panose="020B0609020204030204" pitchFamily="49" charset="0"/>
                    </a:rPr>
                    <a:t>c=(2</a:t>
                  </a:r>
                  <a:r>
                    <a:rPr lang="zh-CN" altLang="en-US" sz="2400" dirty="0">
                      <a:solidFill>
                        <a:srgbClr val="0000FF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Consolas" panose="020B0609020204030204" pitchFamily="49" charset="0"/>
                    </a:rPr>
                    <a:t>，</a:t>
                  </a:r>
                  <a:r>
                    <a:rPr lang="en-US" altLang="zh-CN" sz="2400" dirty="0">
                      <a:solidFill>
                        <a:srgbClr val="0000FF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Consolas" panose="020B0609020204030204" pitchFamily="49" charset="0"/>
                    </a:rPr>
                    <a:t> 4</a:t>
                  </a:r>
                  <a:r>
                    <a:rPr lang="zh-CN" altLang="en-US" sz="2400" dirty="0">
                      <a:solidFill>
                        <a:srgbClr val="0000FF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Consolas" panose="020B0609020204030204" pitchFamily="49" charset="0"/>
                    </a:rPr>
                    <a:t>，</a:t>
                  </a:r>
                  <a:r>
                    <a:rPr lang="en-US" altLang="zh-CN" sz="2400" dirty="0">
                      <a:solidFill>
                        <a:srgbClr val="0000FF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Consolas" panose="020B0609020204030204" pitchFamily="49" charset="0"/>
                    </a:rPr>
                    <a:t> 6</a:t>
                  </a:r>
                  <a:r>
                    <a:rPr lang="zh-CN" altLang="en-US" sz="2400" dirty="0">
                      <a:solidFill>
                        <a:srgbClr val="0000FF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Consolas" panose="020B0609020204030204" pitchFamily="49" charset="0"/>
                    </a:rPr>
                    <a:t>，</a:t>
                  </a:r>
                  <a:r>
                    <a:rPr lang="en-US" altLang="zh-CN" sz="2400" dirty="0">
                      <a:solidFill>
                        <a:srgbClr val="0000FF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Consolas" panose="020B0609020204030204" pitchFamily="49" charset="0"/>
                    </a:rPr>
                    <a:t> 8</a:t>
                  </a:r>
                  <a:r>
                    <a:rPr lang="zh-CN" altLang="en-US" sz="2400" dirty="0">
                      <a:solidFill>
                        <a:srgbClr val="0000FF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Consolas" panose="020B0609020204030204" pitchFamily="49" charset="0"/>
                    </a:rPr>
                    <a:t>，</a:t>
                  </a:r>
                  <a:r>
                    <a:rPr lang="en-US" altLang="zh-CN" sz="2400" dirty="0">
                      <a:solidFill>
                        <a:srgbClr val="0000FF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Consolas" panose="020B0609020204030204" pitchFamily="49" charset="0"/>
                    </a:rPr>
                    <a:t> 11</a:t>
                  </a:r>
                  <a:r>
                    <a:rPr lang="zh-CN" altLang="en-US" sz="2400" dirty="0">
                      <a:solidFill>
                        <a:srgbClr val="0000FF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Consolas" panose="020B0609020204030204" pitchFamily="49" charset="0"/>
                    </a:rPr>
                    <a:t>，</a:t>
                  </a:r>
                  <a:r>
                    <a:rPr lang="en-US" altLang="zh-CN" sz="2400" dirty="0">
                      <a:solidFill>
                        <a:srgbClr val="0000FF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Consolas" panose="020B0609020204030204" pitchFamily="49" charset="0"/>
                    </a:rPr>
                    <a:t>12</a:t>
                  </a:r>
                  <a:r>
                    <a:rPr lang="zh-CN" altLang="en-US" sz="2400" dirty="0">
                      <a:solidFill>
                        <a:srgbClr val="0000FF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Consolas" panose="020B0609020204030204" pitchFamily="49" charset="0"/>
                    </a:rPr>
                    <a:t>，</a:t>
                  </a:r>
                  <a:r>
                    <a:rPr lang="en-US" altLang="zh-CN" sz="2400" dirty="0">
                      <a:solidFill>
                        <a:srgbClr val="0000FF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Consolas" panose="020B0609020204030204" pitchFamily="49" charset="0"/>
                    </a:rPr>
                    <a:t>15</a:t>
                  </a:r>
                  <a:r>
                    <a:rPr lang="zh-CN" altLang="en-US" sz="2400" dirty="0">
                      <a:solidFill>
                        <a:srgbClr val="0000FF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Consolas" panose="020B0609020204030204" pitchFamily="49" charset="0"/>
                    </a:rPr>
                    <a:t>，</a:t>
                  </a:r>
                  <a:r>
                    <a:rPr lang="en-US" altLang="zh-CN" sz="2400" dirty="0">
                      <a:solidFill>
                        <a:srgbClr val="0000FF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Consolas" panose="020B0609020204030204" pitchFamily="49" charset="0"/>
                    </a:rPr>
                    <a:t>17</a:t>
                  </a:r>
                  <a:r>
                    <a:rPr lang="zh-CN" altLang="en-US" sz="2400" dirty="0">
                      <a:solidFill>
                        <a:srgbClr val="0000FF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Consolas" panose="020B0609020204030204" pitchFamily="49" charset="0"/>
                    </a:rPr>
                    <a:t>，</a:t>
                  </a:r>
                  <a:r>
                    <a:rPr lang="en-US" altLang="zh-CN" sz="2400" dirty="0">
                      <a:solidFill>
                        <a:srgbClr val="0000FF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Consolas" panose="020B0609020204030204" pitchFamily="49" charset="0"/>
                    </a:rPr>
                    <a:t>19</a:t>
                  </a:r>
                  <a:r>
                    <a:rPr lang="zh-CN" altLang="en-US" sz="2400" dirty="0">
                      <a:solidFill>
                        <a:srgbClr val="0000FF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Consolas" panose="020B0609020204030204" pitchFamily="49" charset="0"/>
                    </a:rPr>
                    <a:t>，</a:t>
                  </a:r>
                  <a:r>
                    <a:rPr lang="en-US" altLang="zh-CN" sz="2400" dirty="0">
                      <a:solidFill>
                        <a:srgbClr val="0000FF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Consolas" panose="020B0609020204030204" pitchFamily="49" charset="0"/>
                    </a:rPr>
                    <a:t>20)</a:t>
                  </a:r>
                </a:p>
              </p:txBody>
            </p:sp>
            <p:sp>
              <p:nvSpPr>
                <p:cNvPr id="178185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1909608" y="3857778"/>
                  <a:ext cx="5448474" cy="4603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2400">
                      <a:solidFill>
                        <a:schemeClr val="accent6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Consolas" panose="020B0609020204030204" pitchFamily="49" charset="0"/>
                    </a:rPr>
                    <a:t>0</a:t>
                  </a:r>
                  <a:r>
                    <a:rPr lang="zh-CN" altLang="en-US" sz="2400">
                      <a:solidFill>
                        <a:schemeClr val="accent6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Consolas" panose="020B0609020204030204" pitchFamily="49" charset="0"/>
                    </a:rPr>
                    <a:t>　 </a:t>
                  </a:r>
                  <a:r>
                    <a:rPr lang="en-US" altLang="zh-CN" sz="2400">
                      <a:solidFill>
                        <a:schemeClr val="accent6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Consolas" panose="020B0609020204030204" pitchFamily="49" charset="0"/>
                    </a:rPr>
                    <a:t>1</a:t>
                  </a:r>
                  <a:r>
                    <a:rPr lang="zh-CN" altLang="en-US" sz="2400">
                      <a:solidFill>
                        <a:schemeClr val="accent6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Consolas" panose="020B0609020204030204" pitchFamily="49" charset="0"/>
                    </a:rPr>
                    <a:t>　 </a:t>
                  </a:r>
                  <a:r>
                    <a:rPr lang="en-US" altLang="zh-CN" sz="2400">
                      <a:solidFill>
                        <a:schemeClr val="accent6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Consolas" panose="020B0609020204030204" pitchFamily="49" charset="0"/>
                    </a:rPr>
                    <a:t>2</a:t>
                  </a:r>
                  <a:r>
                    <a:rPr lang="zh-CN" altLang="en-US" sz="2400">
                      <a:solidFill>
                        <a:schemeClr val="accent6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Consolas" panose="020B0609020204030204" pitchFamily="49" charset="0"/>
                    </a:rPr>
                    <a:t>　 </a:t>
                  </a:r>
                  <a:r>
                    <a:rPr lang="en-US" altLang="zh-CN" sz="2400">
                      <a:solidFill>
                        <a:schemeClr val="accent6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Consolas" panose="020B0609020204030204" pitchFamily="49" charset="0"/>
                    </a:rPr>
                    <a:t>3</a:t>
                  </a:r>
                  <a:r>
                    <a:rPr lang="zh-CN" altLang="en-US" sz="2400">
                      <a:solidFill>
                        <a:schemeClr val="accent6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Consolas" panose="020B0609020204030204" pitchFamily="49" charset="0"/>
                    </a:rPr>
                    <a:t>　 </a:t>
                  </a:r>
                  <a:r>
                    <a:rPr lang="en-US" altLang="zh-CN" sz="2400">
                      <a:solidFill>
                        <a:schemeClr val="accent6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Consolas" panose="020B0609020204030204" pitchFamily="49" charset="0"/>
                    </a:rPr>
                    <a:t>4   5   6   7   8   9</a:t>
                  </a:r>
                </a:p>
              </p:txBody>
            </p:sp>
            <p:sp>
              <p:nvSpPr>
                <p:cNvPr id="178186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3214678" y="4886278"/>
                  <a:ext cx="2500330" cy="4603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2400" i="1" dirty="0">
                      <a:solidFill>
                        <a:srgbClr val="0000FF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Consolas" panose="020B0609020204030204" pitchFamily="49" charset="0"/>
                    </a:rPr>
                    <a:t>m</a:t>
                  </a:r>
                  <a:r>
                    <a:rPr lang="en-US" altLang="zh-CN" sz="2400" dirty="0">
                      <a:solidFill>
                        <a:srgbClr val="0000FF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Consolas" panose="020B0609020204030204" pitchFamily="49" charset="0"/>
                    </a:rPr>
                    <a:t>= </a:t>
                  </a:r>
                  <a:r>
                    <a:rPr lang="en-US" altLang="zh-CN" sz="2400" dirty="0">
                      <a:solidFill>
                        <a:srgbClr val="0000FF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Consolas" panose="020B0609020204030204" pitchFamily="49" charset="0"/>
                      <a:sym typeface="Symbol" panose="05050102010706020507" pitchFamily="18" charset="2"/>
                    </a:rPr>
                    <a:t></a:t>
                  </a:r>
                  <a:r>
                    <a:rPr lang="en-US" altLang="zh-CN" sz="2400" dirty="0">
                      <a:solidFill>
                        <a:srgbClr val="0000FF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Consolas" panose="020B0609020204030204" pitchFamily="49" charset="0"/>
                    </a:rPr>
                    <a:t>(</a:t>
                  </a:r>
                  <a:r>
                    <a:rPr lang="en-US" altLang="zh-CN" sz="2400" i="1" dirty="0" err="1">
                      <a:solidFill>
                        <a:srgbClr val="0000FF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Consolas" panose="020B0609020204030204" pitchFamily="49" charset="0"/>
                    </a:rPr>
                    <a:t>s</a:t>
                  </a:r>
                  <a:r>
                    <a:rPr lang="en-US" altLang="zh-CN" sz="2400" dirty="0" err="1">
                      <a:solidFill>
                        <a:srgbClr val="0000FF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Consolas" panose="020B0609020204030204" pitchFamily="49" charset="0"/>
                    </a:rPr>
                    <a:t>+</a:t>
                  </a:r>
                  <a:r>
                    <a:rPr lang="en-US" altLang="zh-CN" sz="2400" i="1" dirty="0" err="1">
                      <a:solidFill>
                        <a:srgbClr val="0000FF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Consolas" panose="020B0609020204030204" pitchFamily="49" charset="0"/>
                    </a:rPr>
                    <a:t>t</a:t>
                  </a:r>
                  <a:r>
                    <a:rPr lang="en-US" altLang="zh-CN" sz="2400" i="1" dirty="0">
                      <a:solidFill>
                        <a:srgbClr val="0000FF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Consolas" panose="020B0609020204030204" pitchFamily="49" charset="0"/>
                    </a:rPr>
                    <a:t> </a:t>
                  </a:r>
                  <a:r>
                    <a:rPr lang="en-US" altLang="zh-CN" sz="2400" dirty="0">
                      <a:solidFill>
                        <a:srgbClr val="0000FF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Consolas" panose="020B0609020204030204" pitchFamily="49" charset="0"/>
                    </a:rPr>
                    <a:t>)/2</a:t>
                  </a:r>
                  <a:r>
                    <a:rPr lang="en-US" altLang="zh-CN" sz="2400" dirty="0">
                      <a:solidFill>
                        <a:srgbClr val="0000FF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Consolas" panose="020B0609020204030204" pitchFamily="49" charset="0"/>
                      <a:sym typeface="Symbol" panose="05050102010706020507" pitchFamily="18" charset="2"/>
                    </a:rPr>
                    <a:t>=4</a:t>
                  </a:r>
                </a:p>
              </p:txBody>
            </p:sp>
            <p:sp>
              <p:nvSpPr>
                <p:cNvPr id="178187" name="Line 11"/>
                <p:cNvSpPr>
                  <a:spLocks noChangeShapeType="1"/>
                </p:cNvSpPr>
                <p:nvPr/>
              </p:nvSpPr>
              <p:spPr bwMode="auto">
                <a:xfrm flipV="1">
                  <a:off x="4286248" y="4578503"/>
                  <a:ext cx="0" cy="287338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zh-CN" altLang="en-US" sz="240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endParaRPr>
                </a:p>
              </p:txBody>
            </p:sp>
          </p:grpSp>
          <p:grpSp>
            <p:nvGrpSpPr>
              <p:cNvPr id="17" name="组合 16"/>
              <p:cNvGrpSpPr/>
              <p:nvPr/>
            </p:nvGrpSpPr>
            <p:grpSpPr>
              <a:xfrm>
                <a:off x="5791561" y="3873643"/>
                <a:ext cx="3204109" cy="633576"/>
                <a:chOff x="5286380" y="3143248"/>
                <a:chExt cx="2403840" cy="633548"/>
              </a:xfrm>
            </p:grpSpPr>
            <p:sp>
              <p:nvSpPr>
                <p:cNvPr id="178188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5286380" y="3316441"/>
                  <a:ext cx="2403840" cy="460355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2400" i="1" dirty="0">
                      <a:solidFill>
                        <a:srgbClr val="0000FF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Consolas" panose="020B0609020204030204" pitchFamily="49" charset="0"/>
                    </a:rPr>
                    <a:t>m</a:t>
                  </a:r>
                  <a:r>
                    <a:rPr lang="en-US" altLang="zh-CN" sz="2400" dirty="0">
                      <a:solidFill>
                        <a:srgbClr val="0000FF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Consolas" panose="020B0609020204030204" pitchFamily="49" charset="0"/>
                    </a:rPr>
                    <a:t>= </a:t>
                  </a:r>
                  <a:r>
                    <a:rPr lang="en-US" altLang="zh-CN" sz="2400" dirty="0">
                      <a:solidFill>
                        <a:srgbClr val="0000FF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Consolas" panose="020B0609020204030204" pitchFamily="49" charset="0"/>
                      <a:sym typeface="Symbol" panose="05050102010706020507" pitchFamily="18" charset="2"/>
                    </a:rPr>
                    <a:t></a:t>
                  </a:r>
                  <a:r>
                    <a:rPr lang="en-US" altLang="zh-CN" sz="2400" dirty="0">
                      <a:solidFill>
                        <a:srgbClr val="0000FF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Consolas" panose="020B0609020204030204" pitchFamily="49" charset="0"/>
                    </a:rPr>
                    <a:t>(</a:t>
                  </a:r>
                  <a:r>
                    <a:rPr lang="en-US" altLang="zh-CN" sz="2400" i="1" dirty="0" err="1">
                      <a:solidFill>
                        <a:srgbClr val="0000FF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Consolas" panose="020B0609020204030204" pitchFamily="49" charset="0"/>
                    </a:rPr>
                    <a:t>s</a:t>
                  </a:r>
                  <a:r>
                    <a:rPr lang="en-US" altLang="zh-CN" sz="2400" dirty="0" err="1">
                      <a:solidFill>
                        <a:srgbClr val="0000FF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Consolas" panose="020B0609020204030204" pitchFamily="49" charset="0"/>
                    </a:rPr>
                    <a:t>+</a:t>
                  </a:r>
                  <a:r>
                    <a:rPr lang="en-US" altLang="zh-CN" sz="2400" i="1" dirty="0" err="1">
                      <a:solidFill>
                        <a:srgbClr val="0000FF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Consolas" panose="020B0609020204030204" pitchFamily="49" charset="0"/>
                    </a:rPr>
                    <a:t>t</a:t>
                  </a:r>
                  <a:r>
                    <a:rPr lang="en-US" altLang="zh-CN" sz="2400" i="1" dirty="0">
                      <a:solidFill>
                        <a:srgbClr val="0000FF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Consolas" panose="020B0609020204030204" pitchFamily="49" charset="0"/>
                    </a:rPr>
                    <a:t> </a:t>
                  </a:r>
                  <a:r>
                    <a:rPr lang="en-US" altLang="zh-CN" sz="2400" dirty="0">
                      <a:solidFill>
                        <a:srgbClr val="0000FF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Consolas" panose="020B0609020204030204" pitchFamily="49" charset="0"/>
                    </a:rPr>
                    <a:t>)/2</a:t>
                  </a:r>
                  <a:r>
                    <a:rPr lang="en-US" altLang="zh-CN" sz="2400" dirty="0">
                      <a:solidFill>
                        <a:srgbClr val="0000FF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Consolas" panose="020B0609020204030204" pitchFamily="49" charset="0"/>
                      <a:sym typeface="Symbol" panose="05050102010706020507" pitchFamily="18" charset="2"/>
                    </a:rPr>
                    <a:t>=2</a:t>
                  </a:r>
                </a:p>
              </p:txBody>
            </p:sp>
            <p:sp>
              <p:nvSpPr>
                <p:cNvPr id="178189" name="Line 13"/>
                <p:cNvSpPr>
                  <a:spLocks noChangeShapeType="1"/>
                </p:cNvSpPr>
                <p:nvPr/>
              </p:nvSpPr>
              <p:spPr bwMode="auto">
                <a:xfrm flipV="1">
                  <a:off x="6286512" y="3143248"/>
                  <a:ext cx="0" cy="287337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zh-CN" altLang="en-US" sz="240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endParaRPr>
                </a:p>
              </p:txBody>
            </p:sp>
          </p:grpSp>
          <p:grpSp>
            <p:nvGrpSpPr>
              <p:cNvPr id="16" name="组合 15"/>
              <p:cNvGrpSpPr/>
              <p:nvPr/>
            </p:nvGrpSpPr>
            <p:grpSpPr>
              <a:xfrm>
                <a:off x="1411412" y="3864771"/>
                <a:ext cx="3163422" cy="642448"/>
                <a:chOff x="2000232" y="3134377"/>
                <a:chExt cx="2373315" cy="642418"/>
              </a:xfrm>
            </p:grpSpPr>
            <p:sp>
              <p:nvSpPr>
                <p:cNvPr id="178190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000232" y="3316441"/>
                  <a:ext cx="2373315" cy="4603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2400" i="1" dirty="0">
                      <a:solidFill>
                        <a:srgbClr val="0000FF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Consolas" panose="020B0609020204030204" pitchFamily="49" charset="0"/>
                    </a:rPr>
                    <a:t>m</a:t>
                  </a:r>
                  <a:r>
                    <a:rPr lang="en-US" altLang="zh-CN" sz="2400" dirty="0">
                      <a:solidFill>
                        <a:srgbClr val="0000FF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Consolas" panose="020B0609020204030204" pitchFamily="49" charset="0"/>
                    </a:rPr>
                    <a:t>= </a:t>
                  </a:r>
                  <a:r>
                    <a:rPr lang="en-US" altLang="zh-CN" sz="2400" dirty="0">
                      <a:solidFill>
                        <a:srgbClr val="0000FF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Consolas" panose="020B0609020204030204" pitchFamily="49" charset="0"/>
                      <a:sym typeface="Symbol" panose="05050102010706020507" pitchFamily="18" charset="2"/>
                    </a:rPr>
                    <a:t></a:t>
                  </a:r>
                  <a:r>
                    <a:rPr lang="en-US" altLang="zh-CN" sz="2400" dirty="0">
                      <a:solidFill>
                        <a:srgbClr val="0000FF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Consolas" panose="020B0609020204030204" pitchFamily="49" charset="0"/>
                    </a:rPr>
                    <a:t>(</a:t>
                  </a:r>
                  <a:r>
                    <a:rPr lang="en-US" altLang="zh-CN" sz="2400" i="1" dirty="0" err="1">
                      <a:solidFill>
                        <a:srgbClr val="0000FF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Consolas" panose="020B0609020204030204" pitchFamily="49" charset="0"/>
                    </a:rPr>
                    <a:t>s</a:t>
                  </a:r>
                  <a:r>
                    <a:rPr lang="en-US" altLang="zh-CN" sz="2400" dirty="0" err="1">
                      <a:solidFill>
                        <a:srgbClr val="0000FF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Consolas" panose="020B0609020204030204" pitchFamily="49" charset="0"/>
                    </a:rPr>
                    <a:t>+</a:t>
                  </a:r>
                  <a:r>
                    <a:rPr lang="en-US" altLang="zh-CN" sz="2400" i="1" dirty="0" err="1">
                      <a:solidFill>
                        <a:srgbClr val="0000FF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Consolas" panose="020B0609020204030204" pitchFamily="49" charset="0"/>
                    </a:rPr>
                    <a:t>t</a:t>
                  </a:r>
                  <a:r>
                    <a:rPr lang="en-US" altLang="zh-CN" sz="2400" i="1" dirty="0">
                      <a:solidFill>
                        <a:srgbClr val="0000FF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Consolas" panose="020B0609020204030204" pitchFamily="49" charset="0"/>
                    </a:rPr>
                    <a:t> </a:t>
                  </a:r>
                  <a:r>
                    <a:rPr lang="en-US" altLang="zh-CN" sz="2400" dirty="0">
                      <a:solidFill>
                        <a:srgbClr val="0000FF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Consolas" panose="020B0609020204030204" pitchFamily="49" charset="0"/>
                    </a:rPr>
                    <a:t>)/2</a:t>
                  </a:r>
                  <a:r>
                    <a:rPr lang="en-US" altLang="zh-CN" sz="2400" dirty="0">
                      <a:solidFill>
                        <a:srgbClr val="0000FF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Consolas" panose="020B0609020204030204" pitchFamily="49" charset="0"/>
                      <a:sym typeface="Symbol" panose="05050102010706020507" pitchFamily="18" charset="2"/>
                    </a:rPr>
                    <a:t>=2</a:t>
                  </a:r>
                </a:p>
              </p:txBody>
            </p:sp>
            <p:sp>
              <p:nvSpPr>
                <p:cNvPr id="178191" name="Line 15"/>
                <p:cNvSpPr>
                  <a:spLocks noChangeShapeType="1"/>
                </p:cNvSpPr>
                <p:nvPr/>
              </p:nvSpPr>
              <p:spPr bwMode="auto">
                <a:xfrm flipV="1">
                  <a:off x="2979966" y="3134377"/>
                  <a:ext cx="0" cy="287337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zh-CN" altLang="en-US" sz="240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endParaRPr>
                </a:p>
              </p:txBody>
            </p:sp>
          </p:grpSp>
        </p:grp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Text Box 2"/>
          <p:cNvSpPr txBox="1">
            <a:spLocks noChangeArrowheads="1"/>
          </p:cNvSpPr>
          <p:nvPr/>
        </p:nvSpPr>
        <p:spPr bwMode="auto">
          <a:xfrm>
            <a:off x="411480" y="1352550"/>
            <a:ext cx="8250555" cy="847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10045" tIns="55022" rIns="110045" bIns="55022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采用二分法求含有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 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个有序元素的序列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、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b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的中位数的过程如下：</a:t>
            </a:r>
          </a:p>
        </p:txBody>
      </p:sp>
      <p:sp>
        <p:nvSpPr>
          <p:cNvPr id="177155" name="Text Box 3"/>
          <p:cNvSpPr txBox="1">
            <a:spLocks noChangeArrowheads="1"/>
          </p:cNvSpPr>
          <p:nvPr/>
        </p:nvSpPr>
        <p:spPr bwMode="auto">
          <a:xfrm>
            <a:off x="484505" y="2246630"/>
            <a:ext cx="8228330" cy="17710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  <a:miter lim="800000"/>
          </a:ln>
          <a:effectLst/>
        </p:spPr>
        <p:txBody>
          <a:bodyPr wrap="square" lIns="110045" tIns="55022" rIns="110045" bIns="55022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分别求出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、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b 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的中位数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[</a:t>
            </a:r>
            <a:r>
              <a:rPr lang="en-US" altLang="zh-CN" sz="24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m1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]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和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b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[</a:t>
            </a:r>
            <a:r>
              <a:rPr lang="en-US" altLang="zh-CN" sz="24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m2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]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：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① 若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[m1]=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b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[m2]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，则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[</a:t>
            </a:r>
            <a:r>
              <a:rPr lang="en-US" altLang="zh-CN" sz="24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m1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]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或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b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[</a:t>
            </a:r>
            <a:r>
              <a:rPr lang="en-US" altLang="zh-CN" sz="24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m2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]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即为所求中位数，算法结束。 　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411543" y="4326717"/>
            <a:ext cx="3142281" cy="5715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0045" tIns="55022" rIns="110045" bIns="55022" rtlCol="0" anchor="ctr"/>
          <a:lstStyle/>
          <a:p>
            <a:pPr algn="ctr"/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1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，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3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，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5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，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6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，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9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Consolas" panose="020B0609020204030204" pitchFamily="49" charset="0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4249992" y="4300045"/>
            <a:ext cx="3142281" cy="5715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0045" tIns="55022" rIns="110045" bIns="55022" rtlCol="0" anchor="ctr"/>
          <a:lstStyle/>
          <a:p>
            <a:pPr algn="ctr"/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2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，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3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，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5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，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8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，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10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Consolas" panose="020B06090202040302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725645" y="5590752"/>
            <a:ext cx="571324" cy="539750"/>
          </a:xfrm>
          <a:prstGeom prst="rect">
            <a:avLst/>
          </a:prstGeom>
          <a:noFill/>
        </p:spPr>
        <p:txBody>
          <a:bodyPr wrap="square" lIns="110045" tIns="55022" rIns="110045" bIns="55022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5</a:t>
            </a:r>
          </a:p>
        </p:txBody>
      </p:sp>
      <p:cxnSp>
        <p:nvCxnSpPr>
          <p:cNvPr id="8" name="直接箭头连接符 7"/>
          <p:cNvCxnSpPr/>
          <p:nvPr/>
        </p:nvCxnSpPr>
        <p:spPr>
          <a:xfrm rot="5400000" flipH="1" flipV="1">
            <a:off x="4691541" y="4602720"/>
            <a:ext cx="642971" cy="133308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rot="16200000" flipV="1">
            <a:off x="2451745" y="4369749"/>
            <a:ext cx="642971" cy="18091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5" name="Text Box 3"/>
          <p:cNvSpPr txBox="1">
            <a:spLocks noChangeArrowheads="1"/>
          </p:cNvSpPr>
          <p:nvPr/>
        </p:nvSpPr>
        <p:spPr bwMode="auto">
          <a:xfrm>
            <a:off x="422910" y="1324610"/>
            <a:ext cx="8182610" cy="12166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  <a:miter lim="800000"/>
          </a:ln>
          <a:effectLst/>
        </p:spPr>
        <p:txBody>
          <a:bodyPr wrap="square" lIns="110045" tIns="55022" rIns="110045" bIns="55022">
            <a:spAutoFit/>
          </a:bodyPr>
          <a:lstStyle/>
          <a:p>
            <a:pPr indent="0" fontAlgn="auto">
              <a:lnSpc>
                <a:spcPct val="100000"/>
              </a:lnSpc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　　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② 若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[m1]&lt;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b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[m2]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，则舍弃序列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中前半部分（较小的一半），同时舍弃序列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b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中后半部分（较大的一半）要求舍弃的长度相等。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1334862" y="2676332"/>
            <a:ext cx="3142281" cy="5715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0045" tIns="55022" rIns="110045" bIns="55022" rtlCol="0" anchor="ctr"/>
          <a:lstStyle/>
          <a:p>
            <a:pPr algn="ctr"/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1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，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3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，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4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，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6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，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9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Consolas" panose="020B0609020204030204" pitchFamily="49" charset="0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4953247" y="2676332"/>
            <a:ext cx="3142281" cy="5715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0045" tIns="55022" rIns="110045" bIns="55022" rtlCol="0" anchor="ctr"/>
          <a:lstStyle/>
          <a:p>
            <a:pPr algn="ctr"/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2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，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3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，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5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，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8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，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10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Consolas" panose="020B0609020204030204" pitchFamily="49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2144254" y="3337727"/>
            <a:ext cx="1809192" cy="5715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0045" tIns="55022" rIns="110045" bIns="55022" rtlCol="0" anchor="ctr"/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4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，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6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，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9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Consolas" panose="020B0609020204030204" pitchFamily="49" charset="0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658558" y="3332647"/>
            <a:ext cx="1713972" cy="5715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0045" tIns="55022" rIns="110045" bIns="55022" rtlCol="0" anchor="ctr"/>
          <a:lstStyle/>
          <a:p>
            <a:pPr algn="ctr"/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2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，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3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，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5</a:t>
            </a:r>
          </a:p>
        </p:txBody>
      </p:sp>
      <p:sp>
        <p:nvSpPr>
          <p:cNvPr id="8" name="下箭头 7"/>
          <p:cNvSpPr/>
          <p:nvPr/>
        </p:nvSpPr>
        <p:spPr>
          <a:xfrm>
            <a:off x="4477146" y="3325028"/>
            <a:ext cx="285661" cy="500089"/>
          </a:xfrm>
          <a:prstGeom prst="down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110045" tIns="55022" rIns="110045" bIns="55022" rtlCol="0" anchor="ctr"/>
          <a:lstStyle/>
          <a:p>
            <a:pPr algn="ctr"/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Consolas" panose="020B0609020204030204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66385" y="3325026"/>
            <a:ext cx="696587" cy="1639736"/>
          </a:xfrm>
          <a:prstGeom prst="rect">
            <a:avLst/>
          </a:prstGeom>
          <a:noFill/>
        </p:spPr>
        <p:txBody>
          <a:bodyPr vert="eaVert" wrap="square" lIns="110045" tIns="55022" rIns="110045" bIns="55022" rtlCol="0">
            <a:noAutofit/>
          </a:bodyPr>
          <a:lstStyle/>
          <a:p>
            <a:r>
              <a:rPr lang="zh-CN" altLang="en-US" sz="2400" spc="36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继续求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5995" y="5825490"/>
            <a:ext cx="571500" cy="470535"/>
          </a:xfrm>
          <a:prstGeom prst="rect">
            <a:avLst/>
          </a:prstGeom>
          <a:noFill/>
        </p:spPr>
        <p:txBody>
          <a:bodyPr wrap="square" lIns="110045" tIns="55022" rIns="110045" bIns="55022" rtlCol="0">
            <a:no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4</a:t>
            </a:r>
          </a:p>
        </p:txBody>
      </p:sp>
      <p:cxnSp>
        <p:nvCxnSpPr>
          <p:cNvPr id="14" name="直接箭头连接符 13"/>
          <p:cNvCxnSpPr/>
          <p:nvPr/>
        </p:nvCxnSpPr>
        <p:spPr>
          <a:xfrm flipV="1">
            <a:off x="5007318" y="5315449"/>
            <a:ext cx="1553210" cy="6134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 flipH="1" flipV="1">
            <a:off x="3221698" y="5284336"/>
            <a:ext cx="1755140" cy="6286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圆角矩形 15"/>
          <p:cNvSpPr/>
          <p:nvPr/>
        </p:nvSpPr>
        <p:spPr>
          <a:xfrm>
            <a:off x="2144240" y="4004450"/>
            <a:ext cx="1809192" cy="5715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0045" tIns="55022" rIns="110045" bIns="55022" rtlCol="0" anchor="ctr"/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4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, 6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Consolas" panose="020B0609020204030204" pitchFamily="49" charset="0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5658485" y="4004310"/>
            <a:ext cx="1713865" cy="5715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0045" tIns="55022" rIns="110045" bIns="55022" rtlCol="0" anchor="ctr"/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3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, 5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Consolas" panose="020B0609020204030204" pitchFamily="49" charset="0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2144205" y="4671177"/>
            <a:ext cx="1809192" cy="5715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0045" tIns="55022" rIns="110045" bIns="55022" rtlCol="0" anchor="ctr"/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4</a:t>
            </a:r>
          </a:p>
        </p:txBody>
      </p:sp>
      <p:sp>
        <p:nvSpPr>
          <p:cNvPr id="19" name="圆角矩形 18"/>
          <p:cNvSpPr/>
          <p:nvPr/>
        </p:nvSpPr>
        <p:spPr>
          <a:xfrm>
            <a:off x="5659120" y="4655820"/>
            <a:ext cx="1713230" cy="5715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0045" tIns="55022" rIns="110045" bIns="55022" rtlCol="0" anchor="ctr"/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5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5" name="Text Box 3"/>
          <p:cNvSpPr txBox="1">
            <a:spLocks noChangeArrowheads="1"/>
          </p:cNvSpPr>
          <p:nvPr/>
        </p:nvSpPr>
        <p:spPr bwMode="auto">
          <a:xfrm>
            <a:off x="426446" y="1239178"/>
            <a:ext cx="8084820" cy="12166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  <a:miter lim="800000"/>
          </a:ln>
          <a:effectLst/>
        </p:spPr>
        <p:txBody>
          <a:bodyPr wrap="square" lIns="110045" tIns="55022" rIns="110045" bIns="55022">
            <a:spAutoFit/>
          </a:bodyPr>
          <a:lstStyle/>
          <a:p>
            <a:pPr indent="0" fontAlgn="auto">
              <a:lnSpc>
                <a:spcPct val="100000"/>
              </a:lnSpc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　　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③ 若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[m1]&gt;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b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[m2]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，则舍弃序列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中后半部分（较大的一半），同时舍弃序列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b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中前半部分（较小的一半），要求舍弃的长度相等。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404167" y="2584900"/>
            <a:ext cx="3142281" cy="5715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0045" tIns="55022" rIns="110045" bIns="55022" rtlCol="0" anchor="ctr"/>
          <a:lstStyle/>
          <a:p>
            <a:pPr algn="ctr"/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1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，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3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，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5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，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6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，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9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Consolas" panose="020B0609020204030204" pitchFamily="49" charset="0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4022552" y="2584900"/>
            <a:ext cx="3142281" cy="5715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0045" tIns="55022" rIns="110045" bIns="55022" rtlCol="0" anchor="ctr"/>
          <a:lstStyle/>
          <a:p>
            <a:pPr algn="ctr"/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2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，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3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，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4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，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8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，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10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Consolas" panose="020B0609020204030204" pitchFamily="49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1187178" y="3239340"/>
            <a:ext cx="1809192" cy="5715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0045" tIns="55022" rIns="110045" bIns="55022" rtlCol="0" anchor="ctr"/>
          <a:lstStyle/>
          <a:p>
            <a:pPr algn="ctr"/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1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，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3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, 5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Consolas" panose="020B0609020204030204" pitchFamily="49" charset="0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4632749" y="3230734"/>
            <a:ext cx="1921887" cy="5715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0045" tIns="55022" rIns="110045" bIns="55022" rtlCol="0" anchor="ctr"/>
          <a:lstStyle/>
          <a:p>
            <a:pPr algn="ctr"/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4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，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8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，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10</a:t>
            </a:r>
            <a:endParaRPr lang="zh-CN" altLang="en-US" sz="24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 pitchFamily="49" charset="0"/>
            </a:endParaRPr>
          </a:p>
        </p:txBody>
      </p:sp>
      <p:sp>
        <p:nvSpPr>
          <p:cNvPr id="8" name="下箭头 7"/>
          <p:cNvSpPr/>
          <p:nvPr/>
        </p:nvSpPr>
        <p:spPr>
          <a:xfrm>
            <a:off x="3546451" y="3302176"/>
            <a:ext cx="285661" cy="500089"/>
          </a:xfrm>
          <a:prstGeom prst="down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110045" tIns="55022" rIns="110045" bIns="55022" rtlCol="0" anchor="ctr"/>
          <a:lstStyle/>
          <a:p>
            <a:pPr algn="ctr"/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Consolas" panose="020B06090202040302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022690" y="5770333"/>
            <a:ext cx="571324" cy="478155"/>
          </a:xfrm>
          <a:prstGeom prst="rect">
            <a:avLst/>
          </a:prstGeom>
          <a:noFill/>
        </p:spPr>
        <p:txBody>
          <a:bodyPr wrap="square" lIns="110045" tIns="55022" rIns="110045" bIns="55022" rtlCol="0">
            <a:spAutoFit/>
          </a:bodyPr>
          <a:lstStyle/>
          <a:p>
            <a:r>
              <a:rPr lang="en-US" altLang="zh-CN" sz="24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4</a:t>
            </a:r>
          </a:p>
        </p:txBody>
      </p:sp>
      <p:cxnSp>
        <p:nvCxnSpPr>
          <p:cNvPr id="10" name="直接箭头连接符 9"/>
          <p:cNvCxnSpPr/>
          <p:nvPr/>
        </p:nvCxnSpPr>
        <p:spPr>
          <a:xfrm rot="5400000" flipH="1" flipV="1">
            <a:off x="4549317" y="4782087"/>
            <a:ext cx="642971" cy="133308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rot="16200000" flipV="1">
            <a:off x="2978176" y="4544037"/>
            <a:ext cx="642971" cy="18091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753689" y="3529338"/>
            <a:ext cx="591571" cy="1597808"/>
          </a:xfrm>
          <a:prstGeom prst="rect">
            <a:avLst/>
          </a:prstGeom>
          <a:noFill/>
        </p:spPr>
        <p:txBody>
          <a:bodyPr vert="eaVert" wrap="square" lIns="110045" tIns="55022" rIns="110045" bIns="55022" rtlCol="0">
            <a:spAutoFit/>
          </a:bodyPr>
          <a:lstStyle/>
          <a:p>
            <a:r>
              <a:rPr lang="zh-CN" altLang="en-US" sz="2400" spc="36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继续求</a:t>
            </a:r>
          </a:p>
        </p:txBody>
      </p:sp>
      <p:sp>
        <p:nvSpPr>
          <p:cNvPr id="13" name="圆角矩形 12"/>
          <p:cNvSpPr/>
          <p:nvPr/>
        </p:nvSpPr>
        <p:spPr>
          <a:xfrm>
            <a:off x="1187510" y="3874283"/>
            <a:ext cx="1809192" cy="5715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0045" tIns="55022" rIns="110045" bIns="55022" rtlCol="0" anchor="ctr"/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3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, 5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Consolas" panose="020B0609020204030204" pitchFamily="49" charset="0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4632960" y="3863975"/>
            <a:ext cx="1920875" cy="5715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0045" tIns="55022" rIns="110045" bIns="55022" rtlCol="0" anchor="ctr"/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4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,8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Consolas" panose="020B0609020204030204" pitchFamily="49" charset="0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1187475" y="4509895"/>
            <a:ext cx="1809192" cy="5715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0045" tIns="55022" rIns="110045" bIns="55022" rtlCol="0" anchor="ctr"/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5</a:t>
            </a:r>
          </a:p>
        </p:txBody>
      </p:sp>
      <p:sp>
        <p:nvSpPr>
          <p:cNvPr id="16" name="圆角矩形 15"/>
          <p:cNvSpPr/>
          <p:nvPr/>
        </p:nvSpPr>
        <p:spPr>
          <a:xfrm>
            <a:off x="4634230" y="4494530"/>
            <a:ext cx="1920240" cy="5715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0045" tIns="55022" rIns="110045" bIns="55022" rtlCol="0" anchor="ctr"/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4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24652" y="1460785"/>
            <a:ext cx="7455853" cy="440100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lIns="216625" tIns="216625" rIns="110045" bIns="216625">
            <a:spAutoFit/>
          </a:bodyPr>
          <a:lstStyle/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  <a:sym typeface="+mn-ea"/>
              </a:rPr>
              <a:t>void prepart (int &amp;s, int&amp;t)</a:t>
            </a:r>
            <a:endParaRPr lang="en-US" altLang="zh-CN" sz="22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Consolas" panose="020B0609020204030204" pitchFamily="49" charset="0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  <a:sym typeface="+mn-ea"/>
              </a:rPr>
              <a:t>{ </a:t>
            </a:r>
            <a:endParaRPr lang="en-US" altLang="zh-CN" sz="22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Consolas" panose="020B0609020204030204" pitchFamily="49" charset="0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  <a:sym typeface="+mn-ea"/>
              </a:rPr>
              <a:t>  int m=(s+t)/2;</a:t>
            </a:r>
            <a:endParaRPr lang="en-US" altLang="zh-CN" sz="22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Consolas" panose="020B0609020204030204" pitchFamily="49" charset="0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  <a:sym typeface="+mn-ea"/>
              </a:rPr>
              <a:t>   t=m;</a:t>
            </a:r>
            <a:endParaRPr lang="en-US" altLang="zh-CN" sz="22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Consolas" panose="020B0609020204030204" pitchFamily="49" charset="0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  <a:sym typeface="+mn-ea"/>
              </a:rPr>
              <a:t>}</a:t>
            </a:r>
            <a:endParaRPr lang="en-US" altLang="zh-CN" sz="22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Consolas" panose="020B0609020204030204" pitchFamily="49" charset="0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endParaRPr lang="en-US" altLang="zh-CN" sz="22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Consolas" panose="020B0609020204030204" pitchFamily="49" charset="0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  <a:sym typeface="+mn-ea"/>
              </a:rPr>
              <a:t>Void postpart(int &amp;s, int&amp;t)</a:t>
            </a:r>
            <a:endParaRPr lang="en-US" altLang="zh-CN" sz="22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Consolas" panose="020B0609020204030204" pitchFamily="49" charset="0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  <a:sym typeface="+mn-ea"/>
              </a:rPr>
              <a:t>{ </a:t>
            </a:r>
            <a:endParaRPr lang="en-US" altLang="zh-CN" sz="22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Consolas" panose="020B0609020204030204" pitchFamily="49" charset="0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  <a:sym typeface="+mn-ea"/>
              </a:rPr>
              <a:t>   int m=(s+t)/2;</a:t>
            </a:r>
            <a:endParaRPr lang="en-US" altLang="zh-CN" sz="22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Consolas" panose="020B0609020204030204" pitchFamily="49" charset="0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  <a:sym typeface="+mn-ea"/>
              </a:rPr>
              <a:t>   if((s+t)%2==0) //序列中有奇数个元素</a:t>
            </a:r>
            <a:endParaRPr lang="en-US" altLang="zh-CN" sz="22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Consolas" panose="020B0609020204030204" pitchFamily="49" charset="0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  <a:sym typeface="+mn-ea"/>
              </a:rPr>
              <a:t>        s=m;</a:t>
            </a:r>
            <a:endParaRPr lang="en-US" altLang="zh-CN" sz="22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Consolas" panose="020B0609020204030204" pitchFamily="49" charset="0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  <a:sym typeface="+mn-ea"/>
              </a:rPr>
              <a:t>   else s=m+1;//序列中有偶数个元素</a:t>
            </a:r>
            <a:endParaRPr lang="en-US" altLang="zh-CN" sz="22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Consolas" panose="020B0609020204030204" pitchFamily="49" charset="0"/>
            </a:endParaRPr>
          </a:p>
          <a:p>
            <a:pPr algn="l">
              <a:lnSpc>
                <a:spcPct val="90000"/>
              </a:lnSpc>
              <a:buClrTx/>
              <a:buSzTx/>
              <a:buFontTx/>
            </a:pP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  <a:sym typeface="+mn-ea"/>
              </a:rPr>
              <a:t>}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864448" y="1143597"/>
            <a:ext cx="8371606" cy="39868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lIns="216625" tIns="216625" rIns="110045" bIns="216625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int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22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midnum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(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int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a[ ]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int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s1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int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t1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int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b[ ]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int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s2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int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t2)</a:t>
            </a:r>
          </a:p>
          <a:p>
            <a:pPr>
              <a:lnSpc>
                <a:spcPct val="90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{  //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求两个有序序列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a[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s1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..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t1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]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和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b[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s2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..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t2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]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的中位数</a:t>
            </a:r>
          </a:p>
          <a:p>
            <a:pPr>
              <a:lnSpc>
                <a:spcPct val="9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int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m1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m2;</a:t>
            </a:r>
          </a:p>
          <a:p>
            <a:pPr>
              <a:lnSpc>
                <a:spcPct val="9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if (s1==t1 &amp;&amp; s2==t2)     //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两序列只有一个元素时返回较小者</a:t>
            </a:r>
          </a:p>
          <a:p>
            <a:pPr>
              <a:lnSpc>
                <a:spcPct val="9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　　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return a[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s1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]&lt;b[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s2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]?a[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s1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]:b[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s2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];</a:t>
            </a:r>
          </a:p>
          <a:p>
            <a:pPr>
              <a:lnSpc>
                <a:spcPct val="15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else</a:t>
            </a:r>
          </a:p>
          <a:p>
            <a:pPr>
              <a:lnSpc>
                <a:spcPct val="9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{  m1=(s1+t1)/2;		//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求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的中位数</a:t>
            </a:r>
          </a:p>
          <a:p>
            <a:pPr>
              <a:lnSpc>
                <a:spcPct val="9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   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m2=(s2+t2)/2;		//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求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b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的中位数</a:t>
            </a:r>
          </a:p>
          <a:p>
            <a:pPr>
              <a:lnSpc>
                <a:spcPct val="9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   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if (a[m1]==b[m2])	//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两中位数相等时返回该中位数</a:t>
            </a:r>
          </a:p>
          <a:p>
            <a:pPr>
              <a:lnSpc>
                <a:spcPct val="9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　　　　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return a[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m1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];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32506" y="1258612"/>
            <a:ext cx="7178743" cy="450256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lIns="216625" tIns="216625" rIns="110045" bIns="216625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　　   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if (a[m1]&lt;b[m2])	//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当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a[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m1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]&lt;b[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m2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]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时</a:t>
            </a:r>
          </a:p>
          <a:p>
            <a:pPr>
              <a:lnSpc>
                <a:spcPct val="9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   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{   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postpart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(s1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t1);	//a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取后半部分</a:t>
            </a:r>
          </a:p>
          <a:p>
            <a:pPr>
              <a:lnSpc>
                <a:spcPct val="9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　     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prepart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(s2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t2);	//b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取前半部分</a:t>
            </a:r>
          </a:p>
          <a:p>
            <a:pPr>
              <a:lnSpc>
                <a:spcPct val="9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　　   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return </a:t>
            </a:r>
            <a:r>
              <a:rPr lang="en-US" altLang="zh-CN" sz="22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midnum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(a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s1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t1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b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s2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t2);</a:t>
            </a:r>
          </a:p>
          <a:p>
            <a:pPr>
              <a:lnSpc>
                <a:spcPct val="9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   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     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else			//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当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a[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m1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]&gt;b[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m2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]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时</a:t>
            </a:r>
          </a:p>
          <a:p>
            <a:pPr>
              <a:lnSpc>
                <a:spcPct val="9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     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{  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prepart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(s1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t1);	//a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取前半部分</a:t>
            </a:r>
          </a:p>
          <a:p>
            <a:pPr>
              <a:lnSpc>
                <a:spcPct val="9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      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postpart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(s2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t2);	//b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取后半部分</a:t>
            </a:r>
          </a:p>
          <a:p>
            <a:pPr>
              <a:lnSpc>
                <a:spcPct val="9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      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return </a:t>
            </a:r>
            <a:r>
              <a:rPr lang="en-US" altLang="zh-CN" sz="22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midnum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(a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s1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t1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b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s2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t2);</a:t>
            </a:r>
          </a:p>
          <a:p>
            <a:pPr>
              <a:lnSpc>
                <a:spcPct val="9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   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9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900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}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Text Box 2"/>
          <p:cNvSpPr txBox="1">
            <a:spLocks noChangeArrowheads="1"/>
          </p:cNvSpPr>
          <p:nvPr/>
        </p:nvSpPr>
        <p:spPr bwMode="auto">
          <a:xfrm>
            <a:off x="529591" y="1271905"/>
            <a:ext cx="7137302" cy="177101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wrap="square" lIns="110045" tIns="55022" rIns="110045" bIns="55022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【</a:t>
            </a:r>
            <a:r>
              <a:rPr lang="zh-CN" altLang="en-US" sz="2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算法分析</a:t>
            </a:r>
            <a:r>
              <a:rPr lang="en-US" altLang="zh-CN" sz="2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】</a:t>
            </a:r>
            <a:r>
              <a:rPr lang="zh-CN" altLang="pt-BR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对于含有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zh-CN" altLang="pt-BR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个元素的有序序列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</a:t>
            </a:r>
            <a:r>
              <a:rPr lang="zh-CN" altLang="pt-BR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和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b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，设</a:t>
            </a:r>
            <a:r>
              <a:rPr lang="zh-CN" altLang="pt-BR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调用</a:t>
            </a:r>
            <a:r>
              <a:rPr lang="en-US" altLang="zh-CN" sz="24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midnum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(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0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-1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b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0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-1)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求</a:t>
            </a:r>
            <a:r>
              <a:rPr lang="zh-CN" altLang="pt-BR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中位数的执行时间为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T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(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)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，显然有以下递归式：</a:t>
            </a:r>
          </a:p>
        </p:txBody>
      </p:sp>
      <p:sp>
        <p:nvSpPr>
          <p:cNvPr id="173059" name="Text Box 3"/>
          <p:cNvSpPr txBox="1">
            <a:spLocks noChangeArrowheads="1"/>
          </p:cNvSpPr>
          <p:nvPr/>
        </p:nvSpPr>
        <p:spPr bwMode="auto">
          <a:xfrm>
            <a:off x="529297" y="3490813"/>
            <a:ext cx="7137302" cy="1391920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noFill/>
            <a:miter lim="800000"/>
          </a:ln>
          <a:effectLst/>
        </p:spPr>
        <p:txBody>
          <a:bodyPr wrap="square" lIns="259950" tIns="216625" rIns="110045" bIns="216625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T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(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)=1			            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当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=1</a:t>
            </a:r>
            <a:endParaRPr lang="en-US" altLang="zh-CN" sz="2400" b="1" i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Consolas" panose="020B0609020204030204" pitchFamily="49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T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(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)=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T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(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/2)+1		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当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&gt;1</a:t>
            </a:r>
          </a:p>
        </p:txBody>
      </p:sp>
      <p:sp>
        <p:nvSpPr>
          <p:cNvPr id="173060" name="Text Box 4"/>
          <p:cNvSpPr txBox="1">
            <a:spLocks noChangeArrowheads="1"/>
          </p:cNvSpPr>
          <p:nvPr/>
        </p:nvSpPr>
        <p:spPr bwMode="auto">
          <a:xfrm>
            <a:off x="587082" y="5029357"/>
            <a:ext cx="4799086" cy="4781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10045" tIns="55022" rIns="110045" bIns="55022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容易推出，</a:t>
            </a:r>
            <a:r>
              <a:rPr lang="en-US" altLang="zh-CN" sz="2400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(</a:t>
            </a:r>
            <a:r>
              <a:rPr lang="en-US" altLang="zh-CN" sz="2400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)=O(log</a:t>
            </a:r>
            <a:r>
              <a:rPr lang="en-US" altLang="zh-CN" sz="2400" baseline="-250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2</a:t>
            </a:r>
            <a:r>
              <a:rPr lang="en-US" altLang="zh-CN" sz="2400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)</a:t>
            </a:r>
            <a:r>
              <a:rPr lang="zh-CN" altLang="en-US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68300" y="1262380"/>
            <a:ext cx="8394700" cy="4540885"/>
          </a:xfrm>
          <a:prstGeom prst="rect">
            <a:avLst/>
          </a:prstGeom>
          <a:noFill/>
        </p:spPr>
        <p:txBody>
          <a:bodyPr wrap="square" lIns="110045" tIns="55022" rIns="110045" bIns="55022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 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 </a:t>
            </a:r>
            <a:r>
              <a:rPr lang="zh-CN" altLang="zh-CN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【问题描述】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给定一个有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（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≥1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）个整数的序列，要求求出其中最大连续子序列的和。</a:t>
            </a:r>
            <a:endParaRPr lang="en-US" altLang="zh-CN" sz="24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    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例如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：</a:t>
            </a:r>
            <a:endParaRPr lang="en-US" altLang="zh-CN" sz="24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    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序列（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-2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11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-4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13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-5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-2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）的最大子序列和为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20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    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序列（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-6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2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4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-7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5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3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2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-1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6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-9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10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-2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）的最大子序列和为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16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。</a:t>
            </a:r>
            <a:endParaRPr lang="en-US" altLang="zh-CN" sz="24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    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规定一个序列最大连续子序列和至少是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0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，如果小于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0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，其结果为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0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。</a:t>
            </a:r>
          </a:p>
        </p:txBody>
      </p:sp>
      <p:sp>
        <p:nvSpPr>
          <p:cNvPr id="4" name="基础扎实 / Strong Preparation">
            <a:extLst>
              <a:ext uri="{FF2B5EF4-FFF2-40B4-BE49-F238E27FC236}">
                <a16:creationId xmlns:a16="http://schemas.microsoft.com/office/drawing/2014/main" id="{8107C58A-EE43-A475-3DEE-657F6A12D452}"/>
              </a:ext>
            </a:extLst>
          </p:cNvPr>
          <p:cNvSpPr txBox="1"/>
          <p:nvPr/>
        </p:nvSpPr>
        <p:spPr>
          <a:xfrm>
            <a:off x="2603627" y="367980"/>
            <a:ext cx="5870237" cy="561660"/>
          </a:xfrm>
          <a:prstGeom prst="rect">
            <a:avLst/>
          </a:prstGeom>
          <a:noFill/>
          <a:ln>
            <a:noFill/>
          </a:ln>
        </p:spPr>
        <p:txBody>
          <a:bodyPr wrap="square" lIns="68549" tIns="34274" rIns="68549" bIns="34274" rtlCol="0">
            <a:spAutoFit/>
          </a:bodyPr>
          <a:lstStyle/>
          <a:p>
            <a:pPr algn="ctr" defTabSz="950595">
              <a:buClr>
                <a:prstClr val="white"/>
              </a:buClr>
              <a:buSzTx/>
              <a:buFontTx/>
              <a:defRPr/>
            </a:pPr>
            <a:r>
              <a:rPr lang="zh-CN" altLang="en-US" sz="3200" b="1" spc="50" dirty="0">
                <a:ln w="11430"/>
                <a:solidFill>
                  <a:srgbClr val="006600"/>
                </a:solidFill>
                <a:latin typeface="+mn-ea"/>
                <a:sym typeface="Arial" panose="020B0604020202020204" pitchFamily="34" charset="0"/>
              </a:rPr>
              <a:t>2.</a:t>
            </a:r>
            <a:r>
              <a:rPr lang="en-US" altLang="zh-CN" sz="3200" b="1" spc="50" dirty="0">
                <a:ln w="11430"/>
                <a:solidFill>
                  <a:srgbClr val="006600"/>
                </a:solidFill>
                <a:latin typeface="+mn-ea"/>
                <a:sym typeface="Arial" panose="020B0604020202020204" pitchFamily="34" charset="0"/>
              </a:rPr>
              <a:t>12</a:t>
            </a:r>
            <a:r>
              <a:rPr lang="zh-CN" altLang="en-US" sz="3200" b="1" spc="50" dirty="0">
                <a:ln w="11430"/>
                <a:solidFill>
                  <a:srgbClr val="006600"/>
                </a:solidFill>
                <a:latin typeface="+mn-ea"/>
                <a:sym typeface="Arial" panose="020B0604020202020204" pitchFamily="34" charset="0"/>
              </a:rPr>
              <a:t> 求最大连续子序列和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Text Box 2"/>
          <p:cNvSpPr txBox="1">
            <a:spLocks noChangeArrowheads="1"/>
          </p:cNvSpPr>
          <p:nvPr/>
        </p:nvSpPr>
        <p:spPr bwMode="auto">
          <a:xfrm>
            <a:off x="431800" y="1310640"/>
            <a:ext cx="8288020" cy="321056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wrap="square" lIns="110045" tIns="55022" rIns="110045" bIns="55022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    </a:t>
            </a:r>
            <a:r>
              <a:rPr lang="zh-CN" altLang="zh-CN" sz="2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【问题求解】</a:t>
            </a:r>
            <a:r>
              <a:rPr lang="zh-CN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对于含有</a:t>
            </a:r>
            <a:r>
              <a:rPr lang="en-US" altLang="zh-CN" sz="2400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zh-CN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个整数的序列</a:t>
            </a:r>
            <a:r>
              <a:rPr lang="en-US" altLang="zh-CN" sz="2400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</a:t>
            </a:r>
            <a:r>
              <a:rPr lang="en-US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[0..</a:t>
            </a:r>
            <a:r>
              <a:rPr lang="en-US" altLang="zh-CN" sz="2400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-1]</a:t>
            </a:r>
            <a:r>
              <a:rPr lang="zh-CN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，若</a:t>
            </a:r>
            <a:r>
              <a:rPr lang="en-US" altLang="zh-CN" sz="2400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=1</a:t>
            </a:r>
            <a:r>
              <a:rPr lang="zh-CN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，表示该序列仅含一个元素，如果该元素大于</a:t>
            </a:r>
            <a:r>
              <a:rPr lang="en-US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0</a:t>
            </a:r>
            <a:r>
              <a:rPr lang="zh-CN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，则返回该元素；否则返回</a:t>
            </a:r>
            <a:r>
              <a:rPr lang="en-US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0</a:t>
            </a:r>
            <a:r>
              <a:rPr lang="zh-CN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。</a:t>
            </a:r>
          </a:p>
          <a:p>
            <a:pPr indent="0" fontAlgn="auto">
              <a:lnSpc>
                <a:spcPct val="120000"/>
              </a:lnSpc>
            </a:pPr>
            <a:r>
              <a:rPr lang="en-US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    </a:t>
            </a:r>
            <a:r>
              <a:rPr lang="zh-CN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若</a:t>
            </a:r>
            <a:r>
              <a:rPr lang="en-US" altLang="zh-CN" sz="2400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&gt;1</a:t>
            </a:r>
            <a:r>
              <a:rPr lang="zh-CN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，采用分治法求解最大连续子序列时，取其中间位置</a:t>
            </a:r>
            <a:r>
              <a:rPr lang="en-US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mid=</a:t>
            </a:r>
            <a:r>
              <a:rPr lang="en-US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  <a:sym typeface="Symbol" panose="05050102010706020507"/>
              </a:rPr>
              <a:t></a:t>
            </a:r>
            <a:r>
              <a:rPr lang="en-US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(</a:t>
            </a:r>
            <a:r>
              <a:rPr lang="en-US" altLang="zh-CN" sz="2400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-1)/2</a:t>
            </a:r>
            <a:r>
              <a:rPr lang="en-US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  <a:sym typeface="Symbol" panose="05050102010706020507"/>
              </a:rPr>
              <a:t></a:t>
            </a:r>
            <a:r>
              <a:rPr lang="zh-CN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，该子序列只可能出现</a:t>
            </a:r>
            <a:r>
              <a:rPr lang="en-US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3</a:t>
            </a:r>
            <a:r>
              <a:rPr lang="zh-CN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个地方。</a:t>
            </a:r>
          </a:p>
          <a:p>
            <a:pPr indent="0" fontAlgn="auto">
              <a:lnSpc>
                <a:spcPct val="120000"/>
              </a:lnSpc>
            </a:pPr>
            <a:r>
              <a:rPr lang="en-US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   </a:t>
            </a:r>
            <a:r>
              <a:rPr lang="zh-CN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（</a:t>
            </a:r>
            <a:r>
              <a:rPr lang="en-US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1</a:t>
            </a:r>
            <a:r>
              <a:rPr lang="zh-CN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）该子序列完全落在左半部即</a:t>
            </a:r>
            <a:r>
              <a:rPr lang="en-US" altLang="zh-CN" sz="2400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</a:t>
            </a:r>
            <a:r>
              <a:rPr lang="en-US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[0..mid]</a:t>
            </a:r>
            <a:r>
              <a:rPr lang="zh-CN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中。采用递归求出其最大连续子序列和</a:t>
            </a:r>
            <a:r>
              <a:rPr lang="en-US" altLang="zh-CN" sz="2400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maxLeftSum</a:t>
            </a:r>
            <a:r>
              <a:rPr lang="zh-CN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77169" y="4750032"/>
            <a:ext cx="4113502" cy="53975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110045" tIns="55022" rIns="110045" bIns="55022" rtlCol="0">
            <a:spAutoFit/>
          </a:bodyPr>
          <a:lstStyle/>
          <a:p>
            <a:pPr algn="ctr"/>
            <a:r>
              <a:rPr lang="pt-BR" altLang="zh-CN" sz="2800" i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a</a:t>
            </a:r>
            <a:r>
              <a:rPr lang="pt-BR" altLang="zh-CN" sz="2800" baseline="-250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0</a:t>
            </a:r>
            <a:r>
              <a:rPr lang="pt-BR" altLang="zh-CN" sz="28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 </a:t>
            </a:r>
            <a:r>
              <a:rPr lang="pt-BR" altLang="zh-CN" sz="2800" i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a</a:t>
            </a:r>
            <a:r>
              <a:rPr lang="pt-BR" altLang="zh-CN" sz="2800" baseline="-250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1</a:t>
            </a:r>
            <a:r>
              <a:rPr lang="pt-BR" altLang="zh-CN" sz="28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 … </a:t>
            </a:r>
            <a:r>
              <a:rPr lang="pt-BR" altLang="zh-CN" sz="2800" i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a</a:t>
            </a:r>
            <a:r>
              <a:rPr lang="pt-BR" altLang="zh-CN" sz="2800" i="1" baseline="-250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i</a:t>
            </a:r>
            <a:r>
              <a:rPr lang="pt-BR" altLang="zh-CN" sz="28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 … </a:t>
            </a:r>
            <a:r>
              <a:rPr lang="pt-BR" altLang="zh-CN" sz="2800" i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a</a:t>
            </a:r>
            <a:r>
              <a:rPr lang="pt-BR" altLang="zh-CN" sz="2800" baseline="-250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mid</a:t>
            </a:r>
            <a:endParaRPr lang="zh-CN" altLang="zh-CN" sz="280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 pitchFamily="49" charset="0"/>
            </a:endParaRPr>
          </a:p>
        </p:txBody>
      </p:sp>
      <p:sp>
        <p:nvSpPr>
          <p:cNvPr id="6" name="左大括号 5"/>
          <p:cNvSpPr/>
          <p:nvPr/>
        </p:nvSpPr>
        <p:spPr>
          <a:xfrm rot="16200000">
            <a:off x="4575974" y="4151059"/>
            <a:ext cx="214324" cy="2475737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lIns="110045" tIns="55022" rIns="110045" bIns="55022" rtlCol="0" anchor="ctr"/>
          <a:lstStyle/>
          <a:p>
            <a:pPr algn="ctr"/>
            <a:endParaRPr lang="zh-CN" altLang="en-US" sz="2800">
              <a:latin typeface="微软雅黑" panose="020B0503020204020204" charset="-122"/>
              <a:ea typeface="微软雅黑" panose="020B0503020204020204" charset="-122"/>
              <a:cs typeface="Consolas" panose="020B06090202040302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49212" y="5496192"/>
            <a:ext cx="2560359" cy="539750"/>
          </a:xfrm>
          <a:prstGeom prst="rect">
            <a:avLst/>
          </a:prstGeom>
          <a:noFill/>
        </p:spPr>
        <p:txBody>
          <a:bodyPr wrap="square" lIns="110045" tIns="55022" rIns="110045" bIns="55022" rtlCol="0">
            <a:spAutoFit/>
          </a:bodyPr>
          <a:lstStyle/>
          <a:p>
            <a:r>
              <a:rPr lang="en-US" altLang="zh-CN" sz="2800" dirty="0" err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maxLeftSum</a:t>
            </a:r>
            <a:endParaRPr lang="en-US" altLang="zh-CN" sz="28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 pitchFamily="49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9" name="Text Box 5"/>
          <p:cNvSpPr txBox="1">
            <a:spLocks noChangeArrowheads="1"/>
          </p:cNvSpPr>
          <p:nvPr/>
        </p:nvSpPr>
        <p:spPr bwMode="auto">
          <a:xfrm>
            <a:off x="401876" y="1714353"/>
            <a:ext cx="8058785" cy="116634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wrap="square" lIns="110045" tIns="55022" rIns="110045" bIns="55022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   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（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2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）该子序列完全落在右半部即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[mid+1..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-1]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中。采用递归求出其最大连续子序列和</a:t>
            </a:r>
            <a:r>
              <a:rPr lang="en-US" altLang="zh-CN" sz="24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maxRightSum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。</a:t>
            </a:r>
            <a:endParaRPr lang="zh-CN" altLang="en-US" sz="24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1144" y="3404851"/>
            <a:ext cx="5149495" cy="53975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110045" tIns="55022" rIns="110045" bIns="55022" rtlCol="0">
            <a:spAutoFit/>
          </a:bodyPr>
          <a:lstStyle/>
          <a:p>
            <a:pPr algn="ctr"/>
            <a:r>
              <a:rPr lang="en-US" altLang="zh-CN" sz="2800" i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a</a:t>
            </a:r>
            <a:r>
              <a:rPr lang="en-US" altLang="zh-CN" sz="2800" baseline="-250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mid+1</a:t>
            </a:r>
            <a:r>
              <a:rPr lang="en-US" altLang="zh-CN" sz="28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 </a:t>
            </a:r>
            <a:r>
              <a:rPr lang="en-US" altLang="zh-CN" sz="2800" i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a</a:t>
            </a:r>
            <a:r>
              <a:rPr lang="en-US" altLang="zh-CN" sz="2800" baseline="-250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mid+2</a:t>
            </a:r>
            <a:r>
              <a:rPr lang="en-US" altLang="zh-CN" sz="28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 … </a:t>
            </a:r>
            <a:r>
              <a:rPr lang="en-US" altLang="zh-CN" sz="2800" i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a</a:t>
            </a:r>
            <a:r>
              <a:rPr lang="en-US" altLang="zh-CN" sz="2800" i="1" baseline="-250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j</a:t>
            </a:r>
            <a:r>
              <a:rPr lang="en-US" altLang="zh-CN" sz="28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 … </a:t>
            </a:r>
            <a:r>
              <a:rPr lang="en-US" altLang="zh-CN" sz="2800" i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a</a:t>
            </a:r>
            <a:r>
              <a:rPr lang="en-US" altLang="zh-CN" sz="2800" i="1" baseline="-250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n</a:t>
            </a:r>
            <a:r>
              <a:rPr lang="en-US" altLang="zh-CN" sz="2800" baseline="-250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-1</a:t>
            </a:r>
            <a:endParaRPr lang="zh-CN" altLang="zh-CN" sz="280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 pitchFamily="49" charset="0"/>
            </a:endParaRPr>
          </a:p>
        </p:txBody>
      </p:sp>
      <p:sp>
        <p:nvSpPr>
          <p:cNvPr id="9" name="左大括号 8"/>
          <p:cNvSpPr/>
          <p:nvPr/>
        </p:nvSpPr>
        <p:spPr>
          <a:xfrm rot="16200000">
            <a:off x="3357970" y="2331006"/>
            <a:ext cx="285765" cy="3523164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lIns="110045" tIns="55022" rIns="110045" bIns="55022" rtlCol="0" anchor="ctr"/>
          <a:lstStyle/>
          <a:p>
            <a:pPr algn="ctr"/>
            <a:endParaRPr lang="zh-CN" altLang="en-US" sz="2800">
              <a:latin typeface="微软雅黑" panose="020B0503020204020204" charset="-122"/>
              <a:ea typeface="微软雅黑" panose="020B0503020204020204" charset="-122"/>
              <a:cs typeface="Consolas" panose="020B0609020204030204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08737" y="4335170"/>
            <a:ext cx="2929390" cy="539750"/>
          </a:xfrm>
          <a:prstGeom prst="rect">
            <a:avLst/>
          </a:prstGeom>
          <a:noFill/>
        </p:spPr>
        <p:txBody>
          <a:bodyPr wrap="square" lIns="110045" tIns="55022" rIns="110045" bIns="55022" rtlCol="0">
            <a:spAutoFit/>
          </a:bodyPr>
          <a:lstStyle/>
          <a:p>
            <a:r>
              <a:rPr lang="en-US" altLang="zh-CN" sz="2800" dirty="0" err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maxRightSum</a:t>
            </a:r>
            <a:endParaRPr lang="en-US" altLang="zh-CN" sz="28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 pitchFamily="49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3" name="Text Box 3"/>
          <p:cNvSpPr txBox="1">
            <a:spLocks noChangeArrowheads="1"/>
          </p:cNvSpPr>
          <p:nvPr/>
        </p:nvSpPr>
        <p:spPr bwMode="auto">
          <a:xfrm>
            <a:off x="502920" y="1292860"/>
            <a:ext cx="7435215" cy="57797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wrap="square" lIns="110045" tIns="55022" rIns="110045" bIns="55022">
            <a:spAutoFit/>
          </a:bodyPr>
          <a:lstStyle/>
          <a:p>
            <a:pPr>
              <a:lnSpc>
                <a:spcPts val="3970"/>
              </a:lnSpc>
            </a:pPr>
            <a:r>
              <a:rPr lang="zh-CN" altLang="en-US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（</a:t>
            </a:r>
            <a:r>
              <a:rPr lang="en-US" altLang="zh-CN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3</a:t>
            </a:r>
            <a:r>
              <a:rPr lang="zh-CN" altLang="en-US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）该子序列跨越序列</a:t>
            </a:r>
            <a:r>
              <a:rPr lang="en-US" altLang="zh-CN" sz="23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 </a:t>
            </a:r>
            <a:r>
              <a:rPr lang="zh-CN" altLang="en-US" sz="23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的中部而占据左右两部分。</a:t>
            </a:r>
          </a:p>
        </p:txBody>
      </p:sp>
      <p:sp>
        <p:nvSpPr>
          <p:cNvPr id="168965" name="Rectangle 5"/>
          <p:cNvSpPr>
            <a:spLocks noChangeArrowheads="1"/>
          </p:cNvSpPr>
          <p:nvPr/>
        </p:nvSpPr>
        <p:spPr bwMode="auto">
          <a:xfrm>
            <a:off x="2082" y="3858116"/>
            <a:ext cx="346710" cy="4781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110045" tIns="55022" rIns="110045" bIns="55022" anchor="ctr">
            <a:spAutoFit/>
          </a:bodyPr>
          <a:lstStyle/>
          <a:p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Consolas" panose="020B06090202040302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38614" y="2947078"/>
            <a:ext cx="3142281" cy="47815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110045" tIns="55022" rIns="110045" bIns="55022" rtlCol="0">
            <a:spAutoFit/>
          </a:bodyPr>
          <a:lstStyle/>
          <a:p>
            <a:r>
              <a:rPr lang="pt-BR" altLang="zh-CN" sz="2400" i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a</a:t>
            </a:r>
            <a:r>
              <a:rPr lang="pt-BR" altLang="zh-CN" sz="2400" i="1" baseline="-250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i</a:t>
            </a:r>
            <a:r>
              <a:rPr lang="pt-BR" altLang="zh-CN" sz="24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 </a:t>
            </a:r>
            <a:r>
              <a:rPr lang="pt-BR" altLang="zh-CN" sz="2400" i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a</a:t>
            </a:r>
            <a:r>
              <a:rPr lang="pt-BR" altLang="zh-CN" sz="2400" i="1" baseline="-250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i</a:t>
            </a:r>
            <a:r>
              <a:rPr lang="pt-BR" altLang="zh-CN" sz="2400" baseline="-250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+1</a:t>
            </a:r>
            <a:r>
              <a:rPr lang="pt-BR" altLang="zh-CN" sz="24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  … … </a:t>
            </a:r>
            <a:r>
              <a:rPr lang="pt-BR" altLang="zh-CN" sz="2400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a</a:t>
            </a:r>
            <a:r>
              <a:rPr lang="pt-BR" altLang="zh-CN" sz="2400" baseline="-25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mid</a:t>
            </a:r>
            <a:endParaRPr lang="zh-CN" altLang="zh-CN" sz="24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276113" y="2947078"/>
            <a:ext cx="3523164" cy="47815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110045" tIns="55022" rIns="110045" bIns="55022" rtlCol="0">
            <a:spAutoFit/>
          </a:bodyPr>
          <a:lstStyle/>
          <a:p>
            <a:r>
              <a:rPr lang="en-US" altLang="zh-CN" sz="2400" i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a</a:t>
            </a:r>
            <a:r>
              <a:rPr lang="en-US" altLang="zh-CN" sz="2400" baseline="-250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mid+1</a:t>
            </a:r>
            <a:r>
              <a:rPr lang="en-US" altLang="zh-CN" sz="24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   … …     </a:t>
            </a:r>
            <a:r>
              <a:rPr lang="en-US" altLang="zh-CN" sz="2400" i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a</a:t>
            </a:r>
            <a:r>
              <a:rPr lang="en-US" altLang="zh-CN" sz="2400" i="1" baseline="-250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j</a:t>
            </a:r>
            <a:r>
              <a:rPr lang="en-US" altLang="zh-CN" sz="24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  </a:t>
            </a:r>
            <a:endParaRPr lang="zh-CN" altLang="zh-CN" sz="240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 pitchFamily="49" charset="0"/>
            </a:endParaRPr>
          </a:p>
        </p:txBody>
      </p:sp>
      <p:sp>
        <p:nvSpPr>
          <p:cNvPr id="10" name="左大括号 9"/>
          <p:cNvSpPr/>
          <p:nvPr/>
        </p:nvSpPr>
        <p:spPr>
          <a:xfrm rot="16200000">
            <a:off x="2454980" y="2387903"/>
            <a:ext cx="214324" cy="2475737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lIns="110045" tIns="55022" rIns="110045" bIns="55022" rtlCol="0" anchor="ctr"/>
          <a:lstStyle/>
          <a:p>
            <a:pPr algn="ctr"/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Consolas" panose="020B0609020204030204" pitchFamily="49" charset="0"/>
            </a:endParaRPr>
          </a:p>
        </p:txBody>
      </p:sp>
      <p:sp>
        <p:nvSpPr>
          <p:cNvPr id="11" name="左大括号 10"/>
          <p:cNvSpPr/>
          <p:nvPr/>
        </p:nvSpPr>
        <p:spPr>
          <a:xfrm rot="16200000">
            <a:off x="5773443" y="1992761"/>
            <a:ext cx="242843" cy="3237501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lIns="110045" tIns="55022" rIns="110045" bIns="55022" rtlCol="0" anchor="ctr"/>
          <a:lstStyle/>
          <a:p>
            <a:pPr algn="ctr"/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Consolas" panose="020B0609020204030204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14716" y="3875816"/>
            <a:ext cx="2285296" cy="478155"/>
          </a:xfrm>
          <a:prstGeom prst="rect">
            <a:avLst/>
          </a:prstGeom>
          <a:noFill/>
        </p:spPr>
        <p:txBody>
          <a:bodyPr wrap="square" lIns="110045" tIns="55022" rIns="110045" bIns="55022" rtlCol="0">
            <a:spAutoFit/>
          </a:bodyPr>
          <a:lstStyle/>
          <a:p>
            <a:r>
              <a:rPr lang="en-US" altLang="zh-CN" sz="2400" dirty="0" err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maxLeftSum</a:t>
            </a:r>
            <a:endParaRPr lang="en-US" altLang="zh-CN" sz="24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47019" y="3833009"/>
            <a:ext cx="2551049" cy="478155"/>
          </a:xfrm>
          <a:prstGeom prst="rect">
            <a:avLst/>
          </a:prstGeom>
          <a:noFill/>
        </p:spPr>
        <p:txBody>
          <a:bodyPr wrap="square" lIns="110045" tIns="55022" rIns="110045" bIns="55022" rtlCol="0">
            <a:spAutoFit/>
          </a:bodyPr>
          <a:lstStyle/>
          <a:p>
            <a:r>
              <a:rPr lang="en-US" altLang="zh-CN" sz="2400" dirty="0" err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maxRightSum</a:t>
            </a:r>
            <a:endParaRPr lang="en-US" altLang="zh-CN" sz="24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48792" y="4540956"/>
            <a:ext cx="9045961" cy="1216660"/>
          </a:xfrm>
          <a:prstGeom prst="rect">
            <a:avLst/>
          </a:prstGeom>
          <a:noFill/>
        </p:spPr>
        <p:txBody>
          <a:bodyPr wrap="square" lIns="110045" tIns="55022" rIns="110045" bIns="55022" rtlCol="0"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结果：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max3( </a:t>
            </a:r>
            <a:r>
              <a:rPr lang="en-US" altLang="zh-CN" sz="2400" dirty="0" err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maxLeftSum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,</a:t>
            </a:r>
            <a:endParaRPr lang="zh-CN" altLang="zh-CN" sz="24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 pitchFamily="49" charset="0"/>
            </a:endParaRPr>
          </a:p>
          <a:p>
            <a:r>
              <a:rPr lang="en-US" altLang="zh-CN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            </a:t>
            </a:r>
            <a:r>
              <a:rPr lang="en-US" altLang="zh-CN" sz="2400" dirty="0" err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maxRightSum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,</a:t>
            </a:r>
            <a:endParaRPr lang="zh-CN" altLang="zh-CN" sz="24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 pitchFamily="49" charset="0"/>
            </a:endParaRPr>
          </a:p>
          <a:p>
            <a:r>
              <a:rPr lang="en-US" altLang="zh-CN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            </a:t>
            </a:r>
            <a:r>
              <a:rPr lang="en-US" altLang="zh-CN" sz="2400" dirty="0" err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maxLeftBorderSum+maxRightBorderSum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 )</a:t>
            </a:r>
          </a:p>
        </p:txBody>
      </p:sp>
      <p:sp>
        <p:nvSpPr>
          <p:cNvPr id="16" name="左大括号 15"/>
          <p:cNvSpPr/>
          <p:nvPr/>
        </p:nvSpPr>
        <p:spPr>
          <a:xfrm rot="5400000">
            <a:off x="2454980" y="1573529"/>
            <a:ext cx="214324" cy="2475737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lIns="110045" tIns="55022" rIns="110045" bIns="55022" rtlCol="0" anchor="ctr"/>
          <a:lstStyle/>
          <a:p>
            <a:pPr algn="ctr"/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Consolas" panose="020B0609020204030204" pitchFamily="49" charset="0"/>
            </a:endParaRPr>
          </a:p>
        </p:txBody>
      </p:sp>
      <p:sp>
        <p:nvSpPr>
          <p:cNvPr id="17" name="左大括号 16"/>
          <p:cNvSpPr/>
          <p:nvPr/>
        </p:nvSpPr>
        <p:spPr>
          <a:xfrm rot="5400000">
            <a:off x="5773443" y="1178387"/>
            <a:ext cx="242843" cy="3237501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lIns="110045" tIns="55022" rIns="110045" bIns="55022" rtlCol="0" anchor="ctr"/>
          <a:lstStyle/>
          <a:p>
            <a:pPr algn="ctr"/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Consolas" panose="020B0609020204030204" pitchFamily="49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48173" y="2161224"/>
            <a:ext cx="3427942" cy="478155"/>
          </a:xfrm>
          <a:prstGeom prst="rect">
            <a:avLst/>
          </a:prstGeom>
          <a:noFill/>
        </p:spPr>
        <p:txBody>
          <a:bodyPr wrap="square" lIns="110045" tIns="55022" rIns="110045" bIns="55022" rtlCol="0">
            <a:spAutoFit/>
          </a:bodyPr>
          <a:lstStyle/>
          <a:p>
            <a:r>
              <a:rPr lang="en-US" altLang="zh-CN" sz="2400" dirty="0" err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maxLeftBorderSum</a:t>
            </a:r>
            <a:endParaRPr lang="en-US" altLang="zh-CN" sz="24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71335" y="2204146"/>
            <a:ext cx="3904046" cy="478155"/>
          </a:xfrm>
          <a:prstGeom prst="rect">
            <a:avLst/>
          </a:prstGeom>
          <a:noFill/>
        </p:spPr>
        <p:txBody>
          <a:bodyPr wrap="square" lIns="110045" tIns="55022" rIns="110045" bIns="55022" rtlCol="0">
            <a:spAutoFit/>
          </a:bodyPr>
          <a:lstStyle/>
          <a:p>
            <a:r>
              <a:rPr lang="en-US" altLang="zh-CN" sz="2400" dirty="0" err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maxRightBorderSum</a:t>
            </a:r>
            <a:endParaRPr lang="en-US" altLang="zh-CN" sz="24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 pitchFamily="49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Text Box 2"/>
          <p:cNvSpPr txBox="1">
            <a:spLocks noChangeArrowheads="1"/>
          </p:cNvSpPr>
          <p:nvPr/>
        </p:nvSpPr>
        <p:spPr bwMode="auto">
          <a:xfrm>
            <a:off x="522605" y="1235710"/>
            <a:ext cx="8042910" cy="484886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216625" tIns="216625" rIns="110045" bIns="216625">
            <a:noAutofit/>
          </a:bodyPr>
          <a:lstStyle/>
          <a:p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long </a:t>
            </a:r>
            <a:r>
              <a:rPr lang="en-US" altLang="zh-CN" sz="22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maxSubSum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(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int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a[ ]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int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left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int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right)	</a:t>
            </a:r>
          </a:p>
          <a:p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//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求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a[left..high]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序列中最大连续子序列和</a:t>
            </a:r>
          </a:p>
          <a:p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{  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int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i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j;</a:t>
            </a:r>
          </a:p>
          <a:p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  long 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maxLeftSum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maxRightSum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;</a:t>
            </a:r>
          </a:p>
          <a:p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  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long 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maxLeftBorderSum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leftBorderSum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;</a:t>
            </a:r>
          </a:p>
          <a:p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  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long 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maxRightBorderSum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rightBorderSum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20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  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if (left==right)		//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子序列只有一个元素时</a:t>
            </a:r>
          </a:p>
          <a:p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  {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if (a[left]&gt;0) 	//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该元素大于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0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时返回它</a:t>
            </a:r>
          </a:p>
          <a:p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　　　　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return a[left];</a:t>
            </a:r>
          </a:p>
          <a:p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　　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else			//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该元素小于或等于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0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时返回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0</a:t>
            </a:r>
          </a:p>
          <a:p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　　　　　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return 0; </a:t>
            </a:r>
          </a:p>
          <a:p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   }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Text Box 2"/>
          <p:cNvSpPr txBox="1">
            <a:spLocks noChangeArrowheads="1"/>
          </p:cNvSpPr>
          <p:nvPr/>
        </p:nvSpPr>
        <p:spPr bwMode="auto">
          <a:xfrm>
            <a:off x="592446" y="1267328"/>
            <a:ext cx="8134243" cy="37355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10045" tIns="173300" rIns="110045" bIns="17330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　　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maxRightBorderSum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=0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rightBorderSum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=0;</a:t>
            </a:r>
          </a:p>
          <a:p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for (j=mid+1;j&lt;=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right;j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++)		//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求出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a[mid]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右边元素</a:t>
            </a:r>
          </a:p>
          <a:p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{  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rightBorderSum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+=a[j];  		//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构成的序列的最大和</a:t>
            </a:r>
          </a:p>
          <a:p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   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if (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rightBorderSum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&gt;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maxRightBorderSum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)</a:t>
            </a:r>
          </a:p>
          <a:p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　　　　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maxRightBorderSum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=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rightBorderSum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;</a:t>
            </a:r>
          </a:p>
          <a:p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return max3(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maxLeftSum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maxRightSum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endParaRPr lang="en-US" altLang="zh-CN" sz="22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Consolas" panose="020B0609020204030204" pitchFamily="49" charset="0"/>
            </a:endParaRPr>
          </a:p>
          <a:p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		   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maxLeftBorderSum+maxRightBorderSum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); </a:t>
            </a:r>
          </a:p>
          <a:p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}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Text Box 2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57555" y="1238250"/>
            <a:ext cx="7693025" cy="37355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10045" tIns="173300" rIns="110045" bIns="17330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　　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maxRightBorderSum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=0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rightBorderSum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=0;</a:t>
            </a:r>
          </a:p>
          <a:p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for (j=mid+1;j&lt;=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right;j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++)		//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求出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a[mid]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右边元素</a:t>
            </a:r>
          </a:p>
          <a:p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{  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rightBorderSum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+=a[j];  		//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构成的序列的最大和</a:t>
            </a:r>
          </a:p>
          <a:p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   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if (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rightBorderSum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&gt;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maxRightBorderSum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)</a:t>
            </a:r>
          </a:p>
          <a:p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　　　　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maxRightBorderSum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=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rightBorderSum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;</a:t>
            </a:r>
          </a:p>
          <a:p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　　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return max3(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maxLeftSum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maxRightSum</a:t>
            </a:r>
            <a:r>
              <a:rPr lang="zh-CN" altLang="en-US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</a:t>
            </a:r>
            <a:endParaRPr lang="en-US" altLang="zh-CN" sz="22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Consolas" panose="020B0609020204030204" pitchFamily="49" charset="0"/>
            </a:endParaRPr>
          </a:p>
          <a:p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		   </a:t>
            </a:r>
            <a:r>
              <a:rPr lang="en-US" altLang="zh-CN" sz="22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maxLeftBorderSum+maxRightBorderSum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); </a:t>
            </a:r>
          </a:p>
          <a:p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}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Text Box 2"/>
          <p:cNvSpPr txBox="1">
            <a:spLocks noChangeArrowheads="1"/>
          </p:cNvSpPr>
          <p:nvPr/>
        </p:nvSpPr>
        <p:spPr bwMode="auto">
          <a:xfrm>
            <a:off x="323687" y="1101236"/>
            <a:ext cx="7985694" cy="23247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10045" tIns="55022" rIns="110045" bIns="55022">
            <a:spAutoFit/>
          </a:bodyPr>
          <a:lstStyle/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　　</a:t>
            </a:r>
            <a:r>
              <a:rPr lang="en-US" altLang="zh-CN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【</a:t>
            </a:r>
            <a:r>
              <a:rPr lang="zh-CN" altLang="en-US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算法分析</a:t>
            </a:r>
            <a:r>
              <a:rPr lang="en-US" altLang="zh-CN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】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设求解序列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a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[</a:t>
            </a:r>
            <a:r>
              <a:rPr lang="en-US" altLang="zh-CN" sz="24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0..</a:t>
            </a:r>
            <a:r>
              <a:rPr lang="en-US" altLang="zh-CN" sz="2400" b="1" i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-1]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最大连续子序列和的执行时间为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T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(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)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，第（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1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）、（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2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）两种情况的执行时间为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T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(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/2)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，第（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3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）种情况的执行时间为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O(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)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，所以得到以下递推式：</a:t>
            </a:r>
          </a:p>
        </p:txBody>
      </p:sp>
      <p:sp>
        <p:nvSpPr>
          <p:cNvPr id="164867" name="Text Box 3"/>
          <p:cNvSpPr txBox="1">
            <a:spLocks noChangeArrowheads="1"/>
          </p:cNvSpPr>
          <p:nvPr/>
        </p:nvSpPr>
        <p:spPr bwMode="auto">
          <a:xfrm>
            <a:off x="635226" y="3793947"/>
            <a:ext cx="6036953" cy="114490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lIns="216625" tIns="129975" rIns="110045" bIns="129975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i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(</a:t>
            </a:r>
            <a:r>
              <a:rPr lang="en-US" altLang="zh-CN" sz="2400" i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n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)=1			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当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=1</a:t>
            </a:r>
            <a:endParaRPr lang="en-US" altLang="zh-CN" sz="2400" b="1" i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400" i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(</a:t>
            </a:r>
            <a:r>
              <a:rPr lang="en-US" altLang="zh-CN" sz="2400" i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n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)=2</a:t>
            </a:r>
            <a:r>
              <a:rPr lang="en-US" altLang="zh-CN" sz="2400" i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T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(</a:t>
            </a:r>
            <a:r>
              <a:rPr lang="en-US" altLang="zh-CN" sz="2400" i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n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/2)+</a:t>
            </a:r>
            <a:r>
              <a:rPr lang="en-US" altLang="zh-CN" sz="2400" i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n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		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当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&gt;1</a:t>
            </a:r>
          </a:p>
        </p:txBody>
      </p:sp>
      <p:sp>
        <p:nvSpPr>
          <p:cNvPr id="164868" name="Text Box 4"/>
          <p:cNvSpPr txBox="1">
            <a:spLocks noChangeArrowheads="1"/>
          </p:cNvSpPr>
          <p:nvPr/>
        </p:nvSpPr>
        <p:spPr bwMode="auto">
          <a:xfrm>
            <a:off x="635226" y="5032861"/>
            <a:ext cx="8254512" cy="4781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10045" tIns="55022" rIns="110045" bIns="55022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容易推出，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T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(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)=O(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log</a:t>
            </a:r>
            <a:r>
              <a:rPr lang="en-US" altLang="zh-CN" sz="2400" b="1" baseline="-250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2</a:t>
            </a:r>
            <a:r>
              <a:rPr lang="en-US" altLang="zh-CN" sz="2400" b="1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)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Text Box 2"/>
          <p:cNvSpPr txBox="1">
            <a:spLocks noChangeArrowheads="1"/>
          </p:cNvSpPr>
          <p:nvPr/>
        </p:nvSpPr>
        <p:spPr bwMode="auto">
          <a:xfrm>
            <a:off x="659025" y="773316"/>
            <a:ext cx="7593907" cy="19389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</a:pPr>
            <a:r>
              <a:rPr lang="zh-CN" altLang="en-US" sz="22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　　</a:t>
            </a:r>
            <a:r>
              <a:rPr lang="zh-CN" altLang="en-US" sz="22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解法</a:t>
            </a:r>
            <a:r>
              <a:rPr lang="en-US" altLang="zh-CN" sz="22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1</a:t>
            </a:r>
            <a:r>
              <a:rPr lang="zh-CN" altLang="en-US" sz="22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：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设含有</a:t>
            </a:r>
            <a:r>
              <a:rPr lang="en-US" altLang="zh-CN" sz="2000" b="1" i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个整数的序列</a:t>
            </a:r>
            <a:r>
              <a:rPr lang="en-US" altLang="zh-CN" sz="2000" b="1" i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a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[</a:t>
            </a:r>
            <a:r>
              <a:rPr lang="en-US" altLang="zh-CN" sz="2000" b="1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0..</a:t>
            </a:r>
            <a:r>
              <a:rPr lang="en-US" altLang="zh-CN" sz="2000" b="1" i="1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-1]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，其中任何连续子序列</a:t>
            </a:r>
            <a:r>
              <a:rPr lang="en-US" altLang="zh-CN" sz="2000" b="1" i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a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[</a:t>
            </a:r>
            <a:r>
              <a:rPr lang="en-US" altLang="zh-CN" sz="2000" b="1" i="1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i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..</a:t>
            </a:r>
            <a:r>
              <a:rPr lang="en-US" altLang="zh-CN" sz="2000" b="1" i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j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]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（</a:t>
            </a:r>
            <a:r>
              <a:rPr lang="en-US" altLang="zh-CN" sz="2000" b="1" i="1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i</a:t>
            </a:r>
            <a:r>
              <a:rPr lang="en-US" altLang="zh-CN" sz="2000" b="1" dirty="0" err="1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≤</a:t>
            </a:r>
            <a:r>
              <a:rPr lang="en-US" altLang="zh-CN" sz="2000" b="1" i="1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j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lang="en-US" altLang="zh-CN" sz="2000" b="1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0</a:t>
            </a:r>
            <a:r>
              <a:rPr lang="en-US" altLang="zh-CN" sz="2000" b="1" dirty="0" err="1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≤</a:t>
            </a:r>
            <a:r>
              <a:rPr lang="en-US" altLang="zh-CN" sz="2000" b="1" i="1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i</a:t>
            </a:r>
            <a:r>
              <a:rPr lang="en-US" altLang="zh-CN" sz="2000" b="1" dirty="0" err="1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≤</a:t>
            </a:r>
            <a:r>
              <a:rPr lang="en-US" altLang="zh-CN" sz="2000" b="1" i="1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-1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lang="en-US" altLang="zh-CN" sz="2000" b="1" i="1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i</a:t>
            </a:r>
            <a:r>
              <a:rPr lang="en-US" altLang="zh-CN" sz="2000" b="1" dirty="0" err="1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≤</a:t>
            </a:r>
            <a:r>
              <a:rPr lang="en-US" altLang="zh-CN" sz="2000" b="1" i="1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j</a:t>
            </a:r>
            <a:r>
              <a:rPr lang="en-US" altLang="zh-CN" sz="2000" b="1" dirty="0" err="1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≤</a:t>
            </a:r>
            <a:r>
              <a:rPr lang="en-US" altLang="zh-CN" sz="2000" b="1" i="1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-1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）求出它的所有元素之和</a:t>
            </a:r>
            <a:r>
              <a:rPr lang="en-US" altLang="zh-CN" sz="2000" b="1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thisSum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。</a:t>
            </a:r>
            <a:endParaRPr lang="en-US" altLang="zh-CN" sz="2000" b="1" dirty="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  <a:p>
            <a:pPr algn="l">
              <a:lnSpc>
                <a:spcPts val="36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   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通过比较将最大值存放在</a:t>
            </a:r>
            <a:r>
              <a:rPr lang="en-US" altLang="zh-CN" sz="2000" b="1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maxSum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中，最后返回</a:t>
            </a:r>
            <a:r>
              <a:rPr lang="en-US" altLang="zh-CN" sz="2000" b="1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maxSum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。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659025" y="3108389"/>
            <a:ext cx="9019121" cy="1192273"/>
            <a:chOff x="1379559" y="2233628"/>
            <a:chExt cx="6764341" cy="1192273"/>
          </a:xfrm>
        </p:grpSpPr>
        <p:sp>
          <p:nvSpPr>
            <p:cNvPr id="175107" name="Text Box 3"/>
            <p:cNvSpPr txBox="1">
              <a:spLocks noChangeArrowheads="1"/>
            </p:cNvSpPr>
            <p:nvPr/>
          </p:nvSpPr>
          <p:spPr bwMode="auto">
            <a:xfrm>
              <a:off x="1379559" y="2233628"/>
              <a:ext cx="6764341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000" i="1" dirty="0">
                  <a:latin typeface="Consolas" pitchFamily="49" charset="0"/>
                  <a:cs typeface="Consolas" pitchFamily="49" charset="0"/>
                </a:rPr>
                <a:t>a</a:t>
              </a:r>
              <a:r>
                <a:rPr lang="en-US" altLang="zh-CN" sz="2000" dirty="0">
                  <a:latin typeface="Consolas" pitchFamily="49" charset="0"/>
                  <a:cs typeface="Consolas" pitchFamily="49" charset="0"/>
                </a:rPr>
                <a:t>[0] </a:t>
              </a:r>
              <a:r>
                <a:rPr lang="en-US" altLang="zh-CN" sz="2000" i="1" dirty="0">
                  <a:latin typeface="Consolas" pitchFamily="49" charset="0"/>
                  <a:cs typeface="Consolas" pitchFamily="49" charset="0"/>
                </a:rPr>
                <a:t>a</a:t>
              </a:r>
              <a:r>
                <a:rPr lang="en-US" altLang="zh-CN" sz="2000" dirty="0">
                  <a:latin typeface="Consolas" pitchFamily="49" charset="0"/>
                  <a:cs typeface="Consolas" pitchFamily="49" charset="0"/>
                </a:rPr>
                <a:t>[1] </a:t>
              </a:r>
              <a:r>
                <a:rPr lang="en-US" altLang="zh-CN" sz="2000" dirty="0">
                  <a:latin typeface="Consolas" pitchFamily="49" charset="0"/>
                  <a:ea typeface="宋体" pitchFamily="2" charset="-122"/>
                  <a:cs typeface="Consolas" pitchFamily="49" charset="0"/>
                </a:rPr>
                <a:t>…</a:t>
              </a:r>
              <a:r>
                <a:rPr lang="en-US" altLang="zh-CN" sz="2000" dirty="0">
                  <a:latin typeface="Consolas" pitchFamily="49" charset="0"/>
                  <a:cs typeface="Consolas" pitchFamily="49" charset="0"/>
                </a:rPr>
                <a:t> </a:t>
              </a:r>
              <a:r>
                <a:rPr lang="en-US" altLang="zh-CN" sz="2000" i="1" dirty="0">
                  <a:latin typeface="Consolas" pitchFamily="49" charset="0"/>
                  <a:cs typeface="Consolas" pitchFamily="49" charset="0"/>
                </a:rPr>
                <a:t>a</a:t>
              </a:r>
              <a:r>
                <a:rPr lang="en-US" altLang="zh-CN" sz="2000" dirty="0">
                  <a:latin typeface="Consolas" pitchFamily="49" charset="0"/>
                  <a:cs typeface="Consolas" pitchFamily="49" charset="0"/>
                </a:rPr>
                <a:t>[</a:t>
              </a:r>
              <a:r>
                <a:rPr lang="en-US" altLang="zh-CN" sz="2000" i="1" dirty="0">
                  <a:latin typeface="Consolas" pitchFamily="49" charset="0"/>
                  <a:cs typeface="Consolas" pitchFamily="49" charset="0"/>
                </a:rPr>
                <a:t>i</a:t>
              </a:r>
              <a:r>
                <a:rPr lang="en-US" altLang="zh-CN" sz="2000" dirty="0">
                  <a:latin typeface="Consolas" pitchFamily="49" charset="0"/>
                  <a:cs typeface="Consolas" pitchFamily="49" charset="0"/>
                </a:rPr>
                <a:t>] </a:t>
              </a:r>
              <a:r>
                <a:rPr lang="en-US" altLang="zh-CN" sz="2000" i="1" dirty="0">
                  <a:latin typeface="Consolas" pitchFamily="49" charset="0"/>
                  <a:cs typeface="Consolas" pitchFamily="49" charset="0"/>
                </a:rPr>
                <a:t>a</a:t>
              </a:r>
              <a:r>
                <a:rPr lang="en-US" altLang="zh-CN" sz="2000" dirty="0">
                  <a:latin typeface="Consolas" pitchFamily="49" charset="0"/>
                  <a:cs typeface="Consolas" pitchFamily="49" charset="0"/>
                </a:rPr>
                <a:t>[</a:t>
              </a:r>
              <a:r>
                <a:rPr lang="en-US" altLang="zh-CN" sz="2000" i="1" dirty="0">
                  <a:latin typeface="Consolas" pitchFamily="49" charset="0"/>
                  <a:cs typeface="Consolas" pitchFamily="49" charset="0"/>
                </a:rPr>
                <a:t>i</a:t>
              </a:r>
              <a:r>
                <a:rPr lang="en-US" altLang="zh-CN" sz="2000" dirty="0">
                  <a:latin typeface="Consolas" pitchFamily="49" charset="0"/>
                  <a:cs typeface="Consolas" pitchFamily="49" charset="0"/>
                </a:rPr>
                <a:t>+1] </a:t>
              </a:r>
              <a:r>
                <a:rPr lang="en-US" altLang="zh-CN" sz="2000" dirty="0">
                  <a:latin typeface="Consolas" pitchFamily="49" charset="0"/>
                  <a:ea typeface="宋体" pitchFamily="2" charset="-122"/>
                  <a:cs typeface="Consolas" pitchFamily="49" charset="0"/>
                </a:rPr>
                <a:t>…</a:t>
              </a:r>
              <a:r>
                <a:rPr lang="en-US" altLang="zh-CN" sz="2000" dirty="0">
                  <a:latin typeface="Consolas" pitchFamily="49" charset="0"/>
                  <a:cs typeface="Consolas" pitchFamily="49" charset="0"/>
                </a:rPr>
                <a:t> </a:t>
              </a:r>
              <a:r>
                <a:rPr lang="en-US" altLang="zh-CN" sz="2000" i="1" dirty="0">
                  <a:latin typeface="Consolas" pitchFamily="49" charset="0"/>
                  <a:cs typeface="Consolas" pitchFamily="49" charset="0"/>
                </a:rPr>
                <a:t>a</a:t>
              </a:r>
              <a:r>
                <a:rPr lang="en-US" altLang="zh-CN" sz="2000" dirty="0">
                  <a:latin typeface="Consolas" pitchFamily="49" charset="0"/>
                  <a:cs typeface="Consolas" pitchFamily="49" charset="0"/>
                </a:rPr>
                <a:t>[</a:t>
              </a:r>
              <a:r>
                <a:rPr lang="en-US" altLang="zh-CN" sz="2000" i="1" dirty="0">
                  <a:latin typeface="Consolas" pitchFamily="49" charset="0"/>
                  <a:cs typeface="Consolas" pitchFamily="49" charset="0"/>
                </a:rPr>
                <a:t>j</a:t>
              </a:r>
              <a:r>
                <a:rPr lang="en-US" altLang="zh-CN" sz="2000" dirty="0">
                  <a:latin typeface="Consolas" pitchFamily="49" charset="0"/>
                  <a:cs typeface="Consolas" pitchFamily="49" charset="0"/>
                </a:rPr>
                <a:t>] </a:t>
              </a:r>
              <a:r>
                <a:rPr lang="en-US" altLang="zh-CN" sz="2000" i="1" dirty="0">
                  <a:latin typeface="Consolas" pitchFamily="49" charset="0"/>
                  <a:cs typeface="Consolas" pitchFamily="49" charset="0"/>
                </a:rPr>
                <a:t>a</a:t>
              </a:r>
              <a:r>
                <a:rPr lang="en-US" altLang="zh-CN" sz="2000" dirty="0">
                  <a:latin typeface="Consolas" pitchFamily="49" charset="0"/>
                  <a:cs typeface="Consolas" pitchFamily="49" charset="0"/>
                </a:rPr>
                <a:t>[</a:t>
              </a:r>
              <a:r>
                <a:rPr lang="en-US" altLang="zh-CN" sz="2000" i="1" dirty="0">
                  <a:latin typeface="Consolas" pitchFamily="49" charset="0"/>
                  <a:cs typeface="Consolas" pitchFamily="49" charset="0"/>
                </a:rPr>
                <a:t>j</a:t>
              </a:r>
              <a:r>
                <a:rPr lang="en-US" altLang="zh-CN" sz="2000" dirty="0">
                  <a:latin typeface="Consolas" pitchFamily="49" charset="0"/>
                  <a:cs typeface="Consolas" pitchFamily="49" charset="0"/>
                </a:rPr>
                <a:t>+1] … </a:t>
              </a:r>
              <a:r>
                <a:rPr lang="en-US" altLang="zh-CN" sz="2000" i="1" dirty="0">
                  <a:latin typeface="Consolas" pitchFamily="49" charset="0"/>
                  <a:cs typeface="Consolas" pitchFamily="49" charset="0"/>
                </a:rPr>
                <a:t>a</a:t>
              </a:r>
              <a:r>
                <a:rPr lang="en-US" altLang="zh-CN" sz="2000" dirty="0">
                  <a:latin typeface="Consolas" pitchFamily="49" charset="0"/>
                  <a:cs typeface="Consolas" pitchFamily="49" charset="0"/>
                </a:rPr>
                <a:t>[</a:t>
              </a:r>
              <a:r>
                <a:rPr lang="en-US" altLang="zh-CN" sz="2000" i="1" dirty="0">
                  <a:latin typeface="Consolas" pitchFamily="49" charset="0"/>
                  <a:cs typeface="Consolas" pitchFamily="49" charset="0"/>
                </a:rPr>
                <a:t>n</a:t>
              </a:r>
              <a:r>
                <a:rPr lang="en-US" altLang="zh-CN" sz="2000" dirty="0">
                  <a:latin typeface="Consolas" pitchFamily="49" charset="0"/>
                  <a:ea typeface="宋体" pitchFamily="2" charset="-122"/>
                  <a:cs typeface="Consolas" pitchFamily="49" charset="0"/>
                </a:rPr>
                <a:t>-</a:t>
              </a:r>
              <a:r>
                <a:rPr lang="en-US" altLang="zh-CN" sz="2000" dirty="0">
                  <a:latin typeface="Consolas" pitchFamily="49" charset="0"/>
                  <a:cs typeface="Consolas" pitchFamily="49" charset="0"/>
                </a:rPr>
                <a:t>1]</a:t>
              </a:r>
            </a:p>
          </p:txBody>
        </p:sp>
        <p:sp>
          <p:nvSpPr>
            <p:cNvPr id="175108" name="AutoShape 4"/>
            <p:cNvSpPr>
              <a:spLocks/>
            </p:cNvSpPr>
            <p:nvPr/>
          </p:nvSpPr>
          <p:spPr bwMode="auto">
            <a:xfrm rot="16200000">
              <a:off x="4178298" y="1822438"/>
              <a:ext cx="215900" cy="2000264"/>
            </a:xfrm>
            <a:prstGeom prst="leftBrace">
              <a:avLst>
                <a:gd name="adj1" fmla="val 66728"/>
                <a:gd name="adj2" fmla="val 50000"/>
              </a:avLst>
            </a:prstGeom>
            <a:noFill/>
            <a:ln>
              <a:solidFill>
                <a:schemeClr val="tx1"/>
              </a:solidFill>
              <a:headEnd/>
              <a:tailEnd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zh-CN" altLang="en-US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75109" name="Text Box 5"/>
            <p:cNvSpPr txBox="1">
              <a:spLocks noChangeArrowheads="1"/>
            </p:cNvSpPr>
            <p:nvPr/>
          </p:nvSpPr>
          <p:spPr bwMode="auto">
            <a:xfrm>
              <a:off x="3684609" y="3025791"/>
              <a:ext cx="1512888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000" dirty="0" err="1">
                  <a:latin typeface="Consolas" pitchFamily="49" charset="0"/>
                  <a:cs typeface="Consolas" pitchFamily="49" charset="0"/>
                </a:rPr>
                <a:t>thisSum</a:t>
              </a:r>
              <a:endParaRPr lang="en-US" altLang="zh-CN" sz="2000" dirty="0">
                <a:latin typeface="Consolas" pitchFamily="49" charset="0"/>
                <a:cs typeface="Consolas" pitchFamily="49" charset="0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3732425" y="4327520"/>
            <a:ext cx="2400300" cy="976372"/>
            <a:chOff x="3684609" y="3452760"/>
            <a:chExt cx="1800225" cy="976372"/>
          </a:xfrm>
        </p:grpSpPr>
        <p:sp>
          <p:nvSpPr>
            <p:cNvPr id="175110" name="AutoShape 6"/>
            <p:cNvSpPr>
              <a:spLocks noChangeArrowheads="1"/>
            </p:cNvSpPr>
            <p:nvPr/>
          </p:nvSpPr>
          <p:spPr bwMode="auto">
            <a:xfrm>
              <a:off x="4116409" y="3525785"/>
              <a:ext cx="358775" cy="431800"/>
            </a:xfrm>
            <a:prstGeom prst="downArrow">
              <a:avLst>
                <a:gd name="adj1" fmla="val 50000"/>
                <a:gd name="adj2" fmla="val 30088"/>
              </a:avLst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75111" name="Text Box 7"/>
            <p:cNvSpPr txBox="1">
              <a:spLocks noChangeArrowheads="1"/>
            </p:cNvSpPr>
            <p:nvPr/>
          </p:nvSpPr>
          <p:spPr bwMode="auto">
            <a:xfrm>
              <a:off x="3684609" y="4029022"/>
              <a:ext cx="1655763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000" dirty="0" err="1">
                  <a:latin typeface="Consolas" pitchFamily="49" charset="0"/>
                  <a:cs typeface="Consolas" pitchFamily="49" charset="0"/>
                </a:rPr>
                <a:t>maxSum</a:t>
              </a:r>
              <a:endParaRPr lang="en-US" altLang="zh-CN" sz="2000" dirty="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75112" name="Text Box 8"/>
            <p:cNvSpPr txBox="1">
              <a:spLocks noChangeArrowheads="1"/>
            </p:cNvSpPr>
            <p:nvPr/>
          </p:nvSpPr>
          <p:spPr bwMode="auto">
            <a:xfrm>
              <a:off x="4548209" y="3452760"/>
              <a:ext cx="936625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000" dirty="0">
                  <a:latin typeface="Consolas" pitchFamily="49" charset="0"/>
                  <a:cs typeface="Consolas" pitchFamily="49" charset="0"/>
                </a:rPr>
                <a:t>MAX</a:t>
              </a: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2686781" y="5661082"/>
            <a:ext cx="4627017" cy="863600"/>
            <a:chOff x="2900376" y="4786322"/>
            <a:chExt cx="3470263" cy="863600"/>
          </a:xfrm>
        </p:grpSpPr>
        <p:sp>
          <p:nvSpPr>
            <p:cNvPr id="175113" name="Text Box 9"/>
            <p:cNvSpPr txBox="1">
              <a:spLocks noChangeArrowheads="1"/>
            </p:cNvSpPr>
            <p:nvPr/>
          </p:nvSpPr>
          <p:spPr bwMode="auto">
            <a:xfrm>
              <a:off x="2900376" y="4786322"/>
              <a:ext cx="1728787" cy="861774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000" i="1" dirty="0">
                  <a:latin typeface="Consolas" pitchFamily="49" charset="0"/>
                  <a:cs typeface="Consolas" pitchFamily="49" charset="0"/>
                </a:rPr>
                <a:t>i</a:t>
              </a:r>
              <a:r>
                <a:rPr lang="zh-CN" altLang="en-US" sz="2000" dirty="0">
                  <a:latin typeface="Consolas" pitchFamily="49" charset="0"/>
                  <a:cs typeface="Consolas" pitchFamily="49" charset="0"/>
                </a:rPr>
                <a:t>：</a:t>
              </a:r>
              <a:r>
                <a:rPr lang="en-US" altLang="zh-CN" sz="2000" dirty="0">
                  <a:latin typeface="Consolas" pitchFamily="49" charset="0"/>
                  <a:cs typeface="Consolas" pitchFamily="49" charset="0"/>
                </a:rPr>
                <a:t>0</a:t>
              </a:r>
              <a:r>
                <a:rPr lang="zh-CN" altLang="en-US" sz="2000" dirty="0">
                  <a:latin typeface="Consolas" pitchFamily="49" charset="0"/>
                  <a:ea typeface="宋体" pitchFamily="2" charset="-122"/>
                  <a:cs typeface="Consolas" pitchFamily="49" charset="0"/>
                </a:rPr>
                <a:t>～</a:t>
              </a:r>
              <a:r>
                <a:rPr lang="en-US" altLang="zh-CN" sz="2000" i="1" dirty="0">
                  <a:latin typeface="Consolas" pitchFamily="49" charset="0"/>
                  <a:ea typeface="宋体" pitchFamily="2" charset="-122"/>
                  <a:cs typeface="Consolas" pitchFamily="49" charset="0"/>
                </a:rPr>
                <a:t>n</a:t>
              </a:r>
              <a:r>
                <a:rPr lang="en-US" altLang="zh-CN" sz="2000" dirty="0">
                  <a:latin typeface="Consolas" pitchFamily="49" charset="0"/>
                  <a:ea typeface="宋体" pitchFamily="2" charset="-122"/>
                  <a:cs typeface="Consolas" pitchFamily="49" charset="0"/>
                </a:rPr>
                <a:t>-1</a:t>
              </a:r>
            </a:p>
            <a:p>
              <a:pPr algn="l">
                <a:spcBef>
                  <a:spcPct val="50000"/>
                </a:spcBef>
              </a:pPr>
              <a:r>
                <a:rPr lang="en-US" altLang="zh-CN" sz="2000" i="1" dirty="0">
                  <a:latin typeface="Consolas" pitchFamily="49" charset="0"/>
                  <a:ea typeface="宋体" pitchFamily="2" charset="-122"/>
                  <a:cs typeface="Consolas" pitchFamily="49" charset="0"/>
                </a:rPr>
                <a:t>j</a:t>
              </a:r>
              <a:r>
                <a:rPr lang="zh-CN" altLang="en-US" sz="2000" dirty="0">
                  <a:latin typeface="Consolas" pitchFamily="49" charset="0"/>
                  <a:ea typeface="宋体" pitchFamily="2" charset="-122"/>
                  <a:cs typeface="Consolas" pitchFamily="49" charset="0"/>
                </a:rPr>
                <a:t>：</a:t>
              </a:r>
              <a:r>
                <a:rPr lang="en-US" altLang="zh-CN" sz="2000" i="1" dirty="0">
                  <a:latin typeface="Consolas" pitchFamily="49" charset="0"/>
                  <a:ea typeface="宋体" pitchFamily="2" charset="-122"/>
                  <a:cs typeface="Consolas" pitchFamily="49" charset="0"/>
                </a:rPr>
                <a:t>i</a:t>
              </a:r>
              <a:r>
                <a:rPr lang="zh-CN" altLang="en-US" sz="2000" dirty="0">
                  <a:latin typeface="Consolas" pitchFamily="49" charset="0"/>
                  <a:ea typeface="宋体" pitchFamily="2" charset="-122"/>
                  <a:cs typeface="Consolas" pitchFamily="49" charset="0"/>
                </a:rPr>
                <a:t>～</a:t>
              </a:r>
              <a:r>
                <a:rPr lang="en-US" altLang="zh-CN" sz="2000" i="1" dirty="0">
                  <a:latin typeface="Consolas" pitchFamily="49" charset="0"/>
                  <a:ea typeface="宋体" pitchFamily="2" charset="-122"/>
                  <a:cs typeface="Consolas" pitchFamily="49" charset="0"/>
                </a:rPr>
                <a:t>n</a:t>
              </a:r>
              <a:r>
                <a:rPr lang="en-US" altLang="zh-CN" sz="2000" dirty="0">
                  <a:latin typeface="Consolas" pitchFamily="49" charset="0"/>
                  <a:ea typeface="宋体" pitchFamily="2" charset="-122"/>
                  <a:cs typeface="Consolas" pitchFamily="49" charset="0"/>
                </a:rPr>
                <a:t>-1</a:t>
              </a:r>
            </a:p>
          </p:txBody>
        </p:sp>
        <p:sp>
          <p:nvSpPr>
            <p:cNvPr id="175114" name="AutoShape 10"/>
            <p:cNvSpPr>
              <a:spLocks/>
            </p:cNvSpPr>
            <p:nvPr/>
          </p:nvSpPr>
          <p:spPr bwMode="auto">
            <a:xfrm>
              <a:off x="4556138" y="5002222"/>
              <a:ext cx="144463" cy="647700"/>
            </a:xfrm>
            <a:prstGeom prst="rightBrace">
              <a:avLst>
                <a:gd name="adj1" fmla="val 37363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75115" name="Text Box 11"/>
            <p:cNvSpPr txBox="1">
              <a:spLocks noChangeArrowheads="1"/>
            </p:cNvSpPr>
            <p:nvPr/>
          </p:nvSpPr>
          <p:spPr bwMode="auto">
            <a:xfrm>
              <a:off x="4786314" y="5100592"/>
              <a:ext cx="1584325" cy="400110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000" i="1" dirty="0">
                  <a:latin typeface="Consolas" pitchFamily="49" charset="0"/>
                  <a:cs typeface="Consolas" pitchFamily="49" charset="0"/>
                </a:rPr>
                <a:t>k</a:t>
              </a:r>
              <a:r>
                <a:rPr lang="zh-CN" altLang="en-US" sz="2000" dirty="0">
                  <a:latin typeface="Consolas" pitchFamily="49" charset="0"/>
                  <a:cs typeface="Consolas" pitchFamily="49" charset="0"/>
                </a:rPr>
                <a:t>：</a:t>
              </a:r>
              <a:r>
                <a:rPr lang="en-US" altLang="zh-CN" sz="2000" i="1" dirty="0">
                  <a:latin typeface="Consolas" pitchFamily="49" charset="0"/>
                  <a:cs typeface="Consolas" pitchFamily="49" charset="0"/>
                </a:rPr>
                <a:t>i</a:t>
              </a:r>
              <a:r>
                <a:rPr lang="zh-CN" altLang="en-US" sz="2000" dirty="0">
                  <a:latin typeface="Consolas" pitchFamily="49" charset="0"/>
                  <a:ea typeface="宋体" pitchFamily="2" charset="-122"/>
                  <a:cs typeface="Consolas" pitchFamily="49" charset="0"/>
                </a:rPr>
                <a:t>～</a:t>
              </a:r>
              <a:r>
                <a:rPr lang="en-US" altLang="zh-CN" sz="2000" i="1" dirty="0">
                  <a:latin typeface="Consolas" pitchFamily="49" charset="0"/>
                  <a:ea typeface="宋体" pitchFamily="2" charset="-122"/>
                  <a:cs typeface="Consolas" pitchFamily="49" charset="0"/>
                </a:rPr>
                <a:t>j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263387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Text Box 2"/>
          <p:cNvSpPr txBox="1">
            <a:spLocks noChangeArrowheads="1"/>
          </p:cNvSpPr>
          <p:nvPr/>
        </p:nvSpPr>
        <p:spPr bwMode="auto">
          <a:xfrm>
            <a:off x="587375" y="220663"/>
            <a:ext cx="7496815" cy="43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lIns="180000" tIns="180000" bIns="180000">
            <a:spAutoFit/>
          </a:bodyPr>
          <a:lstStyle/>
          <a:p>
            <a:pPr algn="l"/>
            <a:r>
              <a:rPr lang="en-US" altLang="zh-CN" sz="1800" dirty="0" err="1">
                <a:solidFill>
                  <a:srgbClr val="99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</a:t>
            </a:r>
            <a:r>
              <a:rPr lang="en-US" altLang="zh-CN" sz="1800" dirty="0">
                <a:solidFill>
                  <a:srgbClr val="99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maxSubSum1(</a:t>
            </a:r>
            <a:r>
              <a:rPr lang="en-US" altLang="zh-CN" sz="1800" dirty="0" err="1">
                <a:solidFill>
                  <a:srgbClr val="99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</a:t>
            </a:r>
            <a:r>
              <a:rPr lang="en-US" altLang="zh-CN" sz="1800" dirty="0">
                <a:solidFill>
                  <a:srgbClr val="99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a[],</a:t>
            </a:r>
            <a:r>
              <a:rPr lang="en-US" altLang="zh-CN" sz="1800" dirty="0" err="1">
                <a:solidFill>
                  <a:srgbClr val="99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</a:t>
            </a:r>
            <a:r>
              <a:rPr lang="en-US" altLang="zh-CN" sz="1800" dirty="0">
                <a:solidFill>
                  <a:srgbClr val="99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n)</a:t>
            </a:r>
          </a:p>
          <a:p>
            <a:pPr algn="l"/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i,j,k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;</a:t>
            </a:r>
          </a:p>
          <a:p>
            <a:pPr algn="l"/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maxSum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=a[0],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thisSum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; </a:t>
            </a:r>
          </a:p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for (i=0;i&lt;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n;i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++)	</a:t>
            </a:r>
            <a:r>
              <a:rPr lang="en-US" altLang="zh-CN" sz="1800" dirty="0">
                <a:solidFill>
                  <a:schemeClr val="bg2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 dirty="0">
                <a:solidFill>
                  <a:schemeClr val="bg2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两重循环穷举所有的连续子序列</a:t>
            </a:r>
          </a:p>
          <a:p>
            <a:pPr algn="l"/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for (j=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i;j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&lt;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n;j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++)</a:t>
            </a:r>
          </a:p>
          <a:p>
            <a:pPr algn="l"/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thisSum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=0;</a:t>
            </a:r>
          </a:p>
          <a:p>
            <a:pPr algn="l"/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for (k=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i;k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&lt;=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j;k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++)</a:t>
            </a:r>
          </a:p>
          <a:p>
            <a:pPr algn="l"/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　　　　　　　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thisSum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+=a[k];</a:t>
            </a:r>
          </a:p>
          <a:p>
            <a:pPr algn="l"/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　　　　　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if (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thisSum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&gt;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maxSum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 </a:t>
            </a:r>
            <a:r>
              <a:rPr lang="en-US" altLang="zh-CN" sz="1800" dirty="0">
                <a:solidFill>
                  <a:schemeClr val="bg2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 dirty="0">
                <a:solidFill>
                  <a:schemeClr val="bg2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通过比较求最大连续子序列之和</a:t>
            </a:r>
          </a:p>
          <a:p>
            <a:pPr algn="l"/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　　　　　　　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maxSum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thisSum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;</a:t>
            </a:r>
          </a:p>
          <a:p>
            <a:pPr algn="l"/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　　　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</a:p>
          <a:p>
            <a:pPr algn="l"/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　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</a:p>
          <a:p>
            <a:pPr algn="l"/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　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return 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maxSum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;</a:t>
            </a:r>
          </a:p>
          <a:p>
            <a:pPr algn="l"/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</a:p>
        </p:txBody>
      </p:sp>
      <p:sp>
        <p:nvSpPr>
          <p:cNvPr id="174083" name="Text Box 3"/>
          <p:cNvSpPr txBox="1">
            <a:spLocks noChangeArrowheads="1"/>
          </p:cNvSpPr>
          <p:nvPr/>
        </p:nvSpPr>
        <p:spPr bwMode="auto">
          <a:xfrm>
            <a:off x="527052" y="4868863"/>
            <a:ext cx="842646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000" b="1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maxSubSum1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</a:t>
            </a:r>
            <a:r>
              <a:rPr lang="en-US" altLang="zh-CN" sz="2000" b="1" i="1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a</a:t>
            </a:r>
            <a:r>
              <a:rPr lang="en-US" altLang="zh-CN" sz="2000" b="1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,</a:t>
            </a:r>
            <a:r>
              <a:rPr lang="en-US" altLang="zh-CN" sz="2000" b="1" i="1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)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算法中用了三重循环，所以有：</a:t>
            </a:r>
          </a:p>
        </p:txBody>
      </p:sp>
      <p:sp>
        <p:nvSpPr>
          <p:cNvPr id="174084" name="Text Box 4"/>
          <p:cNvSpPr txBox="1">
            <a:spLocks noChangeArrowheads="1"/>
          </p:cNvSpPr>
          <p:nvPr/>
        </p:nvSpPr>
        <p:spPr bwMode="auto">
          <a:xfrm>
            <a:off x="470995" y="5432847"/>
            <a:ext cx="1004361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000" dirty="0">
                <a:latin typeface="Consolas" pitchFamily="49" charset="0"/>
                <a:cs typeface="Consolas" pitchFamily="49" charset="0"/>
              </a:rPr>
              <a:t>T(</a:t>
            </a:r>
            <a:r>
              <a:rPr lang="en-US" altLang="zh-CN" sz="2000" i="1" dirty="0">
                <a:latin typeface="Consolas" pitchFamily="49" charset="0"/>
                <a:cs typeface="Consolas" pitchFamily="49" charset="0"/>
              </a:rPr>
              <a:t>n</a:t>
            </a:r>
            <a:r>
              <a:rPr lang="en-US" altLang="zh-CN" sz="2000" dirty="0">
                <a:latin typeface="Consolas" pitchFamily="49" charset="0"/>
                <a:cs typeface="Consolas" pitchFamily="49" charset="0"/>
              </a:rPr>
              <a:t>)=</a:t>
            </a:r>
            <a:endParaRPr lang="zh-CN" altLang="en-US" sz="20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74086" name="Rectangle 6"/>
          <p:cNvSpPr>
            <a:spLocks noChangeArrowheads="1"/>
          </p:cNvSpPr>
          <p:nvPr/>
        </p:nvSpPr>
        <p:spPr bwMode="auto">
          <a:xfrm>
            <a:off x="0" y="303478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7408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9894730"/>
              </p:ext>
            </p:extLst>
          </p:nvPr>
        </p:nvGraphicFramePr>
        <p:xfrm>
          <a:off x="1457320" y="5276174"/>
          <a:ext cx="7215544" cy="7858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882900" imgH="419100" progId="Equation.3">
                  <p:embed/>
                </p:oleObj>
              </mc:Choice>
              <mc:Fallback>
                <p:oleObj name="公式" r:id="rId4" imgW="28829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7320" y="5276174"/>
                        <a:ext cx="7215544" cy="78581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697117" y="6301212"/>
            <a:ext cx="1077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O(</a:t>
            </a:r>
            <a:r>
              <a:rPr lang="en-US" altLang="zh-CN" b="1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en-US" altLang="zh-CN" b="1" baseline="300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3</a:t>
            </a:r>
            <a:r>
              <a:rPr lang="en-US" altLang="zh-CN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)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37807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Text Box 2"/>
          <p:cNvSpPr txBox="1">
            <a:spLocks noChangeArrowheads="1"/>
          </p:cNvSpPr>
          <p:nvPr/>
        </p:nvSpPr>
        <p:spPr bwMode="auto">
          <a:xfrm>
            <a:off x="570011" y="578853"/>
            <a:ext cx="9138585" cy="169264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</a:pPr>
            <a:r>
              <a:rPr lang="zh-CN" altLang="en-US" sz="22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　　</a:t>
            </a:r>
            <a:r>
              <a:rPr lang="zh-CN" altLang="en-US" sz="2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解法</a:t>
            </a:r>
            <a:r>
              <a:rPr lang="en-US" altLang="zh-CN" sz="2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2</a:t>
            </a:r>
            <a:r>
              <a:rPr lang="zh-CN" altLang="en-US" sz="2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：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改进前面的解法，在求两个相邻子序列和时，它们之间是关联的。</a:t>
            </a:r>
            <a:endParaRPr lang="en-US" altLang="zh-CN" sz="2000" b="1" dirty="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  <a:p>
            <a:pPr algn="l">
              <a:lnSpc>
                <a:spcPts val="32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   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例如</a:t>
            </a:r>
            <a:r>
              <a:rPr lang="en-US" altLang="zh-CN" sz="2000" b="1" i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a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[0..3]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子序列和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=</a:t>
            </a:r>
            <a:r>
              <a:rPr lang="en-US" altLang="zh-CN" sz="2000" b="1" i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a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[0]+</a:t>
            </a:r>
            <a:r>
              <a:rPr lang="en-US" altLang="zh-CN" sz="2000" b="1" i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a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[1]+</a:t>
            </a:r>
            <a:r>
              <a:rPr lang="en-US" altLang="zh-CN" sz="2000" b="1" i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a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[2]+</a:t>
            </a:r>
            <a:r>
              <a:rPr lang="en-US" altLang="zh-CN" sz="2000" b="1" i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a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[3]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lang="en-US" altLang="zh-CN" sz="2000" b="1" i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a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[0..4]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子序列和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=</a:t>
            </a:r>
            <a:r>
              <a:rPr lang="en-US" altLang="zh-CN" sz="2000" b="1" i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a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[0]+</a:t>
            </a:r>
            <a:r>
              <a:rPr lang="en-US" altLang="zh-CN" sz="2000" b="1" i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a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[1]+</a:t>
            </a:r>
            <a:r>
              <a:rPr lang="en-US" altLang="zh-CN" sz="2000" b="1" i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a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[2]+</a:t>
            </a:r>
            <a:r>
              <a:rPr lang="en-US" altLang="zh-CN" sz="2000" b="1" i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a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[3]+</a:t>
            </a:r>
            <a:r>
              <a:rPr lang="en-US" altLang="zh-CN" sz="2000" b="1" i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a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[4]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，在前者计算出来后，求后者时只需在前者基础上加以</a:t>
            </a:r>
            <a:r>
              <a:rPr lang="en-US" altLang="zh-CN" sz="2000" b="1" i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a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[4]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即可，没有必须每次都重复计算。从而提高了算法效率。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630334" y="3269554"/>
            <a:ext cx="10928776" cy="1147822"/>
            <a:chOff x="971550" y="2611438"/>
            <a:chExt cx="7200900" cy="1147822"/>
          </a:xfrm>
        </p:grpSpPr>
        <p:sp>
          <p:nvSpPr>
            <p:cNvPr id="173059" name="Text Box 3"/>
            <p:cNvSpPr txBox="1">
              <a:spLocks noChangeArrowheads="1"/>
            </p:cNvSpPr>
            <p:nvPr/>
          </p:nvSpPr>
          <p:spPr bwMode="auto">
            <a:xfrm>
              <a:off x="971550" y="2611438"/>
              <a:ext cx="72009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000" i="1" dirty="0">
                  <a:latin typeface="Consolas" pitchFamily="49" charset="0"/>
                  <a:cs typeface="Consolas" pitchFamily="49" charset="0"/>
                </a:rPr>
                <a:t>a</a:t>
              </a:r>
              <a:r>
                <a:rPr lang="en-US" altLang="zh-CN" sz="2000" dirty="0">
                  <a:latin typeface="Consolas" pitchFamily="49" charset="0"/>
                  <a:cs typeface="Consolas" pitchFamily="49" charset="0"/>
                </a:rPr>
                <a:t>[0] </a:t>
              </a:r>
              <a:r>
                <a:rPr lang="en-US" altLang="zh-CN" sz="2000" i="1" dirty="0">
                  <a:latin typeface="Consolas" pitchFamily="49" charset="0"/>
                  <a:cs typeface="Consolas" pitchFamily="49" charset="0"/>
                </a:rPr>
                <a:t>a</a:t>
              </a:r>
              <a:r>
                <a:rPr lang="en-US" altLang="zh-CN" sz="2000" dirty="0">
                  <a:latin typeface="Consolas" pitchFamily="49" charset="0"/>
                  <a:cs typeface="Consolas" pitchFamily="49" charset="0"/>
                </a:rPr>
                <a:t>[1] </a:t>
              </a:r>
              <a:r>
                <a:rPr lang="en-US" altLang="zh-CN" sz="2000" dirty="0">
                  <a:latin typeface="Consolas" pitchFamily="49" charset="0"/>
                  <a:ea typeface="宋体" pitchFamily="2" charset="-122"/>
                  <a:cs typeface="Consolas" pitchFamily="49" charset="0"/>
                </a:rPr>
                <a:t>…</a:t>
              </a:r>
              <a:r>
                <a:rPr lang="en-US" altLang="zh-CN" sz="2000" dirty="0">
                  <a:latin typeface="Consolas" pitchFamily="49" charset="0"/>
                  <a:cs typeface="Consolas" pitchFamily="49" charset="0"/>
                </a:rPr>
                <a:t> </a:t>
              </a:r>
              <a:r>
                <a:rPr lang="en-US" altLang="zh-CN" sz="2000" i="1" dirty="0">
                  <a:latin typeface="Consolas" pitchFamily="49" charset="0"/>
                  <a:cs typeface="Consolas" pitchFamily="49" charset="0"/>
                </a:rPr>
                <a:t>a</a:t>
              </a:r>
              <a:r>
                <a:rPr lang="en-US" altLang="zh-CN" sz="2000" dirty="0">
                  <a:latin typeface="Consolas" pitchFamily="49" charset="0"/>
                  <a:cs typeface="Consolas" pitchFamily="49" charset="0"/>
                </a:rPr>
                <a:t>[</a:t>
              </a:r>
              <a:r>
                <a:rPr lang="en-US" altLang="zh-CN" sz="2000" i="1" dirty="0">
                  <a:latin typeface="Consolas" pitchFamily="49" charset="0"/>
                  <a:cs typeface="Consolas" pitchFamily="49" charset="0"/>
                </a:rPr>
                <a:t>i</a:t>
              </a:r>
              <a:r>
                <a:rPr lang="en-US" altLang="zh-CN" sz="2000" dirty="0">
                  <a:latin typeface="Consolas" pitchFamily="49" charset="0"/>
                  <a:cs typeface="Consolas" pitchFamily="49" charset="0"/>
                </a:rPr>
                <a:t>] </a:t>
              </a:r>
              <a:r>
                <a:rPr lang="en-US" altLang="zh-CN" sz="2000" i="1" dirty="0">
                  <a:latin typeface="Consolas" pitchFamily="49" charset="0"/>
                  <a:cs typeface="Consolas" pitchFamily="49" charset="0"/>
                </a:rPr>
                <a:t>a</a:t>
              </a:r>
              <a:r>
                <a:rPr lang="en-US" altLang="zh-CN" sz="2000" dirty="0">
                  <a:latin typeface="Consolas" pitchFamily="49" charset="0"/>
                  <a:cs typeface="Consolas" pitchFamily="49" charset="0"/>
                </a:rPr>
                <a:t>[</a:t>
              </a:r>
              <a:r>
                <a:rPr lang="en-US" altLang="zh-CN" sz="2000" i="1" dirty="0">
                  <a:latin typeface="Consolas" pitchFamily="49" charset="0"/>
                  <a:cs typeface="Consolas" pitchFamily="49" charset="0"/>
                </a:rPr>
                <a:t>i</a:t>
              </a:r>
              <a:r>
                <a:rPr lang="en-US" altLang="zh-CN" sz="2000" dirty="0">
                  <a:latin typeface="Consolas" pitchFamily="49" charset="0"/>
                  <a:cs typeface="Consolas" pitchFamily="49" charset="0"/>
                </a:rPr>
                <a:t>+1] </a:t>
              </a:r>
              <a:r>
                <a:rPr lang="en-US" altLang="zh-CN" sz="2000" dirty="0">
                  <a:latin typeface="Consolas" pitchFamily="49" charset="0"/>
                  <a:ea typeface="宋体" pitchFamily="2" charset="-122"/>
                  <a:cs typeface="Consolas" pitchFamily="49" charset="0"/>
                </a:rPr>
                <a:t>…</a:t>
              </a:r>
              <a:r>
                <a:rPr lang="en-US" altLang="zh-CN" sz="2000" dirty="0">
                  <a:latin typeface="Consolas" pitchFamily="49" charset="0"/>
                  <a:cs typeface="Consolas" pitchFamily="49" charset="0"/>
                </a:rPr>
                <a:t>  </a:t>
              </a:r>
              <a:r>
                <a:rPr lang="en-US" altLang="zh-CN" sz="2000" i="1" dirty="0">
                  <a:latin typeface="Consolas" pitchFamily="49" charset="0"/>
                  <a:cs typeface="Consolas" pitchFamily="49" charset="0"/>
                </a:rPr>
                <a:t>a</a:t>
              </a:r>
              <a:r>
                <a:rPr lang="en-US" altLang="zh-CN" sz="2000" dirty="0">
                  <a:latin typeface="Consolas" pitchFamily="49" charset="0"/>
                  <a:cs typeface="Consolas" pitchFamily="49" charset="0"/>
                </a:rPr>
                <a:t>[</a:t>
              </a:r>
              <a:r>
                <a:rPr lang="en-US" altLang="zh-CN" sz="2000" i="1" dirty="0">
                  <a:latin typeface="Consolas" pitchFamily="49" charset="0"/>
                  <a:cs typeface="Consolas" pitchFamily="49" charset="0"/>
                </a:rPr>
                <a:t>j</a:t>
              </a:r>
              <a:r>
                <a:rPr lang="en-US" altLang="zh-CN" sz="2000" dirty="0">
                  <a:latin typeface="Consolas" pitchFamily="49" charset="0"/>
                  <a:ea typeface="宋体" pitchFamily="2" charset="-122"/>
                  <a:cs typeface="Consolas" pitchFamily="49" charset="0"/>
                </a:rPr>
                <a:t>-</a:t>
              </a:r>
              <a:r>
                <a:rPr lang="en-US" altLang="zh-CN" sz="2000" dirty="0">
                  <a:latin typeface="Consolas" pitchFamily="49" charset="0"/>
                  <a:cs typeface="Consolas" pitchFamily="49" charset="0"/>
                </a:rPr>
                <a:t>1]  </a:t>
              </a:r>
              <a:r>
                <a:rPr lang="en-US" altLang="zh-CN" sz="2000" i="1" dirty="0">
                  <a:latin typeface="Consolas" pitchFamily="49" charset="0"/>
                  <a:cs typeface="Consolas" pitchFamily="49" charset="0"/>
                </a:rPr>
                <a:t>a</a:t>
              </a:r>
              <a:r>
                <a:rPr lang="en-US" altLang="zh-CN" sz="2000" dirty="0">
                  <a:latin typeface="Consolas" pitchFamily="49" charset="0"/>
                  <a:cs typeface="Consolas" pitchFamily="49" charset="0"/>
                </a:rPr>
                <a:t>[</a:t>
              </a:r>
              <a:r>
                <a:rPr lang="en-US" altLang="zh-CN" sz="2000" i="1" dirty="0">
                  <a:latin typeface="Consolas" pitchFamily="49" charset="0"/>
                  <a:cs typeface="Consolas" pitchFamily="49" charset="0"/>
                </a:rPr>
                <a:t>j</a:t>
              </a:r>
              <a:r>
                <a:rPr lang="en-US" altLang="zh-CN" sz="2000" dirty="0">
                  <a:latin typeface="Consolas" pitchFamily="49" charset="0"/>
                  <a:cs typeface="Consolas" pitchFamily="49" charset="0"/>
                </a:rPr>
                <a:t>] … </a:t>
              </a:r>
              <a:r>
                <a:rPr lang="en-US" altLang="zh-CN" sz="2000" i="1" dirty="0">
                  <a:latin typeface="Consolas" pitchFamily="49" charset="0"/>
                  <a:cs typeface="Consolas" pitchFamily="49" charset="0"/>
                </a:rPr>
                <a:t>a</a:t>
              </a:r>
              <a:r>
                <a:rPr lang="en-US" altLang="zh-CN" sz="2000" dirty="0">
                  <a:latin typeface="Consolas" pitchFamily="49" charset="0"/>
                  <a:cs typeface="Consolas" pitchFamily="49" charset="0"/>
                </a:rPr>
                <a:t>[</a:t>
              </a:r>
              <a:r>
                <a:rPr lang="en-US" altLang="zh-CN" sz="2000" i="1" dirty="0">
                  <a:latin typeface="Consolas" pitchFamily="49" charset="0"/>
                  <a:cs typeface="Consolas" pitchFamily="49" charset="0"/>
                </a:rPr>
                <a:t>n</a:t>
              </a:r>
              <a:r>
                <a:rPr lang="en-US" altLang="zh-CN" sz="2000" dirty="0">
                  <a:latin typeface="Consolas" pitchFamily="49" charset="0"/>
                  <a:ea typeface="宋体" pitchFamily="2" charset="-122"/>
                  <a:cs typeface="Consolas" pitchFamily="49" charset="0"/>
                </a:rPr>
                <a:t>-</a:t>
              </a:r>
              <a:r>
                <a:rPr lang="en-US" altLang="zh-CN" sz="2000" dirty="0">
                  <a:latin typeface="Consolas" pitchFamily="49" charset="0"/>
                  <a:cs typeface="Consolas" pitchFamily="49" charset="0"/>
                </a:rPr>
                <a:t>1]</a:t>
              </a:r>
            </a:p>
          </p:txBody>
        </p:sp>
        <p:sp>
          <p:nvSpPr>
            <p:cNvPr id="173060" name="AutoShape 4"/>
            <p:cNvSpPr>
              <a:spLocks/>
            </p:cNvSpPr>
            <p:nvPr/>
          </p:nvSpPr>
          <p:spPr bwMode="auto">
            <a:xfrm rot="16200000">
              <a:off x="3895723" y="2066916"/>
              <a:ext cx="188912" cy="2214578"/>
            </a:xfrm>
            <a:prstGeom prst="leftBrace">
              <a:avLst>
                <a:gd name="adj1" fmla="val 66728"/>
                <a:gd name="adj2" fmla="val 50000"/>
              </a:avLst>
            </a:prstGeom>
            <a:ln>
              <a:headEnd/>
              <a:tailEnd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zh-CN" altLang="en-US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73061" name="Text Box 5"/>
            <p:cNvSpPr txBox="1">
              <a:spLocks noChangeArrowheads="1"/>
            </p:cNvSpPr>
            <p:nvPr/>
          </p:nvSpPr>
          <p:spPr bwMode="auto">
            <a:xfrm>
              <a:off x="3324227" y="3359150"/>
              <a:ext cx="1319211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000" dirty="0" err="1">
                  <a:latin typeface="Consolas" pitchFamily="49" charset="0"/>
                  <a:cs typeface="Consolas" pitchFamily="49" charset="0"/>
                </a:rPr>
                <a:t>thisSum</a:t>
              </a:r>
              <a:endParaRPr lang="en-US" altLang="zh-CN" sz="2000" dirty="0">
                <a:latin typeface="Consolas" pitchFamily="49" charset="0"/>
                <a:cs typeface="Consolas" pitchFamily="49" charset="0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3546644" y="4633278"/>
            <a:ext cx="4587945" cy="714381"/>
            <a:chOff x="3021014" y="3857627"/>
            <a:chExt cx="3194062" cy="714381"/>
          </a:xfrm>
        </p:grpSpPr>
        <p:sp>
          <p:nvSpPr>
            <p:cNvPr id="173065" name="AutoShape 9"/>
            <p:cNvSpPr>
              <a:spLocks/>
            </p:cNvSpPr>
            <p:nvPr/>
          </p:nvSpPr>
          <p:spPr bwMode="auto">
            <a:xfrm rot="16200000">
              <a:off x="4510887" y="2367754"/>
              <a:ext cx="214316" cy="3194062"/>
            </a:xfrm>
            <a:prstGeom prst="leftBrace">
              <a:avLst>
                <a:gd name="adj1" fmla="val 129097"/>
                <a:gd name="adj2" fmla="val 50000"/>
              </a:avLst>
            </a:prstGeom>
            <a:ln>
              <a:headEnd/>
              <a:tailEnd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vert="eaVert" wrap="none" anchor="ctr"/>
            <a:lstStyle/>
            <a:p>
              <a:endParaRPr lang="zh-CN" altLang="zh-CN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73066" name="Text Box 10"/>
            <p:cNvSpPr txBox="1">
              <a:spLocks noChangeArrowheads="1"/>
            </p:cNvSpPr>
            <p:nvPr/>
          </p:nvSpPr>
          <p:spPr bwMode="auto">
            <a:xfrm>
              <a:off x="3357554" y="4171898"/>
              <a:ext cx="1928826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000" dirty="0" err="1">
                  <a:latin typeface="Consolas" pitchFamily="49" charset="0"/>
                  <a:cs typeface="Consolas" pitchFamily="49" charset="0"/>
                </a:rPr>
                <a:t>thisSum+</a:t>
              </a:r>
              <a:r>
                <a:rPr lang="en-US" altLang="zh-CN" sz="2000" i="1" dirty="0" err="1">
                  <a:latin typeface="Consolas" pitchFamily="49" charset="0"/>
                  <a:cs typeface="Consolas" pitchFamily="49" charset="0"/>
                </a:rPr>
                <a:t>a</a:t>
              </a:r>
              <a:r>
                <a:rPr lang="en-US" altLang="zh-CN" sz="2000" dirty="0">
                  <a:latin typeface="Consolas" pitchFamily="49" charset="0"/>
                  <a:cs typeface="Consolas" pitchFamily="49" charset="0"/>
                </a:rPr>
                <a:t>[</a:t>
              </a:r>
              <a:r>
                <a:rPr lang="en-US" altLang="zh-CN" sz="2000" i="1" dirty="0">
                  <a:latin typeface="Consolas" pitchFamily="49" charset="0"/>
                  <a:cs typeface="Consolas" pitchFamily="49" charset="0"/>
                </a:rPr>
                <a:t>j</a:t>
              </a:r>
              <a:r>
                <a:rPr lang="en-US" altLang="zh-CN" sz="2000" dirty="0">
                  <a:latin typeface="Consolas" pitchFamily="49" charset="0"/>
                  <a:cs typeface="Consolas" pitchFamily="49" charset="0"/>
                </a:rPr>
                <a:t>]</a:t>
              </a:r>
            </a:p>
          </p:txBody>
        </p:sp>
      </p:grpSp>
      <p:sp>
        <p:nvSpPr>
          <p:cNvPr id="173069" name="Text Box 13"/>
          <p:cNvSpPr txBox="1">
            <a:spLocks noChangeArrowheads="1"/>
          </p:cNvSpPr>
          <p:nvPr/>
        </p:nvSpPr>
        <p:spPr bwMode="auto">
          <a:xfrm>
            <a:off x="4176463" y="5776286"/>
            <a:ext cx="2483227" cy="861774"/>
          </a:xfrm>
          <a:prstGeom prst="rect">
            <a:avLst/>
          </a:prstGeom>
          <a:noFill/>
          <a:ln w="5715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000" i="1" dirty="0">
                <a:latin typeface="Consolas" pitchFamily="49" charset="0"/>
                <a:cs typeface="Consolas" pitchFamily="49" charset="0"/>
              </a:rPr>
              <a:t>i</a:t>
            </a:r>
            <a:r>
              <a:rPr lang="zh-CN" altLang="en-US" sz="2000" dirty="0">
                <a:latin typeface="Consolas" pitchFamily="49" charset="0"/>
                <a:cs typeface="Consolas" pitchFamily="49" charset="0"/>
              </a:rPr>
              <a:t>：</a:t>
            </a:r>
            <a:r>
              <a:rPr lang="en-US" altLang="zh-CN" sz="2000" dirty="0">
                <a:latin typeface="Consolas" pitchFamily="49" charset="0"/>
                <a:cs typeface="Consolas" pitchFamily="49" charset="0"/>
              </a:rPr>
              <a:t>0</a:t>
            </a:r>
            <a:r>
              <a:rPr lang="zh-CN" altLang="en-US" sz="2000" dirty="0">
                <a:latin typeface="Consolas" pitchFamily="49" charset="0"/>
                <a:ea typeface="宋体" pitchFamily="2" charset="-122"/>
                <a:cs typeface="Consolas" pitchFamily="49" charset="0"/>
              </a:rPr>
              <a:t>～</a:t>
            </a:r>
            <a:r>
              <a:rPr lang="en-US" altLang="zh-CN" sz="2000" i="1" dirty="0">
                <a:latin typeface="Consolas" pitchFamily="49" charset="0"/>
                <a:ea typeface="宋体" pitchFamily="2" charset="-122"/>
                <a:cs typeface="Consolas" pitchFamily="49" charset="0"/>
              </a:rPr>
              <a:t>n</a:t>
            </a:r>
            <a:r>
              <a:rPr lang="en-US" altLang="zh-CN" sz="2000" dirty="0">
                <a:latin typeface="Consolas" pitchFamily="49" charset="0"/>
                <a:ea typeface="宋体" pitchFamily="2" charset="-122"/>
                <a:cs typeface="Consolas" pitchFamily="49" charset="0"/>
              </a:rPr>
              <a:t>-1</a:t>
            </a:r>
          </a:p>
          <a:p>
            <a:pPr algn="l">
              <a:spcBef>
                <a:spcPct val="50000"/>
              </a:spcBef>
            </a:pPr>
            <a:r>
              <a:rPr lang="en-US" altLang="zh-CN" sz="2000" i="1" dirty="0">
                <a:latin typeface="Consolas" pitchFamily="49" charset="0"/>
                <a:ea typeface="宋体" pitchFamily="2" charset="-122"/>
                <a:cs typeface="Consolas" pitchFamily="49" charset="0"/>
              </a:rPr>
              <a:t>j</a:t>
            </a:r>
            <a:r>
              <a:rPr lang="zh-CN" altLang="en-US" sz="2000" dirty="0">
                <a:latin typeface="Consolas" pitchFamily="49" charset="0"/>
                <a:ea typeface="宋体" pitchFamily="2" charset="-122"/>
                <a:cs typeface="Consolas" pitchFamily="49" charset="0"/>
              </a:rPr>
              <a:t>：</a:t>
            </a:r>
            <a:r>
              <a:rPr lang="en-US" altLang="zh-CN" sz="2000" i="1" dirty="0">
                <a:latin typeface="Consolas" pitchFamily="49" charset="0"/>
                <a:ea typeface="宋体" pitchFamily="2" charset="-122"/>
                <a:cs typeface="Consolas" pitchFamily="49" charset="0"/>
              </a:rPr>
              <a:t>i</a:t>
            </a:r>
            <a:r>
              <a:rPr lang="zh-CN" altLang="en-US" sz="2000" dirty="0">
                <a:latin typeface="Consolas" pitchFamily="49" charset="0"/>
                <a:ea typeface="宋体" pitchFamily="2" charset="-122"/>
                <a:cs typeface="Consolas" pitchFamily="49" charset="0"/>
              </a:rPr>
              <a:t>～</a:t>
            </a:r>
            <a:r>
              <a:rPr lang="en-US" altLang="zh-CN" sz="2000" i="1" dirty="0">
                <a:latin typeface="Consolas" pitchFamily="49" charset="0"/>
                <a:ea typeface="宋体" pitchFamily="2" charset="-122"/>
                <a:cs typeface="Consolas" pitchFamily="49" charset="0"/>
              </a:rPr>
              <a:t>n</a:t>
            </a:r>
            <a:r>
              <a:rPr lang="en-US" altLang="zh-CN" sz="2000" dirty="0">
                <a:latin typeface="Consolas" pitchFamily="49" charset="0"/>
                <a:ea typeface="宋体" pitchFamily="2" charset="-122"/>
                <a:cs typeface="Consolas" pitchFamily="49" charset="0"/>
              </a:rPr>
              <a:t>-1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570011" y="4060189"/>
            <a:ext cx="3639312" cy="1144593"/>
            <a:chOff x="823916" y="3284538"/>
            <a:chExt cx="2533637" cy="1144593"/>
          </a:xfrm>
        </p:grpSpPr>
        <p:sp>
          <p:nvSpPr>
            <p:cNvPr id="173063" name="Text Box 7"/>
            <p:cNvSpPr txBox="1">
              <a:spLocks noChangeArrowheads="1"/>
            </p:cNvSpPr>
            <p:nvPr/>
          </p:nvSpPr>
          <p:spPr bwMode="auto">
            <a:xfrm>
              <a:off x="823916" y="3786190"/>
              <a:ext cx="1319192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000" dirty="0" err="1">
                  <a:latin typeface="Consolas" pitchFamily="49" charset="0"/>
                  <a:cs typeface="Consolas" pitchFamily="49" charset="0"/>
                </a:rPr>
                <a:t>maxSum</a:t>
              </a:r>
              <a:endParaRPr lang="en-US" altLang="zh-CN" sz="2000" dirty="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73067" name="Line 11"/>
            <p:cNvSpPr>
              <a:spLocks noChangeShapeType="1"/>
            </p:cNvSpPr>
            <p:nvPr/>
          </p:nvSpPr>
          <p:spPr bwMode="auto">
            <a:xfrm flipH="1">
              <a:off x="2000240" y="3571876"/>
              <a:ext cx="1319214" cy="361949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73068" name="Line 12"/>
            <p:cNvSpPr>
              <a:spLocks noChangeShapeType="1"/>
            </p:cNvSpPr>
            <p:nvPr/>
          </p:nvSpPr>
          <p:spPr bwMode="auto">
            <a:xfrm flipH="1" flipV="1">
              <a:off x="1979612" y="4149724"/>
              <a:ext cx="1377941" cy="27940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73072" name="Text Box 16"/>
            <p:cNvSpPr txBox="1">
              <a:spLocks noChangeArrowheads="1"/>
            </p:cNvSpPr>
            <p:nvPr/>
          </p:nvSpPr>
          <p:spPr bwMode="auto">
            <a:xfrm>
              <a:off x="1908175" y="3284538"/>
              <a:ext cx="936625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000" dirty="0">
                  <a:latin typeface="Consolas" pitchFamily="49" charset="0"/>
                  <a:cs typeface="Consolas" pitchFamily="49" charset="0"/>
                </a:rPr>
                <a:t>MAX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313897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69" grpId="0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Text Box 2"/>
          <p:cNvSpPr txBox="1">
            <a:spLocks noChangeArrowheads="1"/>
          </p:cNvSpPr>
          <p:nvPr/>
        </p:nvSpPr>
        <p:spPr bwMode="auto">
          <a:xfrm>
            <a:off x="761962" y="1296871"/>
            <a:ext cx="7680205" cy="4103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lIns="180000" tIns="180000" bIns="180000">
            <a:spAutoFit/>
          </a:bodyPr>
          <a:lstStyle/>
          <a:p>
            <a:pPr algn="l"/>
            <a:r>
              <a:rPr lang="en-US" altLang="zh-CN" sz="1800" dirty="0" err="1">
                <a:solidFill>
                  <a:srgbClr val="99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</a:t>
            </a:r>
            <a:r>
              <a:rPr lang="en-US" altLang="zh-CN" sz="1800" dirty="0">
                <a:solidFill>
                  <a:srgbClr val="99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maxSubSum2(</a:t>
            </a:r>
            <a:r>
              <a:rPr lang="en-US" altLang="zh-CN" sz="1800" dirty="0" err="1">
                <a:solidFill>
                  <a:srgbClr val="99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</a:t>
            </a:r>
            <a:r>
              <a:rPr lang="en-US" altLang="zh-CN" sz="1800" dirty="0">
                <a:solidFill>
                  <a:srgbClr val="99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a[],</a:t>
            </a:r>
            <a:r>
              <a:rPr lang="en-US" altLang="zh-CN" sz="1800" dirty="0" err="1">
                <a:solidFill>
                  <a:srgbClr val="99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</a:t>
            </a:r>
            <a:r>
              <a:rPr lang="en-US" altLang="zh-CN" sz="1800" dirty="0">
                <a:solidFill>
                  <a:srgbClr val="99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n)</a:t>
            </a:r>
          </a:p>
          <a:p>
            <a:pPr algn="l"/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i,j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;</a:t>
            </a:r>
          </a:p>
          <a:p>
            <a:pPr algn="l"/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maxSum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=a[0],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thisSum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;</a:t>
            </a:r>
          </a:p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for (i=0;i&lt;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n;i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++)  </a:t>
            </a:r>
          </a:p>
          <a:p>
            <a:pPr algn="l"/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  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thisSum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=0;</a:t>
            </a:r>
          </a:p>
          <a:p>
            <a:pPr algn="l"/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for (j=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i;j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&lt;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n;j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++)</a:t>
            </a:r>
          </a:p>
          <a:p>
            <a:pPr algn="l"/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</a:t>
            </a:r>
            <a:r>
              <a:rPr lang="en-US" altLang="zh-CN" sz="1800" dirty="0" err="1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thisSum</a:t>
            </a:r>
            <a:r>
              <a:rPr lang="en-US" altLang="zh-CN" sz="1800" dirty="0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+=a[j]; </a:t>
            </a:r>
            <a:r>
              <a:rPr lang="en-US" altLang="zh-CN" sz="1800" dirty="0">
                <a:solidFill>
                  <a:schemeClr val="bg2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en-US" altLang="zh-CN" sz="1800" dirty="0" err="1">
                <a:solidFill>
                  <a:schemeClr val="bg2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maxSum</a:t>
            </a:r>
            <a:r>
              <a:rPr lang="zh-CN" altLang="en-US" sz="1800" dirty="0">
                <a:solidFill>
                  <a:schemeClr val="bg2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已经包含了</a:t>
            </a:r>
            <a:r>
              <a:rPr lang="en-US" altLang="zh-CN" sz="1800" dirty="0">
                <a:solidFill>
                  <a:schemeClr val="bg2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a[i..j-1]</a:t>
            </a:r>
            <a:r>
              <a:rPr lang="zh-CN" altLang="en-US" sz="1800" dirty="0">
                <a:solidFill>
                  <a:schemeClr val="bg2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的最大和</a:t>
            </a:r>
            <a:endParaRPr lang="en-US" altLang="zh-CN" sz="1800" dirty="0">
              <a:solidFill>
                <a:schemeClr val="bg2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　　　　　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if (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thisSum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&gt;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maxSum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</a:p>
          <a:p>
            <a:pPr algn="l"/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　　　　　　 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maxSum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thisSum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;</a:t>
            </a:r>
          </a:p>
          <a:p>
            <a:pPr algn="l"/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　　 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</a:p>
          <a:p>
            <a:pPr algn="l"/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</a:p>
          <a:p>
            <a:pPr algn="l"/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return 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maxSum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;</a:t>
            </a:r>
          </a:p>
          <a:p>
            <a:pPr algn="l"/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</a:p>
        </p:txBody>
      </p:sp>
      <p:sp>
        <p:nvSpPr>
          <p:cNvPr id="172035" name="Text Box 3"/>
          <p:cNvSpPr txBox="1">
            <a:spLocks noChangeArrowheads="1"/>
          </p:cNvSpPr>
          <p:nvPr/>
        </p:nvSpPr>
        <p:spPr bwMode="auto">
          <a:xfrm>
            <a:off x="761962" y="6171539"/>
            <a:ext cx="10668075" cy="461537"/>
          </a:xfrm>
          <a:prstGeom prst="rect">
            <a:avLst/>
          </a:prstGeom>
          <a:noFill/>
          <a:ln w="5715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ts val="3200"/>
              </a:lnSpc>
              <a:spcBef>
                <a:spcPct val="50000"/>
              </a:spcBef>
            </a:pP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maxSubSum2(</a:t>
            </a:r>
            <a:r>
              <a:rPr lang="en-US" altLang="zh-CN" sz="2000" b="1" i="1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a</a:t>
            </a:r>
            <a:r>
              <a:rPr lang="en-US" altLang="zh-CN" sz="2000" b="1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,</a:t>
            </a:r>
            <a:r>
              <a:rPr lang="en-US" altLang="zh-CN" sz="2000" b="1" i="1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)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算法中只有两重循环，容易求出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T(</a:t>
            </a:r>
            <a:r>
              <a:rPr lang="en-US" altLang="zh-CN" sz="2000" b="1" i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)=O(</a:t>
            </a:r>
            <a:r>
              <a:rPr lang="en-US" altLang="zh-CN" sz="2000" b="1" i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en-US" altLang="zh-CN" sz="2000" b="1" baseline="30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2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)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6552300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6" name="Text Box 4"/>
          <p:cNvSpPr txBox="1">
            <a:spLocks noChangeArrowheads="1"/>
          </p:cNvSpPr>
          <p:nvPr/>
        </p:nvSpPr>
        <p:spPr bwMode="auto">
          <a:xfrm>
            <a:off x="589872" y="1098455"/>
            <a:ext cx="8011223" cy="2908489"/>
          </a:xfrm>
          <a:prstGeom prst="rect">
            <a:avLst/>
          </a:prstGeom>
          <a:noFill/>
          <a:ln w="5715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zh-CN" altLang="en-US" sz="22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　</a:t>
            </a:r>
            <a:r>
              <a:rPr lang="zh-CN" altLang="en-US" sz="2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Consolas" pitchFamily="49" charset="0"/>
              </a:rPr>
              <a:t>解法</a:t>
            </a:r>
            <a:r>
              <a:rPr lang="en-US" altLang="zh-CN" sz="2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Consolas" pitchFamily="49" charset="0"/>
              </a:rPr>
              <a:t>3</a:t>
            </a:r>
            <a:r>
              <a:rPr lang="zh-CN" altLang="en-US" sz="2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Consolas" pitchFamily="49" charset="0"/>
              </a:rPr>
              <a:t>：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itchFamily="49" charset="0"/>
              </a:rPr>
              <a:t>更一步改进解法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itchFamily="49" charset="0"/>
              </a:rPr>
              <a:t>2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itchFamily="49" charset="0"/>
              </a:rPr>
              <a:t>。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itchFamily="49" charset="0"/>
              </a:rPr>
              <a:t>　 如果扫描中遇到负数，当前子序列和</a:t>
            </a:r>
            <a:r>
              <a:rPr lang="en-US" altLang="zh-CN" sz="20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itchFamily="49" charset="0"/>
              </a:rPr>
              <a:t>thisSum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itchFamily="49" charset="0"/>
              </a:rPr>
              <a:t>将会减小，若</a:t>
            </a:r>
            <a:r>
              <a:rPr lang="en-US" altLang="zh-CN" sz="20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itchFamily="49" charset="0"/>
              </a:rPr>
              <a:t>thisSum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itchFamily="49" charset="0"/>
              </a:rPr>
              <a:t>为负数，表明前面已经扫描的那个子序列可以抛弃了，则放弃这个子序列，重新开始下一个子序列的分析，并置</a:t>
            </a:r>
            <a:r>
              <a:rPr lang="en-US" altLang="zh-CN" sz="20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itchFamily="49" charset="0"/>
              </a:rPr>
              <a:t>thisSum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itchFamily="49" charset="0"/>
              </a:rPr>
              <a:t>为</a:t>
            </a:r>
            <a:r>
              <a:rPr lang="en-US" altLang="zh-CN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itchFamily="49" charset="0"/>
              </a:rPr>
              <a:t>0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itchFamily="49" charset="0"/>
              </a:rPr>
              <a:t>。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itchFamily="49" charset="0"/>
              </a:rPr>
              <a:t>　 若这个子序列和</a:t>
            </a:r>
            <a:r>
              <a:rPr lang="en-US" altLang="zh-CN" sz="20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itchFamily="49" charset="0"/>
              </a:rPr>
              <a:t>thisSum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itchFamily="49" charset="0"/>
              </a:rPr>
              <a:t>不断增加，那么最大子序列和</a:t>
            </a:r>
            <a:r>
              <a:rPr lang="en-US" altLang="zh-CN" sz="20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itchFamily="49" charset="0"/>
              </a:rPr>
              <a:t>maxSum</a:t>
            </a: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itchFamily="49" charset="0"/>
              </a:rPr>
              <a:t>也不断增加。</a:t>
            </a:r>
          </a:p>
        </p:txBody>
      </p:sp>
    </p:spTree>
    <p:extLst>
      <p:ext uri="{BB962C8B-B14F-4D97-AF65-F5344CB8AC3E}">
        <p14:creationId xmlns:p14="http://schemas.microsoft.com/office/powerpoint/2010/main" val="39330181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Text Box 2"/>
          <p:cNvSpPr txBox="1">
            <a:spLocks noChangeArrowheads="1"/>
          </p:cNvSpPr>
          <p:nvPr/>
        </p:nvSpPr>
        <p:spPr bwMode="auto">
          <a:xfrm>
            <a:off x="694457" y="1281120"/>
            <a:ext cx="7805187" cy="4933998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 algn="ctr">
            <a:noFill/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lIns="180000" tIns="180000" bIns="18000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800" dirty="0" err="1">
                <a:solidFill>
                  <a:srgbClr val="99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</a:t>
            </a:r>
            <a:r>
              <a:rPr lang="en-US" altLang="zh-CN" sz="1800" dirty="0">
                <a:solidFill>
                  <a:srgbClr val="99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maxSubSum3(</a:t>
            </a:r>
            <a:r>
              <a:rPr lang="en-US" altLang="zh-CN" sz="1800" dirty="0" err="1">
                <a:solidFill>
                  <a:srgbClr val="99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</a:t>
            </a:r>
            <a:r>
              <a:rPr lang="en-US" altLang="zh-CN" sz="1800" dirty="0">
                <a:solidFill>
                  <a:srgbClr val="99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a[],</a:t>
            </a:r>
            <a:r>
              <a:rPr lang="en-US" altLang="zh-CN" sz="1800" dirty="0" err="1">
                <a:solidFill>
                  <a:srgbClr val="99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</a:t>
            </a:r>
            <a:r>
              <a:rPr lang="en-US" altLang="zh-CN" sz="1800" dirty="0">
                <a:solidFill>
                  <a:srgbClr val="99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n)</a:t>
            </a:r>
          </a:p>
          <a:p>
            <a:pPr algn="l">
              <a:lnSpc>
                <a:spcPct val="1500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i,maxSum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=0,thisSum=0;</a:t>
            </a:r>
          </a:p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for (i=0;i&lt;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n;i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++)</a:t>
            </a:r>
          </a:p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thisSum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+=a[i];</a:t>
            </a:r>
          </a:p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if (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thisSum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&lt;0) </a:t>
            </a:r>
            <a:r>
              <a:rPr lang="en-US" altLang="zh-CN" sz="1800" dirty="0">
                <a:solidFill>
                  <a:schemeClr val="bg2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 dirty="0">
                <a:solidFill>
                  <a:schemeClr val="bg2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若当前子序列和为负数，重新开始下一子序列</a:t>
            </a:r>
          </a:p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　　　　　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thisSum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=0;</a:t>
            </a:r>
          </a:p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if (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maxSum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&lt;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thisSum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   </a:t>
            </a:r>
            <a:r>
              <a:rPr lang="en-US" altLang="zh-CN" sz="1800" dirty="0">
                <a:solidFill>
                  <a:schemeClr val="bg2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 dirty="0">
                <a:solidFill>
                  <a:schemeClr val="bg2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比较求最大连续子序列和</a:t>
            </a:r>
          </a:p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　　　　　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maxSum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thisSum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;</a:t>
            </a:r>
          </a:p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</a:p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return 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maxSum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;</a:t>
            </a:r>
          </a:p>
          <a:p>
            <a:pPr algn="l">
              <a:lnSpc>
                <a:spcPct val="1500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</a:p>
        </p:txBody>
      </p:sp>
      <p:sp>
        <p:nvSpPr>
          <p:cNvPr id="171011" name="Text Box 3"/>
          <p:cNvSpPr txBox="1">
            <a:spLocks noChangeArrowheads="1"/>
          </p:cNvSpPr>
          <p:nvPr/>
        </p:nvSpPr>
        <p:spPr bwMode="auto">
          <a:xfrm>
            <a:off x="694457" y="6298023"/>
            <a:ext cx="10464800" cy="400110"/>
          </a:xfrm>
          <a:prstGeom prst="rect">
            <a:avLst/>
          </a:prstGeom>
          <a:noFill/>
          <a:ln w="5715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显然该算法中仅扫描</a:t>
            </a:r>
            <a:r>
              <a:rPr lang="en-US" altLang="zh-CN" sz="2000" b="1" i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a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一次，其算法的时间复杂度为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O(</a:t>
            </a:r>
            <a:r>
              <a:rPr lang="en-US" altLang="zh-CN" sz="2000" b="1" i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en-US" altLang="zh-CN" sz="2000" b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)</a:t>
            </a:r>
            <a:r>
              <a:rPr lang="zh-CN" altLang="en-US" sz="2000" b="1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8983825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82295" y="1208405"/>
            <a:ext cx="7994650" cy="230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zh-CN" sz="2200" dirty="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    </a:t>
            </a:r>
            <a:r>
              <a:rPr lang="zh-CN" altLang="zh-CN" sz="2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【问题描述】</a:t>
            </a:r>
            <a:r>
              <a:rPr lang="zh-CN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有一个</a:t>
            </a:r>
            <a:r>
              <a:rPr lang="en-US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2</a:t>
            </a:r>
            <a:r>
              <a:rPr lang="en-US" altLang="zh-CN" sz="2400" i="1" baseline="300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k</a:t>
            </a:r>
            <a:r>
              <a:rPr lang="zh-CN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×</a:t>
            </a:r>
            <a:r>
              <a:rPr lang="en-US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2</a:t>
            </a:r>
            <a:r>
              <a:rPr lang="en-US" altLang="zh-CN" sz="2400" i="1" baseline="300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k</a:t>
            </a:r>
            <a:r>
              <a:rPr lang="zh-CN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（</a:t>
            </a:r>
            <a:r>
              <a:rPr lang="en-US" altLang="zh-CN" sz="2400" i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k</a:t>
            </a:r>
            <a:r>
              <a:rPr lang="en-US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&gt;0</a:t>
            </a:r>
            <a:r>
              <a:rPr lang="zh-CN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）的棋盘，恰好有一个方格与其他方格不同，称之为特殊方格。现在要用如</a:t>
            </a:r>
            <a:r>
              <a:rPr lang="zh-CN" altLang="en-US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下</a:t>
            </a:r>
            <a:r>
              <a:rPr lang="zh-CN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的</a:t>
            </a:r>
            <a:r>
              <a:rPr lang="en-US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L</a:t>
            </a:r>
            <a:r>
              <a:rPr lang="zh-CN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型骨牌覆盖除了特殊方格外的其他全部方格，骨牌可以任意旋转，并且任何两个骨牌不能重叠。请给出一种覆盖方法。</a:t>
            </a:r>
          </a:p>
        </p:txBody>
      </p:sp>
      <p:pic>
        <p:nvPicPr>
          <p:cNvPr id="4" name="图片 3" descr="http://115.28.138.223/RequireFile.do?fid=DNHB9nN9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67699" y="3428686"/>
            <a:ext cx="1524011" cy="1071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基础扎实 / Strong Preparation">
            <a:extLst>
              <a:ext uri="{FF2B5EF4-FFF2-40B4-BE49-F238E27FC236}">
                <a16:creationId xmlns:a16="http://schemas.microsoft.com/office/drawing/2014/main" id="{A78ED71E-F3DD-0B5D-F23E-A735425112B7}"/>
              </a:ext>
            </a:extLst>
          </p:cNvPr>
          <p:cNvSpPr txBox="1"/>
          <p:nvPr/>
        </p:nvSpPr>
        <p:spPr>
          <a:xfrm>
            <a:off x="2603627" y="367980"/>
            <a:ext cx="5870237" cy="561660"/>
          </a:xfrm>
          <a:prstGeom prst="rect">
            <a:avLst/>
          </a:prstGeom>
          <a:noFill/>
          <a:ln>
            <a:noFill/>
          </a:ln>
        </p:spPr>
        <p:txBody>
          <a:bodyPr wrap="square" lIns="68549" tIns="34274" rIns="68549" bIns="34274" rtlCol="0">
            <a:spAutoFit/>
          </a:bodyPr>
          <a:lstStyle/>
          <a:p>
            <a:pPr algn="ctr" defTabSz="950595">
              <a:buClr>
                <a:prstClr val="white"/>
              </a:buClr>
              <a:buSzTx/>
              <a:buFontTx/>
              <a:defRPr/>
            </a:pPr>
            <a:r>
              <a:rPr lang="zh-CN" altLang="en-US" sz="3200" b="1" spc="50" dirty="0">
                <a:ln w="11430"/>
                <a:solidFill>
                  <a:srgbClr val="006600"/>
                </a:solidFill>
                <a:latin typeface="+mn-ea"/>
                <a:sym typeface="Arial" panose="020B0604020202020204" pitchFamily="34" charset="0"/>
              </a:rPr>
              <a:t>2.</a:t>
            </a:r>
            <a:r>
              <a:rPr lang="en-US" altLang="zh-CN" sz="3200" b="1" spc="50" dirty="0">
                <a:ln w="11430"/>
                <a:solidFill>
                  <a:srgbClr val="006600"/>
                </a:solidFill>
                <a:latin typeface="+mn-ea"/>
                <a:sym typeface="Arial" panose="020B0604020202020204" pitchFamily="34" charset="0"/>
              </a:rPr>
              <a:t>13</a:t>
            </a:r>
            <a:r>
              <a:rPr lang="zh-CN" altLang="en-US" sz="3200" b="1" spc="50" dirty="0">
                <a:ln w="11430"/>
                <a:solidFill>
                  <a:srgbClr val="006600"/>
                </a:solidFill>
                <a:latin typeface="+mn-ea"/>
                <a:sym typeface="Arial" panose="020B0604020202020204" pitchFamily="34" charset="0"/>
              </a:rPr>
              <a:t> 求解棋盘覆盖问题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1670" y="736600"/>
            <a:ext cx="8139430" cy="319278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zh-CN" altLang="zh-CN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【问题求解】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棋盘中的方格数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=2</a:t>
            </a:r>
            <a:r>
              <a:rPr lang="en-US" altLang="zh-CN" sz="2400" b="1" i="1" baseline="300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k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×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2</a:t>
            </a:r>
            <a:r>
              <a:rPr lang="en-US" altLang="zh-CN" sz="2400" b="1" i="1" baseline="300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k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=4</a:t>
            </a:r>
            <a:r>
              <a:rPr lang="en-US" altLang="zh-CN" sz="2400" b="1" i="1" baseline="300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k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，覆盖使用的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L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型骨牌个数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=(4</a:t>
            </a:r>
            <a:r>
              <a:rPr lang="en-US" altLang="zh-CN" sz="2400" b="1" i="1" baseline="300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k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-1)/3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。</a:t>
            </a:r>
            <a:endParaRPr lang="en-US" altLang="zh-CN" sz="24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    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采用的方法是：将棋盘划分为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4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个大小相同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4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个象限，根据特殊方格的位置</a:t>
            </a:r>
            <a:r>
              <a:rPr lang="zh-CN" altLang="zh-CN" sz="24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（</a:t>
            </a:r>
            <a:r>
              <a:rPr lang="en-US" altLang="zh-CN" sz="2400" b="1" dirty="0" err="1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dr</a:t>
            </a:r>
            <a:r>
              <a:rPr lang="zh-CN" altLang="zh-CN" sz="24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，</a:t>
            </a:r>
            <a:r>
              <a:rPr lang="en-US" altLang="zh-CN" sz="24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dc</a:t>
            </a:r>
            <a:r>
              <a:rPr lang="zh-CN" altLang="zh-CN" sz="24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）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，在中间位置放置一个合适的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L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型骨牌。</a:t>
            </a:r>
            <a:endParaRPr lang="en-US" altLang="zh-CN" sz="24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    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例如，如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下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图所示，特殊方格在左上角象限中，在中间放置一个覆盖其他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3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个象限中各一个方格的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L</a:t>
            </a:r>
            <a:r>
              <a:rPr lang="zh-CN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型骨牌。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77339" y="6237610"/>
            <a:ext cx="342902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Consolas" panose="020B0609020204030204" pitchFamily="49" charset="0"/>
              </a:rPr>
              <a:t>其他情况类似！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1729714" y="3981767"/>
            <a:ext cx="8477309" cy="2246325"/>
            <a:chOff x="1785918" y="3357562"/>
            <a:chExt cx="6357982" cy="2246325"/>
          </a:xfrm>
        </p:grpSpPr>
        <p:pic>
          <p:nvPicPr>
            <p:cNvPr id="261122" name="Picture 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500430" y="3357562"/>
              <a:ext cx="1590675" cy="1628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" name="TextBox 3"/>
            <p:cNvSpPr txBox="1"/>
            <p:nvPr/>
          </p:nvSpPr>
          <p:spPr>
            <a:xfrm>
              <a:off x="2928926" y="5143512"/>
              <a:ext cx="2928958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sz="2400" b="1" dirty="0">
                  <a:solidFill>
                    <a:srgbClr val="0000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Consolas" panose="020B0609020204030204" pitchFamily="49" charset="0"/>
                </a:rPr>
                <a:t>特殊方格在左上角象限</a:t>
              </a:r>
            </a:p>
          </p:txBody>
        </p:sp>
        <p:cxnSp>
          <p:nvCxnSpPr>
            <p:cNvPr id="7" name="直接箭头连接符 6"/>
            <p:cNvCxnSpPr/>
            <p:nvPr/>
          </p:nvCxnSpPr>
          <p:spPr>
            <a:xfrm>
              <a:off x="3143240" y="3786190"/>
              <a:ext cx="57150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1785918" y="3541482"/>
              <a:ext cx="1357322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sz="24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（</a:t>
              </a:r>
              <a:r>
                <a:rPr lang="en-US" altLang="zh-CN" sz="2400" dirty="0" err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dr</a:t>
              </a:r>
              <a:r>
                <a:rPr lang="zh-CN" altLang="zh-CN" sz="24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</a:t>
              </a:r>
              <a:r>
                <a:rPr lang="en-US" altLang="zh-CN" sz="24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dc</a:t>
              </a:r>
              <a:r>
                <a:rPr lang="zh-CN" altLang="zh-CN" sz="24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）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643570" y="3714752"/>
              <a:ext cx="250033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sz="2400" dirty="0">
                  <a:solidFill>
                    <a:srgbClr val="0000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微软雅黑" panose="020B0503020204020204" charset="-122"/>
                </a:rPr>
                <a:t>放置一个</a:t>
              </a:r>
              <a:r>
                <a:rPr lang="en-US" altLang="zh-CN" sz="2400" dirty="0">
                  <a:solidFill>
                    <a:srgbClr val="0000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微软雅黑" panose="020B0503020204020204" charset="-122"/>
                </a:rPr>
                <a:t>L</a:t>
              </a:r>
              <a:r>
                <a:rPr lang="zh-CN" altLang="zh-CN" sz="2400" dirty="0">
                  <a:solidFill>
                    <a:srgbClr val="0000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微软雅黑" panose="020B0503020204020204" charset="-122"/>
                </a:rPr>
                <a:t>型骨牌</a:t>
              </a:r>
            </a:p>
          </p:txBody>
        </p:sp>
        <p:cxnSp>
          <p:nvCxnSpPr>
            <p:cNvPr id="11" name="直接箭头连接符 10"/>
            <p:cNvCxnSpPr>
              <a:stCxn id="9" idx="1"/>
            </p:cNvCxnSpPr>
            <p:nvPr/>
          </p:nvCxnSpPr>
          <p:spPr>
            <a:xfrm rot="10800000" flipV="1">
              <a:off x="4572000" y="3945137"/>
              <a:ext cx="1071570" cy="17252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5643570" y="4357694"/>
              <a:ext cx="142876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sz="2400" dirty="0">
                  <a:solidFill>
                    <a:srgbClr val="0000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Consolas" panose="020B0609020204030204" pitchFamily="49" charset="0"/>
                </a:rPr>
                <a:t>中间位置</a:t>
              </a:r>
            </a:p>
          </p:txBody>
        </p:sp>
        <p:cxnSp>
          <p:nvCxnSpPr>
            <p:cNvPr id="14" name="直接箭头连接符 13"/>
            <p:cNvCxnSpPr/>
            <p:nvPr/>
          </p:nvCxnSpPr>
          <p:spPr>
            <a:xfrm rot="10800000">
              <a:off x="4286248" y="4214818"/>
              <a:ext cx="1357322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4365" y="722630"/>
            <a:ext cx="8075295" cy="212019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3200"/>
              </a:lnSpc>
            </a:pPr>
            <a:r>
              <a:rPr lang="en-US" altLang="zh-CN" sz="22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lang="zh-CN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用</a:t>
            </a:r>
            <a:r>
              <a:rPr lang="zh-CN" altLang="zh-CN" sz="22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（</a:t>
            </a:r>
            <a:r>
              <a:rPr lang="en-US" altLang="zh-CN" sz="22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tr</a:t>
            </a:r>
            <a:r>
              <a:rPr lang="zh-CN" altLang="zh-CN" sz="22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，</a:t>
            </a:r>
            <a:r>
              <a:rPr lang="en-US" altLang="zh-CN" sz="2200" b="1" dirty="0" err="1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tc</a:t>
            </a:r>
            <a:r>
              <a:rPr lang="zh-CN" altLang="zh-CN" sz="22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）</a:t>
            </a:r>
            <a:r>
              <a:rPr lang="zh-CN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表示一个象限左上角方格的坐标，</a:t>
            </a:r>
            <a:r>
              <a:rPr lang="zh-CN" altLang="zh-CN" sz="22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（</a:t>
            </a:r>
            <a:r>
              <a:rPr lang="en-US" altLang="zh-CN" sz="2200" b="1" dirty="0" err="1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dr</a:t>
            </a:r>
            <a:r>
              <a:rPr lang="zh-CN" altLang="zh-CN" sz="22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，</a:t>
            </a:r>
            <a:r>
              <a:rPr lang="en-US" altLang="zh-CN" sz="22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dc</a:t>
            </a:r>
            <a:r>
              <a:rPr lang="zh-CN" altLang="zh-CN" sz="22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）</a:t>
            </a:r>
            <a:r>
              <a:rPr lang="zh-CN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是特殊方格所在的坐标，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size</a:t>
            </a:r>
            <a:r>
              <a:rPr lang="zh-CN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是棋盘的行数和列数。</a:t>
            </a:r>
            <a:endParaRPr lang="en-US" altLang="zh-CN" sz="22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  <a:p>
            <a:pPr>
              <a:lnSpc>
                <a:spcPts val="3200"/>
              </a:lnSpc>
            </a:pP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     </a:t>
            </a:r>
            <a:r>
              <a:rPr lang="zh-CN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用二维数组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board</a:t>
            </a:r>
            <a:r>
              <a:rPr lang="zh-CN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存放覆盖方案，用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tile</a:t>
            </a:r>
            <a:r>
              <a:rPr lang="zh-CN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全局变量表示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L</a:t>
            </a:r>
            <a:r>
              <a:rPr lang="zh-CN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型骨牌的编号（从整数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1</a:t>
            </a:r>
            <a:r>
              <a:rPr lang="zh-CN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开始），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board</a:t>
            </a:r>
            <a:r>
              <a:rPr lang="zh-CN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中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3</a:t>
            </a:r>
            <a:r>
              <a:rPr lang="zh-CN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个相同的整数表示一个</a:t>
            </a:r>
            <a:r>
              <a:rPr lang="en-US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L</a:t>
            </a:r>
            <a:r>
              <a:rPr lang="zh-CN" altLang="zh-CN" sz="22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型骨牌。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4365" y="3100070"/>
            <a:ext cx="8074660" cy="2852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80000" tIns="180000" bIns="180000" rtlCol="0">
            <a:spAutoFit/>
          </a:bodyPr>
          <a:lstStyle/>
          <a:p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#include&lt;stdio.h&gt;</a:t>
            </a:r>
            <a:endParaRPr lang="zh-CN" altLang="zh-CN" sz="1800" dirty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#define MAX 1025</a:t>
            </a:r>
            <a:endParaRPr lang="zh-CN" altLang="zh-CN" sz="1800" dirty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zh-CN" sz="1800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问题表示</a:t>
            </a:r>
          </a:p>
          <a:p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int k;				</a:t>
            </a:r>
            <a:r>
              <a:rPr lang="en-US" altLang="zh-CN" sz="1800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zh-CN" sz="1800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棋盘大小</a:t>
            </a:r>
          </a:p>
          <a:p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int </a:t>
            </a:r>
            <a:r>
              <a:rPr lang="en-US" altLang="zh-CN" sz="1800" dirty="0" err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x,y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;			</a:t>
            </a:r>
            <a:r>
              <a:rPr lang="en-US" altLang="zh-CN" sz="1800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zh-CN" sz="1800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特殊方格的位置</a:t>
            </a:r>
          </a:p>
          <a:p>
            <a:pPr>
              <a:lnSpc>
                <a:spcPct val="200000"/>
              </a:lnSpc>
            </a:pPr>
            <a:r>
              <a:rPr lang="en-US" altLang="zh-CN" sz="1800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zh-CN" sz="1800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求解问题表示</a:t>
            </a:r>
          </a:p>
          <a:p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int board[MAX][MAX];</a:t>
            </a:r>
            <a:endParaRPr lang="zh-CN" altLang="zh-CN" sz="1800" dirty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int tile=1;		</a:t>
            </a:r>
            <a:endParaRPr lang="zh-CN" altLang="en-US" sz="1800" dirty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9837" y="1101839"/>
            <a:ext cx="9074869" cy="55206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80000" tIns="180000" bIns="180000" rtlCol="0">
            <a:noAutofit/>
          </a:bodyPr>
          <a:lstStyle/>
          <a:p>
            <a:pPr indent="0" fontAlgn="auto">
              <a:lnSpc>
                <a:spcPts val="20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void </a:t>
            </a:r>
            <a:r>
              <a:rPr lang="en-US" altLang="zh-CN" sz="1800" dirty="0" err="1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ChessBoard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(int </a:t>
            </a:r>
            <a:r>
              <a:rPr lang="en-US" altLang="zh-CN" sz="1800" dirty="0" err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tr,int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</a:t>
            </a:r>
            <a:r>
              <a:rPr lang="en-US" altLang="zh-CN" sz="1800" dirty="0" err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tc,int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</a:t>
            </a:r>
            <a:r>
              <a:rPr lang="en-US" altLang="zh-CN" sz="1800" dirty="0" err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dr,int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</a:t>
            </a:r>
            <a:r>
              <a:rPr lang="en-US" altLang="zh-CN" sz="1800" dirty="0" err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dc,int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size)</a:t>
            </a:r>
            <a:endParaRPr lang="zh-CN" altLang="zh-CN" sz="1800" dirty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pPr indent="0" fontAlgn="auto">
              <a:lnSpc>
                <a:spcPts val="20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{   if(size==1) return;		</a:t>
            </a:r>
            <a:r>
              <a:rPr lang="en-US" altLang="zh-CN" sz="1800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zh-CN" sz="1800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递归出口</a:t>
            </a:r>
          </a:p>
          <a:p>
            <a:pPr indent="0" fontAlgn="auto">
              <a:lnSpc>
                <a:spcPts val="20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int t=tile++;			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取一个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L</a:t>
            </a:r>
            <a:r>
              <a:rPr lang="zh-CN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型骨，其牌号为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tile</a:t>
            </a:r>
            <a:endParaRPr lang="zh-CN" altLang="zh-CN" b="1" dirty="0">
              <a:solidFill>
                <a:srgbClr val="FF0000"/>
              </a:solidFill>
              <a:latin typeface="+mn-ea"/>
              <a:cs typeface="Consolas" panose="020B0609020204030204" pitchFamily="49" charset="0"/>
            </a:endParaRPr>
          </a:p>
          <a:p>
            <a:pPr indent="0" fontAlgn="auto">
              <a:lnSpc>
                <a:spcPts val="20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int s=size/2;			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分割棋盘</a:t>
            </a:r>
          </a:p>
          <a:p>
            <a:pPr indent="0" fontAlgn="auto">
              <a:lnSpc>
                <a:spcPts val="20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考虑左上角象限</a:t>
            </a:r>
          </a:p>
          <a:p>
            <a:pPr indent="0" fontAlgn="auto">
              <a:lnSpc>
                <a:spcPts val="20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if(</a:t>
            </a:r>
            <a:r>
              <a:rPr lang="en-US" altLang="zh-CN" sz="1800" dirty="0" err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dr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&lt;</a:t>
            </a:r>
            <a:r>
              <a:rPr lang="en-US" altLang="zh-CN" sz="1800" dirty="0" err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tr+s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&amp;&amp; dc&lt;</a:t>
            </a:r>
            <a:r>
              <a:rPr lang="en-US" altLang="zh-CN" sz="1800" dirty="0" err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tc+s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)		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特殊方格在此象限中</a:t>
            </a:r>
          </a:p>
          <a:p>
            <a:pPr indent="0" fontAlgn="auto">
              <a:lnSpc>
                <a:spcPts val="20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	</a:t>
            </a:r>
            <a:r>
              <a:rPr lang="en-US" altLang="zh-CN" sz="1800" dirty="0" err="1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ChessBoard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(</a:t>
            </a:r>
            <a:r>
              <a:rPr lang="en-US" altLang="zh-CN" sz="1800" dirty="0" err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tr,tc,dr,dc,s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);</a:t>
            </a:r>
            <a:endParaRPr lang="zh-CN" altLang="zh-CN" sz="1800" dirty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pPr indent="0" fontAlgn="auto">
              <a:lnSpc>
                <a:spcPts val="20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else				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此象限中无特殊方格</a:t>
            </a:r>
          </a:p>
          <a:p>
            <a:pPr indent="0" fontAlgn="auto">
              <a:lnSpc>
                <a:spcPts val="20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{	board[tr+s-1][tc+s-1]=t;	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用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t</a:t>
            </a:r>
            <a:r>
              <a:rPr lang="zh-CN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号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L</a:t>
            </a:r>
            <a:r>
              <a:rPr lang="zh-CN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型骨牌覆盖右下角</a:t>
            </a:r>
          </a:p>
          <a:p>
            <a:pPr indent="0" fontAlgn="auto">
              <a:lnSpc>
                <a:spcPts val="20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	</a:t>
            </a:r>
            <a:r>
              <a:rPr lang="en-US" altLang="zh-CN" sz="1800" dirty="0" err="1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ChessBoard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(tr,tc,tr+s-1,tc+s-1,s);	</a:t>
            </a:r>
          </a:p>
          <a:p>
            <a:pPr indent="0" fontAlgn="auto">
              <a:lnSpc>
                <a:spcPts val="20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				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将右下角作为特殊方格继续处理该象限</a:t>
            </a:r>
          </a:p>
          <a:p>
            <a:pPr indent="0" fontAlgn="auto">
              <a:lnSpc>
                <a:spcPts val="20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}</a:t>
            </a:r>
            <a:endParaRPr lang="zh-CN" altLang="zh-CN" sz="1800" dirty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pPr indent="0" fontAlgn="auto">
              <a:lnSpc>
                <a:spcPts val="20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</a:t>
            </a:r>
            <a:r>
              <a:rPr lang="en-US" altLang="zh-CN" sz="1800" dirty="0">
                <a:solidFill>
                  <a:srgbClr val="99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//</a:t>
            </a:r>
            <a:r>
              <a:rPr lang="zh-CN" altLang="zh-CN" sz="1800" dirty="0">
                <a:solidFill>
                  <a:srgbClr val="99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考虑右上角象限</a:t>
            </a:r>
          </a:p>
          <a:p>
            <a:pPr indent="0" fontAlgn="auto">
              <a:lnSpc>
                <a:spcPts val="20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if(</a:t>
            </a:r>
            <a:r>
              <a:rPr lang="en-US" altLang="zh-CN" sz="1800" dirty="0" err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dr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&lt;</a:t>
            </a:r>
            <a:r>
              <a:rPr lang="en-US" altLang="zh-CN" sz="1800" dirty="0" err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tr+s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&amp;&amp; dc&gt;=</a:t>
            </a:r>
            <a:r>
              <a:rPr lang="en-US" altLang="zh-CN" sz="1800" dirty="0" err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tc+s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)  </a:t>
            </a:r>
            <a:endParaRPr lang="zh-CN" altLang="zh-CN" sz="1800" dirty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pPr indent="0" fontAlgn="auto">
              <a:lnSpc>
                <a:spcPts val="20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	</a:t>
            </a:r>
            <a:r>
              <a:rPr lang="en-US" altLang="zh-CN" sz="1800" dirty="0" err="1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ChessBoard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(</a:t>
            </a:r>
            <a:r>
              <a:rPr lang="en-US" altLang="zh-CN" sz="1800" dirty="0" err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tr,tc+s,dr,dc,s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);		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特殊方格在此象限中 </a:t>
            </a:r>
          </a:p>
          <a:p>
            <a:pPr indent="0" fontAlgn="auto">
              <a:lnSpc>
                <a:spcPts val="20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else					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此象限中无特殊方格</a:t>
            </a:r>
          </a:p>
          <a:p>
            <a:pPr indent="0" fontAlgn="auto">
              <a:lnSpc>
                <a:spcPts val="20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{	board[tr+s-1][</a:t>
            </a:r>
            <a:r>
              <a:rPr lang="en-US" altLang="zh-CN" sz="1800" dirty="0" err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tc+s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]=t;		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用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t</a:t>
            </a:r>
            <a:r>
              <a:rPr lang="zh-CN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号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L</a:t>
            </a:r>
            <a:r>
              <a:rPr lang="zh-CN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型骨牌覆盖左下角</a:t>
            </a:r>
          </a:p>
          <a:p>
            <a:pPr indent="0" fontAlgn="auto">
              <a:lnSpc>
                <a:spcPts val="20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	</a:t>
            </a:r>
            <a:r>
              <a:rPr lang="en-US" altLang="zh-CN" sz="1800" dirty="0" err="1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ChessBoard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(tr,tc+s,tr+s-1,tc+s,s);  	</a:t>
            </a:r>
          </a:p>
          <a:p>
            <a:pPr indent="0" fontAlgn="auto">
              <a:lnSpc>
                <a:spcPts val="20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				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将左下角作为特殊方格继续处理该象限</a:t>
            </a:r>
          </a:p>
          <a:p>
            <a:pPr indent="0" fontAlgn="auto">
              <a:lnSpc>
                <a:spcPts val="20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}</a:t>
            </a:r>
            <a:endParaRPr lang="zh-CN" altLang="zh-CN" sz="1800" dirty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9929" y="1163644"/>
            <a:ext cx="8360649" cy="53898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80000" tIns="180000" bIns="180000" rtlCol="0">
            <a:noAutofit/>
          </a:bodyPr>
          <a:lstStyle/>
          <a:p>
            <a:r>
              <a:rPr lang="en-US" altLang="zh-CN" sz="1800" dirty="0">
                <a:solidFill>
                  <a:srgbClr val="99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</a:t>
            </a:r>
            <a:r>
              <a:rPr lang="en-US" altLang="zh-CN" sz="1800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zh-CN" sz="1800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处理左下角象限</a:t>
            </a:r>
          </a:p>
          <a:p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if(</a:t>
            </a:r>
            <a:r>
              <a:rPr lang="en-US" altLang="zh-CN" sz="1800" dirty="0" err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dr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&gt;=</a:t>
            </a:r>
            <a:r>
              <a:rPr lang="en-US" altLang="zh-CN" sz="1800" dirty="0" err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tr+s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&amp;&amp; dc&lt;</a:t>
            </a:r>
            <a:r>
              <a:rPr lang="en-US" altLang="zh-CN" sz="1800" dirty="0" err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tc+s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)		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特殊方格在此象限中</a:t>
            </a:r>
          </a:p>
          <a:p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	</a:t>
            </a:r>
            <a:r>
              <a:rPr lang="en-US" altLang="zh-CN" sz="1800" dirty="0" err="1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ChessBoard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(</a:t>
            </a:r>
            <a:r>
              <a:rPr lang="en-US" altLang="zh-CN" sz="1800" dirty="0" err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tr+s,tc,dr,dc,s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);  </a:t>
            </a:r>
            <a:endParaRPr lang="zh-CN" altLang="zh-CN" sz="1800" dirty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else				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此象限中无特殊方格</a:t>
            </a:r>
          </a:p>
          <a:p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{   board[</a:t>
            </a:r>
            <a:r>
              <a:rPr lang="en-US" altLang="zh-CN" sz="1800" dirty="0" err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tr+s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][tc+s-1]=t;  	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用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t</a:t>
            </a:r>
            <a:r>
              <a:rPr lang="zh-CN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号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L</a:t>
            </a:r>
            <a:r>
              <a:rPr lang="zh-CN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型骨牌覆盖右上角</a:t>
            </a:r>
          </a:p>
          <a:p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  </a:t>
            </a:r>
            <a:r>
              <a:rPr lang="en-US" altLang="zh-CN" sz="1800" dirty="0" err="1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ChessBoard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(tr+s,tc,tr+s,tc+s-1,s);</a:t>
            </a:r>
          </a:p>
          <a:p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				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将右上角作为特殊方格继续处理该象限</a:t>
            </a:r>
          </a:p>
          <a:p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}</a:t>
            </a:r>
            <a:endParaRPr lang="zh-CN" altLang="zh-CN" sz="1800" dirty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dirty="0">
                <a:solidFill>
                  <a:srgbClr val="99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处理右下角象限</a:t>
            </a:r>
          </a:p>
          <a:p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if(</a:t>
            </a:r>
            <a:r>
              <a:rPr lang="en-US" altLang="zh-CN" sz="1800" dirty="0" err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dr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&gt;=</a:t>
            </a:r>
            <a:r>
              <a:rPr lang="en-US" altLang="zh-CN" sz="1800" dirty="0" err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tr+s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&amp;&amp; dc&gt;=</a:t>
            </a:r>
            <a:r>
              <a:rPr lang="en-US" altLang="zh-CN" sz="1800" dirty="0" err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tc+s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)		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特殊方格在此象限中</a:t>
            </a:r>
            <a:endParaRPr lang="en-US" altLang="zh-CN" b="1" dirty="0">
              <a:solidFill>
                <a:srgbClr val="FF0000"/>
              </a:solidFill>
              <a:latin typeface="+mn-ea"/>
              <a:cs typeface="Consolas" panose="020B0609020204030204" pitchFamily="49" charset="0"/>
            </a:endParaRPr>
          </a:p>
          <a:p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    </a:t>
            </a:r>
            <a:r>
              <a:rPr lang="en-US" altLang="zh-CN" sz="1800" dirty="0" err="1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ChessBoard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(</a:t>
            </a:r>
            <a:r>
              <a:rPr lang="en-US" altLang="zh-CN" sz="1800" dirty="0" err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tr+s,tc+s,dr,dc,s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); </a:t>
            </a:r>
            <a:endParaRPr lang="zh-CN" altLang="zh-CN" sz="1800" dirty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else				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此象限中无特殊方格</a:t>
            </a:r>
          </a:p>
          <a:p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{	board[</a:t>
            </a:r>
            <a:r>
              <a:rPr lang="en-US" altLang="zh-CN" sz="1800" dirty="0" err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tr+s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][</a:t>
            </a:r>
            <a:r>
              <a:rPr lang="en-US" altLang="zh-CN" sz="1800" dirty="0" err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tc+s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]=t;  	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用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t</a:t>
            </a:r>
            <a:r>
              <a:rPr lang="zh-CN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号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L</a:t>
            </a:r>
            <a:r>
              <a:rPr lang="zh-CN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型骨牌覆盖左上角</a:t>
            </a:r>
          </a:p>
          <a:p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	</a:t>
            </a:r>
            <a:r>
              <a:rPr lang="en-US" altLang="zh-CN" sz="1800" dirty="0" err="1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ChessBoard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(</a:t>
            </a:r>
            <a:r>
              <a:rPr lang="en-US" altLang="zh-CN" sz="1800" dirty="0" err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tr+s,tc+s,tr+s,tc+s,s</a:t>
            </a:r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);  	</a:t>
            </a:r>
          </a:p>
          <a:p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				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//</a:t>
            </a:r>
            <a:r>
              <a:rPr lang="zh-CN" altLang="zh-CN" b="1" dirty="0">
                <a:solidFill>
                  <a:srgbClr val="FF0000"/>
                </a:solidFill>
                <a:latin typeface="+mn-ea"/>
                <a:cs typeface="Consolas" panose="020B0609020204030204" pitchFamily="49" charset="0"/>
              </a:rPr>
              <a:t>将左上角作为特殊方格继续处理该象限</a:t>
            </a:r>
          </a:p>
          <a:p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    }</a:t>
            </a:r>
            <a:endParaRPr lang="zh-CN" altLang="zh-CN" sz="1800" dirty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  <a:p>
            <a:r>
              <a:rPr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pitchFamily="49" charset="-122"/>
                <a:cs typeface="Consolas" panose="020B0609020204030204" pitchFamily="49" charset="0"/>
              </a:rPr>
              <a:t>}</a:t>
            </a:r>
            <a:endParaRPr lang="zh-CN" altLang="zh-CN" sz="1800" dirty="0">
              <a:solidFill>
                <a:srgbClr val="0000FF"/>
              </a:solidFill>
              <a:latin typeface="Consolas" panose="020B0609020204030204" pitchFamily="49" charset="0"/>
              <a:ea typeface="仿宋" panose="02010609060101010101" pitchFamily="49" charset="-122"/>
              <a:cs typeface="Consolas" panose="020B0609020204030204" pitchFamily="49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3868" y="664825"/>
            <a:ext cx="1809763" cy="43088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200" i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=3</a:t>
            </a:r>
            <a:r>
              <a:rPr lang="zh-CN" altLang="en-US" sz="22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，</a:t>
            </a:r>
            <a:r>
              <a:rPr lang="en-US" altLang="zh-CN" sz="2200" i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=2</a:t>
            </a:r>
            <a:r>
              <a:rPr lang="en-US" altLang="zh-CN" sz="2200" baseline="30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=8</a:t>
            </a:r>
            <a:endParaRPr lang="zh-CN" altLang="en-US" sz="22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66953580"/>
              </p:ext>
            </p:extLst>
          </p:nvPr>
        </p:nvGraphicFramePr>
        <p:xfrm>
          <a:off x="1708156" y="1593516"/>
          <a:ext cx="6635768" cy="4072242"/>
        </p:xfrm>
        <a:graphic>
          <a:graphicData uri="http://schemas.openxmlformats.org/drawingml/2006/table">
            <a:tbl>
              <a:tblPr/>
              <a:tblGrid>
                <a:gridCol w="8294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94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94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94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94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94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947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947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09270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8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8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9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9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996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8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7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7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9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996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6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10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10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7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11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996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6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6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10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11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11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996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13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13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14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18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19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19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996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13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12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14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14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18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18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17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19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996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15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12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12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16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20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17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17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21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996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15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15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16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16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20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20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21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楷体" panose="02010609060101010101" pitchFamily="49" charset="-122"/>
                          <a:cs typeface="Consolas" panose="020B0609020204030204" pitchFamily="49" charset="0"/>
                        </a:rPr>
                        <a:t>21</a:t>
                      </a:r>
                    </a:p>
                  </a:txBody>
                  <a:tcPr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右弧形箭头 3"/>
          <p:cNvSpPr/>
          <p:nvPr/>
        </p:nvSpPr>
        <p:spPr>
          <a:xfrm>
            <a:off x="2724132" y="879138"/>
            <a:ext cx="381003" cy="642942"/>
          </a:xfrm>
          <a:prstGeom prst="curvedLef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1373472" y="3630431"/>
            <a:ext cx="7183120" cy="0"/>
          </a:xfrm>
          <a:prstGeom prst="line">
            <a:avLst/>
          </a:prstGeom>
          <a:ln>
            <a:solidFill>
              <a:srgbClr val="9900FF"/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H="1">
            <a:off x="5018464" y="1009746"/>
            <a:ext cx="5080" cy="4981575"/>
          </a:xfrm>
          <a:prstGeom prst="line">
            <a:avLst/>
          </a:prstGeom>
          <a:ln>
            <a:solidFill>
              <a:srgbClr val="9900FF"/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32476" y="642600"/>
            <a:ext cx="1809763" cy="43088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200" i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=3</a:t>
            </a:r>
            <a:r>
              <a:rPr lang="zh-CN" altLang="en-US" sz="22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，</a:t>
            </a:r>
            <a:r>
              <a:rPr lang="en-US" altLang="zh-CN" sz="2200" i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=2</a:t>
            </a:r>
            <a:r>
              <a:rPr lang="en-US" altLang="zh-CN" sz="2200" baseline="30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US" altLang="zh-CN" sz="22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=8</a:t>
            </a:r>
            <a:endParaRPr lang="zh-CN" altLang="en-US" sz="22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984983" y="1571612"/>
            <a:ext cx="666755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651737" y="1571612"/>
            <a:ext cx="666755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318492" y="1571612"/>
            <a:ext cx="666755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985247" y="1571612"/>
            <a:ext cx="666755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652001" y="1571612"/>
            <a:ext cx="666755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318756" y="1571612"/>
            <a:ext cx="666755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985511" y="1571612"/>
            <a:ext cx="666755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652265" y="1571612"/>
            <a:ext cx="666755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984983" y="2071678"/>
            <a:ext cx="666755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651737" y="2071678"/>
            <a:ext cx="666755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318492" y="2071678"/>
            <a:ext cx="666755" cy="500066"/>
          </a:xfrm>
          <a:prstGeom prst="rect">
            <a:avLst/>
          </a:prstGeom>
          <a:blipFill>
            <a:blip r:embed="rId4" cstate="print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985247" y="2071678"/>
            <a:ext cx="666755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652001" y="2071678"/>
            <a:ext cx="666755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318756" y="2071678"/>
            <a:ext cx="666755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985511" y="2071678"/>
            <a:ext cx="666755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652265" y="2071678"/>
            <a:ext cx="666755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984983" y="2571744"/>
            <a:ext cx="666755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651737" y="2571744"/>
            <a:ext cx="666755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3318492" y="2571744"/>
            <a:ext cx="666755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985247" y="2571744"/>
            <a:ext cx="666755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652001" y="2571744"/>
            <a:ext cx="666755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5318756" y="2571744"/>
            <a:ext cx="666755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5985511" y="2571744"/>
            <a:ext cx="666755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6652265" y="2571744"/>
            <a:ext cx="666755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984983" y="3071810"/>
            <a:ext cx="666755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2651737" y="3071810"/>
            <a:ext cx="666755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318492" y="3071810"/>
            <a:ext cx="666755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3985247" y="3071810"/>
            <a:ext cx="666755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652001" y="3071810"/>
            <a:ext cx="666755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5318756" y="3071810"/>
            <a:ext cx="666755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5985511" y="3071810"/>
            <a:ext cx="666755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6652265" y="3071810"/>
            <a:ext cx="666755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984983" y="3571876"/>
            <a:ext cx="666755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2651737" y="3571876"/>
            <a:ext cx="666755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3318492" y="3571876"/>
            <a:ext cx="666755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3985247" y="3571876"/>
            <a:ext cx="666755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4652001" y="3571876"/>
            <a:ext cx="666755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5318756" y="3571876"/>
            <a:ext cx="666755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5985511" y="3571876"/>
            <a:ext cx="666755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6652265" y="3571876"/>
            <a:ext cx="666755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1984983" y="4071942"/>
            <a:ext cx="666755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2651737" y="4071942"/>
            <a:ext cx="666755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3318492" y="4071942"/>
            <a:ext cx="666755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3985247" y="4071942"/>
            <a:ext cx="666755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4652001" y="4071942"/>
            <a:ext cx="666755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5318756" y="4071942"/>
            <a:ext cx="666755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5985511" y="4071942"/>
            <a:ext cx="666755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6652265" y="4071942"/>
            <a:ext cx="666755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1984983" y="4572008"/>
            <a:ext cx="666755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2651737" y="4572008"/>
            <a:ext cx="666755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3318492" y="4572008"/>
            <a:ext cx="666755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3985247" y="4572008"/>
            <a:ext cx="666755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4652001" y="4572008"/>
            <a:ext cx="666755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5318756" y="4572008"/>
            <a:ext cx="666755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5985511" y="4572008"/>
            <a:ext cx="666755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6652265" y="4572008"/>
            <a:ext cx="666755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984983" y="5072074"/>
            <a:ext cx="666755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2651737" y="5072074"/>
            <a:ext cx="666755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3318492" y="5072074"/>
            <a:ext cx="666755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3985247" y="5072074"/>
            <a:ext cx="666755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4652001" y="5072074"/>
            <a:ext cx="666755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5318756" y="5072074"/>
            <a:ext cx="666755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5985511" y="5072074"/>
            <a:ext cx="666755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6652265" y="5072074"/>
            <a:ext cx="666755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237" name="组合 236"/>
          <p:cNvGrpSpPr/>
          <p:nvPr/>
        </p:nvGrpSpPr>
        <p:grpSpPr>
          <a:xfrm>
            <a:off x="1984983" y="1571612"/>
            <a:ext cx="1333509" cy="1000132"/>
            <a:chOff x="5072066" y="1357298"/>
            <a:chExt cx="1000132" cy="1000132"/>
          </a:xfrm>
        </p:grpSpPr>
        <p:sp>
          <p:nvSpPr>
            <p:cNvPr id="238" name="矩形 237"/>
            <p:cNvSpPr/>
            <p:nvPr/>
          </p:nvSpPr>
          <p:spPr>
            <a:xfrm>
              <a:off x="5072066" y="1357298"/>
              <a:ext cx="500066" cy="50006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39" name="矩形 238"/>
            <p:cNvSpPr/>
            <p:nvPr/>
          </p:nvSpPr>
          <p:spPr>
            <a:xfrm>
              <a:off x="5572132" y="1357298"/>
              <a:ext cx="500066" cy="50006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40" name="矩形 239"/>
            <p:cNvSpPr/>
            <p:nvPr/>
          </p:nvSpPr>
          <p:spPr>
            <a:xfrm>
              <a:off x="5072066" y="1857364"/>
              <a:ext cx="500066" cy="50006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241" name="组合 240"/>
          <p:cNvGrpSpPr/>
          <p:nvPr/>
        </p:nvGrpSpPr>
        <p:grpSpPr>
          <a:xfrm>
            <a:off x="3318492" y="1571612"/>
            <a:ext cx="1333509" cy="1000132"/>
            <a:chOff x="6072198" y="1357298"/>
            <a:chExt cx="1000132" cy="1000132"/>
          </a:xfrm>
        </p:grpSpPr>
        <p:sp>
          <p:nvSpPr>
            <p:cNvPr id="242" name="矩形 241"/>
            <p:cNvSpPr/>
            <p:nvPr/>
          </p:nvSpPr>
          <p:spPr>
            <a:xfrm>
              <a:off x="6072198" y="1357298"/>
              <a:ext cx="500066" cy="500066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43" name="矩形 242"/>
            <p:cNvSpPr/>
            <p:nvPr/>
          </p:nvSpPr>
          <p:spPr>
            <a:xfrm>
              <a:off x="6572264" y="1357298"/>
              <a:ext cx="500066" cy="500066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44" name="矩形 243"/>
            <p:cNvSpPr/>
            <p:nvPr/>
          </p:nvSpPr>
          <p:spPr>
            <a:xfrm>
              <a:off x="6572264" y="1857364"/>
              <a:ext cx="500066" cy="500066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245" name="组合 244"/>
          <p:cNvGrpSpPr/>
          <p:nvPr/>
        </p:nvGrpSpPr>
        <p:grpSpPr>
          <a:xfrm>
            <a:off x="4652002" y="1571612"/>
            <a:ext cx="1333509" cy="1000132"/>
            <a:chOff x="7072330" y="1357298"/>
            <a:chExt cx="1000132" cy="1000132"/>
          </a:xfrm>
        </p:grpSpPr>
        <p:sp>
          <p:nvSpPr>
            <p:cNvPr id="246" name="矩形 245"/>
            <p:cNvSpPr/>
            <p:nvPr/>
          </p:nvSpPr>
          <p:spPr>
            <a:xfrm>
              <a:off x="7072330" y="1357298"/>
              <a:ext cx="500066" cy="500066"/>
            </a:xfrm>
            <a:prstGeom prst="rect">
              <a:avLst/>
            </a:prstGeom>
            <a:solidFill>
              <a:srgbClr val="3399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8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47" name="矩形 246"/>
            <p:cNvSpPr/>
            <p:nvPr/>
          </p:nvSpPr>
          <p:spPr>
            <a:xfrm>
              <a:off x="7572396" y="1357298"/>
              <a:ext cx="500066" cy="500066"/>
            </a:xfrm>
            <a:prstGeom prst="rect">
              <a:avLst/>
            </a:prstGeom>
            <a:solidFill>
              <a:srgbClr val="3399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8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48" name="矩形 247"/>
            <p:cNvSpPr/>
            <p:nvPr/>
          </p:nvSpPr>
          <p:spPr>
            <a:xfrm>
              <a:off x="7072330" y="1857364"/>
              <a:ext cx="500066" cy="500066"/>
            </a:xfrm>
            <a:prstGeom prst="rect">
              <a:avLst/>
            </a:prstGeom>
            <a:solidFill>
              <a:srgbClr val="3399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8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249" name="组合 248"/>
          <p:cNvGrpSpPr/>
          <p:nvPr/>
        </p:nvGrpSpPr>
        <p:grpSpPr>
          <a:xfrm>
            <a:off x="5985511" y="1571612"/>
            <a:ext cx="1333509" cy="1000132"/>
            <a:chOff x="8072462" y="1357298"/>
            <a:chExt cx="1000132" cy="1000132"/>
          </a:xfrm>
        </p:grpSpPr>
        <p:sp>
          <p:nvSpPr>
            <p:cNvPr id="250" name="矩形 249"/>
            <p:cNvSpPr/>
            <p:nvPr/>
          </p:nvSpPr>
          <p:spPr>
            <a:xfrm>
              <a:off x="8072462" y="1357298"/>
              <a:ext cx="500066" cy="500066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9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51" name="矩形 250"/>
            <p:cNvSpPr/>
            <p:nvPr/>
          </p:nvSpPr>
          <p:spPr>
            <a:xfrm>
              <a:off x="8572528" y="1357298"/>
              <a:ext cx="500066" cy="500066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9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52" name="矩形 251"/>
            <p:cNvSpPr/>
            <p:nvPr/>
          </p:nvSpPr>
          <p:spPr>
            <a:xfrm>
              <a:off x="8572528" y="1857364"/>
              <a:ext cx="500066" cy="500066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9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253" name="组合 252"/>
          <p:cNvGrpSpPr/>
          <p:nvPr/>
        </p:nvGrpSpPr>
        <p:grpSpPr>
          <a:xfrm>
            <a:off x="2651737" y="2071678"/>
            <a:ext cx="1333509" cy="1000132"/>
            <a:chOff x="5572132" y="1857364"/>
            <a:chExt cx="1000132" cy="1000132"/>
          </a:xfrm>
        </p:grpSpPr>
        <p:sp>
          <p:nvSpPr>
            <p:cNvPr id="254" name="矩形 253"/>
            <p:cNvSpPr/>
            <p:nvPr/>
          </p:nvSpPr>
          <p:spPr>
            <a:xfrm>
              <a:off x="5572132" y="1857364"/>
              <a:ext cx="500066" cy="500066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55" name="矩形 254"/>
            <p:cNvSpPr/>
            <p:nvPr/>
          </p:nvSpPr>
          <p:spPr>
            <a:xfrm>
              <a:off x="5572132" y="2357430"/>
              <a:ext cx="500066" cy="500066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56" name="矩形 255"/>
            <p:cNvSpPr/>
            <p:nvPr/>
          </p:nvSpPr>
          <p:spPr>
            <a:xfrm>
              <a:off x="6072198" y="2357430"/>
              <a:ext cx="500066" cy="500066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257" name="组合 256"/>
          <p:cNvGrpSpPr/>
          <p:nvPr/>
        </p:nvGrpSpPr>
        <p:grpSpPr>
          <a:xfrm>
            <a:off x="5318756" y="2071678"/>
            <a:ext cx="1333509" cy="1000132"/>
            <a:chOff x="7572396" y="1857364"/>
            <a:chExt cx="1000132" cy="1000132"/>
          </a:xfrm>
        </p:grpSpPr>
        <p:sp>
          <p:nvSpPr>
            <p:cNvPr id="258" name="矩形 257"/>
            <p:cNvSpPr/>
            <p:nvPr/>
          </p:nvSpPr>
          <p:spPr>
            <a:xfrm>
              <a:off x="7572396" y="1857364"/>
              <a:ext cx="500066" cy="500066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59" name="矩形 258"/>
            <p:cNvSpPr/>
            <p:nvPr/>
          </p:nvSpPr>
          <p:spPr>
            <a:xfrm>
              <a:off x="8072462" y="1857364"/>
              <a:ext cx="500066" cy="500066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60" name="矩形 259"/>
            <p:cNvSpPr/>
            <p:nvPr/>
          </p:nvSpPr>
          <p:spPr>
            <a:xfrm>
              <a:off x="8072462" y="2357430"/>
              <a:ext cx="500066" cy="500066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261" name="组合 260"/>
          <p:cNvGrpSpPr/>
          <p:nvPr/>
        </p:nvGrpSpPr>
        <p:grpSpPr>
          <a:xfrm>
            <a:off x="1984983" y="2571744"/>
            <a:ext cx="1333509" cy="1000132"/>
            <a:chOff x="5072066" y="2357430"/>
            <a:chExt cx="1000132" cy="1000132"/>
          </a:xfrm>
        </p:grpSpPr>
        <p:sp>
          <p:nvSpPr>
            <p:cNvPr id="262" name="矩形 261"/>
            <p:cNvSpPr/>
            <p:nvPr/>
          </p:nvSpPr>
          <p:spPr>
            <a:xfrm>
              <a:off x="5072066" y="2357430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63" name="矩形 262"/>
            <p:cNvSpPr/>
            <p:nvPr/>
          </p:nvSpPr>
          <p:spPr>
            <a:xfrm>
              <a:off x="5072066" y="2857496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64" name="矩形 263"/>
            <p:cNvSpPr/>
            <p:nvPr/>
          </p:nvSpPr>
          <p:spPr>
            <a:xfrm>
              <a:off x="5572132" y="2857496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265" name="组合 264"/>
          <p:cNvGrpSpPr/>
          <p:nvPr/>
        </p:nvGrpSpPr>
        <p:grpSpPr>
          <a:xfrm>
            <a:off x="3318492" y="2571744"/>
            <a:ext cx="1333509" cy="1000132"/>
            <a:chOff x="6072198" y="2357430"/>
            <a:chExt cx="1000132" cy="1000132"/>
          </a:xfrm>
        </p:grpSpPr>
        <p:sp>
          <p:nvSpPr>
            <p:cNvPr id="266" name="矩形 265"/>
            <p:cNvSpPr/>
            <p:nvPr/>
          </p:nvSpPr>
          <p:spPr>
            <a:xfrm>
              <a:off x="6572264" y="2357430"/>
              <a:ext cx="500066" cy="500066"/>
            </a:xfrm>
            <a:prstGeom prst="rect">
              <a:avLst/>
            </a:prstGeom>
            <a:solidFill>
              <a:srgbClr val="FF33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67" name="矩形 266"/>
            <p:cNvSpPr/>
            <p:nvPr/>
          </p:nvSpPr>
          <p:spPr>
            <a:xfrm>
              <a:off x="6072198" y="2857496"/>
              <a:ext cx="500066" cy="500066"/>
            </a:xfrm>
            <a:prstGeom prst="rect">
              <a:avLst/>
            </a:prstGeom>
            <a:solidFill>
              <a:srgbClr val="FF33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68" name="矩形 267"/>
            <p:cNvSpPr/>
            <p:nvPr/>
          </p:nvSpPr>
          <p:spPr>
            <a:xfrm>
              <a:off x="6572264" y="2857496"/>
              <a:ext cx="500066" cy="500066"/>
            </a:xfrm>
            <a:prstGeom prst="rect">
              <a:avLst/>
            </a:prstGeom>
            <a:solidFill>
              <a:srgbClr val="FF33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269" name="组合 268"/>
          <p:cNvGrpSpPr/>
          <p:nvPr/>
        </p:nvGrpSpPr>
        <p:grpSpPr>
          <a:xfrm>
            <a:off x="4652002" y="2571744"/>
            <a:ext cx="1333509" cy="1000132"/>
            <a:chOff x="7072330" y="2357430"/>
            <a:chExt cx="1000132" cy="1000132"/>
          </a:xfrm>
        </p:grpSpPr>
        <p:sp>
          <p:nvSpPr>
            <p:cNvPr id="270" name="矩形 269"/>
            <p:cNvSpPr/>
            <p:nvPr/>
          </p:nvSpPr>
          <p:spPr>
            <a:xfrm>
              <a:off x="7072330" y="2357430"/>
              <a:ext cx="500066" cy="50006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10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71" name="矩形 270"/>
            <p:cNvSpPr/>
            <p:nvPr/>
          </p:nvSpPr>
          <p:spPr>
            <a:xfrm>
              <a:off x="7572396" y="2357430"/>
              <a:ext cx="500066" cy="50006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10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72" name="矩形 271"/>
            <p:cNvSpPr/>
            <p:nvPr/>
          </p:nvSpPr>
          <p:spPr>
            <a:xfrm>
              <a:off x="7572396" y="2857496"/>
              <a:ext cx="500066" cy="50006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10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273" name="组合 272"/>
          <p:cNvGrpSpPr/>
          <p:nvPr/>
        </p:nvGrpSpPr>
        <p:grpSpPr>
          <a:xfrm>
            <a:off x="5985511" y="2571744"/>
            <a:ext cx="1333509" cy="1000132"/>
            <a:chOff x="8072462" y="2357430"/>
            <a:chExt cx="1000132" cy="1000132"/>
          </a:xfrm>
        </p:grpSpPr>
        <p:sp>
          <p:nvSpPr>
            <p:cNvPr id="274" name="矩形 273"/>
            <p:cNvSpPr/>
            <p:nvPr/>
          </p:nvSpPr>
          <p:spPr>
            <a:xfrm>
              <a:off x="8572528" y="2357430"/>
              <a:ext cx="500066" cy="500066"/>
            </a:xfrm>
            <a:prstGeom prst="rect">
              <a:avLst/>
            </a:prstGeom>
            <a:solidFill>
              <a:srgbClr val="3399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11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75" name="矩形 274"/>
            <p:cNvSpPr/>
            <p:nvPr/>
          </p:nvSpPr>
          <p:spPr>
            <a:xfrm>
              <a:off x="8072462" y="2857496"/>
              <a:ext cx="500066" cy="500066"/>
            </a:xfrm>
            <a:prstGeom prst="rect">
              <a:avLst/>
            </a:prstGeom>
            <a:solidFill>
              <a:srgbClr val="3399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11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76" name="矩形 275"/>
            <p:cNvSpPr/>
            <p:nvPr/>
          </p:nvSpPr>
          <p:spPr>
            <a:xfrm>
              <a:off x="8572528" y="2857496"/>
              <a:ext cx="500066" cy="500066"/>
            </a:xfrm>
            <a:prstGeom prst="rect">
              <a:avLst/>
            </a:prstGeom>
            <a:solidFill>
              <a:srgbClr val="3399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11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277" name="组合 276"/>
          <p:cNvGrpSpPr/>
          <p:nvPr/>
        </p:nvGrpSpPr>
        <p:grpSpPr>
          <a:xfrm>
            <a:off x="3985247" y="3071810"/>
            <a:ext cx="1333509" cy="1000132"/>
            <a:chOff x="6572264" y="2857496"/>
            <a:chExt cx="1000132" cy="1000132"/>
          </a:xfrm>
        </p:grpSpPr>
        <p:sp>
          <p:nvSpPr>
            <p:cNvPr id="278" name="矩形 277"/>
            <p:cNvSpPr/>
            <p:nvPr/>
          </p:nvSpPr>
          <p:spPr>
            <a:xfrm>
              <a:off x="7072330" y="2857496"/>
              <a:ext cx="500066" cy="500066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79" name="矩形 278"/>
            <p:cNvSpPr/>
            <p:nvPr/>
          </p:nvSpPr>
          <p:spPr>
            <a:xfrm>
              <a:off x="6572264" y="3357562"/>
              <a:ext cx="500066" cy="500066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80" name="矩形 279"/>
            <p:cNvSpPr/>
            <p:nvPr/>
          </p:nvSpPr>
          <p:spPr>
            <a:xfrm>
              <a:off x="7072330" y="3357562"/>
              <a:ext cx="500066" cy="500066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281" name="组合 280"/>
          <p:cNvGrpSpPr/>
          <p:nvPr/>
        </p:nvGrpSpPr>
        <p:grpSpPr>
          <a:xfrm>
            <a:off x="1984983" y="3571876"/>
            <a:ext cx="1333509" cy="1000132"/>
            <a:chOff x="5072066" y="3357562"/>
            <a:chExt cx="1000132" cy="1000132"/>
          </a:xfrm>
        </p:grpSpPr>
        <p:sp>
          <p:nvSpPr>
            <p:cNvPr id="282" name="矩形 281"/>
            <p:cNvSpPr/>
            <p:nvPr/>
          </p:nvSpPr>
          <p:spPr>
            <a:xfrm>
              <a:off x="5072066" y="3357562"/>
              <a:ext cx="500066" cy="500066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83" name="矩形 282"/>
            <p:cNvSpPr/>
            <p:nvPr/>
          </p:nvSpPr>
          <p:spPr>
            <a:xfrm>
              <a:off x="5572132" y="3357562"/>
              <a:ext cx="500066" cy="500066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84" name="矩形 283"/>
            <p:cNvSpPr/>
            <p:nvPr/>
          </p:nvSpPr>
          <p:spPr>
            <a:xfrm>
              <a:off x="5072066" y="3857628"/>
              <a:ext cx="500066" cy="500066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285" name="组合 284"/>
          <p:cNvGrpSpPr/>
          <p:nvPr/>
        </p:nvGrpSpPr>
        <p:grpSpPr>
          <a:xfrm>
            <a:off x="3318492" y="3571876"/>
            <a:ext cx="1333509" cy="1000132"/>
            <a:chOff x="6072198" y="3357562"/>
            <a:chExt cx="1000132" cy="1000132"/>
          </a:xfrm>
        </p:grpSpPr>
        <p:sp>
          <p:nvSpPr>
            <p:cNvPr id="286" name="矩形 285"/>
            <p:cNvSpPr/>
            <p:nvPr/>
          </p:nvSpPr>
          <p:spPr>
            <a:xfrm>
              <a:off x="6072198" y="3357562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87" name="矩形 286"/>
            <p:cNvSpPr/>
            <p:nvPr/>
          </p:nvSpPr>
          <p:spPr>
            <a:xfrm>
              <a:off x="6072198" y="3857628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88" name="矩形 287"/>
            <p:cNvSpPr/>
            <p:nvPr/>
          </p:nvSpPr>
          <p:spPr>
            <a:xfrm>
              <a:off x="6572264" y="3857628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289" name="组合 288"/>
          <p:cNvGrpSpPr/>
          <p:nvPr/>
        </p:nvGrpSpPr>
        <p:grpSpPr>
          <a:xfrm>
            <a:off x="4652002" y="3571876"/>
            <a:ext cx="1333509" cy="1000132"/>
            <a:chOff x="7072330" y="3357562"/>
            <a:chExt cx="1000132" cy="1000132"/>
          </a:xfrm>
        </p:grpSpPr>
        <p:sp>
          <p:nvSpPr>
            <p:cNvPr id="290" name="矩形 289"/>
            <p:cNvSpPr/>
            <p:nvPr/>
          </p:nvSpPr>
          <p:spPr>
            <a:xfrm>
              <a:off x="7572396" y="3357562"/>
              <a:ext cx="500066" cy="50006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18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91" name="矩形 290"/>
            <p:cNvSpPr/>
            <p:nvPr/>
          </p:nvSpPr>
          <p:spPr>
            <a:xfrm>
              <a:off x="7072330" y="3857628"/>
              <a:ext cx="500066" cy="50006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18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92" name="矩形 291"/>
            <p:cNvSpPr/>
            <p:nvPr/>
          </p:nvSpPr>
          <p:spPr>
            <a:xfrm>
              <a:off x="7572396" y="3857628"/>
              <a:ext cx="500066" cy="50006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18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293" name="组合 292"/>
          <p:cNvGrpSpPr/>
          <p:nvPr/>
        </p:nvGrpSpPr>
        <p:grpSpPr>
          <a:xfrm>
            <a:off x="5985511" y="3571876"/>
            <a:ext cx="1333509" cy="1000132"/>
            <a:chOff x="8072462" y="3357562"/>
            <a:chExt cx="1000132" cy="1000132"/>
          </a:xfrm>
        </p:grpSpPr>
        <p:sp>
          <p:nvSpPr>
            <p:cNvPr id="294" name="矩形 293"/>
            <p:cNvSpPr/>
            <p:nvPr/>
          </p:nvSpPr>
          <p:spPr>
            <a:xfrm>
              <a:off x="8072462" y="3357562"/>
              <a:ext cx="500066" cy="500066"/>
            </a:xfrm>
            <a:prstGeom prst="rect">
              <a:avLst/>
            </a:prstGeom>
            <a:solidFill>
              <a:srgbClr val="99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19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95" name="矩形 294"/>
            <p:cNvSpPr/>
            <p:nvPr/>
          </p:nvSpPr>
          <p:spPr>
            <a:xfrm>
              <a:off x="8572528" y="3357562"/>
              <a:ext cx="500066" cy="500066"/>
            </a:xfrm>
            <a:prstGeom prst="rect">
              <a:avLst/>
            </a:prstGeom>
            <a:solidFill>
              <a:srgbClr val="99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19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96" name="矩形 295"/>
            <p:cNvSpPr/>
            <p:nvPr/>
          </p:nvSpPr>
          <p:spPr>
            <a:xfrm>
              <a:off x="8572528" y="3857628"/>
              <a:ext cx="500066" cy="500066"/>
            </a:xfrm>
            <a:prstGeom prst="rect">
              <a:avLst/>
            </a:prstGeom>
            <a:solidFill>
              <a:srgbClr val="99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19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297" name="组合 296"/>
          <p:cNvGrpSpPr/>
          <p:nvPr/>
        </p:nvGrpSpPr>
        <p:grpSpPr>
          <a:xfrm>
            <a:off x="2651737" y="4071942"/>
            <a:ext cx="1333509" cy="1000132"/>
            <a:chOff x="5572132" y="3857628"/>
            <a:chExt cx="1000132" cy="1000132"/>
          </a:xfrm>
        </p:grpSpPr>
        <p:sp>
          <p:nvSpPr>
            <p:cNvPr id="298" name="矩形 297"/>
            <p:cNvSpPr/>
            <p:nvPr/>
          </p:nvSpPr>
          <p:spPr>
            <a:xfrm>
              <a:off x="5572132" y="3857628"/>
              <a:ext cx="500066" cy="50006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12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99" name="矩形 298"/>
            <p:cNvSpPr/>
            <p:nvPr/>
          </p:nvSpPr>
          <p:spPr>
            <a:xfrm>
              <a:off x="5572132" y="4357694"/>
              <a:ext cx="500066" cy="50006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12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00" name="矩形 299"/>
            <p:cNvSpPr/>
            <p:nvPr/>
          </p:nvSpPr>
          <p:spPr>
            <a:xfrm>
              <a:off x="6072198" y="4357694"/>
              <a:ext cx="500066" cy="50006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12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301" name="组合 300"/>
          <p:cNvGrpSpPr/>
          <p:nvPr/>
        </p:nvGrpSpPr>
        <p:grpSpPr>
          <a:xfrm>
            <a:off x="5318756" y="4071942"/>
            <a:ext cx="1333509" cy="1000132"/>
            <a:chOff x="7572396" y="3857628"/>
            <a:chExt cx="1000132" cy="1000132"/>
          </a:xfrm>
        </p:grpSpPr>
        <p:sp>
          <p:nvSpPr>
            <p:cNvPr id="302" name="矩形 301"/>
            <p:cNvSpPr/>
            <p:nvPr/>
          </p:nvSpPr>
          <p:spPr>
            <a:xfrm>
              <a:off x="8072462" y="3857628"/>
              <a:ext cx="500066" cy="50006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17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03" name="矩形 302"/>
            <p:cNvSpPr/>
            <p:nvPr/>
          </p:nvSpPr>
          <p:spPr>
            <a:xfrm>
              <a:off x="7572396" y="4357694"/>
              <a:ext cx="500066" cy="50006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17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04" name="矩形 303"/>
            <p:cNvSpPr/>
            <p:nvPr/>
          </p:nvSpPr>
          <p:spPr>
            <a:xfrm>
              <a:off x="8072462" y="4357694"/>
              <a:ext cx="500066" cy="50006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17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305" name="组合 304"/>
          <p:cNvGrpSpPr/>
          <p:nvPr/>
        </p:nvGrpSpPr>
        <p:grpSpPr>
          <a:xfrm>
            <a:off x="1984983" y="4572008"/>
            <a:ext cx="1333509" cy="1000132"/>
            <a:chOff x="5072066" y="4357694"/>
            <a:chExt cx="1000132" cy="1000132"/>
          </a:xfrm>
        </p:grpSpPr>
        <p:sp>
          <p:nvSpPr>
            <p:cNvPr id="306" name="矩形 305"/>
            <p:cNvSpPr/>
            <p:nvPr/>
          </p:nvSpPr>
          <p:spPr>
            <a:xfrm>
              <a:off x="5072066" y="4357694"/>
              <a:ext cx="500066" cy="50006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15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07" name="矩形 306"/>
            <p:cNvSpPr/>
            <p:nvPr/>
          </p:nvSpPr>
          <p:spPr>
            <a:xfrm>
              <a:off x="5072066" y="4857760"/>
              <a:ext cx="500066" cy="50006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15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08" name="矩形 307"/>
            <p:cNvSpPr/>
            <p:nvPr/>
          </p:nvSpPr>
          <p:spPr>
            <a:xfrm>
              <a:off x="5572132" y="4857760"/>
              <a:ext cx="500066" cy="50006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15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309" name="组合 308"/>
          <p:cNvGrpSpPr/>
          <p:nvPr/>
        </p:nvGrpSpPr>
        <p:grpSpPr>
          <a:xfrm>
            <a:off x="3318492" y="4572008"/>
            <a:ext cx="1333509" cy="1000132"/>
            <a:chOff x="6072198" y="4357694"/>
            <a:chExt cx="1000132" cy="1000132"/>
          </a:xfrm>
        </p:grpSpPr>
        <p:sp>
          <p:nvSpPr>
            <p:cNvPr id="310" name="矩形 309"/>
            <p:cNvSpPr/>
            <p:nvPr/>
          </p:nvSpPr>
          <p:spPr>
            <a:xfrm>
              <a:off x="6572264" y="4357694"/>
              <a:ext cx="500066" cy="500066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16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11" name="矩形 310"/>
            <p:cNvSpPr/>
            <p:nvPr/>
          </p:nvSpPr>
          <p:spPr>
            <a:xfrm>
              <a:off x="6072198" y="4857760"/>
              <a:ext cx="500066" cy="500066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16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12" name="矩形 311"/>
            <p:cNvSpPr/>
            <p:nvPr/>
          </p:nvSpPr>
          <p:spPr>
            <a:xfrm>
              <a:off x="6572264" y="4857760"/>
              <a:ext cx="500066" cy="500066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16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313" name="组合 312"/>
          <p:cNvGrpSpPr/>
          <p:nvPr/>
        </p:nvGrpSpPr>
        <p:grpSpPr>
          <a:xfrm>
            <a:off x="4652002" y="4572008"/>
            <a:ext cx="1333509" cy="1000132"/>
            <a:chOff x="7072330" y="4357694"/>
            <a:chExt cx="1000132" cy="1000132"/>
          </a:xfrm>
        </p:grpSpPr>
        <p:sp>
          <p:nvSpPr>
            <p:cNvPr id="314" name="矩形 313"/>
            <p:cNvSpPr/>
            <p:nvPr/>
          </p:nvSpPr>
          <p:spPr>
            <a:xfrm>
              <a:off x="7072330" y="4357694"/>
              <a:ext cx="500066" cy="500066"/>
            </a:xfrm>
            <a:prstGeom prst="rect">
              <a:avLst/>
            </a:prstGeom>
            <a:solidFill>
              <a:srgbClr val="0066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20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15" name="矩形 314"/>
            <p:cNvSpPr/>
            <p:nvPr/>
          </p:nvSpPr>
          <p:spPr>
            <a:xfrm>
              <a:off x="7072330" y="4857760"/>
              <a:ext cx="500066" cy="500066"/>
            </a:xfrm>
            <a:prstGeom prst="rect">
              <a:avLst/>
            </a:prstGeom>
            <a:solidFill>
              <a:srgbClr val="0066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20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16" name="矩形 315"/>
            <p:cNvSpPr/>
            <p:nvPr/>
          </p:nvSpPr>
          <p:spPr>
            <a:xfrm>
              <a:off x="7572396" y="4857760"/>
              <a:ext cx="500066" cy="500066"/>
            </a:xfrm>
            <a:prstGeom prst="rect">
              <a:avLst/>
            </a:prstGeom>
            <a:solidFill>
              <a:srgbClr val="0066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20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317" name="组合 316"/>
          <p:cNvGrpSpPr/>
          <p:nvPr/>
        </p:nvGrpSpPr>
        <p:grpSpPr>
          <a:xfrm>
            <a:off x="5985511" y="4572008"/>
            <a:ext cx="1333509" cy="1000132"/>
            <a:chOff x="8072462" y="4357694"/>
            <a:chExt cx="1000132" cy="1000132"/>
          </a:xfrm>
        </p:grpSpPr>
        <p:sp>
          <p:nvSpPr>
            <p:cNvPr id="318" name="矩形 317"/>
            <p:cNvSpPr/>
            <p:nvPr/>
          </p:nvSpPr>
          <p:spPr>
            <a:xfrm>
              <a:off x="8572528" y="4357694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21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19" name="矩形 318"/>
            <p:cNvSpPr/>
            <p:nvPr/>
          </p:nvSpPr>
          <p:spPr>
            <a:xfrm>
              <a:off x="8072462" y="4857760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21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20" name="矩形 319"/>
            <p:cNvSpPr/>
            <p:nvPr/>
          </p:nvSpPr>
          <p:spPr>
            <a:xfrm>
              <a:off x="8572528" y="4857760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21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151" name="右弧形箭头 150"/>
          <p:cNvSpPr/>
          <p:nvPr/>
        </p:nvSpPr>
        <p:spPr>
          <a:xfrm>
            <a:off x="3127990" y="813733"/>
            <a:ext cx="381003" cy="642942"/>
          </a:xfrm>
          <a:prstGeom prst="curvedLef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52" name="直接连接符 151"/>
          <p:cNvCxnSpPr/>
          <p:nvPr/>
        </p:nvCxnSpPr>
        <p:spPr>
          <a:xfrm flipV="1">
            <a:off x="958175" y="3560514"/>
            <a:ext cx="7144385" cy="15240"/>
          </a:xfrm>
          <a:prstGeom prst="line">
            <a:avLst/>
          </a:prstGeom>
          <a:ln>
            <a:solidFill>
              <a:srgbClr val="9900FF"/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3" name="直接连接符 152"/>
          <p:cNvCxnSpPr/>
          <p:nvPr/>
        </p:nvCxnSpPr>
        <p:spPr>
          <a:xfrm rot="5400000">
            <a:off x="1973076" y="3619600"/>
            <a:ext cx="5357850" cy="2117"/>
          </a:xfrm>
          <a:prstGeom prst="line">
            <a:avLst/>
          </a:prstGeom>
          <a:ln>
            <a:solidFill>
              <a:srgbClr val="9900FF"/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4" name="TextBox 153"/>
          <p:cNvSpPr txBox="1"/>
          <p:nvPr/>
        </p:nvSpPr>
        <p:spPr>
          <a:xfrm>
            <a:off x="573366" y="1785926"/>
            <a:ext cx="13335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solidFill>
                  <a:srgbClr val="99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  <a:sym typeface="Wingdings 2" panose="05020102010507070707"/>
              </a:rPr>
              <a:t></a:t>
            </a:r>
            <a:r>
              <a:rPr lang="zh-CN" altLang="zh-CN" sz="2000">
                <a:solidFill>
                  <a:srgbClr val="99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左上角象限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5" name="TextBox 154"/>
          <p:cNvSpPr txBox="1"/>
          <p:nvPr/>
        </p:nvSpPr>
        <p:spPr>
          <a:xfrm>
            <a:off x="7453644" y="1785926"/>
            <a:ext cx="13335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solidFill>
                  <a:srgbClr val="99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  <a:sym typeface="Wingdings 2" panose="05020102010507070707"/>
              </a:rPr>
              <a:t></a:t>
            </a:r>
            <a:r>
              <a:rPr lang="zh-CN" altLang="zh-CN" sz="2000">
                <a:solidFill>
                  <a:srgbClr val="99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右上角象限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6" name="TextBox 155"/>
          <p:cNvSpPr txBox="1"/>
          <p:nvPr/>
        </p:nvSpPr>
        <p:spPr>
          <a:xfrm>
            <a:off x="7453630" y="4314190"/>
            <a:ext cx="13335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solidFill>
                  <a:srgbClr val="99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  <a:sym typeface="Wingdings 2" panose="05020102010507070707"/>
              </a:rPr>
              <a:t></a:t>
            </a:r>
            <a:r>
              <a:rPr lang="zh-CN" altLang="zh-CN" sz="2000">
                <a:solidFill>
                  <a:srgbClr val="99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右下角象限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572770" y="4315460"/>
            <a:ext cx="141224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solidFill>
                  <a:srgbClr val="99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  <a:sym typeface="Wingdings 2" panose="05020102010507070707"/>
              </a:rPr>
              <a:t></a:t>
            </a:r>
            <a:r>
              <a:rPr lang="zh-CN" altLang="zh-CN" sz="2000">
                <a:solidFill>
                  <a:srgbClr val="9900FF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 pitchFamily="49" charset="0"/>
              </a:rPr>
              <a:t>左下角象限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6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97093" y="5345606"/>
            <a:ext cx="52841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/>
              <a:t>谢 谢 </a:t>
            </a:r>
          </a:p>
        </p:txBody>
      </p:sp>
      <p:pic>
        <p:nvPicPr>
          <p:cNvPr id="2050" name="Object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0328" y="1458048"/>
            <a:ext cx="5143500" cy="3571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37a2ca73-9a18-4164-a6d9-1c9680f13910"/>
  <p:tag name="COMMONDATA" val="eyJoZGlkIjoiZDJjYzhkNjVhNGUzNGIyZDU3YjYzOTk0OGRjM2FlODg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PLACING_PICTURE_USER_VIEWPORT" val="{&quot;height&quot;:3397,&quot;width&quot;:4649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e181dfe5-ce8f-4e21-9bf0-8728abde6e91}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跋涉">
  <a:themeElements>
    <a:clrScheme name="跋涉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跋涉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跋涉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000" smtClean="0">
            <a:ea typeface="楷体" pitchFamily="49" charset="-122"/>
            <a:cs typeface="Times New Roman" pitchFamily="18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1_跋涉">
  <a:themeElements>
    <a:clrScheme name="跋涉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跋涉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跋涉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000" smtClean="0">
            <a:ea typeface="楷体" pitchFamily="49" charset="-122"/>
            <a:cs typeface="Times New Roman" pitchFamily="18" charset="0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2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3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4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5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6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7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8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9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10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11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12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13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14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15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16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17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18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19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20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21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22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23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24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25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26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27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28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29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30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31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32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33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34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35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36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37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38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39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40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41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42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43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44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45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46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47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48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49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50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51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52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53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54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55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56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57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58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59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60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61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62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63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64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65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66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67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68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69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70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71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72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73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74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75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76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77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78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79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80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81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82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83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84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85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86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87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88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89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90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91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92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93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94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95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96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97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98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99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100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101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102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103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104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105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106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107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108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109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110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111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112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113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114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115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116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117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118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119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120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121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122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123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124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125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126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127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128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129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130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131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132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133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134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135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136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137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138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139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140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141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142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143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144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145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146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147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148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ppt/theme/themeOverride149.xml><?xml version="1.0" encoding="utf-8"?>
<a:themeOverride xmlns:a="http://schemas.openxmlformats.org/drawingml/2006/main">
  <a:clrScheme name="跋涉">
    <a:dk1>
      <a:sysClr val="windowText" lastClr="000000"/>
    </a:dk1>
    <a:lt1>
      <a:sysClr val="window" lastClr="FFFFFF"/>
    </a:lt1>
    <a:dk2>
      <a:srgbClr val="4E3B30"/>
    </a:dk2>
    <a:lt2>
      <a:srgbClr val="FBEEC9"/>
    </a:lt2>
    <a:accent1>
      <a:srgbClr val="F0A22E"/>
    </a:accent1>
    <a:accent2>
      <a:srgbClr val="A5644E"/>
    </a:accent2>
    <a:accent3>
      <a:srgbClr val="B58B80"/>
    </a:accent3>
    <a:accent4>
      <a:srgbClr val="C3986D"/>
    </a:accent4>
    <a:accent5>
      <a:srgbClr val="A19574"/>
    </a:accent5>
    <a:accent6>
      <a:srgbClr val="C17529"/>
    </a:accent6>
    <a:hlink>
      <a:srgbClr val="AD1F1F"/>
    </a:hlink>
    <a:folHlink>
      <a:srgbClr val="FFC42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6000</TotalTime>
  <Words>15848</Words>
  <Application>Microsoft Office PowerPoint</Application>
  <PresentationFormat>宽屏</PresentationFormat>
  <Paragraphs>1438</Paragraphs>
  <Slides>150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150</vt:i4>
      </vt:variant>
    </vt:vector>
  </HeadingPairs>
  <TitlesOfParts>
    <vt:vector size="167" baseType="lpstr">
      <vt:lpstr>等线</vt:lpstr>
      <vt:lpstr>黑体</vt:lpstr>
      <vt:lpstr>华文楷体</vt:lpstr>
      <vt:lpstr>楷体</vt:lpstr>
      <vt:lpstr>微软雅黑</vt:lpstr>
      <vt:lpstr>幼圆</vt:lpstr>
      <vt:lpstr>Arial</vt:lpstr>
      <vt:lpstr>Calibri</vt:lpstr>
      <vt:lpstr>Consolas</vt:lpstr>
      <vt:lpstr>Franklin Gothic Book</vt:lpstr>
      <vt:lpstr>Franklin Gothic Medium</vt:lpstr>
      <vt:lpstr>Wingdings 2</vt:lpstr>
      <vt:lpstr>跋涉</vt:lpstr>
      <vt:lpstr>1_跋涉</vt:lpstr>
      <vt:lpstr>Equation</vt:lpstr>
      <vt:lpstr>图片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Method specification</vt:lpstr>
      <vt:lpstr>Program for Hanoi</vt:lpstr>
      <vt:lpstr>Hanoi recursive function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西北工业大学网络教育学院</dc:title>
  <dc:subject>网院在线网络课程</dc:subject>
  <dc:creator>Administrator;冯治锋</dc:creator>
  <cp:keywords>FZF</cp:keywords>
  <dc:description>1.3</dc:description>
  <cp:lastModifiedBy>c14794</cp:lastModifiedBy>
  <cp:revision>645</cp:revision>
  <dcterms:created xsi:type="dcterms:W3CDTF">2020-06-08T01:02:00Z</dcterms:created>
  <dcterms:modified xsi:type="dcterms:W3CDTF">2024-08-06T08:33:14Z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76B7BDCC320B471E82A3815A2B1B25E3_13</vt:lpwstr>
  </property>
  <property fmtid="{D5CDD505-2E9C-101B-9397-08002B2CF9AE}" pid="3" name="KSOProductBuildVer">
    <vt:lpwstr>2052-11.1.0.14036</vt:lpwstr>
  </property>
</Properties>
</file>